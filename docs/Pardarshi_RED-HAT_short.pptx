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74" r:id="rId25"/>
    <p:sldId id="263" r:id="rId9"/>
    <p:sldId id="268" r:id="rId14"/>
    <p:sldId id="270" r:id="rId16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2b04958-341d-ef29-7515-364556290f74}">
          <p14:sldIdLst>
            <p14:sldId id="256"/>
          </p14:sldIdLst>
        </p14:section>
        <p14:section name="At a Glance" id="{d7199a4d-480e-bcc9-c21c-93ecfa459de0}">
          <p14:sldIdLst>
            <p14:sldId id="257"/>
          </p14:sldIdLst>
        </p14:section>
        <p14:section name="Problem Statement" id="{a97d58ca-7cea-057e-8fce-728d796c3da5}">
          <p14:sldIdLst>
            <p14:sldId id="258"/>
          </p14:sldIdLst>
        </p14:section>
        <p14:section name="Proposed Solution" id="{1267f5df-ba38-aedf-5c72-2571eb4b9b2e}">
          <p14:sldIdLst>
            <p14:sldId id="259"/>
            <p14:sldId id="260"/>
            <p14:sldId id="261"/>
          </p14:sldIdLst>
        </p14:section>
        <p14:section name="Target Users and Use Case" id="{da35d7e2-fe5f-754c-001f-4abd07d24a26}">
          <p14:sldIdLst>
            <p14:sldId id="262"/>
          </p14:sldIdLst>
        </p14:section>
        <p14:section name="Role of Machine Learning and AI" id="{3a071ead-d281-16aa-5c06-a500f54b0f54}">
          <p14:sldIdLst>
            <p14:sldId id="263"/>
            <p14:sldId id="264"/>
          </p14:sldIdLst>
        </p14:section>
        <p14:section name="Proposed Technical Approach" id="{0e534c04-c22c-9535-62d6-ebe988726ce3}">
          <p14:sldIdLst>
            <p14:sldId id="265"/>
            <p14:sldId id="266"/>
          </p14:sldIdLst>
        </p14:section>
        <p14:section name="Real-World Validation" id="{5199bcc4-e55a-473c-ecf7-dac18337e201}">
          <p14:sldIdLst>
            <p14:sldId id="267"/>
          </p14:sldIdLst>
        </p14:section>
        <p14:section name="Proposed TinyFish Integration" id="{67adfbf2-9c80-d80f-629f-3f9eed37a224}">
          <p14:sldIdLst>
            <p14:sldId id="268"/>
            <p14:sldId id="269"/>
          </p14:sldIdLst>
        </p14:section>
        <p14:section name="Expected Impact" id="{9f320038-6834-8b5d-4c1f-e93caadfbbaf}">
          <p14:sldIdLst>
            <p14:sldId id="270"/>
          </p14:sldIdLst>
        </p14:section>
        <p14:section name="Feasibility" id="{fe110139-d48c-458f-9d8d-771ced863774}">
          <p14:sldIdLst>
            <p14:sldId id="271"/>
          </p14:sldIdLst>
        </p14:section>
        <p14:section name="Future Scope" id="{6e6f3cc9-57b8-954c-9926-c2ab93eb613c}">
          <p14:sldIdLst>
            <p14:sldId id="272"/>
          </p14:sldIdLst>
        </p14:section>
        <p14:section name="Closing" id="{6621d356-6c25-deb6-8c95-0226045c057e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chemeClr val="tx1"/>
                </a:solidFill>
                <a:latin typeface="+mn-lt"/>
              </a:defRPr>
            </a:pPr>
            <a:r>
              <a:rPr sz="1300" b="0" i="0" u="none" strike="noStrike">
                <a:solidFill>
                  <a:schemeClr val="tx1"/>
                </a:solidFill>
                <a:latin typeface="+mn-lt"/>
              </a:rPr>
              <a:t>Classifier F1 by class  ·  72 unseen strings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No dark pattern (n=12)</c:v>
                  </c:pt>
                  <c:pt idx="1">
                    <c:v>False urgency (n=8)</c:v>
                  </c:pt>
                  <c:pt idx="2">
                    <c:v>Nagging (n=6)</c:v>
                  </c:pt>
                  <c:pt idx="3">
                    <c:v>Confirm-shaming (n=8)</c:v>
                  </c:pt>
                  <c:pt idx="4">
                    <c:v>Scarcity (n=8)</c:v>
                  </c:pt>
                  <c:pt idx="5">
                    <c:v>Subscription trap (n=7)</c:v>
                  </c:pt>
                  <c:pt idx="6">
                    <c:v>Fake popularity (n=7)</c:v>
                  </c:pt>
                  <c:pt idx="7">
                    <c:v>Pre‑ticked add-on (n=8)</c:v>
                  </c:pt>
                  <c:pt idx="8">
                    <c:v>Forced action (n=8)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0.75</c:v>
                </c:pt>
                <c:pt idx="1">
                  <c:v>0.769</c:v>
                </c:pt>
                <c:pt idx="2">
                  <c:v>0.8</c:v>
                </c:pt>
                <c:pt idx="3">
                  <c:v>0.857</c:v>
                </c:pt>
                <c:pt idx="4">
                  <c:v>0.875</c:v>
                </c:pt>
                <c:pt idx="5">
                  <c:v>0.923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Pardarshi (Hindi for 'transparent'). AI shopper agents go through a shop's checkout like real people, stop before paying, and measure hidden fees, fake urgency and personalised prices. Built and tested: on our ground-truth demo shop the price rose from Rs 1,006 to Rs 1,324 (+32%) between the first screen and payment. On real Indian sites, agents completed checkouts on bummer.in and fardaclothing.com. Team RED-HAT, AZINHACK '26. Demo video: https://youtu.be/xR9-eA1mp7o. Code: https://github.com/mathurojus/Pardarshi.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price a shopper sees first is not the price they pay. Fees, pre-ticked add-ons and fake urgency appear late in checkout; personalised prices are invisible to a single shopper; compliance is self-declared. Sources: Datum Intelligence (June 2026), LocalCircles (Oct 2025), National Consumer Helpline data FY2024-25, CCPA advisory of 5 June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steps. Agents shop as different people, stop before payment, record everything; ML and statistics turn the captures into findings with confidence. Output: a 0-100 trust score, a findings report with SHA-256 evidence hashes, and a draft complaint for the National Consumer Helpline.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classifier is scored on 72 human-written strings never seen in training (near-duplicates of training text removed). Per-class n is small, so these are early numbers. The pricing test interleaves runs in random rounds so price drift over time cannot pose as personalisation.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TinyFish is the production browser layer. Browser API: a cloud browser per shopper run with a country proxy, driven over CDP by our flows. Agent API: goal plus typed output_schema for unscripted sites. Fetch API: policy pages as markdown. Search API: peer sites. Verified live: Browser API session with a German exit IP; Agent API on the real Indian shop bummer.in: The Agent API walked product, cart and checkout in 13 steps, stopped at payment without paying, and priced Modal Stretch Trunks at ₹599 (₹28.52 tax included) for $0.21 of credit. No India exit node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shifts: one shopper's view to many profiles; suspicion to statistics; complaint to case file; self-declaration to an independent check. Pilot goal: 2 consumer NGOs, 50 Indian sites in 3 months on the TinyFish Agent API, about Rs 440 per audit, roughly Rs 22,000 in all.</a:t>
            </a:r>
          </a:p>
          <a:p>
            <a:r>
              <a:t>Risks and mitigations: bot walls are reported, never bypassed; login walls handled by Connect account; false positives limited by noise floor, BH correction and a 2% minimum gap; evidence hashed with SHA-256; allowlisted sites, observe only, never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Workflow: the console starts an audit; the Google ADK root agent calls run_audit; the pipeline orchestrator builds the persona matrix, runs one pilot shopper to pick a product, pins it, then fans out shopper agents in shuffled rounds (parallel on demo shops via asyncio.gather, one at a time on real sites). Every lane stops before payment under a code guard. Results fan in to capture, ML and statistics analysis, and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halftone bor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0" y="429768"/>
            <a:ext cx="443484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pic>
        <p:nvPicPr>
          <p:cNvPr id="4" name="Image 1" descr="Pardarshi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475488" cy="47548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Pardarshi  ·  Team RED-HAT  ·  AZINHACK '26</a:t>
            </a:r>
            <a:endParaRPr lang="en-US" sz="10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48640" y="603504"/>
            <a:ext cx="1033272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spc="100" kern="0" dirty="0">
                <a:solidFill>
                  <a:schemeClr val="tx2"/>
                </a:solidFill>
                <a:latin typeface="Impact" pitchFamily="34" charset="0"/>
                <a:ea typeface="Impact" pitchFamily="34" charset="-122"/>
                <a:cs typeface="Impact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274320"/>
            <a:ext cx="5943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tx2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halftone bor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0" y="429768"/>
            <a:ext cx="443484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</a:ln>
        </p:spPr>
      </p:sp>
      <p:pic>
        <p:nvPicPr>
          <p:cNvPr id="4" name="Image 1" descr="Pardarshi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475488" cy="47548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0E0"/>
                </a:solidFill>
              </a:rPr>
              <a:t>Pardarshi  ·  Team RED-HAT  ·  AZINHACK '26</a:t>
            </a:r>
            <a:endParaRPr lang="en-US" sz="10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48640" y="603504"/>
            <a:ext cx="1033272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spc="100" kern="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274320"/>
            <a:ext cx="5943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halftone bor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274320"/>
            <a:ext cx="5943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tx2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hyperlink" Target="https://youtu.be/xR9-eA1mp7o" TargetMode="External"/><Relationship Id="rId3" Type="http://schemas.openxmlformats.org/officeDocument/2006/relationships/hyperlink" Target="https://github.com/mathurojus/Pardarshi" TargetMode="Externa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chart" Target="../charts/chart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 descr="Pardarshi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566928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71600" y="7132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AZINHACK '26   ·   TEAM RED-HAT</a:t>
            </a:r>
            <a:endParaRPr lang="en-US" sz="1300" dirty="0"/>
          </a:p>
        </p:txBody>
      </p:sp>
      <p:sp>
        <p:nvSpPr>
          <p:cNvPr id="5" name="title shadow"/>
          <p:cNvSpPr txBox="1"/>
          <p:nvPr/>
        </p:nvSpPr>
        <p:spPr>
          <a:xfrm>
            <a:off x="694944" y="1380744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600" dirty="0">
                <a:solidFill>
                  <a:srgbClr val="21134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PARDARSHI</a:t>
            </a:r>
            <a:pPr indent="0" marL="0">
              <a:buNone/>
            </a:pPr>
            <a:r>
              <a:rPr lang="en-US" sz="3000" b="1" dirty="0">
                <a:solidFill>
                  <a:srgbClr val="21134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 पारदर्शी</a:t>
            </a:r>
            <a:endParaRPr lang="en-US" sz="1400" dirty="0"/>
          </a:p>
        </p:txBody>
      </p:sp>
      <p:sp>
        <p:nvSpPr>
          <p:cNvPr id="6" name="product name"/>
          <p:cNvSpPr txBox="1"/>
          <p:nvPr/>
        </p:nvSpPr>
        <p:spPr>
          <a:xfrm>
            <a:off x="640080" y="132588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60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PARDARSHI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 पारदर्शी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269748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shopper agents go through checkout like real people, stop before paying, and measure the hidden fees, fake urgency and personalised prices.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0233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 independent consumer-protection auditor for India's online shoppers</a:t>
            </a:r>
            <a:endParaRPr lang="en-US" sz="1600" dirty="0"/>
          </a:p>
        </p:txBody>
      </p:sp>
      <p:sp>
        <p:nvSpPr>
          <p:cNvPr id="9" name="chip"/>
          <p:cNvSpPr/>
          <p:nvPr/>
        </p:nvSpPr>
        <p:spPr>
          <a:xfrm>
            <a:off x="640080" y="4663440"/>
            <a:ext cx="1463040" cy="365760"/>
          </a:xfrm>
          <a:prstGeom prst="roundRect">
            <a:avLst>
              <a:gd name="adj" fmla="val 47500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4663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Working product</a:t>
            </a:r>
            <a:endParaRPr lang="en-US" sz="1200" dirty="0"/>
          </a:p>
        </p:txBody>
      </p:sp>
      <p:sp>
        <p:nvSpPr>
          <p:cNvPr id="11" name="chip"/>
          <p:cNvSpPr/>
          <p:nvPr/>
        </p:nvSpPr>
        <p:spPr>
          <a:xfrm>
            <a:off x="2212848" y="4663440"/>
            <a:ext cx="1783080" cy="365760"/>
          </a:xfrm>
          <a:prstGeom prst="roundRect">
            <a:avLst>
              <a:gd name="adj" fmla="val 47500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212848" y="4663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Live on Indian sites</a:t>
            </a:r>
            <a:endParaRPr lang="en-US" sz="1200" dirty="0"/>
          </a:p>
        </p:txBody>
      </p:sp>
      <p:sp>
        <p:nvSpPr>
          <p:cNvPr id="13" name="chip"/>
          <p:cNvSpPr/>
          <p:nvPr/>
        </p:nvSpPr>
        <p:spPr>
          <a:xfrm>
            <a:off x="4105656" y="4663440"/>
            <a:ext cx="2011680" cy="365760"/>
          </a:xfrm>
          <a:prstGeom prst="roundRect">
            <a:avLst>
              <a:gd name="adj" fmla="val 475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05656" y="4663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TinyFish on a live shop</a:t>
            </a:r>
            <a:endParaRPr lang="en-US" sz="1200" dirty="0"/>
          </a:p>
        </p:txBody>
      </p:sp>
      <p:sp>
        <p:nvSpPr>
          <p:cNvPr id="15" name="chip"/>
          <p:cNvSpPr/>
          <p:nvPr/>
        </p:nvSpPr>
        <p:spPr>
          <a:xfrm>
            <a:off x="6227064" y="4663440"/>
            <a:ext cx="960120" cy="365760"/>
          </a:xfrm>
          <a:prstGeom prst="roundRect">
            <a:avLst>
              <a:gd name="adj" fmla="val 475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227064" y="46634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94 tests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5230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0E0"/>
                </a:solidFill>
              </a:rPr>
              <a:t>Built with TinyFish  ·  Google ADK  ·  Gemini  ·  scikit-learn  ·  Playwright</a:t>
            </a:r>
            <a:endParaRPr lang="en-US" sz="1300" dirty="0"/>
          </a:p>
        </p:txBody>
      </p:sp>
      <p:sp>
        <p:nvSpPr>
          <p:cNvPr id="18" name="links"/>
          <p:cNvSpPr txBox="1"/>
          <p:nvPr/>
        </p:nvSpPr>
        <p:spPr>
          <a:xfrm>
            <a:off x="640080" y="56692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Demo video  </a:t>
            </a:r>
            <a:pPr indent="0" marL="0">
              <a:buNone/>
            </a:pPr>
            <a:r>
              <a:rPr lang="en-US" sz="1300" u="sng" dirty="0">
                <a:solidFill>
                  <a:srgbClr val="FFFFFF"/>
                </a:solidFill>
                <a:hlinkClick r:id="rId2" invalidUrl="" action="" tgtFrame="" tooltip="https://youtu.be/xR9-eA1mp7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https://youtu.be/xR9-eA1mp7o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     ·    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Code  </a:t>
            </a:r>
            <a:pPr indent="0" marL="0">
              <a:buNone/>
            </a:pPr>
            <a:r>
              <a:rPr lang="en-US" sz="1300" u="sng" dirty="0">
                <a:solidFill>
                  <a:srgbClr val="FFFFFF"/>
                </a:solidFill>
                <a:hlinkClick r:id="rId3" invalidUrl="" action="" tgtFrame="" tooltip="https://github.com/mathurojus/Pardarsh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https://github.com/mathurojus/Pardarshi</a:t>
            </a:r>
            <a:endParaRPr lang="en-US" sz="1400" dirty="0"/>
          </a:p>
        </p:txBody>
      </p:sp>
      <p:sp>
        <p:nvSpPr>
          <p:cNvPr id="19" name="receipt panel"/>
          <p:cNvSpPr/>
          <p:nvPr/>
        </p:nvSpPr>
        <p:spPr>
          <a:xfrm>
            <a:off x="7772400" y="685800"/>
            <a:ext cx="4069080" cy="5440680"/>
          </a:xfrm>
          <a:prstGeom prst="roundRect">
            <a:avLst>
              <a:gd name="adj" fmla="val 1124"/>
            </a:avLst>
          </a:prstGeom>
          <a:solidFill>
            <a:srgbClr val="2B1A59"/>
          </a:solidFill>
          <a:ln w="12700">
            <a:solidFill>
              <a:srgbClr val="6B55B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092440" y="914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SAME TICKET, ONE CHECKOUT</a:t>
            </a:r>
            <a:endParaRPr lang="en-US" sz="1100" dirty="0"/>
          </a:p>
        </p:txBody>
      </p:sp>
      <p:sp>
        <p:nvSpPr>
          <p:cNvPr id="21" name="price layer"/>
          <p:cNvSpPr/>
          <p:nvPr/>
        </p:nvSpPr>
        <p:spPr>
          <a:xfrm>
            <a:off x="8092440" y="1371600"/>
            <a:ext cx="3429000" cy="347472"/>
          </a:xfrm>
          <a:prstGeom prst="roundRect">
            <a:avLst>
              <a:gd name="adj" fmla="val 2105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275320" y="1371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Pre‑ticked insurance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0287000" y="13716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+₹149</a:t>
            </a:r>
            <a:endParaRPr lang="en-US" sz="1400" dirty="0"/>
          </a:p>
        </p:txBody>
      </p:sp>
      <p:sp>
        <p:nvSpPr>
          <p:cNvPr id="24" name="price layer"/>
          <p:cNvSpPr/>
          <p:nvPr/>
        </p:nvSpPr>
        <p:spPr>
          <a:xfrm>
            <a:off x="8092440" y="1792224"/>
            <a:ext cx="3429000" cy="384048"/>
          </a:xfrm>
          <a:prstGeom prst="roundRect">
            <a:avLst>
              <a:gd name="adj" fmla="val 1904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275320" y="17922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Fees and charges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0287000" y="179222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+₹169</a:t>
            </a:r>
            <a:endParaRPr lang="en-US" sz="1400" dirty="0"/>
          </a:p>
        </p:txBody>
      </p:sp>
      <p:sp>
        <p:nvSpPr>
          <p:cNvPr id="27" name="price layer"/>
          <p:cNvSpPr/>
          <p:nvPr/>
        </p:nvSpPr>
        <p:spPr>
          <a:xfrm>
            <a:off x="8092440" y="2249424"/>
            <a:ext cx="3429000" cy="2240280"/>
          </a:xfrm>
          <a:prstGeom prst="roundRect">
            <a:avLst>
              <a:gd name="adj" fmla="val 326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275320" y="2249424"/>
            <a:ext cx="2103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Advertised price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10287000" y="2249424"/>
            <a:ext cx="1051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₹1,006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8092440" y="470001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DCFA"/>
                </a:solidFill>
              </a:rPr>
              <a:t>You pay  </a:t>
            </a:r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₹1,324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8092440" y="53675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+32% between the first screen and payment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8092440" y="56784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DB0E0"/>
                </a:solidFill>
              </a:rPr>
              <a:t>Ground-truth demo shop with planted tricks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548640" y="603504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100" kern="0" dirty="0">
                <a:solidFill>
                  <a:schemeClr val="tx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ection label"/>
          <p:cNvSpPr txBox="1"/>
          <p:nvPr/>
        </p:nvSpPr>
        <p:spPr>
          <a:xfrm>
            <a:off x="54864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chemeClr val="tx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  ·  PROBLEM STATEMENT</a:t>
            </a:r>
            <a:endParaRPr lang="en-US" sz="15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1887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prices change between the product page and payment, where a single shopper cannot see it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548640" y="1783080"/>
            <a:ext cx="2743200" cy="196596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rgbClr val="3622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9842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₹25–28k cr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lost by Indian online buyers every year to dark patterns and hidden charges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474720" y="1783080"/>
            <a:ext cx="2743200" cy="196596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rgbClr val="3622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03320" y="19842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97%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703320" y="2743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290 major Indian platforms use at least one dark pattern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3931920"/>
            <a:ext cx="2743200" cy="196596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rgbClr val="3622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1330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304M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892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online buyers in India; 88% lose ₹78–87 a month to hidden charges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3474720" y="3931920"/>
            <a:ext cx="2743200" cy="196596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rgbClr val="3622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03320" y="41330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4.2 lakh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3703320" y="4892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e-commerce complaints a year at the National Consumer Helpline, 32% of all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17830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Why it persists</a:t>
            </a:r>
            <a:endParaRPr lang="en-US" sz="2000" dirty="0"/>
          </a:p>
        </p:txBody>
      </p:sp>
      <p:sp>
        <p:nvSpPr>
          <p:cNvPr id="19" name="icon lens"/>
          <p:cNvSpPr/>
          <p:nvPr/>
        </p:nvSpPr>
        <p:spPr>
          <a:xfrm>
            <a:off x="6629400" y="2331720"/>
            <a:ext cx="603504" cy="603504"/>
          </a:xfrm>
          <a:prstGeom prst="roundRect">
            <a:avLst>
              <a:gd name="adj" fmla="val 10606"/>
            </a:avLst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pic>
        <p:nvPicPr>
          <p:cNvPr id="20" name="icon" descr="Recei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6311" y="2488631"/>
            <a:ext cx="289682" cy="28968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452360" y="231343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Fees appear only at checkout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452360" y="267919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Drip pricing and pre-ticked add-ons wait on the last screen, after the shopper has committed.</a:t>
            </a:r>
            <a:endParaRPr lang="en-US" sz="1400" dirty="0"/>
          </a:p>
        </p:txBody>
      </p:sp>
      <p:sp>
        <p:nvSpPr>
          <p:cNvPr id="23" name="icon lens"/>
          <p:cNvSpPr/>
          <p:nvPr/>
        </p:nvSpPr>
        <p:spPr>
          <a:xfrm>
            <a:off x="6629400" y="3593592"/>
            <a:ext cx="603504" cy="603504"/>
          </a:xfrm>
          <a:prstGeom prst="roundRect">
            <a:avLst>
              <a:gd name="adj" fmla="val 10606"/>
            </a:avLst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pic>
        <p:nvPicPr>
          <p:cNvPr id="24" name="icon" descr="UserSecr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311" y="3750503"/>
            <a:ext cx="289682" cy="28968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452360" y="357530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Personalised prices are invisible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7452360" y="394106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One shopper only ever sees their own price, so device or location pricing goes unnoticed.</a:t>
            </a:r>
            <a:endParaRPr lang="en-US" sz="1400" dirty="0"/>
          </a:p>
        </p:txBody>
      </p:sp>
      <p:sp>
        <p:nvSpPr>
          <p:cNvPr id="27" name="icon lens"/>
          <p:cNvSpPr/>
          <p:nvPr/>
        </p:nvSpPr>
        <p:spPr>
          <a:xfrm>
            <a:off x="6629400" y="4855464"/>
            <a:ext cx="603504" cy="603504"/>
          </a:xfrm>
          <a:prstGeom prst="roundRect">
            <a:avLst>
              <a:gd name="adj" fmla="val 10606"/>
            </a:avLst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pic>
        <p:nvPicPr>
          <p:cNvPr id="28" name="icon" descr="FileSignatu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311" y="5012375"/>
            <a:ext cx="289682" cy="28968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452360" y="48371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Compliance is self-declared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7452360" y="52029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CCPA asked 50+ platforms to self-audit in June 2025. No independent check is required.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05332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Sources: ₹25–28k cr, 304M: Datum Intelligence (Jun 2026) · 97%: LocalCircles (Oct 2025) · 4.2 lakh: NCH data FY2024-25 · 50+ platforms: CCPA advisory, 5 Jun 2025 (as reported).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274320"/>
            <a:ext cx="5943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tx2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548640" y="603504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100" kern="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4" name="section label"/>
          <p:cNvSpPr txBox="1"/>
          <p:nvPr/>
        </p:nvSpPr>
        <p:spPr>
          <a:xfrm>
            <a:off x="54864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  ·  PROPOSED SOLUTION</a:t>
            </a:r>
            <a:endParaRPr lang="en-US" sz="15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1887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Pardarshi measures what shoppers are actually charged, and turns it into evidence</a:t>
            </a:r>
            <a:endParaRPr lang="en-US" sz="1700" dirty="0"/>
          </a:p>
        </p:txBody>
      </p:sp>
      <p:sp>
        <p:nvSpPr>
          <p:cNvPr id="6" name="flow line"/>
          <p:cNvSpPr/>
          <p:nvPr/>
        </p:nvSpPr>
        <p:spPr>
          <a:xfrm>
            <a:off x="914400" y="2176272"/>
            <a:ext cx="9052560" cy="0"/>
          </a:xfrm>
          <a:prstGeom prst="line">
            <a:avLst/>
          </a:prstGeom>
          <a:noFill/>
          <a:ln w="19050">
            <a:solidFill>
              <a:srgbClr val="E5FF5A"/>
            </a:solidFill>
            <a:prstDash val="dash"/>
          </a:ln>
        </p:spPr>
      </p:sp>
      <p:sp>
        <p:nvSpPr>
          <p:cNvPr id="7" name="icon lens"/>
          <p:cNvSpPr/>
          <p:nvPr/>
        </p:nvSpPr>
        <p:spPr>
          <a:xfrm>
            <a:off x="548640" y="1792224"/>
            <a:ext cx="768096" cy="768096"/>
          </a:xfrm>
          <a:prstGeom prst="roundRect">
            <a:avLst>
              <a:gd name="adj" fmla="val 8333"/>
            </a:avLst>
          </a:prstGeom>
          <a:solidFill>
            <a:srgbClr val="2B1A59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8" name="icon" descr="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345" y="1991929"/>
            <a:ext cx="368686" cy="3686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1938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Shop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2461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DCFA"/>
                </a:solidFill>
              </a:rPr>
              <a:t>6 shopper profiles × 3 runs, plus the cancellation flow</a:t>
            </a:r>
            <a:endParaRPr lang="en-US" sz="1400" dirty="0"/>
          </a:p>
        </p:txBody>
      </p:sp>
      <p:sp>
        <p:nvSpPr>
          <p:cNvPr id="12" name="icon lens"/>
          <p:cNvSpPr/>
          <p:nvPr/>
        </p:nvSpPr>
        <p:spPr>
          <a:xfrm>
            <a:off x="2807208" y="1792224"/>
            <a:ext cx="768096" cy="768096"/>
          </a:xfrm>
          <a:prstGeom prst="roundRect">
            <a:avLst>
              <a:gd name="adj" fmla="val 8333"/>
            </a:avLst>
          </a:prstGeom>
          <a:solidFill>
            <a:srgbClr val="2B1A59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3" name="icon" descr="Ha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913" y="1991929"/>
            <a:ext cx="368686" cy="36868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21608" y="1938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2807208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Stop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2807208" y="32461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DCFA"/>
                </a:solidFill>
              </a:rPr>
              <a:t>Every agent stops before payment; a code guard blocks pay buttons</a:t>
            </a:r>
            <a:endParaRPr lang="en-US" sz="1400" dirty="0"/>
          </a:p>
        </p:txBody>
      </p:sp>
      <p:sp>
        <p:nvSpPr>
          <p:cNvPr id="17" name="icon lens"/>
          <p:cNvSpPr/>
          <p:nvPr/>
        </p:nvSpPr>
        <p:spPr>
          <a:xfrm>
            <a:off x="5065776" y="1792224"/>
            <a:ext cx="768096" cy="768096"/>
          </a:xfrm>
          <a:prstGeom prst="roundRect">
            <a:avLst>
              <a:gd name="adj" fmla="val 8333"/>
            </a:avLst>
          </a:prstGeom>
          <a:solidFill>
            <a:srgbClr val="2B1A59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8" name="icon" descr="Came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481" y="1991929"/>
            <a:ext cx="368686" cy="36868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980176" y="1938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5065776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Record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5065776" y="32461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DCFA"/>
                </a:solidFill>
              </a:rPr>
              <a:t>Every screen: price lines, pre‑ticked boxes, urgency claims, screenshots</a:t>
            </a:r>
            <a:endParaRPr lang="en-US" sz="1400" dirty="0"/>
          </a:p>
        </p:txBody>
      </p:sp>
      <p:sp>
        <p:nvSpPr>
          <p:cNvPr id="22" name="icon lens"/>
          <p:cNvSpPr/>
          <p:nvPr/>
        </p:nvSpPr>
        <p:spPr>
          <a:xfrm>
            <a:off x="7324344" y="1792224"/>
            <a:ext cx="768096" cy="768096"/>
          </a:xfrm>
          <a:prstGeom prst="roundRect">
            <a:avLst>
              <a:gd name="adj" fmla="val 8333"/>
            </a:avLst>
          </a:prstGeom>
          <a:solidFill>
            <a:srgbClr val="2B1A59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3" name="icon" descr="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049" y="1991929"/>
            <a:ext cx="368686" cy="36868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238744" y="1938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7324344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Measure</a:t>
            </a:r>
            <a:endParaRPr lang="en-US" sz="2200" dirty="0"/>
          </a:p>
        </p:txBody>
      </p:sp>
      <p:sp>
        <p:nvSpPr>
          <p:cNvPr id="26" name="Text 19"/>
          <p:cNvSpPr txBox="1"/>
          <p:nvPr/>
        </p:nvSpPr>
        <p:spPr>
          <a:xfrm>
            <a:off x="7324344" y="32461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DCFA"/>
                </a:solidFill>
              </a:rPr>
              <a:t>ML and statistics turn captures into findings with confidence</a:t>
            </a:r>
            <a:endParaRPr lang="en-US" sz="1400" dirty="0"/>
          </a:p>
        </p:txBody>
      </p:sp>
      <p:sp>
        <p:nvSpPr>
          <p:cNvPr id="27" name="icon lens"/>
          <p:cNvSpPr/>
          <p:nvPr/>
        </p:nvSpPr>
        <p:spPr>
          <a:xfrm>
            <a:off x="9582912" y="1792224"/>
            <a:ext cx="768096" cy="768096"/>
          </a:xfrm>
          <a:prstGeom prst="roundRect">
            <a:avLst>
              <a:gd name="adj" fmla="val 8333"/>
            </a:avLst>
          </a:prstGeom>
          <a:solidFill>
            <a:srgbClr val="2B1A59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8" name="icon" descr="Gav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2617" y="1991929"/>
            <a:ext cx="368686" cy="36868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0497312" y="1938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2"/>
          <p:cNvSpPr txBox="1"/>
          <p:nvPr/>
        </p:nvSpPr>
        <p:spPr>
          <a:xfrm>
            <a:off x="9582912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Act</a:t>
            </a:r>
            <a:endParaRPr lang="en-US" sz="2200" dirty="0"/>
          </a:p>
        </p:txBody>
      </p:sp>
      <p:sp>
        <p:nvSpPr>
          <p:cNvPr id="31" name="Text 23"/>
          <p:cNvSpPr txBox="1"/>
          <p:nvPr/>
        </p:nvSpPr>
        <p:spPr>
          <a:xfrm>
            <a:off x="9582912" y="32461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DCFA"/>
                </a:solidFill>
              </a:rPr>
              <a:t>Trust score, findings report with SHA‑256 hashes, NCH complaint</a:t>
            </a:r>
            <a:endParaRPr lang="en-US" sz="1400" dirty="0"/>
          </a:p>
        </p:txBody>
      </p:sp>
      <p:sp>
        <p:nvSpPr>
          <p:cNvPr id="32" name="callout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370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86868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Seven checks, measured not surveyed.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Drip pricing, basket sneaking, fake urgency, manipulative copy, personalised pricing, cancellation trap and policy vs reality, each mapped to CPA 2019 or CCPA 2023. Per-site proof, ready to attach to a complaint.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274320"/>
            <a:ext cx="5943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548640" y="603504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100" kern="0" dirty="0">
                <a:solidFill>
                  <a:schemeClr val="tx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ROLE OF MACHINE LEARNING</a:t>
            </a:r>
            <a:endParaRPr lang="en-US" sz="3200" dirty="0"/>
          </a:p>
        </p:txBody>
      </p:sp>
      <p:sp>
        <p:nvSpPr>
          <p:cNvPr id="4" name="section label"/>
          <p:cNvSpPr txBox="1"/>
          <p:nvPr/>
        </p:nvSpPr>
        <p:spPr>
          <a:xfrm>
            <a:off x="54864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chemeClr val="tx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  ·  ROLE OF MACHINE LEARNING AND AI</a:t>
            </a:r>
            <a:endParaRPr lang="en-US" sz="15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1887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classifier, statistics and Gemini agents turn captures into findings, measured on unseen data</a:t>
            </a:r>
            <a:endParaRPr lang="en-US" sz="1700" dirty="0"/>
          </a:p>
        </p:txBody>
      </p:sp>
      <p:sp>
        <p:nvSpPr>
          <p:cNvPr id="6" name="icon lens"/>
          <p:cNvSpPr/>
          <p:nvPr/>
        </p:nvSpPr>
        <p:spPr>
          <a:xfrm>
            <a:off x="548640" y="1783080"/>
            <a:ext cx="603504" cy="603504"/>
          </a:xfrm>
          <a:prstGeom prst="roundRect">
            <a:avLst>
              <a:gd name="adj" fmla="val 10606"/>
            </a:avLst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pic>
        <p:nvPicPr>
          <p:cNvPr id="7" name="icon" descr="Fo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551" y="1939991"/>
            <a:ext cx="289682" cy="28968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7647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Dark-pattern copy classifier (trained)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213055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TF‑IDF word and character n‑grams into logistic regression; 9 classes, 725 labelled UI strings. Tested on strings never seen in training.</a:t>
            </a:r>
            <a:endParaRPr lang="en-US" sz="1400" dirty="0"/>
          </a:p>
        </p:txBody>
      </p:sp>
      <p:sp>
        <p:nvSpPr>
          <p:cNvPr id="10" name="icon lens"/>
          <p:cNvSpPr/>
          <p:nvPr/>
        </p:nvSpPr>
        <p:spPr>
          <a:xfrm>
            <a:off x="548640" y="3200400"/>
            <a:ext cx="603504" cy="603504"/>
          </a:xfrm>
          <a:prstGeom prst="roundRect">
            <a:avLst>
              <a:gd name="adj" fmla="val 10606"/>
            </a:avLst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pic>
        <p:nvPicPr>
          <p:cNvPr id="11" name="icon" descr="ChartColum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51" y="3357311"/>
            <a:ext cx="289682" cy="28968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1821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Personalised-pricing statistics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1371600" y="354787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Regression on log price by device, country and visitor, 95% confidence intervals, Benjamini–Hochberg correction, 2% minimum gap.</a:t>
            </a:r>
            <a:endParaRPr lang="en-US" sz="1400" dirty="0"/>
          </a:p>
        </p:txBody>
      </p:sp>
      <p:sp>
        <p:nvSpPr>
          <p:cNvPr id="14" name="icon lens"/>
          <p:cNvSpPr/>
          <p:nvPr/>
        </p:nvSpPr>
        <p:spPr>
          <a:xfrm>
            <a:off x="548640" y="4617720"/>
            <a:ext cx="603504" cy="603504"/>
          </a:xfrm>
          <a:prstGeom prst="roundRect">
            <a:avLst>
              <a:gd name="adj" fmla="val 10606"/>
            </a:avLst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pic>
        <p:nvPicPr>
          <p:cNvPr id="15" name="icon" descr="Calcula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51" y="4774631"/>
            <a:ext cx="289682" cy="28968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71600" y="45994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Price extraction and trust score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1371600" y="4965192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Page text into labelled lines: item, fee, tax, add-on, discount, total. Score = 100 × e^(−points / 70), each point traced to a finding.</a:t>
            </a:r>
            <a:endParaRPr lang="en-US" sz="1400" dirty="0"/>
          </a:p>
        </p:txBody>
      </p:sp>
      <p:sp>
        <p:nvSpPr>
          <p:cNvPr id="18" name="chart card"/>
          <p:cNvSpPr/>
          <p:nvPr/>
        </p:nvSpPr>
        <p:spPr>
          <a:xfrm>
            <a:off x="6492240" y="1755648"/>
            <a:ext cx="5148072" cy="3246120"/>
          </a:xfrm>
          <a:prstGeom prst="roundRect">
            <a:avLst>
              <a:gd name="adj" fmla="val 1408"/>
            </a:avLst>
          </a:prstGeom>
          <a:solidFill>
            <a:schemeClr val="bg1"/>
          </a:solidFill>
          <a:ln w="12700">
            <a:solidFill>
              <a:srgbClr val="36226B"/>
            </a:solidFill>
            <a:prstDash val="solid"/>
          </a:ln>
        </p:spPr>
      </p:sp>
      <p:graphicFrame>
        <p:nvGraphicFramePr>
          <p:cNvPr id="19" name="F1 chart" descr=""/>
          <p:cNvGraphicFramePr/>
          <p:nvPr/>
        </p:nvGraphicFramePr>
        <p:xfrm>
          <a:off x="6583680" y="1828800"/>
          <a:ext cx="4965192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card"/>
          <p:cNvSpPr/>
          <p:nvPr/>
        </p:nvSpPr>
        <p:spPr>
          <a:xfrm>
            <a:off x="6492240" y="5138928"/>
            <a:ext cx="1618488" cy="1078992"/>
          </a:xfrm>
          <a:prstGeom prst="roundRect">
            <a:avLst>
              <a:gd name="adj" fmla="val 4237"/>
            </a:avLst>
          </a:prstGeom>
          <a:solidFill>
            <a:schemeClr val="bg2"/>
          </a:solidFill>
          <a:ln w="12700">
            <a:solidFill>
              <a:srgbClr val="36226B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629400" y="5212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0.89</a:t>
            </a:r>
            <a:endParaRPr lang="en-US" sz="2600" dirty="0"/>
          </a:p>
        </p:txBody>
      </p:sp>
      <p:sp>
        <p:nvSpPr>
          <p:cNvPr id="22" name="Text 15"/>
          <p:cNvSpPr txBox="1"/>
          <p:nvPr/>
        </p:nvSpPr>
        <p:spPr>
          <a:xfrm>
            <a:off x="6629400" y="56875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macro-F1, unseen strings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8257032" y="5138928"/>
            <a:ext cx="1618488" cy="1078992"/>
          </a:xfrm>
          <a:prstGeom prst="roundRect">
            <a:avLst>
              <a:gd name="adj" fmla="val 4237"/>
            </a:avLst>
          </a:prstGeom>
          <a:solidFill>
            <a:schemeClr val="bg2"/>
          </a:solidFill>
          <a:ln w="12700">
            <a:solidFill>
              <a:srgbClr val="36226B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8394192" y="5212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1.00</a:t>
            </a:r>
            <a:endParaRPr lang="en-US" sz="2600" dirty="0"/>
          </a:p>
        </p:txBody>
      </p:sp>
      <p:sp>
        <p:nvSpPr>
          <p:cNvPr id="25" name="Text 18"/>
          <p:cNvSpPr txBox="1"/>
          <p:nvPr/>
        </p:nvSpPr>
        <p:spPr>
          <a:xfrm>
            <a:off x="8394192" y="56875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precision, dark vs none (recall 0.87)</a:t>
            </a:r>
            <a:endParaRPr lang="en-US" sz="1100" dirty="0"/>
          </a:p>
        </p:txBody>
      </p:sp>
      <p:sp>
        <p:nvSpPr>
          <p:cNvPr id="26" name="card"/>
          <p:cNvSpPr/>
          <p:nvPr/>
        </p:nvSpPr>
        <p:spPr>
          <a:xfrm>
            <a:off x="10021824" y="5138928"/>
            <a:ext cx="1618488" cy="1078992"/>
          </a:xfrm>
          <a:prstGeom prst="roundRect">
            <a:avLst>
              <a:gd name="adj" fmla="val 4237"/>
            </a:avLst>
          </a:prstGeom>
          <a:solidFill>
            <a:schemeClr val="bg2"/>
          </a:solidFill>
          <a:ln w="12700">
            <a:solidFill>
              <a:srgbClr val="36226B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10158984" y="5212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12/12</a:t>
            </a:r>
            <a:endParaRPr lang="en-US" sz="2600" dirty="0"/>
          </a:p>
        </p:txBody>
      </p:sp>
      <p:sp>
        <p:nvSpPr>
          <p:cNvPr id="28" name="Text 21"/>
          <p:cNvSpPr txBox="1"/>
          <p:nvPr/>
        </p:nvSpPr>
        <p:spPr>
          <a:xfrm>
            <a:off x="10158984" y="56875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planted tricks found (demo shop)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035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Per-class n is small (6–12), so these are early numbers. On real Indian sites the price extractor was hardened on live checkouts.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274320"/>
            <a:ext cx="5943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tx2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548640" y="603504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100" kern="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PROPOSED TINYFISH INTEGRATION</a:t>
            </a:r>
            <a:endParaRPr lang="en-US" sz="3200" dirty="0"/>
          </a:p>
        </p:txBody>
      </p:sp>
      <p:sp>
        <p:nvSpPr>
          <p:cNvPr id="4" name="section label"/>
          <p:cNvSpPr txBox="1"/>
          <p:nvPr/>
        </p:nvSpPr>
        <p:spPr>
          <a:xfrm>
            <a:off x="54864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  ·  PROPOSED TINYFISH INTEGRATION</a:t>
            </a:r>
            <a:endParaRPr lang="en-US" sz="15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1887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TinyFish APIs integrated, each with a specific job, and run live on a real Indian shop</a:t>
            </a:r>
            <a:endParaRPr lang="en-US" sz="1700" dirty="0"/>
          </a:p>
        </p:txBody>
      </p:sp>
      <p:sp>
        <p:nvSpPr>
          <p:cNvPr id="6" name="api card"/>
          <p:cNvSpPr/>
          <p:nvPr/>
        </p:nvSpPr>
        <p:spPr>
          <a:xfrm>
            <a:off x="548640" y="1783080"/>
            <a:ext cx="5440680" cy="1901952"/>
          </a:xfrm>
          <a:prstGeom prst="roundRect">
            <a:avLst>
              <a:gd name="adj" fmla="val 2404"/>
            </a:avLst>
          </a:prstGeom>
          <a:solidFill>
            <a:srgbClr val="2B1A59"/>
          </a:solidFill>
          <a:ln w="12700">
            <a:solidFill>
              <a:srgbClr val="6B55B5"/>
            </a:solidFill>
            <a:prstDash val="solid"/>
          </a:ln>
        </p:spPr>
      </p:sp>
      <p:sp>
        <p:nvSpPr>
          <p:cNvPr id="7" name="icon lens"/>
          <p:cNvSpPr/>
          <p:nvPr/>
        </p:nvSpPr>
        <p:spPr>
          <a:xfrm>
            <a:off x="777240" y="1984248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2B1A59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8" name="icon" descr="WindowMaximiz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12689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984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Browser API</a:t>
            </a:r>
            <a:endParaRPr lang="en-US" sz="2000" dirty="0"/>
          </a:p>
        </p:txBody>
      </p:sp>
      <p:sp>
        <p:nvSpPr>
          <p:cNvPr id="10" name="chip"/>
          <p:cNvSpPr/>
          <p:nvPr/>
        </p:nvSpPr>
        <p:spPr>
          <a:xfrm>
            <a:off x="4114800" y="2084832"/>
            <a:ext cx="1645920" cy="329184"/>
          </a:xfrm>
          <a:prstGeom prst="roundRect">
            <a:avLst>
              <a:gd name="adj" fmla="val 52778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114800" y="20848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per shopper run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651760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CFA"/>
                </a:solidFill>
              </a:rPr>
              <a:t>A cloud browser per shopper over the Chrome DevTools Protocol (CDP), with a country proxy (US, GB, CA, DE, FR, JP, AU). Our flows set device, locale and timezone, take screenshots and reload to expose fake countdowns.</a:t>
            </a:r>
            <a:endParaRPr lang="en-US" sz="1300" dirty="0"/>
          </a:p>
        </p:txBody>
      </p:sp>
      <p:sp>
        <p:nvSpPr>
          <p:cNvPr id="13" name="api card"/>
          <p:cNvSpPr/>
          <p:nvPr/>
        </p:nvSpPr>
        <p:spPr>
          <a:xfrm>
            <a:off x="6199632" y="1783080"/>
            <a:ext cx="5440680" cy="1901952"/>
          </a:xfrm>
          <a:prstGeom prst="roundRect">
            <a:avLst>
              <a:gd name="adj" fmla="val 2404"/>
            </a:avLst>
          </a:prstGeom>
          <a:solidFill>
            <a:srgbClr val="2B1A59"/>
          </a:solidFill>
          <a:ln w="12700">
            <a:solidFill>
              <a:srgbClr val="6B55B5"/>
            </a:solidFill>
            <a:prstDash val="solid"/>
          </a:ln>
        </p:spPr>
      </p:sp>
      <p:sp>
        <p:nvSpPr>
          <p:cNvPr id="14" name="icon lens"/>
          <p:cNvSpPr/>
          <p:nvPr/>
        </p:nvSpPr>
        <p:spPr>
          <a:xfrm>
            <a:off x="6428232" y="1984248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2B1A59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5" name="icon" descr="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878" y="2126894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59752" y="1984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Agent API</a:t>
            </a:r>
            <a:endParaRPr lang="en-US" sz="2000" dirty="0"/>
          </a:p>
        </p:txBody>
      </p:sp>
      <p:sp>
        <p:nvSpPr>
          <p:cNvPr id="17" name="chip"/>
          <p:cNvSpPr/>
          <p:nvPr/>
        </p:nvSpPr>
        <p:spPr>
          <a:xfrm>
            <a:off x="9765792" y="2084832"/>
            <a:ext cx="1645920" cy="329184"/>
          </a:xfrm>
          <a:prstGeom prst="roundRect">
            <a:avLst>
              <a:gd name="adj" fmla="val 52778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765792" y="20848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unscripted sites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428232" y="2651760"/>
            <a:ext cx="4983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CFA"/>
                </a:solidFill>
              </a:rPr>
              <a:t>A goal (reach checkout, never pay) plus a typed output_schema: advertised price, every price line with its pre‑ticked flag, verbatim urgency copy, the product and where it stopped.</a:t>
            </a:r>
            <a:endParaRPr lang="en-US" sz="1300" dirty="0"/>
          </a:p>
        </p:txBody>
      </p:sp>
      <p:sp>
        <p:nvSpPr>
          <p:cNvPr id="20" name="api card"/>
          <p:cNvSpPr/>
          <p:nvPr/>
        </p:nvSpPr>
        <p:spPr>
          <a:xfrm>
            <a:off x="548640" y="3822192"/>
            <a:ext cx="5440680" cy="1417320"/>
          </a:xfrm>
          <a:prstGeom prst="roundRect">
            <a:avLst>
              <a:gd name="adj" fmla="val 3226"/>
            </a:avLst>
          </a:prstGeom>
          <a:solidFill>
            <a:srgbClr val="2B1A59"/>
          </a:solidFill>
          <a:ln w="12700">
            <a:solidFill>
              <a:srgbClr val="6B55B5"/>
            </a:solidFill>
            <a:prstDash val="solid"/>
          </a:ln>
        </p:spPr>
      </p:sp>
      <p:sp>
        <p:nvSpPr>
          <p:cNvPr id="21" name="icon lens"/>
          <p:cNvSpPr/>
          <p:nvPr/>
        </p:nvSpPr>
        <p:spPr>
          <a:xfrm>
            <a:off x="777240" y="402336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2B1A59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2" name="icon" descr="FileLin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16600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0876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Fetch API</a:t>
            </a:r>
            <a:endParaRPr lang="en-US" sz="2000" dirty="0"/>
          </a:p>
        </p:txBody>
      </p:sp>
      <p:sp>
        <p:nvSpPr>
          <p:cNvPr id="24" name="chip"/>
          <p:cNvSpPr/>
          <p:nvPr/>
        </p:nvSpPr>
        <p:spPr>
          <a:xfrm>
            <a:off x="4114800" y="4123944"/>
            <a:ext cx="1645920" cy="329184"/>
          </a:xfrm>
          <a:prstGeom prst="roundRect">
            <a:avLst>
              <a:gd name="adj" fmla="val 52778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114800" y="41239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policy pages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469087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CFA"/>
                </a:solidFill>
              </a:rPr>
              <a:t>Terms, refund and cancellation pages as clean markdown, up to 10 URLs per call, feeding the Gemini policy-vs-reality check.</a:t>
            </a:r>
            <a:endParaRPr lang="en-US" sz="1300" dirty="0"/>
          </a:p>
        </p:txBody>
      </p:sp>
      <p:sp>
        <p:nvSpPr>
          <p:cNvPr id="27" name="api card"/>
          <p:cNvSpPr/>
          <p:nvPr/>
        </p:nvSpPr>
        <p:spPr>
          <a:xfrm>
            <a:off x="6199632" y="3822192"/>
            <a:ext cx="5440680" cy="1417320"/>
          </a:xfrm>
          <a:prstGeom prst="roundRect">
            <a:avLst>
              <a:gd name="adj" fmla="val 3226"/>
            </a:avLst>
          </a:prstGeom>
          <a:solidFill>
            <a:srgbClr val="2B1A59"/>
          </a:solidFill>
          <a:ln w="12700">
            <a:solidFill>
              <a:srgbClr val="6B55B5"/>
            </a:solidFill>
            <a:prstDash val="solid"/>
          </a:ln>
        </p:spPr>
      </p:sp>
      <p:sp>
        <p:nvSpPr>
          <p:cNvPr id="28" name="icon lens"/>
          <p:cNvSpPr/>
          <p:nvPr/>
        </p:nvSpPr>
        <p:spPr>
          <a:xfrm>
            <a:off x="6428232" y="4023360"/>
            <a:ext cx="548640" cy="548640"/>
          </a:xfrm>
          <a:prstGeom prst="roundRect">
            <a:avLst>
              <a:gd name="adj" fmla="val 11667"/>
            </a:avLst>
          </a:prstGeom>
          <a:solidFill>
            <a:srgbClr val="2B1A59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9" name="icon" descr="MagnifyingGlassCh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878" y="4166006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159752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Search API</a:t>
            </a:r>
            <a:endParaRPr lang="en-US" sz="2000" dirty="0"/>
          </a:p>
        </p:txBody>
      </p:sp>
      <p:sp>
        <p:nvSpPr>
          <p:cNvPr id="31" name="chip"/>
          <p:cNvSpPr/>
          <p:nvPr/>
        </p:nvSpPr>
        <p:spPr>
          <a:xfrm>
            <a:off x="9765792" y="4123944"/>
            <a:ext cx="1645920" cy="329184"/>
          </a:xfrm>
          <a:prstGeom prst="roundRect">
            <a:avLst>
              <a:gd name="adj" fmla="val 52778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765792" y="41239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peer sites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6428232" y="469087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CFA"/>
                </a:solidFill>
              </a:rPr>
              <a:t>Finds comparable services on the live web for the Google ADK agent's peer-site tool, so a site can be compared with its peers.</a:t>
            </a:r>
            <a:endParaRPr lang="en-US" sz="1300" dirty="0"/>
          </a:p>
        </p:txBody>
      </p:sp>
      <p:sp>
        <p:nvSpPr>
          <p:cNvPr id="34" name="live proof strip"/>
          <p:cNvSpPr/>
          <p:nvPr/>
        </p:nvSpPr>
        <p:spPr>
          <a:xfrm>
            <a:off x="548640" y="5422392"/>
            <a:ext cx="11091672" cy="868680"/>
          </a:xfrm>
          <a:prstGeom prst="roundRect">
            <a:avLst>
              <a:gd name="adj" fmla="val 52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777240" y="542239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Live on a real Indian shop: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 Agent API on bummer.in: 13 agent steps, stopped before payment, ₹599 as typed JSON for $0.21.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Validated: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 bummer.in and fardaclothing.com reached payment · 30 Indian sites probed, 8 bot-walled (reported, never bypassed).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274320"/>
            <a:ext cx="5943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548640" y="603504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100" kern="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IMPACT, FEASIBILITY AND NEXT</a:t>
            </a:r>
            <a:endParaRPr lang="en-US" sz="3200" dirty="0"/>
          </a:p>
        </p:txBody>
      </p:sp>
      <p:sp>
        <p:nvSpPr>
          <p:cNvPr id="4" name="section label"/>
          <p:cNvSpPr txBox="1"/>
          <p:nvPr/>
        </p:nvSpPr>
        <p:spPr>
          <a:xfrm>
            <a:off x="54864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  ·  IMPACT, FEASIBILITY, FUTURE SCOPE</a:t>
            </a:r>
            <a:endParaRPr lang="en-US" sz="15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1887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on live Indian shops (94 automated tests), turning suspicion into evidence a regulator can act 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4DCFA"/>
                </a:solidFill>
              </a:rPr>
              <a:t>One shopper's view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  →  </a:t>
            </a:r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Many profiles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1284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DCFA"/>
                </a:solidFill>
              </a:rPr>
              <a:t>6 shopper profiles × 3 runs; real sites one shopper at a time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2491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4DCFA"/>
                </a:solidFill>
              </a:rPr>
              <a:t>Suspicion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  →  </a:t>
            </a:r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Statistics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5468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DCFA"/>
                </a:solidFill>
              </a:rPr>
              <a:t>price gaps with 95% confidence intervals and a noise floor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6674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4DCFA"/>
                </a:solidFill>
              </a:rPr>
              <a:t>Complaint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  →  </a:t>
            </a:r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Case file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09651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DCFA"/>
                </a:solidFill>
              </a:rPr>
              <a:t>an NCH-ready letter with exhibits and SHA‑256 hashes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60857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4DCFA"/>
                </a:solidFill>
              </a:rPr>
              <a:t>Self-declaration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  →  </a:t>
            </a:r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Independent check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03834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DCFA"/>
                </a:solidFill>
              </a:rPr>
              <a:t>a repeatable re-check a regulator can ask for</a:t>
            </a:r>
            <a:endParaRPr lang="en-US" sz="1400" dirty="0"/>
          </a:p>
        </p:txBody>
      </p:sp>
      <p:sp>
        <p:nvSpPr>
          <p:cNvPr id="14" name="stat"/>
          <p:cNvSpPr/>
          <p:nvPr/>
        </p:nvSpPr>
        <p:spPr>
          <a:xfrm>
            <a:off x="6583680" y="1783080"/>
            <a:ext cx="2377440" cy="1627632"/>
          </a:xfrm>
          <a:prstGeom prst="roundRect">
            <a:avLst>
              <a:gd name="adj" fmla="val 2809"/>
            </a:avLst>
          </a:prstGeom>
          <a:solidFill>
            <a:srgbClr val="2B1A59"/>
          </a:solidFill>
          <a:ln w="12700">
            <a:solidFill>
              <a:srgbClr val="6B55B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84848" y="1947672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+32%</a:t>
            </a:r>
            <a:endParaRPr lang="en-US" sz="3800" dirty="0"/>
          </a:p>
        </p:txBody>
      </p:sp>
      <p:sp>
        <p:nvSpPr>
          <p:cNvPr id="16" name="Text 13"/>
          <p:cNvSpPr txBox="1"/>
          <p:nvPr/>
        </p:nvSpPr>
        <p:spPr>
          <a:xfrm>
            <a:off x="6784848" y="26974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CFA"/>
                </a:solidFill>
              </a:rPr>
              <a:t>first screen to payment (demo shop)</a:t>
            </a:r>
            <a:endParaRPr lang="en-US" sz="1300" dirty="0"/>
          </a:p>
        </p:txBody>
      </p:sp>
      <p:sp>
        <p:nvSpPr>
          <p:cNvPr id="17" name="stat"/>
          <p:cNvSpPr/>
          <p:nvPr/>
        </p:nvSpPr>
        <p:spPr>
          <a:xfrm>
            <a:off x="9171432" y="1783080"/>
            <a:ext cx="2377440" cy="1627632"/>
          </a:xfrm>
          <a:prstGeom prst="roundRect">
            <a:avLst>
              <a:gd name="adj" fmla="val 2809"/>
            </a:avLst>
          </a:prstGeom>
          <a:solidFill>
            <a:srgbClr val="2B1A59"/>
          </a:solidFill>
          <a:ln w="12700">
            <a:solidFill>
              <a:srgbClr val="6B55B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72600" y="1947672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+9.6%</a:t>
            </a:r>
            <a:endParaRPr lang="en-US" sz="3800" dirty="0"/>
          </a:p>
        </p:txBody>
      </p:sp>
      <p:sp>
        <p:nvSpPr>
          <p:cNvPr id="19" name="Text 16"/>
          <p:cNvSpPr txBox="1"/>
          <p:nvPr/>
        </p:nvSpPr>
        <p:spPr>
          <a:xfrm>
            <a:off x="9372600" y="26974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CFA"/>
                </a:solidFill>
              </a:rPr>
              <a:t>quoted to iPhone shoppers, 95% CI 8.4–10.9% (demo)</a:t>
            </a:r>
            <a:endParaRPr lang="en-US" sz="1300" dirty="0"/>
          </a:p>
        </p:txBody>
      </p:sp>
      <p:sp>
        <p:nvSpPr>
          <p:cNvPr id="20" name="stat"/>
          <p:cNvSpPr/>
          <p:nvPr/>
        </p:nvSpPr>
        <p:spPr>
          <a:xfrm>
            <a:off x="6583680" y="3566160"/>
            <a:ext cx="2377440" cy="1627632"/>
          </a:xfrm>
          <a:prstGeom prst="roundRect">
            <a:avLst>
              <a:gd name="adj" fmla="val 2809"/>
            </a:avLst>
          </a:prstGeom>
          <a:solidFill>
            <a:srgbClr val="2B1A59"/>
          </a:solidFill>
          <a:ln w="12700">
            <a:solidFill>
              <a:srgbClr val="6B55B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84848" y="3730752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 vs 1</a:t>
            </a:r>
            <a:endParaRPr lang="en-US" sz="3800" dirty="0"/>
          </a:p>
        </p:txBody>
      </p:sp>
      <p:sp>
        <p:nvSpPr>
          <p:cNvPr id="22" name="Text 19"/>
          <p:cNvSpPr txBox="1"/>
          <p:nvPr/>
        </p:nvSpPr>
        <p:spPr>
          <a:xfrm>
            <a:off x="6784848" y="44805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CFA"/>
                </a:solidFill>
              </a:rPr>
              <a:t>clicks to cancel against clicks to join (demo)</a:t>
            </a:r>
            <a:endParaRPr lang="en-US" sz="1300" dirty="0"/>
          </a:p>
        </p:txBody>
      </p:sp>
      <p:sp>
        <p:nvSpPr>
          <p:cNvPr id="23" name="stat"/>
          <p:cNvSpPr/>
          <p:nvPr/>
        </p:nvSpPr>
        <p:spPr>
          <a:xfrm>
            <a:off x="9171432" y="3566160"/>
            <a:ext cx="2377440" cy="1627632"/>
          </a:xfrm>
          <a:prstGeom prst="roundRect">
            <a:avLst>
              <a:gd name="adj" fmla="val 2809"/>
            </a:avLst>
          </a:prstGeom>
          <a:solidFill>
            <a:srgbClr val="2B1A59"/>
          </a:solidFill>
          <a:ln w="12700">
            <a:solidFill>
              <a:srgbClr val="6B55B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372600" y="3730752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13</a:t>
            </a:r>
            <a:endParaRPr lang="en-US" sz="3800" dirty="0"/>
          </a:p>
        </p:txBody>
      </p:sp>
      <p:sp>
        <p:nvSpPr>
          <p:cNvPr id="25" name="Text 22"/>
          <p:cNvSpPr txBox="1"/>
          <p:nvPr/>
        </p:nvSpPr>
        <p:spPr>
          <a:xfrm>
            <a:off x="9372600" y="44805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CFA"/>
                </a:solidFill>
              </a:rPr>
              <a:t>Agent API steps to a live Indian checkout</a:t>
            </a:r>
            <a:endParaRPr lang="en-US" sz="1300" dirty="0"/>
          </a:p>
        </p:txBody>
      </p:sp>
      <p:sp>
        <p:nvSpPr>
          <p:cNvPr id="26" name="pilot"/>
          <p:cNvSpPr/>
          <p:nvPr/>
        </p:nvSpPr>
        <p:spPr>
          <a:xfrm>
            <a:off x="548640" y="5486400"/>
            <a:ext cx="11091672" cy="804672"/>
          </a:xfrm>
          <a:prstGeom prst="roundRect">
            <a:avLst>
              <a:gd name="adj" fmla="val 56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54864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Pilot goal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  2 consumer NGOs · 50 Indian sites in 3 months · ≈ ₹22,000 on the TinyFish Agent API, then monthly re-checks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Next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  India exit nodes · Indic-language classifier · shopper-capture extension · NCH filing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274320"/>
            <a:ext cx="5943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/>
          <p:nvPr>
            <p:ph idx="104" type="title" hasCustomPrompt="1"/>
          </p:nvPr>
        </p:nvSpPr>
        <p:spPr>
          <a:xfrm>
            <a:off x="548640" y="603504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spc="100" kern="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AGENT WORKFLOW AND ARCHITECTURE</a:t>
            </a:r>
            <a:endParaRPr lang="en-US" sz="3200" dirty="0"/>
          </a:p>
        </p:txBody>
      </p:sp>
      <p:sp>
        <p:nvSpPr>
          <p:cNvPr id="4" name="section label"/>
          <p:cNvSpPr txBox="1"/>
          <p:nvPr/>
        </p:nvSpPr>
        <p:spPr>
          <a:xfrm>
            <a:off x="54864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  ·  PROPOSED TECHNICAL APPROACH</a:t>
            </a:r>
            <a:endParaRPr lang="en-US" sz="15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1887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ADK agent plans, shopper agents run in parallel, evidence is captured and analysed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274320"/>
            <a:ext cx="5943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600200"/>
            <a:ext cx="2651760" cy="1234440"/>
          </a:xfrm>
          <a:prstGeom prst="roundRect">
            <a:avLst>
              <a:gd name="adj" fmla="val 5000"/>
            </a:avLst>
          </a:prstGeom>
          <a:solidFill>
            <a:srgbClr val="2B1A59"/>
          </a:solidFill>
          <a:ln w="12700">
            <a:solidFill>
              <a:srgbClr val="6B5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709928"/>
            <a:ext cx="23774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Impact"/>
              </a:rPr>
              <a:t>CONSOLE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4DCFA"/>
                </a:solidFill>
                <a:latin typeface="Calibri"/>
              </a:rPr>
              <a:t>FastAPI and live SSE agent view; voice and text assistant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108960"/>
            <a:ext cx="2651760" cy="1234440"/>
          </a:xfrm>
          <a:prstGeom prst="roundRect">
            <a:avLst>
              <a:gd name="adj" fmla="val 5000"/>
            </a:avLst>
          </a:prstGeom>
          <a:solidFill>
            <a:srgbClr val="2B1A59"/>
          </a:solidFill>
          <a:ln w="12700">
            <a:solidFill>
              <a:srgbClr val="6B5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218688"/>
            <a:ext cx="23774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Impact"/>
              </a:rPr>
              <a:t>GOOGLE ADK ROOT AGENT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4DCFA"/>
                </a:solidFill>
                <a:latin typeface="Calibri"/>
              </a:rPr>
              <a:t>Plans and runs audits with tools. Sub-agents: policy_analyst (Fetch), complaint_writer (Gemini)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617720"/>
            <a:ext cx="2651760" cy="1234440"/>
          </a:xfrm>
          <a:prstGeom prst="roundRect">
            <a:avLst>
              <a:gd name="adj" fmla="val 5000"/>
            </a:avLst>
          </a:prstGeom>
          <a:solidFill>
            <a:srgbClr val="2B1A59"/>
          </a:solidFill>
          <a:ln w="12700">
            <a:solidFill>
              <a:srgbClr val="6B5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727448"/>
            <a:ext cx="23774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Impact"/>
              </a:rPr>
              <a:t>PIPELINE ORCHESTRATOR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4DCFA"/>
                </a:solidFill>
                <a:latin typeface="Calibri"/>
              </a:rPr>
              <a:t>A pilot run picks one product; all shoppers then pin it. Runs are shuffled in rounds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1600200"/>
            <a:ext cx="3044952" cy="1234440"/>
          </a:xfrm>
          <a:prstGeom prst="roundRect">
            <a:avLst>
              <a:gd name="adj" fmla="val 5000"/>
            </a:avLst>
          </a:prstGeom>
          <a:solidFill>
            <a:srgbClr val="2B1A59"/>
          </a:solidFill>
          <a:ln w="12700">
            <a:solidFill>
              <a:srgbClr val="6B5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32520" y="1709928"/>
            <a:ext cx="277063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Impact"/>
              </a:rPr>
              <a:t>CAPTURE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4DCFA"/>
                </a:solidFill>
                <a:latin typeface="Calibri"/>
              </a:rPr>
              <a:t>Every screen becomes a RunRecord: price lines, pre-ticked boxes, urgency copy, screenshots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3108960"/>
            <a:ext cx="3044952" cy="1234440"/>
          </a:xfrm>
          <a:prstGeom prst="roundRect">
            <a:avLst>
              <a:gd name="adj" fmla="val 5000"/>
            </a:avLst>
          </a:prstGeom>
          <a:solidFill>
            <a:srgbClr val="2B1A59"/>
          </a:solidFill>
          <a:ln w="12700">
            <a:solidFill>
              <a:srgbClr val="6B5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20" y="3218688"/>
            <a:ext cx="277063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Impact"/>
              </a:rPr>
              <a:t>ANALYSIS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4DCFA"/>
                </a:solidFill>
                <a:latin typeface="Calibri"/>
              </a:rPr>
              <a:t>Copy classifier, price regression with BH correction, Gemini policy-vs-reality check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95360" y="4617720"/>
            <a:ext cx="3044952" cy="1234440"/>
          </a:xfrm>
          <a:prstGeom prst="roundRect">
            <a:avLst>
              <a:gd name="adj" fmla="val 5000"/>
            </a:avLst>
          </a:prstGeom>
          <a:solidFill>
            <a:srgbClr val="2B1A59"/>
          </a:solidFill>
          <a:ln w="12700">
            <a:solidFill>
              <a:srgbClr val="6B5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4727448"/>
            <a:ext cx="277063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Impact"/>
              </a:rPr>
              <a:t>OUTPUTS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4DCFA"/>
                </a:solidFill>
                <a:latin typeface="Calibri"/>
              </a:rPr>
              <a:t>0-100 trust score, findings report with SHA-256 hashes, NCH complaint draft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1737360" y="2862072"/>
            <a:ext cx="274320" cy="219456"/>
          </a:xfrm>
          <a:prstGeom prst="downArrow">
            <a:avLst/>
          </a:prstGeom>
          <a:solidFill>
            <a:srgbClr val="E5F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own Arrow 38"/>
          <p:cNvSpPr/>
          <p:nvPr/>
        </p:nvSpPr>
        <p:spPr>
          <a:xfrm>
            <a:off x="1737360" y="4370832"/>
            <a:ext cx="274320" cy="219456"/>
          </a:xfrm>
          <a:prstGeom prst="downArrow">
            <a:avLst/>
          </a:prstGeom>
          <a:solidFill>
            <a:srgbClr val="E5F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9980676" y="2862072"/>
            <a:ext cx="274320" cy="219456"/>
          </a:xfrm>
          <a:prstGeom prst="downArrow">
            <a:avLst/>
          </a:prstGeom>
          <a:solidFill>
            <a:srgbClr val="E5F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own Arrow 40"/>
          <p:cNvSpPr/>
          <p:nvPr/>
        </p:nvSpPr>
        <p:spPr>
          <a:xfrm>
            <a:off x="9980676" y="4370832"/>
            <a:ext cx="274320" cy="219456"/>
          </a:xfrm>
          <a:prstGeom prst="downArrow">
            <a:avLst/>
          </a:prstGeom>
          <a:solidFill>
            <a:srgbClr val="E5F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840480" y="1600200"/>
            <a:ext cx="4114800" cy="4251960"/>
          </a:xfrm>
          <a:prstGeom prst="roundRect">
            <a:avLst>
              <a:gd name="adj" fmla="val 3000"/>
            </a:avLst>
          </a:prstGeom>
          <a:solidFill>
            <a:srgbClr val="36226B"/>
          </a:solidFill>
          <a:ln w="25400">
            <a:solidFill>
              <a:srgbClr val="E5FF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23360" y="170992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5FF5A"/>
                </a:solidFill>
                <a:latin typeface="Impact"/>
              </a:rPr>
              <a:t>PARALLEL SHOPPER AGENTS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2057400"/>
            <a:ext cx="3749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4DCFA"/>
                </a:solidFill>
                <a:latin typeface="Calibri"/>
              </a:rPr>
              <a:t>Browser: TinyFish Browser or Agent API, or Playwright. Demo shops run all at once; real sites one at a time (polite mode).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23360" y="2606040"/>
            <a:ext cx="1783080" cy="731520"/>
          </a:xfrm>
          <a:prstGeom prst="roundRect">
            <a:avLst>
              <a:gd name="adj" fmla="val 5000"/>
            </a:avLst>
          </a:prstGeom>
          <a:solidFill>
            <a:srgbClr val="2B1A59"/>
          </a:solidFill>
          <a:ln w="12700">
            <a:solidFill>
              <a:srgbClr val="6B5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0" y="2697480"/>
            <a:ext cx="1600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Baseline · desktop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4DCFA"/>
                </a:solidFill>
                <a:latin typeface="Calibri"/>
              </a:rPr>
              <a:t>Gemini agent + browser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89320" y="2606040"/>
            <a:ext cx="1783080" cy="731520"/>
          </a:xfrm>
          <a:prstGeom prst="roundRect">
            <a:avLst>
              <a:gd name="adj" fmla="val 5000"/>
            </a:avLst>
          </a:prstGeom>
          <a:solidFill>
            <a:srgbClr val="2B1A59"/>
          </a:solidFill>
          <a:ln w="12700">
            <a:solidFill>
              <a:srgbClr val="6B5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697480"/>
            <a:ext cx="1600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iPhone shopper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4DCFA"/>
                </a:solidFill>
                <a:latin typeface="Calibri"/>
              </a:rPr>
              <a:t>Gemini agent + browser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23360" y="3474720"/>
            <a:ext cx="1783080" cy="731520"/>
          </a:xfrm>
          <a:prstGeom prst="roundRect">
            <a:avLst>
              <a:gd name="adj" fmla="val 5000"/>
            </a:avLst>
          </a:prstGeom>
          <a:solidFill>
            <a:srgbClr val="2B1A59"/>
          </a:solidFill>
          <a:ln w="12700">
            <a:solidFill>
              <a:srgbClr val="6B5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0" y="3566160"/>
            <a:ext cx="1600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Android shopper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4DCFA"/>
                </a:solidFill>
                <a:latin typeface="Calibri"/>
              </a:rPr>
              <a:t>Gemini agent + browser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89320" y="3474720"/>
            <a:ext cx="1783080" cy="731520"/>
          </a:xfrm>
          <a:prstGeom prst="roundRect">
            <a:avLst>
              <a:gd name="adj" fmla="val 5000"/>
            </a:avLst>
          </a:prstGeom>
          <a:solidFill>
            <a:srgbClr val="2B1A59"/>
          </a:solidFill>
          <a:ln w="12700">
            <a:solidFill>
              <a:srgbClr val="6B5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60" y="3566160"/>
            <a:ext cx="1600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Returning visitor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4DCFA"/>
                </a:solidFill>
                <a:latin typeface="Calibri"/>
              </a:rPr>
              <a:t>Gemini agent + browser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23360" y="4343400"/>
            <a:ext cx="1783080" cy="731520"/>
          </a:xfrm>
          <a:prstGeom prst="roundRect">
            <a:avLst>
              <a:gd name="adj" fmla="val 5000"/>
            </a:avLst>
          </a:prstGeom>
          <a:solidFill>
            <a:srgbClr val="2B1A59"/>
          </a:solidFill>
          <a:ln w="12700">
            <a:solidFill>
              <a:srgbClr val="6B5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0" y="4434840"/>
            <a:ext cx="1600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Country A · e.g. Germany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4DCFA"/>
                </a:solidFill>
                <a:latin typeface="Calibri"/>
              </a:rPr>
              <a:t>Gemini agent + browser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89320" y="4343400"/>
            <a:ext cx="1783080" cy="731520"/>
          </a:xfrm>
          <a:prstGeom prst="roundRect">
            <a:avLst>
              <a:gd name="adj" fmla="val 5000"/>
            </a:avLst>
          </a:prstGeom>
          <a:solidFill>
            <a:srgbClr val="2B1A59"/>
          </a:solidFill>
          <a:ln w="12700">
            <a:solidFill>
              <a:srgbClr val="6B5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60" y="4434840"/>
            <a:ext cx="1600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Country B · e.g. Japan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E4DCFA"/>
                </a:solidFill>
                <a:latin typeface="Calibri"/>
              </a:rPr>
              <a:t>Gemini agent + browser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023360" y="5166360"/>
            <a:ext cx="3749039" cy="566928"/>
          </a:xfrm>
          <a:prstGeom prst="roundRect">
            <a:avLst>
              <a:gd name="adj" fmla="val 5000"/>
            </a:avLst>
          </a:prstGeom>
          <a:solidFill>
            <a:srgbClr val="5A3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33088" y="5166360"/>
            <a:ext cx="35295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Guard on every lane: Pay, Confirm and Subscribe are blocked in code; card and OTP never typed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3246120" y="5074920"/>
            <a:ext cx="548640" cy="320040"/>
          </a:xfrm>
          <a:prstGeom prst="rightArrow">
            <a:avLst/>
          </a:prstGeom>
          <a:solidFill>
            <a:srgbClr val="E5F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54680" y="477316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5FF5A"/>
                </a:solidFill>
                <a:latin typeface="Calibri"/>
              </a:rPr>
              <a:t>fan out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8001000" y="2057400"/>
            <a:ext cx="548640" cy="320040"/>
          </a:xfrm>
          <a:prstGeom prst="rightArrow">
            <a:avLst/>
          </a:prstGeom>
          <a:solidFill>
            <a:srgbClr val="E5F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09560" y="175564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5FF5A"/>
                </a:solidFill>
                <a:latin typeface="Calibri"/>
              </a:rPr>
              <a:t>fan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darshi">
  <a:themeElements>
    <a:clrScheme name="Pardarshi">
      <a:dk1>
        <a:srgbClr val="2B1A5C"/>
      </a:dk1>
      <a:lt1>
        <a:srgbClr val="FFFBD0"/>
      </a:lt1>
      <a:dk2>
        <a:srgbClr val="36226B"/>
      </a:dk2>
      <a:lt2>
        <a:srgbClr val="FFFFFF"/>
      </a:lt2>
      <a:accent1>
        <a:srgbClr val="5A3FB5"/>
      </a:accent1>
      <a:accent2>
        <a:srgbClr val="E5FF5A"/>
      </a:accent2>
      <a:accent3>
        <a:srgbClr val="D64545"/>
      </a:accent3>
      <a:accent4>
        <a:srgbClr val="17845F"/>
      </a:accent4>
      <a:accent5>
        <a:srgbClr val="E8743B"/>
      </a:accent5>
      <a:accent6>
        <a:srgbClr val="5C4C86"/>
      </a:accent6>
      <a:hlink>
        <a:srgbClr val="5A3FB5"/>
      </a:hlink>
      <a:folHlink>
        <a:srgbClr val="5B4BC4"/>
      </a:folHlink>
    </a:clrScheme>
    <a:fontScheme name="Pardarshi">
      <a:majorFont>
        <a:latin typeface="Impac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Team RED-HAT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Pardarshi: AI shopper agents that audit checkouts for dark patterns</dc:title>
  <dc:subject>AZINHACK '26 submission</dc:subject>
  <dc:creator>Team RED-HAT</dc:creator>
  <cp:lastModifiedBy>Team RED-HAT</cp:lastModifiedBy>
  <cp:revision>1</cp:revision>
  <dcterms:created xsi:type="dcterms:W3CDTF">2026-10-21T09:11:23Z</dcterms:created>
  <dcterms:modified xsi:type="dcterms:W3CDTF">2026-10-21T09:11:23Z</dcterms:modified>
</cp:coreProperties>
</file>