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2994c7-ed39-33fd-ee2c-2423589632be}">
          <p14:sldIdLst>
            <p14:sldId id="256"/>
          </p14:sldIdLst>
        </p14:section>
        <p14:section name="Problem Statement" id="{15c754da-01f7-568b-84dc-12a48a65b34d}">
          <p14:sldIdLst>
            <p14:sldId id="257"/>
          </p14:sldIdLst>
        </p14:section>
        <p14:section name="Proposed Solution" id="{a766c48f-ae7a-5db2-c5e7-14366472f35f}">
          <p14:sldIdLst>
            <p14:sldId id="258"/>
            <p14:sldId id="259"/>
            <p14:sldId id="260"/>
          </p14:sldIdLst>
        </p14:section>
        <p14:section name="Target Users and Use Case" id="{eb7e6b7b-569d-ea1a-957d-09a788403a9a}">
          <p14:sldIdLst>
            <p14:sldId id="261"/>
          </p14:sldIdLst>
        </p14:section>
        <p14:section name="Role of Machine Learning and AI" id="{ffe91091-b303-5b13-4fa7-5bb44fbf3e0f}">
          <p14:sldIdLst>
            <p14:sldId id="262"/>
            <p14:sldId id="263"/>
          </p14:sldIdLst>
        </p14:section>
        <p14:section name="Proposed Technical Approach" id="{7a36ec45-f58f-1ab8-b5b1-2380f695bcf5}">
          <p14:sldIdLst>
            <p14:sldId id="264"/>
            <p14:sldId id="265"/>
          </p14:sldIdLst>
        </p14:section>
        <p14:section name="Proposed TinyFish Integration" id="{e37b37ec-f7fe-b42c-3d22-86b1144294fd}">
          <p14:sldIdLst>
            <p14:sldId id="266"/>
            <p14:sldId id="267"/>
          </p14:sldIdLst>
        </p14:section>
        <p14:section name="Expected Impact" id="{58d22a05-c612-2f88-5ae7-939aaf42196d}">
          <p14:sldIdLst>
            <p14:sldId id="268"/>
          </p14:sldIdLst>
        </p14:section>
        <p14:section name="Feasibility" id="{ba0ff880-a7d8-290f-3778-f37f72eadf7b}">
          <p14:sldIdLst>
            <p14:sldId id="269"/>
          </p14:sldIdLst>
        </p14:section>
        <p14:section name="Future Scope" id="{239fb3ed-bd4f-e8ac-b813-c311f9e98bdc}">
          <p14:sldIdLst>
            <p14:sldId id="270"/>
          </p14:sldIdLst>
        </p14:section>
        <p14:section name="Closing" id="{d513fea3-0686-20ba-a2ba-3882499a7369}">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chemeClr val="tx1"/>
                </a:solidFill>
                <a:latin typeface="+mn-lt"/>
              </a:defRPr>
            </a:pPr>
            <a:r>
              <a:rPr sz="1300" b="0" i="0" u="none" strike="noStrike">
                <a:solidFill>
                  <a:schemeClr val="tx1"/>
                </a:solidFill>
                <a:latin typeface="+mn-lt"/>
              </a:rPr>
              <a:t>Classifier F1 by class  ·  72 unseen strings</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chemeClr val="accent1"/>
            </a:solidFill>
            <a:effectLst/>
          </c:spPr>
          <c:invertIfNegative val="0"/>
          <c:dLbls>
            <c:numFmt formatCode="0.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cat>
            <c:multiLvlStrRef>
              <c:f>Sheet1!$A$2:$A$10</c:f>
              <c:multiLvlStrCache>
                <c:ptCount val="9"/>
                <c:lvl>
                  <c:pt idx="0">
                    <c:v>No dark pattern (n=12)</c:v>
                  </c:pt>
                  <c:pt idx="1">
                    <c:v>False urgency (n=8)</c:v>
                  </c:pt>
                  <c:pt idx="2">
                    <c:v>Nagging (n=6)</c:v>
                  </c:pt>
                  <c:pt idx="3">
                    <c:v>Confirm-shaming (n=8)</c:v>
                  </c:pt>
                  <c:pt idx="4">
                    <c:v>Scarcity (n=8)</c:v>
                  </c:pt>
                  <c:pt idx="5">
                    <c:v>Subscription trap (n=7)</c:v>
                  </c:pt>
                  <c:pt idx="6">
                    <c:v>Fake popularity (n=7)</c:v>
                  </c:pt>
                  <c:pt idx="7">
                    <c:v>Pre‑ticked add-on (n=8)</c:v>
                  </c:pt>
                  <c:pt idx="8">
                    <c:v>Forced action (n=8)</c:v>
                  </c:pt>
                </c:lvl>
              </c:multiLvlStrCache>
            </c:multiLvlStrRef>
          </c:cat>
          <c:val>
            <c:numRef>
              <c:f>Sheet1!$B$2:$B$10</c:f>
              <c:numCache>
                <c:formatCode>General</c:formatCode>
                <c:ptCount val="9"/>
                <c:pt idx="0">
                  <c:v>0.75</c:v>
                </c:pt>
                <c:pt idx="1">
                  <c:v>0.769</c:v>
                </c:pt>
                <c:pt idx="2">
                  <c:v>0.8</c:v>
                </c:pt>
                <c:pt idx="3">
                  <c:v>0.857</c:v>
                </c:pt>
                <c:pt idx="4">
                  <c:v>0.875</c:v>
                </c:pt>
                <c:pt idx="5">
                  <c:v>0.923</c:v>
                </c:pt>
                <c:pt idx="6">
                  <c:v>1</c:v>
                </c:pt>
                <c:pt idx="7">
                  <c:v>1</c:v>
                </c:pt>
                <c:pt idx="8">
                  <c:v>1</c:v>
                </c:pt>
              </c:numCache>
            </c:numRef>
          </c:val>
        </c:ser>
        <c:dLbls>
          <c:numFmt formatCode="0.00" sourceLinked="0"/>
          <c:txPr>
            <a:bodyPr/>
            <a:lstStyle/>
            <a:p>
              <a:pPr>
                <a:defRPr b="0" i="0" strike="noStrike" sz="11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Pardarshi means 'transparent' in Hindi. AI shopper agents go through checkout like real people, stop before paying, and prove the hidden fees, fake urgency and personalised prices. The price stack is from our demo audit of TicketNest, a test shop with planted tricks. Team RED-HAT, AZINHACK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the price a shopper sees first is not the price they pay. Fees, pre-ticked add-ons and fake urgency appear late in checkout; personalised prices are invisible to any single shopper; and compliance is self-declared. Sources: Datum Intelligence (June 2026), LocalCircles (Oct 2025), National Consumer Helpline data FY2024-25, CCPA advisory 5 June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five steps. Agents shop as different people, stop before payment, record everything, and the ML and statistics layer turns that into findings with confidence. Output: a score, a findings report with SHA-256 evidence, and a complaint draft for the National Consumer Helpline.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map to named dark patterns in the CCPA Guidelines for Prevention and Regulation of Dark Patterns, 2023; personalised pricing and policy contradictions rest on the Consumer Protection Act 2019 (unfair trade practice, misleading advertisement). Measured checks use prices and click counts; copy-based checks use the ML classifier; the policy check uses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Novelty, stated honestly. Research (Hannak et al. 2014 on price discrimination; Mathur et al. 2019 on dark patterns at scale) proved these practices can be measured, as one-off studies. Detectors flag patterns on the page you are on. Pardarshi turns the measurement into a repeatable, per-site audit with statistics and output mapped to Indian law and the NCH complaint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user: the consumer-rights investigator or journalist who today proves dark patterns by hand. Secondary: platform compliance teams under the CCPA self-audit advisory. Beneficiaries: shoppers and regulators.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trained model plus statistics and rules. The classifier is scored on 72 human-written strings that never appear in training (6 near-duplicates of training text were removed from the original 78). Per-class n is small, so these are early numbers. The pricing test interleaves runs in random rounds so price drift over time cannot pose as personalisation.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drives the shopper agent one action at a time on unscripted sites, checks policies against measurements, and powers the audit assistant. Google ADK is the orchestrator agent. On our browser lanes the safety rules are code; on TinyFish's Agent API the rule is in the goal, and the cloud browser holds no account, address or card, so it cannot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the console starts an audit; the orchestrator builds the shopper matrix and pins one product; TinyFish or the open-source Playwright lane drives the browsers; every screen is captured; analysis produces findings; outputs are the score, the findings report and the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screens come from one audit: our demo audit of TicketNest, 20 of 20 runs, 16 Oct 2026. Left: the console with the score, the product check and the key measurements. Right: the evidence strip from one real run, and the printable findings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TinyFish is the production browser layer. Browser API: a cloud browser per shopper run with a country proxy, driven over CDP by our flows. Agent API: goal plus typed output_schema for unscripted sites. Fetch API: policy pages as markdown. Search API: peer sites. All four verified live on 16 Oct 2026: Browser API with a German exit IP, Agent API returning structured JSON in 5 steps. No India exit node yet; that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run: pick a persona, open a TinyFish session in that country, become that shopper via CDP, walk the pinned product to checkout, stop safely, and hand back typed JSON plus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shifts: one shopper's view to 20 runs in seconds; suspicion to statistics; complaint to case file; self-declaration to an independent check. The right side is our demo audit of TicketNest, a test shop with planted tricks. Pilot goal: 2 consumer NGOs, 50 Indian sites in 3 months on the TinyFish Agent API, about Rs 440 per audit, so roughly Rs 22,000 in all, plus a few Gemini calls per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exists and runs. The right side is our honest risk list with the mitigation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three months: validate on real sites with consumer NGOs, India exit nodes, Indic-language classifier. Six months: a capture extension so real shoppers add evidence without any bot; monitoring; regulator dashboard. Twelve months: platform allowlisting under CCPA, NCH integration, app audits.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Pardarshi turns a shopper's suspicion into measured evidence. Thank the judges; invite questions. Team RED-HAT.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Pardarshi  ·  Team RED-HAT  ·  AZINHACK '26</a:t>
            </a:r>
            <a:endParaRPr lang="en-US" sz="1000" dirty="0"/>
          </a:p>
        </p:txBody>
      </p:sp>
      <p:sp>
        <p:nvSpPr>
          <p:cNvPr id="3" name="Text 1"/>
          <p:cNvSpPr/>
          <p:nvPr>
            <p:ph idx="101" type="title" hasCustomPrompt="1"/>
          </p:nvPr>
        </p:nvSpPr>
        <p:spPr>
          <a:xfrm>
            <a:off x="548640" y="621792"/>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rPr>
              <a:t>Pardarshi  ·  Team RED-HAT  ·  AZINHACK '26</a:t>
            </a:r>
            <a:endParaRPr lang="en-US" sz="1000" dirty="0"/>
          </a:p>
        </p:txBody>
      </p:sp>
      <p:sp>
        <p:nvSpPr>
          <p:cNvPr id="3" name="Text 1"/>
          <p:cNvSpPr/>
          <p:nvPr>
            <p:ph idx="101" type="title" hasCustomPrompt="1"/>
          </p:nvPr>
        </p:nvSpPr>
        <p:spPr>
          <a:xfrm>
            <a:off x="548640" y="621792"/>
            <a:ext cx="11064240" cy="77724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548640"/>
            <a:ext cx="6400800" cy="320040"/>
          </a:xfrm>
          <a:prstGeom prst="rect">
            <a:avLst/>
          </a:prstGeom>
          <a:noFill/>
          <a:ln/>
        </p:spPr>
        <p:txBody>
          <a:bodyPr wrap="square" lIns="0" tIns="0" rIns="0" bIns="0" rtlCol="0" anchor="t"/>
          <a:lstStyle/>
          <a:p>
            <a:pPr indent="0" marL="0">
              <a:buNone/>
            </a:pPr>
            <a:r>
              <a:rPr lang="en-US" sz="1300" b="1" spc="400" kern="0" dirty="0">
                <a:solidFill>
                  <a:schemeClr val="accent2"/>
                </a:solidFill>
              </a:rPr>
              <a:t>AZINHACK '26   ·   TEAM RED-HAT</a:t>
            </a:r>
            <a:endParaRPr lang="en-US" sz="1300" dirty="0"/>
          </a:p>
        </p:txBody>
      </p:sp>
      <p:sp>
        <p:nvSpPr>
          <p:cNvPr id="4" name="Text 1"/>
          <p:cNvSpPr txBox="1"/>
          <p:nvPr/>
        </p:nvSpPr>
        <p:spPr>
          <a:xfrm>
            <a:off x="640080" y="1417320"/>
            <a:ext cx="6766560" cy="1143000"/>
          </a:xfrm>
          <a:prstGeom prst="rect">
            <a:avLst/>
          </a:prstGeom>
          <a:noFill/>
          <a:ln/>
        </p:spPr>
        <p:txBody>
          <a:bodyPr wrap="square" lIns="0" tIns="0" rIns="0" bIns="0" rtlCol="0" anchor="b"/>
          <a:lstStyle/>
          <a:p>
            <a:pPr indent="0" marL="0">
              <a:buNone/>
            </a:pPr>
            <a:r>
              <a:rPr lang="en-US" sz="6600" b="1" dirty="0">
                <a:solidFill>
                  <a:schemeClr val="bg1"/>
                </a:solidFill>
                <a:latin typeface="Cambria" pitchFamily="34" charset="0"/>
                <a:ea typeface="Cambria" pitchFamily="34" charset="-122"/>
                <a:cs typeface="Cambria" pitchFamily="34" charset="-120"/>
              </a:rPr>
              <a:t>Pardarshi</a:t>
            </a:r>
            <a:pPr indent="0" marL="0">
              <a:buNone/>
            </a:pPr>
            <a:r>
              <a:rPr lang="en-US" sz="3000" b="1" dirty="0">
                <a:solidFill>
                  <a:schemeClr val="accent2"/>
                </a:solidFill>
                <a:latin typeface="Nirmala UI" pitchFamily="34" charset="0"/>
                <a:ea typeface="Nirmala UI" pitchFamily="34" charset="-122"/>
                <a:cs typeface="Nirmala UI" pitchFamily="34" charset="-120"/>
              </a:rPr>
              <a:t>  पारदर्शी</a:t>
            </a:r>
            <a:endParaRPr lang="en-US" sz="1400" dirty="0"/>
          </a:p>
        </p:txBody>
      </p:sp>
      <p:sp>
        <p:nvSpPr>
          <p:cNvPr id="5" name="Text 2"/>
          <p:cNvSpPr txBox="1"/>
          <p:nvPr/>
        </p:nvSpPr>
        <p:spPr>
          <a:xfrm>
            <a:off x="640080" y="2743200"/>
            <a:ext cx="6035040" cy="1280160"/>
          </a:xfrm>
          <a:prstGeom prst="rect">
            <a:avLst/>
          </a:prstGeom>
          <a:noFill/>
          <a:ln/>
        </p:spPr>
        <p:txBody>
          <a:bodyPr wrap="square" lIns="0" tIns="0" rIns="0" bIns="0" rtlCol="0" anchor="t"/>
          <a:lstStyle/>
          <a:p>
            <a:pPr indent="0" marL="0">
              <a:buNone/>
            </a:pPr>
            <a:r>
              <a:rPr lang="en-US" sz="2000" i="1" dirty="0">
                <a:solidFill>
                  <a:schemeClr val="bg2"/>
                </a:solidFill>
                <a:latin typeface="Cambria" pitchFamily="34" charset="0"/>
                <a:ea typeface="Cambria" pitchFamily="34" charset="-122"/>
                <a:cs typeface="Cambria" pitchFamily="34" charset="-120"/>
              </a:rPr>
              <a:t>AI shopper agents go through checkout like real people, stop before paying, and measure the hidden fees, fake urgency and personalised prices</a:t>
            </a:r>
            <a:endParaRPr lang="en-US" sz="2000" dirty="0"/>
          </a:p>
        </p:txBody>
      </p:sp>
      <p:sp>
        <p:nvSpPr>
          <p:cNvPr id="6" name="Text 3"/>
          <p:cNvSpPr txBox="1"/>
          <p:nvPr/>
        </p:nvSpPr>
        <p:spPr>
          <a:xfrm>
            <a:off x="640080" y="4206240"/>
            <a:ext cx="6035040" cy="365760"/>
          </a:xfrm>
          <a:prstGeom prst="rect">
            <a:avLst/>
          </a:prstGeom>
          <a:noFill/>
          <a:ln/>
        </p:spPr>
        <p:txBody>
          <a:bodyPr wrap="square" lIns="0" tIns="0" rIns="0" bIns="0" rtlCol="0" anchor="t"/>
          <a:lstStyle/>
          <a:p>
            <a:pPr indent="0" marL="0">
              <a:buNone/>
            </a:pPr>
            <a:r>
              <a:rPr lang="en-US" sz="1500" b="1" dirty="0">
                <a:solidFill>
                  <a:schemeClr val="bg1"/>
                </a:solidFill>
              </a:rPr>
              <a:t>An active consumer-protection auditor for India's online shoppers</a:t>
            </a:r>
            <a:endParaRPr lang="en-US" sz="1500" dirty="0"/>
          </a:p>
        </p:txBody>
      </p:sp>
      <p:sp>
        <p:nvSpPr>
          <p:cNvPr id="7" name="chip"/>
          <p:cNvSpPr/>
          <p:nvPr/>
        </p:nvSpPr>
        <p:spPr>
          <a:xfrm>
            <a:off x="640080" y="4892040"/>
            <a:ext cx="1060704" cy="384048"/>
          </a:xfrm>
          <a:prstGeom prst="roundRect">
            <a:avLst>
              <a:gd name="adj" fmla="val 47619"/>
            </a:avLst>
          </a:prstGeom>
          <a:solidFill>
            <a:schemeClr val="accent1"/>
          </a:solidFill>
          <a:ln w="12700">
            <a:solidFill>
              <a:schemeClr val="accent1"/>
            </a:solidFill>
            <a:prstDash val="solid"/>
          </a:ln>
        </p:spPr>
      </p:sp>
      <p:sp>
        <p:nvSpPr>
          <p:cNvPr id="8" name="Text 5"/>
          <p:cNvSpPr txBox="1"/>
          <p:nvPr/>
        </p:nvSpPr>
        <p:spPr>
          <a:xfrm>
            <a:off x="640080" y="4892040"/>
            <a:ext cx="1060704" cy="384048"/>
          </a:xfrm>
          <a:prstGeom prst="rect">
            <a:avLst/>
          </a:prstGeom>
          <a:noFill/>
          <a:ln/>
        </p:spPr>
        <p:txBody>
          <a:bodyPr wrap="square" lIns="0" tIns="0" rIns="0" bIns="0" rtlCol="0" anchor="ctr"/>
          <a:lstStyle/>
          <a:p>
            <a:pPr algn="ctr" indent="0" marL="0">
              <a:buNone/>
            </a:pPr>
            <a:r>
              <a:rPr lang="en-US" sz="1200" b="1" dirty="0">
                <a:solidFill>
                  <a:schemeClr val="bg1"/>
                </a:solidFill>
              </a:rPr>
              <a:t>TinyFish</a:t>
            </a:r>
            <a:endParaRPr lang="en-US" sz="1200" dirty="0"/>
          </a:p>
        </p:txBody>
      </p:sp>
      <p:sp>
        <p:nvSpPr>
          <p:cNvPr id="9" name="chip"/>
          <p:cNvSpPr/>
          <p:nvPr/>
        </p:nvSpPr>
        <p:spPr>
          <a:xfrm>
            <a:off x="1837944" y="4892040"/>
            <a:ext cx="1252728" cy="384048"/>
          </a:xfrm>
          <a:prstGeom prst="roundRect">
            <a:avLst>
              <a:gd name="adj" fmla="val 47619"/>
            </a:avLst>
          </a:prstGeom>
          <a:solidFill>
            <a:schemeClr val="accent1"/>
          </a:solidFill>
          <a:ln w="12700">
            <a:solidFill>
              <a:schemeClr val="accent1"/>
            </a:solidFill>
            <a:prstDash val="solid"/>
          </a:ln>
        </p:spPr>
      </p:sp>
      <p:sp>
        <p:nvSpPr>
          <p:cNvPr id="10" name="Text 7"/>
          <p:cNvSpPr txBox="1"/>
          <p:nvPr/>
        </p:nvSpPr>
        <p:spPr>
          <a:xfrm>
            <a:off x="1837944" y="4892040"/>
            <a:ext cx="1252728" cy="384048"/>
          </a:xfrm>
          <a:prstGeom prst="rect">
            <a:avLst/>
          </a:prstGeom>
          <a:noFill/>
          <a:ln/>
        </p:spPr>
        <p:txBody>
          <a:bodyPr wrap="square" lIns="0" tIns="0" rIns="0" bIns="0" rtlCol="0" anchor="ctr"/>
          <a:lstStyle/>
          <a:p>
            <a:pPr algn="ctr" indent="0" marL="0">
              <a:buNone/>
            </a:pPr>
            <a:r>
              <a:rPr lang="en-US" sz="1200" b="1" dirty="0">
                <a:solidFill>
                  <a:schemeClr val="bg1"/>
                </a:solidFill>
              </a:rPr>
              <a:t>Google ADK</a:t>
            </a:r>
            <a:endParaRPr lang="en-US" sz="1200" dirty="0"/>
          </a:p>
        </p:txBody>
      </p:sp>
      <p:sp>
        <p:nvSpPr>
          <p:cNvPr id="11" name="chip"/>
          <p:cNvSpPr/>
          <p:nvPr/>
        </p:nvSpPr>
        <p:spPr>
          <a:xfrm>
            <a:off x="3227832" y="4892040"/>
            <a:ext cx="868680" cy="384048"/>
          </a:xfrm>
          <a:prstGeom prst="roundRect">
            <a:avLst>
              <a:gd name="adj" fmla="val 47619"/>
            </a:avLst>
          </a:prstGeom>
          <a:solidFill>
            <a:schemeClr val="accent1"/>
          </a:solidFill>
          <a:ln w="12700">
            <a:solidFill>
              <a:schemeClr val="accent1"/>
            </a:solidFill>
            <a:prstDash val="solid"/>
          </a:ln>
        </p:spPr>
      </p:sp>
      <p:sp>
        <p:nvSpPr>
          <p:cNvPr id="12" name="Text 9"/>
          <p:cNvSpPr txBox="1"/>
          <p:nvPr/>
        </p:nvSpPr>
        <p:spPr>
          <a:xfrm>
            <a:off x="3227832" y="4892040"/>
            <a:ext cx="868680" cy="384048"/>
          </a:xfrm>
          <a:prstGeom prst="rect">
            <a:avLst/>
          </a:prstGeom>
          <a:noFill/>
          <a:ln/>
        </p:spPr>
        <p:txBody>
          <a:bodyPr wrap="square" lIns="0" tIns="0" rIns="0" bIns="0" rtlCol="0" anchor="ctr"/>
          <a:lstStyle/>
          <a:p>
            <a:pPr algn="ctr" indent="0" marL="0">
              <a:buNone/>
            </a:pPr>
            <a:r>
              <a:rPr lang="en-US" sz="1200" b="1" dirty="0">
                <a:solidFill>
                  <a:schemeClr val="bg1"/>
                </a:solidFill>
              </a:rPr>
              <a:t>Gemini</a:t>
            </a:r>
            <a:endParaRPr lang="en-US" sz="1200" dirty="0"/>
          </a:p>
        </p:txBody>
      </p:sp>
      <p:sp>
        <p:nvSpPr>
          <p:cNvPr id="13" name="chip"/>
          <p:cNvSpPr/>
          <p:nvPr/>
        </p:nvSpPr>
        <p:spPr>
          <a:xfrm>
            <a:off x="4233672" y="4892040"/>
            <a:ext cx="1444752" cy="384048"/>
          </a:xfrm>
          <a:prstGeom prst="roundRect">
            <a:avLst>
              <a:gd name="adj" fmla="val 47619"/>
            </a:avLst>
          </a:prstGeom>
          <a:solidFill>
            <a:schemeClr val="accent1"/>
          </a:solidFill>
          <a:ln w="12700">
            <a:solidFill>
              <a:schemeClr val="accent1"/>
            </a:solidFill>
            <a:prstDash val="solid"/>
          </a:ln>
        </p:spPr>
      </p:sp>
      <p:sp>
        <p:nvSpPr>
          <p:cNvPr id="14" name="Text 11"/>
          <p:cNvSpPr txBox="1"/>
          <p:nvPr/>
        </p:nvSpPr>
        <p:spPr>
          <a:xfrm>
            <a:off x="4233672" y="4892040"/>
            <a:ext cx="1444752" cy="384048"/>
          </a:xfrm>
          <a:prstGeom prst="rect">
            <a:avLst/>
          </a:prstGeom>
          <a:noFill/>
          <a:ln/>
        </p:spPr>
        <p:txBody>
          <a:bodyPr wrap="square" lIns="0" tIns="0" rIns="0" bIns="0" rtlCol="0" anchor="ctr"/>
          <a:lstStyle/>
          <a:p>
            <a:pPr algn="ctr" indent="0" marL="0">
              <a:buNone/>
            </a:pPr>
            <a:r>
              <a:rPr lang="en-US" sz="1200" b="1" dirty="0">
                <a:solidFill>
                  <a:schemeClr val="bg1"/>
                </a:solidFill>
              </a:rPr>
              <a:t>scikit-learn</a:t>
            </a:r>
            <a:endParaRPr lang="en-US" sz="1200" dirty="0"/>
          </a:p>
        </p:txBody>
      </p:sp>
      <p:sp>
        <p:nvSpPr>
          <p:cNvPr id="15" name="chip"/>
          <p:cNvSpPr/>
          <p:nvPr/>
        </p:nvSpPr>
        <p:spPr>
          <a:xfrm>
            <a:off x="5815584" y="4892040"/>
            <a:ext cx="1252728" cy="384048"/>
          </a:xfrm>
          <a:prstGeom prst="roundRect">
            <a:avLst>
              <a:gd name="adj" fmla="val 47619"/>
            </a:avLst>
          </a:prstGeom>
          <a:solidFill>
            <a:schemeClr val="accent1"/>
          </a:solidFill>
          <a:ln w="12700">
            <a:solidFill>
              <a:schemeClr val="accent1"/>
            </a:solidFill>
            <a:prstDash val="solid"/>
          </a:ln>
        </p:spPr>
      </p:sp>
      <p:sp>
        <p:nvSpPr>
          <p:cNvPr id="16" name="Text 13"/>
          <p:cNvSpPr txBox="1"/>
          <p:nvPr/>
        </p:nvSpPr>
        <p:spPr>
          <a:xfrm>
            <a:off x="5815584" y="4892040"/>
            <a:ext cx="1252728" cy="384048"/>
          </a:xfrm>
          <a:prstGeom prst="rect">
            <a:avLst/>
          </a:prstGeom>
          <a:noFill/>
          <a:ln/>
        </p:spPr>
        <p:txBody>
          <a:bodyPr wrap="square" lIns="0" tIns="0" rIns="0" bIns="0" rtlCol="0" anchor="ctr"/>
          <a:lstStyle/>
          <a:p>
            <a:pPr algn="ctr" indent="0" marL="0">
              <a:buNone/>
            </a:pPr>
            <a:r>
              <a:rPr lang="en-US" sz="1200" b="1" dirty="0">
                <a:solidFill>
                  <a:schemeClr val="bg1"/>
                </a:solidFill>
              </a:rPr>
              <a:t>Playwright</a:t>
            </a:r>
            <a:endParaRPr lang="en-US" sz="1200" dirty="0"/>
          </a:p>
        </p:txBody>
      </p:sp>
      <p:sp>
        <p:nvSpPr>
          <p:cNvPr id="17" name="receipt panel"/>
          <p:cNvSpPr/>
          <p:nvPr/>
        </p:nvSpPr>
        <p:spPr>
          <a:xfrm>
            <a:off x="7543800" y="822960"/>
            <a:ext cx="4206240" cy="5166360"/>
          </a:xfrm>
          <a:prstGeom prst="roundRect">
            <a:avLst>
              <a:gd name="adj" fmla="val 2174"/>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8" name="Text 15"/>
          <p:cNvSpPr txBox="1"/>
          <p:nvPr/>
        </p:nvSpPr>
        <p:spPr>
          <a:xfrm>
            <a:off x="7863840" y="1051560"/>
            <a:ext cx="3566160" cy="274320"/>
          </a:xfrm>
          <a:prstGeom prst="rect">
            <a:avLst/>
          </a:prstGeom>
          <a:noFill/>
          <a:ln/>
        </p:spPr>
        <p:txBody>
          <a:bodyPr wrap="square" lIns="0" tIns="0" rIns="0" bIns="0" rtlCol="0" anchor="t"/>
          <a:lstStyle/>
          <a:p>
            <a:pPr indent="0" marL="0">
              <a:buNone/>
            </a:pPr>
            <a:r>
              <a:rPr lang="en-US" sz="1100" b="1" spc="300" kern="0" dirty="0">
                <a:solidFill>
                  <a:schemeClr val="accent2"/>
                </a:solidFill>
              </a:rPr>
              <a:t>SAME TICKET, ONE CHECKOUT</a:t>
            </a:r>
            <a:endParaRPr lang="en-US" sz="1100" dirty="0"/>
          </a:p>
        </p:txBody>
      </p:sp>
      <p:sp>
        <p:nvSpPr>
          <p:cNvPr id="19" name="price layer"/>
          <p:cNvSpPr/>
          <p:nvPr/>
        </p:nvSpPr>
        <p:spPr>
          <a:xfrm>
            <a:off x="7863840" y="1554480"/>
            <a:ext cx="3566160" cy="329184"/>
          </a:xfrm>
          <a:prstGeom prst="roundRect">
            <a:avLst>
              <a:gd name="adj" fmla="val 22222"/>
            </a:avLst>
          </a:prstGeom>
          <a:solidFill>
            <a:schemeClr val="accent3"/>
          </a:solidFill>
          <a:ln w="12700">
            <a:solidFill>
              <a:schemeClr val="accent3"/>
            </a:solidFill>
            <a:prstDash val="solid"/>
          </a:ln>
        </p:spPr>
      </p:sp>
      <p:sp>
        <p:nvSpPr>
          <p:cNvPr id="20" name="Text 17"/>
          <p:cNvSpPr txBox="1"/>
          <p:nvPr/>
        </p:nvSpPr>
        <p:spPr>
          <a:xfrm>
            <a:off x="8046720" y="1554480"/>
            <a:ext cx="2194560" cy="329184"/>
          </a:xfrm>
          <a:prstGeom prst="rect">
            <a:avLst/>
          </a:prstGeom>
          <a:noFill/>
          <a:ln/>
        </p:spPr>
        <p:txBody>
          <a:bodyPr wrap="square" lIns="0" tIns="0" rIns="0" bIns="0" rtlCol="0" anchor="ctr"/>
          <a:lstStyle/>
          <a:p>
            <a:pPr indent="0" marL="0">
              <a:buNone/>
            </a:pPr>
            <a:r>
              <a:rPr lang="en-US" sz="1300" b="1" dirty="0">
                <a:solidFill>
                  <a:schemeClr val="bg1"/>
                </a:solidFill>
              </a:rPr>
              <a:t>Pre‑ticked insurance</a:t>
            </a:r>
            <a:endParaRPr lang="en-US" sz="1300" dirty="0"/>
          </a:p>
        </p:txBody>
      </p:sp>
      <p:sp>
        <p:nvSpPr>
          <p:cNvPr id="21" name="Text 18"/>
          <p:cNvSpPr txBox="1"/>
          <p:nvPr/>
        </p:nvSpPr>
        <p:spPr>
          <a:xfrm>
            <a:off x="10149840" y="1554480"/>
            <a:ext cx="1097280" cy="329184"/>
          </a:xfrm>
          <a:prstGeom prst="rect">
            <a:avLst/>
          </a:prstGeom>
          <a:noFill/>
          <a:ln/>
        </p:spPr>
        <p:txBody>
          <a:bodyPr wrap="square" lIns="0" tIns="0" rIns="0" bIns="0" rtlCol="0" anchor="ctr"/>
          <a:lstStyle/>
          <a:p>
            <a:pPr algn="r" indent="0" marL="0">
              <a:buNone/>
            </a:pPr>
            <a:r>
              <a:rPr lang="en-US" sz="1400" b="1" dirty="0">
                <a:solidFill>
                  <a:schemeClr val="bg1"/>
                </a:solidFill>
              </a:rPr>
              <a:t>+₹149</a:t>
            </a:r>
            <a:endParaRPr lang="en-US" sz="1400" dirty="0"/>
          </a:p>
        </p:txBody>
      </p:sp>
      <p:sp>
        <p:nvSpPr>
          <p:cNvPr id="22" name="price layer"/>
          <p:cNvSpPr/>
          <p:nvPr/>
        </p:nvSpPr>
        <p:spPr>
          <a:xfrm>
            <a:off x="7863840" y="1956816"/>
            <a:ext cx="3566160" cy="365760"/>
          </a:xfrm>
          <a:prstGeom prst="roundRect">
            <a:avLst>
              <a:gd name="adj" fmla="val 20000"/>
            </a:avLst>
          </a:prstGeom>
          <a:solidFill>
            <a:schemeClr val="accent5"/>
          </a:solidFill>
          <a:ln w="12700">
            <a:solidFill>
              <a:schemeClr val="accent5"/>
            </a:solidFill>
            <a:prstDash val="solid"/>
          </a:ln>
        </p:spPr>
      </p:sp>
      <p:sp>
        <p:nvSpPr>
          <p:cNvPr id="23" name="Text 20"/>
          <p:cNvSpPr txBox="1"/>
          <p:nvPr/>
        </p:nvSpPr>
        <p:spPr>
          <a:xfrm>
            <a:off x="8046720" y="1956816"/>
            <a:ext cx="2194560" cy="365760"/>
          </a:xfrm>
          <a:prstGeom prst="rect">
            <a:avLst/>
          </a:prstGeom>
          <a:noFill/>
          <a:ln/>
        </p:spPr>
        <p:txBody>
          <a:bodyPr wrap="square" lIns="0" tIns="0" rIns="0" bIns="0" rtlCol="0" anchor="ctr"/>
          <a:lstStyle/>
          <a:p>
            <a:pPr indent="0" marL="0">
              <a:buNone/>
            </a:pPr>
            <a:r>
              <a:rPr lang="en-US" sz="1300" b="1" dirty="0">
                <a:solidFill>
                  <a:schemeClr val="bg1"/>
                </a:solidFill>
              </a:rPr>
              <a:t>Fees and charges</a:t>
            </a:r>
            <a:endParaRPr lang="en-US" sz="1300" dirty="0"/>
          </a:p>
        </p:txBody>
      </p:sp>
      <p:sp>
        <p:nvSpPr>
          <p:cNvPr id="24" name="Text 21"/>
          <p:cNvSpPr txBox="1"/>
          <p:nvPr/>
        </p:nvSpPr>
        <p:spPr>
          <a:xfrm>
            <a:off x="10149840" y="1956816"/>
            <a:ext cx="1097280" cy="365760"/>
          </a:xfrm>
          <a:prstGeom prst="rect">
            <a:avLst/>
          </a:prstGeom>
          <a:noFill/>
          <a:ln/>
        </p:spPr>
        <p:txBody>
          <a:bodyPr wrap="square" lIns="0" tIns="0" rIns="0" bIns="0" rtlCol="0" anchor="ctr"/>
          <a:lstStyle/>
          <a:p>
            <a:pPr algn="r" indent="0" marL="0">
              <a:buNone/>
            </a:pPr>
            <a:r>
              <a:rPr lang="en-US" sz="1400" b="1" dirty="0">
                <a:solidFill>
                  <a:schemeClr val="bg1"/>
                </a:solidFill>
              </a:rPr>
              <a:t>+₹169</a:t>
            </a:r>
            <a:endParaRPr lang="en-US" sz="1400" dirty="0"/>
          </a:p>
        </p:txBody>
      </p:sp>
      <p:sp>
        <p:nvSpPr>
          <p:cNvPr id="25" name="price layer"/>
          <p:cNvSpPr/>
          <p:nvPr/>
        </p:nvSpPr>
        <p:spPr>
          <a:xfrm>
            <a:off x="7863840" y="2395728"/>
            <a:ext cx="3566160" cy="2148840"/>
          </a:xfrm>
          <a:prstGeom prst="roundRect">
            <a:avLst>
              <a:gd name="adj" fmla="val 3404"/>
            </a:avLst>
          </a:prstGeom>
          <a:solidFill>
            <a:schemeClr val="accent1"/>
          </a:solidFill>
          <a:ln w="12700">
            <a:solidFill>
              <a:schemeClr val="accent1"/>
            </a:solidFill>
            <a:prstDash val="solid"/>
          </a:ln>
        </p:spPr>
      </p:sp>
      <p:sp>
        <p:nvSpPr>
          <p:cNvPr id="26" name="Text 23"/>
          <p:cNvSpPr txBox="1"/>
          <p:nvPr/>
        </p:nvSpPr>
        <p:spPr>
          <a:xfrm>
            <a:off x="8046720" y="2395728"/>
            <a:ext cx="2194560" cy="2148840"/>
          </a:xfrm>
          <a:prstGeom prst="rect">
            <a:avLst/>
          </a:prstGeom>
          <a:noFill/>
          <a:ln/>
        </p:spPr>
        <p:txBody>
          <a:bodyPr wrap="square" lIns="0" tIns="0" rIns="0" bIns="0" rtlCol="0" anchor="ctr"/>
          <a:lstStyle/>
          <a:p>
            <a:pPr indent="0" marL="0">
              <a:buNone/>
            </a:pPr>
            <a:r>
              <a:rPr lang="en-US" sz="1300" b="1" dirty="0">
                <a:solidFill>
                  <a:schemeClr val="bg1"/>
                </a:solidFill>
              </a:rPr>
              <a:t>Advertised price</a:t>
            </a:r>
            <a:endParaRPr lang="en-US" sz="1300" dirty="0"/>
          </a:p>
        </p:txBody>
      </p:sp>
      <p:sp>
        <p:nvSpPr>
          <p:cNvPr id="27" name="Text 24"/>
          <p:cNvSpPr txBox="1"/>
          <p:nvPr/>
        </p:nvSpPr>
        <p:spPr>
          <a:xfrm>
            <a:off x="10149840" y="2395728"/>
            <a:ext cx="1097280" cy="2148840"/>
          </a:xfrm>
          <a:prstGeom prst="rect">
            <a:avLst/>
          </a:prstGeom>
          <a:noFill/>
          <a:ln/>
        </p:spPr>
        <p:txBody>
          <a:bodyPr wrap="square" lIns="0" tIns="0" rIns="0" bIns="0" rtlCol="0" anchor="ctr"/>
          <a:lstStyle/>
          <a:p>
            <a:pPr algn="r" indent="0" marL="0">
              <a:buNone/>
            </a:pPr>
            <a:r>
              <a:rPr lang="en-US" sz="1400" b="1" dirty="0">
                <a:solidFill>
                  <a:schemeClr val="bg1"/>
                </a:solidFill>
              </a:rPr>
              <a:t>₹1,006</a:t>
            </a:r>
            <a:endParaRPr lang="en-US" sz="1400" dirty="0"/>
          </a:p>
        </p:txBody>
      </p:sp>
      <p:sp>
        <p:nvSpPr>
          <p:cNvPr id="28" name="Text 25"/>
          <p:cNvSpPr txBox="1"/>
          <p:nvPr/>
        </p:nvSpPr>
        <p:spPr>
          <a:xfrm>
            <a:off x="7863840" y="4800600"/>
            <a:ext cx="3566160" cy="594360"/>
          </a:xfrm>
          <a:prstGeom prst="rect">
            <a:avLst/>
          </a:prstGeom>
          <a:noFill/>
          <a:ln/>
        </p:spPr>
        <p:txBody>
          <a:bodyPr wrap="square" lIns="0" tIns="0" rIns="0" bIns="0" rtlCol="0" anchor="ctr"/>
          <a:lstStyle/>
          <a:p>
            <a:pPr indent="0" marL="0">
              <a:buNone/>
            </a:pPr>
            <a:r>
              <a:rPr lang="en-US" sz="1600" dirty="0">
                <a:solidFill>
                  <a:schemeClr val="bg2"/>
                </a:solidFill>
              </a:rPr>
              <a:t>You pay  </a:t>
            </a:r>
            <a:pPr indent="0" marL="0">
              <a:buNone/>
            </a:pPr>
            <a:r>
              <a:rPr lang="en-US" sz="3400" b="1" dirty="0">
                <a:solidFill>
                  <a:schemeClr val="bg1"/>
                </a:solidFill>
                <a:latin typeface="Cambria" pitchFamily="34" charset="0"/>
                <a:ea typeface="Cambria" pitchFamily="34" charset="-122"/>
                <a:cs typeface="Cambria" pitchFamily="34" charset="-120"/>
              </a:rPr>
              <a:t>₹1,324</a:t>
            </a:r>
            <a:endParaRPr lang="en-US" sz="1400" dirty="0"/>
          </a:p>
        </p:txBody>
      </p:sp>
      <p:sp>
        <p:nvSpPr>
          <p:cNvPr id="29" name="Text 26"/>
          <p:cNvSpPr txBox="1"/>
          <p:nvPr/>
        </p:nvSpPr>
        <p:spPr>
          <a:xfrm>
            <a:off x="7863840" y="5394960"/>
            <a:ext cx="3566160" cy="320040"/>
          </a:xfrm>
          <a:prstGeom prst="rect">
            <a:avLst/>
          </a:prstGeom>
          <a:noFill/>
          <a:ln/>
        </p:spPr>
        <p:txBody>
          <a:bodyPr wrap="square" lIns="0" tIns="0" rIns="0" bIns="0" rtlCol="0" anchor="t"/>
          <a:lstStyle/>
          <a:p>
            <a:pPr indent="0" marL="0">
              <a:buNone/>
            </a:pPr>
            <a:r>
              <a:rPr lang="en-US" sz="1300" b="1" dirty="0">
                <a:solidFill>
                  <a:schemeClr val="accent2"/>
                </a:solidFill>
              </a:rPr>
              <a:t>+32% between the first screen and payment</a:t>
            </a:r>
            <a:endParaRPr lang="en-US" sz="1300" dirty="0"/>
          </a:p>
        </p:txBody>
      </p:sp>
      <p:sp>
        <p:nvSpPr>
          <p:cNvPr id="30" name="Text 27"/>
          <p:cNvSpPr txBox="1"/>
          <p:nvPr/>
        </p:nvSpPr>
        <p:spPr>
          <a:xfrm>
            <a:off x="7863840" y="5733288"/>
            <a:ext cx="3566160" cy="274320"/>
          </a:xfrm>
          <a:prstGeom prst="rect">
            <a:avLst/>
          </a:prstGeom>
          <a:noFill/>
          <a:ln/>
        </p:spPr>
        <p:txBody>
          <a:bodyPr wrap="square" lIns="0" tIns="0" rIns="0" bIns="0" rtlCol="0" anchor="t"/>
          <a:lstStyle/>
          <a:p>
            <a:pPr indent="0" marL="0">
              <a:buNone/>
            </a:pPr>
            <a:r>
              <a:rPr lang="en-US" sz="1000" i="1" dirty="0">
                <a:solidFill>
                  <a:schemeClr val="bg2"/>
                </a:solidFill>
              </a:rPr>
              <a:t>Demo audit of TicketNest, our test shop with planted tricks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Problem Statement</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01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Online prices change between the product page and payment, where a single shopper cannot see it</a:t>
            </a:r>
            <a:endParaRPr lang="en-US" sz="1700" dirty="0"/>
          </a:p>
        </p:txBody>
      </p:sp>
      <p:sp>
        <p:nvSpPr>
          <p:cNvPr id="6" name="card"/>
          <p:cNvSpPr/>
          <p:nvPr/>
        </p:nvSpPr>
        <p:spPr>
          <a:xfrm>
            <a:off x="548640" y="1645920"/>
            <a:ext cx="2788920" cy="2011680"/>
          </a:xfrm>
          <a:prstGeom prst="roundRect">
            <a:avLst>
              <a:gd name="adj" fmla="val 4545"/>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7" name="Text 4"/>
          <p:cNvSpPr txBox="1"/>
          <p:nvPr/>
        </p:nvSpPr>
        <p:spPr>
          <a:xfrm>
            <a:off x="777240" y="1874520"/>
            <a:ext cx="23774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304M</a:t>
            </a:r>
            <a:endParaRPr lang="en-US" sz="3200" dirty="0"/>
          </a:p>
        </p:txBody>
      </p:sp>
      <p:sp>
        <p:nvSpPr>
          <p:cNvPr id="8" name="Text 5"/>
          <p:cNvSpPr txBox="1"/>
          <p:nvPr/>
        </p:nvSpPr>
        <p:spPr>
          <a:xfrm>
            <a:off x="777240" y="2606040"/>
            <a:ext cx="2377440" cy="914400"/>
          </a:xfrm>
          <a:prstGeom prst="rect">
            <a:avLst/>
          </a:prstGeom>
          <a:noFill/>
          <a:ln/>
        </p:spPr>
        <p:txBody>
          <a:bodyPr wrap="square" lIns="0" tIns="0" rIns="0" bIns="0" rtlCol="0" anchor="t"/>
          <a:lstStyle/>
          <a:p>
            <a:pPr indent="0" marL="0">
              <a:buNone/>
            </a:pPr>
            <a:r>
              <a:rPr lang="en-US" sz="1400" dirty="0">
                <a:solidFill>
                  <a:schemeClr val="tx1"/>
                </a:solidFill>
              </a:rPr>
              <a:t>online buyers in India; 88% lose ₹78–87 a month to hidden charges</a:t>
            </a:r>
            <a:endParaRPr lang="en-US" sz="1400" dirty="0"/>
          </a:p>
        </p:txBody>
      </p:sp>
      <p:sp>
        <p:nvSpPr>
          <p:cNvPr id="9" name="card"/>
          <p:cNvSpPr/>
          <p:nvPr/>
        </p:nvSpPr>
        <p:spPr>
          <a:xfrm>
            <a:off x="3520440" y="1645920"/>
            <a:ext cx="2788920" cy="2011680"/>
          </a:xfrm>
          <a:prstGeom prst="roundRect">
            <a:avLst>
              <a:gd name="adj" fmla="val 4545"/>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0" name="Text 7"/>
          <p:cNvSpPr txBox="1"/>
          <p:nvPr/>
        </p:nvSpPr>
        <p:spPr>
          <a:xfrm>
            <a:off x="3749040" y="1874520"/>
            <a:ext cx="2377440" cy="685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₹25–28k cr</a:t>
            </a:r>
            <a:endParaRPr lang="en-US" sz="3200" dirty="0"/>
          </a:p>
        </p:txBody>
      </p:sp>
      <p:sp>
        <p:nvSpPr>
          <p:cNvPr id="11" name="Text 8"/>
          <p:cNvSpPr txBox="1"/>
          <p:nvPr/>
        </p:nvSpPr>
        <p:spPr>
          <a:xfrm>
            <a:off x="3749040" y="2606040"/>
            <a:ext cx="2377440" cy="914400"/>
          </a:xfrm>
          <a:prstGeom prst="rect">
            <a:avLst/>
          </a:prstGeom>
          <a:noFill/>
          <a:ln/>
        </p:spPr>
        <p:txBody>
          <a:bodyPr wrap="square" lIns="0" tIns="0" rIns="0" bIns="0" rtlCol="0" anchor="t"/>
          <a:lstStyle/>
          <a:p>
            <a:pPr indent="0" marL="0">
              <a:buNone/>
            </a:pPr>
            <a:r>
              <a:rPr lang="en-US" sz="1400" dirty="0">
                <a:solidFill>
                  <a:schemeClr val="tx1"/>
                </a:solidFill>
              </a:rPr>
              <a:t>lost by Indian online buyers every year to dark patterns and hidden charges</a:t>
            </a:r>
            <a:endParaRPr lang="en-US" sz="1400" dirty="0"/>
          </a:p>
        </p:txBody>
      </p:sp>
      <p:sp>
        <p:nvSpPr>
          <p:cNvPr id="12" name="card"/>
          <p:cNvSpPr/>
          <p:nvPr/>
        </p:nvSpPr>
        <p:spPr>
          <a:xfrm>
            <a:off x="548640" y="3840480"/>
            <a:ext cx="2788920" cy="2011680"/>
          </a:xfrm>
          <a:prstGeom prst="roundRect">
            <a:avLst>
              <a:gd name="adj" fmla="val 4545"/>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3" name="Text 10"/>
          <p:cNvSpPr txBox="1"/>
          <p:nvPr/>
        </p:nvSpPr>
        <p:spPr>
          <a:xfrm>
            <a:off x="777240" y="4069080"/>
            <a:ext cx="2377440" cy="68580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97%</a:t>
            </a:r>
            <a:endParaRPr lang="en-US" sz="3200" dirty="0"/>
          </a:p>
        </p:txBody>
      </p:sp>
      <p:sp>
        <p:nvSpPr>
          <p:cNvPr id="14" name="Text 11"/>
          <p:cNvSpPr txBox="1"/>
          <p:nvPr/>
        </p:nvSpPr>
        <p:spPr>
          <a:xfrm>
            <a:off x="777240" y="4800600"/>
            <a:ext cx="2377440" cy="914400"/>
          </a:xfrm>
          <a:prstGeom prst="rect">
            <a:avLst/>
          </a:prstGeom>
          <a:noFill/>
          <a:ln/>
        </p:spPr>
        <p:txBody>
          <a:bodyPr wrap="square" lIns="0" tIns="0" rIns="0" bIns="0" rtlCol="0" anchor="t"/>
          <a:lstStyle/>
          <a:p>
            <a:pPr indent="0" marL="0">
              <a:buNone/>
            </a:pPr>
            <a:r>
              <a:rPr lang="en-US" sz="1400" dirty="0">
                <a:solidFill>
                  <a:schemeClr val="tx1"/>
                </a:solidFill>
              </a:rPr>
              <a:t>of 290 major Indian platforms still use at least one dark pattern</a:t>
            </a:r>
            <a:endParaRPr lang="en-US" sz="1400" dirty="0"/>
          </a:p>
        </p:txBody>
      </p:sp>
      <p:sp>
        <p:nvSpPr>
          <p:cNvPr id="15" name="card"/>
          <p:cNvSpPr/>
          <p:nvPr/>
        </p:nvSpPr>
        <p:spPr>
          <a:xfrm>
            <a:off x="3520440" y="3840480"/>
            <a:ext cx="2788920" cy="2011680"/>
          </a:xfrm>
          <a:prstGeom prst="roundRect">
            <a:avLst>
              <a:gd name="adj" fmla="val 4545"/>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6" name="Text 13"/>
          <p:cNvSpPr txBox="1"/>
          <p:nvPr/>
        </p:nvSpPr>
        <p:spPr>
          <a:xfrm>
            <a:off x="3749040" y="4069080"/>
            <a:ext cx="2377440" cy="68580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4.2 lakh</a:t>
            </a:r>
            <a:endParaRPr lang="en-US" sz="3200" dirty="0"/>
          </a:p>
        </p:txBody>
      </p:sp>
      <p:sp>
        <p:nvSpPr>
          <p:cNvPr id="17" name="Text 14"/>
          <p:cNvSpPr txBox="1"/>
          <p:nvPr/>
        </p:nvSpPr>
        <p:spPr>
          <a:xfrm>
            <a:off x="3749040" y="4800600"/>
            <a:ext cx="2377440" cy="914400"/>
          </a:xfrm>
          <a:prstGeom prst="rect">
            <a:avLst/>
          </a:prstGeom>
          <a:noFill/>
          <a:ln/>
        </p:spPr>
        <p:txBody>
          <a:bodyPr wrap="square" lIns="0" tIns="0" rIns="0" bIns="0" rtlCol="0" anchor="t"/>
          <a:lstStyle/>
          <a:p>
            <a:pPr indent="0" marL="0">
              <a:buNone/>
            </a:pPr>
            <a:r>
              <a:rPr lang="en-US" sz="1400" dirty="0">
                <a:solidFill>
                  <a:schemeClr val="tx1"/>
                </a:solidFill>
              </a:rPr>
              <a:t>e-commerce complaints a year at the National Consumer Helpline (NCH), 32% of all</a:t>
            </a:r>
            <a:endParaRPr lang="en-US" sz="1400" dirty="0"/>
          </a:p>
        </p:txBody>
      </p:sp>
      <p:sp>
        <p:nvSpPr>
          <p:cNvPr id="18" name="Text 15"/>
          <p:cNvSpPr txBox="1"/>
          <p:nvPr/>
        </p:nvSpPr>
        <p:spPr>
          <a:xfrm>
            <a:off x="681228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Why it persists</a:t>
            </a:r>
            <a:endParaRPr lang="en-US" sz="2000" dirty="0"/>
          </a:p>
        </p:txBody>
      </p:sp>
      <p:sp>
        <p:nvSpPr>
          <p:cNvPr id="19" name="icon tile"/>
          <p:cNvSpPr/>
          <p:nvPr/>
        </p:nvSpPr>
        <p:spPr>
          <a:xfrm>
            <a:off x="6812280" y="224028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20" name="icon" descr="Receipt">    </p:cNvPr>
          <p:cNvPicPr>
            <a:picLocks noChangeAspect="1"/>
          </p:cNvPicPr>
          <p:nvPr/>
        </p:nvPicPr>
        <p:blipFill>
          <a:blip r:embed="rId1"/>
          <a:stretch>
            <a:fillRect/>
          </a:stretch>
        </p:blipFill>
        <p:spPr>
          <a:xfrm>
            <a:off x="6948343" y="2376343"/>
            <a:ext cx="294803" cy="294803"/>
          </a:xfrm>
          <a:prstGeom prst="rect">
            <a:avLst/>
          </a:prstGeom>
        </p:spPr>
      </p:pic>
      <p:sp>
        <p:nvSpPr>
          <p:cNvPr id="21" name="Text 17"/>
          <p:cNvSpPr txBox="1"/>
          <p:nvPr/>
        </p:nvSpPr>
        <p:spPr>
          <a:xfrm>
            <a:off x="7589520" y="2240280"/>
            <a:ext cx="4023360" cy="347472"/>
          </a:xfrm>
          <a:prstGeom prst="rect">
            <a:avLst/>
          </a:prstGeom>
          <a:noFill/>
          <a:ln/>
        </p:spPr>
        <p:txBody>
          <a:bodyPr wrap="square" lIns="0" tIns="0" rIns="0" bIns="0" rtlCol="0" anchor="t"/>
          <a:lstStyle/>
          <a:p>
            <a:pPr indent="0" marL="0">
              <a:buNone/>
            </a:pPr>
            <a:r>
              <a:rPr lang="en-US" sz="1600" b="1" dirty="0">
                <a:solidFill>
                  <a:schemeClr val="tx1"/>
                </a:solidFill>
              </a:rPr>
              <a:t>Fees appear only at checkout</a:t>
            </a:r>
            <a:endParaRPr lang="en-US" sz="1600" dirty="0"/>
          </a:p>
        </p:txBody>
      </p:sp>
      <p:sp>
        <p:nvSpPr>
          <p:cNvPr id="22" name="Text 18"/>
          <p:cNvSpPr txBox="1"/>
          <p:nvPr/>
        </p:nvSpPr>
        <p:spPr>
          <a:xfrm>
            <a:off x="7589520" y="2606040"/>
            <a:ext cx="4023360" cy="777240"/>
          </a:xfrm>
          <a:prstGeom prst="rect">
            <a:avLst/>
          </a:prstGeom>
          <a:noFill/>
          <a:ln/>
        </p:spPr>
        <p:txBody>
          <a:bodyPr wrap="square" lIns="0" tIns="0" rIns="0" bIns="0" rtlCol="0" anchor="t"/>
          <a:lstStyle/>
          <a:p>
            <a:pPr indent="0" marL="0">
              <a:buNone/>
            </a:pPr>
            <a:r>
              <a:rPr lang="en-US" sz="1400" dirty="0">
                <a:solidFill>
                  <a:schemeClr val="accent6"/>
                </a:solidFill>
              </a:rPr>
              <a:t>Drip pricing and pre-ticked add-ons wait on the last screen, after the shopper has committed.</a:t>
            </a:r>
            <a:endParaRPr lang="en-US" sz="1400" dirty="0"/>
          </a:p>
        </p:txBody>
      </p:sp>
      <p:sp>
        <p:nvSpPr>
          <p:cNvPr id="23" name="icon tile"/>
          <p:cNvSpPr/>
          <p:nvPr/>
        </p:nvSpPr>
        <p:spPr>
          <a:xfrm>
            <a:off x="6812280" y="3538728"/>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24" name="icon" descr="UserSecret">    </p:cNvPr>
          <p:cNvPicPr>
            <a:picLocks noChangeAspect="1"/>
          </p:cNvPicPr>
          <p:nvPr/>
        </p:nvPicPr>
        <p:blipFill>
          <a:blip r:embed="rId2"/>
          <a:stretch>
            <a:fillRect/>
          </a:stretch>
        </p:blipFill>
        <p:spPr>
          <a:xfrm>
            <a:off x="6948343" y="3674791"/>
            <a:ext cx="294803" cy="294803"/>
          </a:xfrm>
          <a:prstGeom prst="rect">
            <a:avLst/>
          </a:prstGeom>
        </p:spPr>
      </p:pic>
      <p:sp>
        <p:nvSpPr>
          <p:cNvPr id="25" name="Text 20"/>
          <p:cNvSpPr txBox="1"/>
          <p:nvPr/>
        </p:nvSpPr>
        <p:spPr>
          <a:xfrm>
            <a:off x="7589520" y="3538728"/>
            <a:ext cx="4023360" cy="347472"/>
          </a:xfrm>
          <a:prstGeom prst="rect">
            <a:avLst/>
          </a:prstGeom>
          <a:noFill/>
          <a:ln/>
        </p:spPr>
        <p:txBody>
          <a:bodyPr wrap="square" lIns="0" tIns="0" rIns="0" bIns="0" rtlCol="0" anchor="t"/>
          <a:lstStyle/>
          <a:p>
            <a:pPr indent="0" marL="0">
              <a:buNone/>
            </a:pPr>
            <a:r>
              <a:rPr lang="en-US" sz="1600" b="1" dirty="0">
                <a:solidFill>
                  <a:schemeClr val="tx1"/>
                </a:solidFill>
              </a:rPr>
              <a:t>Personalised prices are invisible</a:t>
            </a:r>
            <a:endParaRPr lang="en-US" sz="1600" dirty="0"/>
          </a:p>
        </p:txBody>
      </p:sp>
      <p:sp>
        <p:nvSpPr>
          <p:cNvPr id="26" name="Text 21"/>
          <p:cNvSpPr txBox="1"/>
          <p:nvPr/>
        </p:nvSpPr>
        <p:spPr>
          <a:xfrm>
            <a:off x="7589520" y="3904488"/>
            <a:ext cx="4023360" cy="777240"/>
          </a:xfrm>
          <a:prstGeom prst="rect">
            <a:avLst/>
          </a:prstGeom>
          <a:noFill/>
          <a:ln/>
        </p:spPr>
        <p:txBody>
          <a:bodyPr wrap="square" lIns="0" tIns="0" rIns="0" bIns="0" rtlCol="0" anchor="t"/>
          <a:lstStyle/>
          <a:p>
            <a:pPr indent="0" marL="0">
              <a:buNone/>
            </a:pPr>
            <a:r>
              <a:rPr lang="en-US" sz="1400" dirty="0">
                <a:solidFill>
                  <a:schemeClr val="accent6"/>
                </a:solidFill>
              </a:rPr>
              <a:t>One shopper only ever sees their own price, so device or location pricing cannot be noticed.</a:t>
            </a:r>
            <a:endParaRPr lang="en-US" sz="1400" dirty="0"/>
          </a:p>
        </p:txBody>
      </p:sp>
      <p:sp>
        <p:nvSpPr>
          <p:cNvPr id="27" name="icon tile"/>
          <p:cNvSpPr/>
          <p:nvPr/>
        </p:nvSpPr>
        <p:spPr>
          <a:xfrm>
            <a:off x="6812280" y="4837176"/>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28" name="icon" descr="FileSignature">    </p:cNvPr>
          <p:cNvPicPr>
            <a:picLocks noChangeAspect="1"/>
          </p:cNvPicPr>
          <p:nvPr/>
        </p:nvPicPr>
        <p:blipFill>
          <a:blip r:embed="rId3"/>
          <a:stretch>
            <a:fillRect/>
          </a:stretch>
        </p:blipFill>
        <p:spPr>
          <a:xfrm>
            <a:off x="6948343" y="4973239"/>
            <a:ext cx="294803" cy="294803"/>
          </a:xfrm>
          <a:prstGeom prst="rect">
            <a:avLst/>
          </a:prstGeom>
        </p:spPr>
      </p:pic>
      <p:sp>
        <p:nvSpPr>
          <p:cNvPr id="29" name="Text 23"/>
          <p:cNvSpPr txBox="1"/>
          <p:nvPr/>
        </p:nvSpPr>
        <p:spPr>
          <a:xfrm>
            <a:off x="7589520" y="4837176"/>
            <a:ext cx="4023360" cy="347472"/>
          </a:xfrm>
          <a:prstGeom prst="rect">
            <a:avLst/>
          </a:prstGeom>
          <a:noFill/>
          <a:ln/>
        </p:spPr>
        <p:txBody>
          <a:bodyPr wrap="square" lIns="0" tIns="0" rIns="0" bIns="0" rtlCol="0" anchor="t"/>
          <a:lstStyle/>
          <a:p>
            <a:pPr indent="0" marL="0">
              <a:buNone/>
            </a:pPr>
            <a:r>
              <a:rPr lang="en-US" sz="1600" b="1" dirty="0">
                <a:solidFill>
                  <a:schemeClr val="tx1"/>
                </a:solidFill>
              </a:rPr>
              <a:t>Compliance is self-declared</a:t>
            </a:r>
            <a:endParaRPr lang="en-US" sz="1600" dirty="0"/>
          </a:p>
        </p:txBody>
      </p:sp>
      <p:sp>
        <p:nvSpPr>
          <p:cNvPr id="30" name="Text 24"/>
          <p:cNvSpPr txBox="1"/>
          <p:nvPr/>
        </p:nvSpPr>
        <p:spPr>
          <a:xfrm>
            <a:off x="7589520" y="5202936"/>
            <a:ext cx="4023360" cy="777240"/>
          </a:xfrm>
          <a:prstGeom prst="rect">
            <a:avLst/>
          </a:prstGeom>
          <a:noFill/>
          <a:ln/>
        </p:spPr>
        <p:txBody>
          <a:bodyPr wrap="square" lIns="0" tIns="0" rIns="0" bIns="0" rtlCol="0" anchor="t"/>
          <a:lstStyle/>
          <a:p>
            <a:pPr indent="0" marL="0">
              <a:buNone/>
            </a:pPr>
            <a:r>
              <a:rPr lang="en-US" sz="1400" dirty="0">
                <a:solidFill>
                  <a:schemeClr val="accent6"/>
                </a:solidFill>
              </a:rPr>
              <a:t>The Central Consumer Protection Authority (CCPA) asked 50+ platforms to self-audit in June 2025. No independent check is required.</a:t>
            </a:r>
            <a:endParaRPr lang="en-US" sz="1400" dirty="0"/>
          </a:p>
        </p:txBody>
      </p:sp>
      <p:sp>
        <p:nvSpPr>
          <p:cNvPr id="31" name="Text 25"/>
          <p:cNvSpPr txBox="1"/>
          <p:nvPr/>
        </p:nvSpPr>
        <p:spPr>
          <a:xfrm>
            <a:off x="548640" y="6035040"/>
            <a:ext cx="11064240" cy="256032"/>
          </a:xfrm>
          <a:prstGeom prst="rect">
            <a:avLst/>
          </a:prstGeom>
          <a:noFill/>
          <a:ln/>
        </p:spPr>
        <p:txBody>
          <a:bodyPr wrap="square" lIns="0" tIns="0" rIns="0" bIns="0" rtlCol="0" anchor="t"/>
          <a:lstStyle/>
          <a:p>
            <a:pPr indent="0" marL="0">
              <a:buNone/>
            </a:pPr>
            <a:r>
              <a:rPr lang="en-US" sz="1000" dirty="0">
                <a:solidFill>
                  <a:schemeClr val="accent6"/>
                </a:solidFill>
              </a:rPr>
              <a:t>Sources: 304M, ₹25–28k cr: Datum Intelligence (Jun 2026) · 97%: LocalCircles (Oct 2025) · 4.2 lakh: NCH data FY2024-25 · 50+ platforms: CCPA advisory of 5 Jun 2025 (recipient count as reported in the press).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bg1"/>
                </a:solidFill>
              </a:rPr>
              <a:t>Proposed Solution</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2"/>
                </a:solidFill>
              </a:rPr>
              <a:t>PARDARSHI  ·  02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bg2"/>
                </a:solidFill>
                <a:latin typeface="Cambria" pitchFamily="34" charset="0"/>
                <a:ea typeface="Cambria" pitchFamily="34" charset="-122"/>
                <a:cs typeface="Cambria" pitchFamily="34" charset="-120"/>
              </a:rPr>
              <a:t>Pardarshi measures what shoppers are actually charged, and turns it into evidence</a:t>
            </a:r>
            <a:endParaRPr lang="en-US" sz="1700" dirty="0"/>
          </a:p>
        </p:txBody>
      </p:sp>
      <p:sp>
        <p:nvSpPr>
          <p:cNvPr id="6" name="flow line"/>
          <p:cNvSpPr/>
          <p:nvPr/>
        </p:nvSpPr>
        <p:spPr>
          <a:xfrm>
            <a:off x="1005840" y="2212848"/>
            <a:ext cx="8577072" cy="0"/>
          </a:xfrm>
          <a:prstGeom prst="line">
            <a:avLst/>
          </a:prstGeom>
          <a:noFill/>
          <a:ln w="25400">
            <a:solidFill>
              <a:schemeClr val="accent1"/>
            </a:solidFill>
            <a:prstDash val="solid"/>
          </a:ln>
        </p:spPr>
      </p:sp>
      <p:sp>
        <p:nvSpPr>
          <p:cNvPr id="7" name="icon tile"/>
          <p:cNvSpPr/>
          <p:nvPr/>
        </p:nvSpPr>
        <p:spPr>
          <a:xfrm>
            <a:off x="548640" y="1783080"/>
            <a:ext cx="685800" cy="685800"/>
          </a:xfrm>
          <a:prstGeom prst="roundRect">
            <a:avLst>
              <a:gd name="adj" fmla="val 16000"/>
            </a:avLst>
          </a:prstGeom>
          <a:solidFill>
            <a:schemeClr val="accent1"/>
          </a:solidFill>
          <a:ln w="6350">
            <a:solidFill>
              <a:schemeClr val="accent1"/>
            </a:solidFill>
            <a:prstDash val="solid"/>
          </a:ln>
        </p:spPr>
      </p:sp>
      <p:pic>
        <p:nvPicPr>
          <p:cNvPr id="8" name="icon" descr="Users">    </p:cNvPr>
          <p:cNvPicPr>
            <a:picLocks noChangeAspect="1"/>
          </p:cNvPicPr>
          <p:nvPr/>
        </p:nvPicPr>
        <p:blipFill>
          <a:blip r:embed="rId1"/>
          <a:stretch>
            <a:fillRect/>
          </a:stretch>
        </p:blipFill>
        <p:spPr>
          <a:xfrm>
            <a:off x="713232" y="1947672"/>
            <a:ext cx="356616" cy="356616"/>
          </a:xfrm>
          <a:prstGeom prst="rect">
            <a:avLst/>
          </a:prstGeom>
        </p:spPr>
      </p:pic>
      <p:sp>
        <p:nvSpPr>
          <p:cNvPr id="9" name="Text 5"/>
          <p:cNvSpPr txBox="1"/>
          <p:nvPr/>
        </p:nvSpPr>
        <p:spPr>
          <a:xfrm>
            <a:off x="1371600" y="1700784"/>
            <a:ext cx="7315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01</a:t>
            </a:r>
            <a:endParaRPr lang="en-US" sz="1800" dirty="0"/>
          </a:p>
        </p:txBody>
      </p:sp>
      <p:sp>
        <p:nvSpPr>
          <p:cNvPr id="10" name="Text 6"/>
          <p:cNvSpPr txBox="1"/>
          <p:nvPr/>
        </p:nvSpPr>
        <p:spPr>
          <a:xfrm>
            <a:off x="548640" y="2697480"/>
            <a:ext cx="2057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Shop</a:t>
            </a:r>
            <a:endParaRPr lang="en-US" sz="2000" dirty="0"/>
          </a:p>
        </p:txBody>
      </p:sp>
      <p:sp>
        <p:nvSpPr>
          <p:cNvPr id="11" name="Text 7"/>
          <p:cNvSpPr txBox="1"/>
          <p:nvPr/>
        </p:nvSpPr>
        <p:spPr>
          <a:xfrm>
            <a:off x="548640" y="3154680"/>
            <a:ext cx="2057400" cy="1463040"/>
          </a:xfrm>
          <a:prstGeom prst="rect">
            <a:avLst/>
          </a:prstGeom>
          <a:noFill/>
          <a:ln/>
        </p:spPr>
        <p:txBody>
          <a:bodyPr wrap="square" lIns="0" tIns="0" rIns="0" bIns="0" rtlCol="0" anchor="t"/>
          <a:lstStyle/>
          <a:p>
            <a:pPr indent="0" marL="0">
              <a:buNone/>
            </a:pPr>
            <a:r>
              <a:rPr lang="en-US" sz="1400" dirty="0">
                <a:solidFill>
                  <a:schemeClr val="bg2"/>
                </a:solidFill>
              </a:rPr>
              <a:t>6 shopper profiles × 3 runs, plus the cancellation flow: 20 runs</a:t>
            </a:r>
            <a:endParaRPr lang="en-US" sz="1400" dirty="0"/>
          </a:p>
        </p:txBody>
      </p:sp>
      <p:sp>
        <p:nvSpPr>
          <p:cNvPr id="12" name="icon tile"/>
          <p:cNvSpPr/>
          <p:nvPr/>
        </p:nvSpPr>
        <p:spPr>
          <a:xfrm>
            <a:off x="2807208" y="1783080"/>
            <a:ext cx="685800" cy="685800"/>
          </a:xfrm>
          <a:prstGeom prst="roundRect">
            <a:avLst>
              <a:gd name="adj" fmla="val 16000"/>
            </a:avLst>
          </a:prstGeom>
          <a:solidFill>
            <a:schemeClr val="accent1"/>
          </a:solidFill>
          <a:ln w="6350">
            <a:solidFill>
              <a:schemeClr val="accent1"/>
            </a:solidFill>
            <a:prstDash val="solid"/>
          </a:ln>
        </p:spPr>
      </p:sp>
      <p:pic>
        <p:nvPicPr>
          <p:cNvPr id="13" name="icon" descr="Hand">    </p:cNvPr>
          <p:cNvPicPr>
            <a:picLocks noChangeAspect="1"/>
          </p:cNvPicPr>
          <p:nvPr/>
        </p:nvPicPr>
        <p:blipFill>
          <a:blip r:embed="rId2"/>
          <a:stretch>
            <a:fillRect/>
          </a:stretch>
        </p:blipFill>
        <p:spPr>
          <a:xfrm>
            <a:off x="2971800" y="1947672"/>
            <a:ext cx="356616" cy="356616"/>
          </a:xfrm>
          <a:prstGeom prst="rect">
            <a:avLst/>
          </a:prstGeom>
        </p:spPr>
      </p:pic>
      <p:sp>
        <p:nvSpPr>
          <p:cNvPr id="14" name="Text 9"/>
          <p:cNvSpPr txBox="1"/>
          <p:nvPr/>
        </p:nvSpPr>
        <p:spPr>
          <a:xfrm>
            <a:off x="3630168" y="1700784"/>
            <a:ext cx="7315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02</a:t>
            </a:r>
            <a:endParaRPr lang="en-US" sz="1800" dirty="0"/>
          </a:p>
        </p:txBody>
      </p:sp>
      <p:sp>
        <p:nvSpPr>
          <p:cNvPr id="15" name="Text 10"/>
          <p:cNvSpPr txBox="1"/>
          <p:nvPr/>
        </p:nvSpPr>
        <p:spPr>
          <a:xfrm>
            <a:off x="2807208" y="2697480"/>
            <a:ext cx="2057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Stop</a:t>
            </a:r>
            <a:endParaRPr lang="en-US" sz="2000" dirty="0"/>
          </a:p>
        </p:txBody>
      </p:sp>
      <p:sp>
        <p:nvSpPr>
          <p:cNvPr id="16" name="Text 11"/>
          <p:cNvSpPr txBox="1"/>
          <p:nvPr/>
        </p:nvSpPr>
        <p:spPr>
          <a:xfrm>
            <a:off x="2807208" y="3154680"/>
            <a:ext cx="2057400" cy="1463040"/>
          </a:xfrm>
          <a:prstGeom prst="rect">
            <a:avLst/>
          </a:prstGeom>
          <a:noFill/>
          <a:ln/>
        </p:spPr>
        <p:txBody>
          <a:bodyPr wrap="square" lIns="0" tIns="0" rIns="0" bIns="0" rtlCol="0" anchor="t"/>
          <a:lstStyle/>
          <a:p>
            <a:pPr indent="0" marL="0">
              <a:buNone/>
            </a:pPr>
            <a:r>
              <a:rPr lang="en-US" sz="1400" dirty="0">
                <a:solidFill>
                  <a:schemeClr val="bg2"/>
                </a:solidFill>
              </a:rPr>
              <a:t>Every agent stops before payment, enforced in code on browser lanes</a:t>
            </a:r>
            <a:endParaRPr lang="en-US" sz="1400" dirty="0"/>
          </a:p>
        </p:txBody>
      </p:sp>
      <p:sp>
        <p:nvSpPr>
          <p:cNvPr id="17" name="icon tile"/>
          <p:cNvSpPr/>
          <p:nvPr/>
        </p:nvSpPr>
        <p:spPr>
          <a:xfrm>
            <a:off x="5065776" y="1783080"/>
            <a:ext cx="685800" cy="685800"/>
          </a:xfrm>
          <a:prstGeom prst="roundRect">
            <a:avLst>
              <a:gd name="adj" fmla="val 16000"/>
            </a:avLst>
          </a:prstGeom>
          <a:solidFill>
            <a:schemeClr val="accent1"/>
          </a:solidFill>
          <a:ln w="6350">
            <a:solidFill>
              <a:schemeClr val="accent1"/>
            </a:solidFill>
            <a:prstDash val="solid"/>
          </a:ln>
        </p:spPr>
      </p:sp>
      <p:pic>
        <p:nvPicPr>
          <p:cNvPr id="18" name="icon" descr="Camera">    </p:cNvPr>
          <p:cNvPicPr>
            <a:picLocks noChangeAspect="1"/>
          </p:cNvPicPr>
          <p:nvPr/>
        </p:nvPicPr>
        <p:blipFill>
          <a:blip r:embed="rId3"/>
          <a:stretch>
            <a:fillRect/>
          </a:stretch>
        </p:blipFill>
        <p:spPr>
          <a:xfrm>
            <a:off x="5230368" y="1947672"/>
            <a:ext cx="356616" cy="356616"/>
          </a:xfrm>
          <a:prstGeom prst="rect">
            <a:avLst/>
          </a:prstGeom>
        </p:spPr>
      </p:pic>
      <p:sp>
        <p:nvSpPr>
          <p:cNvPr id="19" name="Text 13"/>
          <p:cNvSpPr txBox="1"/>
          <p:nvPr/>
        </p:nvSpPr>
        <p:spPr>
          <a:xfrm>
            <a:off x="5888736" y="1700784"/>
            <a:ext cx="7315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03</a:t>
            </a:r>
            <a:endParaRPr lang="en-US" sz="1800" dirty="0"/>
          </a:p>
        </p:txBody>
      </p:sp>
      <p:sp>
        <p:nvSpPr>
          <p:cNvPr id="20" name="Text 14"/>
          <p:cNvSpPr txBox="1"/>
          <p:nvPr/>
        </p:nvSpPr>
        <p:spPr>
          <a:xfrm>
            <a:off x="5065776" y="2697480"/>
            <a:ext cx="2057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Record</a:t>
            </a:r>
            <a:endParaRPr lang="en-US" sz="2000" dirty="0"/>
          </a:p>
        </p:txBody>
      </p:sp>
      <p:sp>
        <p:nvSpPr>
          <p:cNvPr id="21" name="Text 15"/>
          <p:cNvSpPr txBox="1"/>
          <p:nvPr/>
        </p:nvSpPr>
        <p:spPr>
          <a:xfrm>
            <a:off x="5065776" y="3154680"/>
            <a:ext cx="2057400" cy="1463040"/>
          </a:xfrm>
          <a:prstGeom prst="rect">
            <a:avLst/>
          </a:prstGeom>
          <a:noFill/>
          <a:ln/>
        </p:spPr>
        <p:txBody>
          <a:bodyPr wrap="square" lIns="0" tIns="0" rIns="0" bIns="0" rtlCol="0" anchor="t"/>
          <a:lstStyle/>
          <a:p>
            <a:pPr indent="0" marL="0">
              <a:buNone/>
            </a:pPr>
            <a:r>
              <a:rPr lang="en-US" sz="1400" dirty="0">
                <a:solidFill>
                  <a:schemeClr val="bg2"/>
                </a:solidFill>
              </a:rPr>
              <a:t>Every screen: price lines, pre‑ticked boxes, urgency claims, screenshots</a:t>
            </a:r>
            <a:endParaRPr lang="en-US" sz="1400" dirty="0"/>
          </a:p>
        </p:txBody>
      </p:sp>
      <p:sp>
        <p:nvSpPr>
          <p:cNvPr id="22" name="icon tile"/>
          <p:cNvSpPr/>
          <p:nvPr/>
        </p:nvSpPr>
        <p:spPr>
          <a:xfrm>
            <a:off x="7324344" y="1783080"/>
            <a:ext cx="685800" cy="685800"/>
          </a:xfrm>
          <a:prstGeom prst="roundRect">
            <a:avLst>
              <a:gd name="adj" fmla="val 16000"/>
            </a:avLst>
          </a:prstGeom>
          <a:solidFill>
            <a:schemeClr val="accent1"/>
          </a:solidFill>
          <a:ln w="6350">
            <a:solidFill>
              <a:schemeClr val="accent1"/>
            </a:solidFill>
            <a:prstDash val="solid"/>
          </a:ln>
        </p:spPr>
      </p:sp>
      <p:pic>
        <p:nvPicPr>
          <p:cNvPr id="23" name="icon" descr="ChartLine">    </p:cNvPr>
          <p:cNvPicPr>
            <a:picLocks noChangeAspect="1"/>
          </p:cNvPicPr>
          <p:nvPr/>
        </p:nvPicPr>
        <p:blipFill>
          <a:blip r:embed="rId4"/>
          <a:stretch>
            <a:fillRect/>
          </a:stretch>
        </p:blipFill>
        <p:spPr>
          <a:xfrm>
            <a:off x="7488936" y="1947672"/>
            <a:ext cx="356616" cy="356616"/>
          </a:xfrm>
          <a:prstGeom prst="rect">
            <a:avLst/>
          </a:prstGeom>
        </p:spPr>
      </p:pic>
      <p:sp>
        <p:nvSpPr>
          <p:cNvPr id="24" name="Text 17"/>
          <p:cNvSpPr txBox="1"/>
          <p:nvPr/>
        </p:nvSpPr>
        <p:spPr>
          <a:xfrm>
            <a:off x="8147304" y="1700784"/>
            <a:ext cx="7315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04</a:t>
            </a:r>
            <a:endParaRPr lang="en-US" sz="1800" dirty="0"/>
          </a:p>
        </p:txBody>
      </p:sp>
      <p:sp>
        <p:nvSpPr>
          <p:cNvPr id="25" name="Text 18"/>
          <p:cNvSpPr txBox="1"/>
          <p:nvPr/>
        </p:nvSpPr>
        <p:spPr>
          <a:xfrm>
            <a:off x="7324344" y="2697480"/>
            <a:ext cx="2057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Measure</a:t>
            </a:r>
            <a:endParaRPr lang="en-US" sz="2000" dirty="0"/>
          </a:p>
        </p:txBody>
      </p:sp>
      <p:sp>
        <p:nvSpPr>
          <p:cNvPr id="26" name="Text 19"/>
          <p:cNvSpPr txBox="1"/>
          <p:nvPr/>
        </p:nvSpPr>
        <p:spPr>
          <a:xfrm>
            <a:off x="7324344" y="3154680"/>
            <a:ext cx="2057400" cy="1463040"/>
          </a:xfrm>
          <a:prstGeom prst="rect">
            <a:avLst/>
          </a:prstGeom>
          <a:noFill/>
          <a:ln/>
        </p:spPr>
        <p:txBody>
          <a:bodyPr wrap="square" lIns="0" tIns="0" rIns="0" bIns="0" rtlCol="0" anchor="t"/>
          <a:lstStyle/>
          <a:p>
            <a:pPr indent="0" marL="0">
              <a:buNone/>
            </a:pPr>
            <a:r>
              <a:rPr lang="en-US" sz="1400" dirty="0">
                <a:solidFill>
                  <a:schemeClr val="bg2"/>
                </a:solidFill>
              </a:rPr>
              <a:t>ML and statistics turn captures into findings, each with its confidence</a:t>
            </a:r>
            <a:endParaRPr lang="en-US" sz="1400" dirty="0"/>
          </a:p>
        </p:txBody>
      </p:sp>
      <p:sp>
        <p:nvSpPr>
          <p:cNvPr id="27" name="icon tile"/>
          <p:cNvSpPr/>
          <p:nvPr/>
        </p:nvSpPr>
        <p:spPr>
          <a:xfrm>
            <a:off x="9582912" y="1783080"/>
            <a:ext cx="685800" cy="685800"/>
          </a:xfrm>
          <a:prstGeom prst="roundRect">
            <a:avLst>
              <a:gd name="adj" fmla="val 16000"/>
            </a:avLst>
          </a:prstGeom>
          <a:solidFill>
            <a:schemeClr val="accent1"/>
          </a:solidFill>
          <a:ln w="6350">
            <a:solidFill>
              <a:schemeClr val="accent1"/>
            </a:solidFill>
            <a:prstDash val="solid"/>
          </a:ln>
        </p:spPr>
      </p:sp>
      <p:pic>
        <p:nvPicPr>
          <p:cNvPr id="28" name="icon" descr="Gavel">    </p:cNvPr>
          <p:cNvPicPr>
            <a:picLocks noChangeAspect="1"/>
          </p:cNvPicPr>
          <p:nvPr/>
        </p:nvPicPr>
        <p:blipFill>
          <a:blip r:embed="rId5"/>
          <a:stretch>
            <a:fillRect/>
          </a:stretch>
        </p:blipFill>
        <p:spPr>
          <a:xfrm>
            <a:off x="9747504" y="1947672"/>
            <a:ext cx="356616" cy="356616"/>
          </a:xfrm>
          <a:prstGeom prst="rect">
            <a:avLst/>
          </a:prstGeom>
        </p:spPr>
      </p:pic>
      <p:sp>
        <p:nvSpPr>
          <p:cNvPr id="29" name="Text 21"/>
          <p:cNvSpPr txBox="1"/>
          <p:nvPr/>
        </p:nvSpPr>
        <p:spPr>
          <a:xfrm>
            <a:off x="10405872" y="1700784"/>
            <a:ext cx="73152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05</a:t>
            </a:r>
            <a:endParaRPr lang="en-US" sz="1800" dirty="0"/>
          </a:p>
        </p:txBody>
      </p:sp>
      <p:sp>
        <p:nvSpPr>
          <p:cNvPr id="30" name="Text 22"/>
          <p:cNvSpPr txBox="1"/>
          <p:nvPr/>
        </p:nvSpPr>
        <p:spPr>
          <a:xfrm>
            <a:off x="9582912" y="2697480"/>
            <a:ext cx="2057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Act</a:t>
            </a:r>
            <a:endParaRPr lang="en-US" sz="2000" dirty="0"/>
          </a:p>
        </p:txBody>
      </p:sp>
      <p:sp>
        <p:nvSpPr>
          <p:cNvPr id="31" name="Text 23"/>
          <p:cNvSpPr txBox="1"/>
          <p:nvPr/>
        </p:nvSpPr>
        <p:spPr>
          <a:xfrm>
            <a:off x="9582912" y="3154680"/>
            <a:ext cx="2057400" cy="1463040"/>
          </a:xfrm>
          <a:prstGeom prst="rect">
            <a:avLst/>
          </a:prstGeom>
          <a:noFill/>
          <a:ln/>
        </p:spPr>
        <p:txBody>
          <a:bodyPr wrap="square" lIns="0" tIns="0" rIns="0" bIns="0" rtlCol="0" anchor="t"/>
          <a:lstStyle/>
          <a:p>
            <a:pPr indent="0" marL="0">
              <a:buNone/>
            </a:pPr>
            <a:r>
              <a:rPr lang="en-US" sz="1400" dirty="0">
                <a:solidFill>
                  <a:schemeClr val="bg2"/>
                </a:solidFill>
              </a:rPr>
              <a:t>0–100 trust score, findings report with SHA‑256 hashes, NCH complaint draft</a:t>
            </a:r>
            <a:endParaRPr lang="en-US" sz="1400" dirty="0"/>
          </a:p>
        </p:txBody>
      </p:sp>
      <p:sp>
        <p:nvSpPr>
          <p:cNvPr id="32" name="callout"/>
          <p:cNvSpPr/>
          <p:nvPr/>
        </p:nvSpPr>
        <p:spPr>
          <a:xfrm>
            <a:off x="548640" y="4846320"/>
            <a:ext cx="11064240" cy="1143000"/>
          </a:xfrm>
          <a:prstGeom prst="roundRect">
            <a:avLst>
              <a:gd name="adj" fmla="val 8000"/>
            </a:avLst>
          </a:prstGeom>
          <a:solidFill>
            <a:schemeClr val="accent1"/>
          </a:solidFill>
          <a:ln w="9525">
            <a:solidFill>
              <a:schemeClr val="accent1"/>
            </a:solidFill>
            <a:prstDash val="solid"/>
          </a:ln>
        </p:spPr>
      </p:sp>
      <p:sp>
        <p:nvSpPr>
          <p:cNvPr id="33" name="Text 25"/>
          <p:cNvSpPr txBox="1"/>
          <p:nvPr/>
        </p:nvSpPr>
        <p:spPr>
          <a:xfrm>
            <a:off x="868680" y="4846320"/>
            <a:ext cx="10424160" cy="11430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Measured, not surveyed.  </a:t>
            </a:r>
            <a:pPr indent="0" marL="0">
              <a:buNone/>
            </a:pPr>
            <a:r>
              <a:rPr lang="en-US" sz="1800" dirty="0">
                <a:solidFill>
                  <a:schemeClr val="bg1"/>
                </a:solidFill>
              </a:rPr>
              <a:t>Per-site proof, with screenshots and statistics, ready to attach to a complaint.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Proposed Solution: Seven Checks</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02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Mapped to the Consumer Protection Act 2019 and the CCPA's 2023 dark-pattern guidelines</a:t>
            </a:r>
            <a:endParaRPr lang="en-US" sz="1700" dirty="0"/>
          </a:p>
        </p:txBody>
      </p:sp>
      <p:sp>
        <p:nvSpPr>
          <p:cNvPr id="6" name="card"/>
          <p:cNvSpPr/>
          <p:nvPr/>
        </p:nvSpPr>
        <p:spPr>
          <a:xfrm>
            <a:off x="548640" y="164592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7" name="icon tile"/>
          <p:cNvSpPr/>
          <p:nvPr/>
        </p:nvSpPr>
        <p:spPr>
          <a:xfrm>
            <a:off x="749808" y="184708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8" name="icon" descr="ArrowTrendUp">    </p:cNvPr>
          <p:cNvPicPr>
            <a:picLocks noChangeAspect="1"/>
          </p:cNvPicPr>
          <p:nvPr/>
        </p:nvPicPr>
        <p:blipFill>
          <a:blip r:embed="rId1"/>
          <a:stretch>
            <a:fillRect/>
          </a:stretch>
        </p:blipFill>
        <p:spPr>
          <a:xfrm>
            <a:off x="870509" y="1967789"/>
            <a:ext cx="261518" cy="261518"/>
          </a:xfrm>
          <a:prstGeom prst="rect">
            <a:avLst/>
          </a:prstGeom>
        </p:spPr>
      </p:pic>
      <p:sp>
        <p:nvSpPr>
          <p:cNvPr id="9" name="Text 5"/>
          <p:cNvSpPr txBox="1"/>
          <p:nvPr/>
        </p:nvSpPr>
        <p:spPr>
          <a:xfrm>
            <a:off x="749808" y="2468880"/>
            <a:ext cx="2194560" cy="347472"/>
          </a:xfrm>
          <a:prstGeom prst="rect">
            <a:avLst/>
          </a:prstGeom>
          <a:noFill/>
          <a:ln/>
        </p:spPr>
        <p:txBody>
          <a:bodyPr wrap="square" lIns="0" tIns="0" rIns="0" bIns="0" rtlCol="0" anchor="t"/>
          <a:lstStyle/>
          <a:p>
            <a:pPr indent="0" marL="0">
              <a:buNone/>
            </a:pPr>
            <a:r>
              <a:rPr lang="en-US" sz="1600" b="1" dirty="0">
                <a:solidFill>
                  <a:schemeClr val="tx1"/>
                </a:solidFill>
              </a:rPr>
              <a:t>Drip pricing</a:t>
            </a:r>
            <a:endParaRPr lang="en-US" sz="1600" dirty="0"/>
          </a:p>
        </p:txBody>
      </p:sp>
      <p:sp>
        <p:nvSpPr>
          <p:cNvPr id="10" name="Text 6"/>
          <p:cNvSpPr txBox="1"/>
          <p:nvPr/>
        </p:nvSpPr>
        <p:spPr>
          <a:xfrm>
            <a:off x="749808" y="281635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First-screen price vs payment total, median of runs</a:t>
            </a:r>
            <a:endParaRPr lang="en-US" sz="1400" dirty="0"/>
          </a:p>
        </p:txBody>
      </p:sp>
      <p:sp>
        <p:nvSpPr>
          <p:cNvPr id="11" name="Text 7"/>
          <p:cNvSpPr txBox="1"/>
          <p:nvPr/>
        </p:nvSpPr>
        <p:spPr>
          <a:xfrm>
            <a:off x="749808" y="342900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CCPA 2023: drip pricing</a:t>
            </a:r>
            <a:endParaRPr lang="en-US" sz="1100" dirty="0"/>
          </a:p>
        </p:txBody>
      </p:sp>
      <p:sp>
        <p:nvSpPr>
          <p:cNvPr id="12" name="card"/>
          <p:cNvSpPr/>
          <p:nvPr/>
        </p:nvSpPr>
        <p:spPr>
          <a:xfrm>
            <a:off x="3383280" y="164592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3" name="icon tile"/>
          <p:cNvSpPr/>
          <p:nvPr/>
        </p:nvSpPr>
        <p:spPr>
          <a:xfrm>
            <a:off x="3584448" y="184708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14" name="icon" descr="BasketShopping">    </p:cNvPr>
          <p:cNvPicPr>
            <a:picLocks noChangeAspect="1"/>
          </p:cNvPicPr>
          <p:nvPr/>
        </p:nvPicPr>
        <p:blipFill>
          <a:blip r:embed="rId2"/>
          <a:stretch>
            <a:fillRect/>
          </a:stretch>
        </p:blipFill>
        <p:spPr>
          <a:xfrm>
            <a:off x="3705149" y="1967789"/>
            <a:ext cx="261518" cy="261518"/>
          </a:xfrm>
          <a:prstGeom prst="rect">
            <a:avLst/>
          </a:prstGeom>
        </p:spPr>
      </p:pic>
      <p:sp>
        <p:nvSpPr>
          <p:cNvPr id="15" name="Text 10"/>
          <p:cNvSpPr txBox="1"/>
          <p:nvPr/>
        </p:nvSpPr>
        <p:spPr>
          <a:xfrm>
            <a:off x="3584448" y="2468880"/>
            <a:ext cx="2194560" cy="347472"/>
          </a:xfrm>
          <a:prstGeom prst="rect">
            <a:avLst/>
          </a:prstGeom>
          <a:noFill/>
          <a:ln/>
        </p:spPr>
        <p:txBody>
          <a:bodyPr wrap="square" lIns="0" tIns="0" rIns="0" bIns="0" rtlCol="0" anchor="t"/>
          <a:lstStyle/>
          <a:p>
            <a:pPr indent="0" marL="0">
              <a:buNone/>
            </a:pPr>
            <a:r>
              <a:rPr lang="en-US" sz="1600" b="1" dirty="0">
                <a:solidFill>
                  <a:schemeClr val="tx1"/>
                </a:solidFill>
              </a:rPr>
              <a:t>Basket sneaking</a:t>
            </a:r>
            <a:endParaRPr lang="en-US" sz="1600" dirty="0"/>
          </a:p>
        </p:txBody>
      </p:sp>
      <p:sp>
        <p:nvSpPr>
          <p:cNvPr id="16" name="Text 11"/>
          <p:cNvSpPr txBox="1"/>
          <p:nvPr/>
        </p:nvSpPr>
        <p:spPr>
          <a:xfrm>
            <a:off x="3584448" y="281635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Paid add-ons that arrive pre‑ticked in the basket</a:t>
            </a:r>
            <a:endParaRPr lang="en-US" sz="1400" dirty="0"/>
          </a:p>
        </p:txBody>
      </p:sp>
      <p:sp>
        <p:nvSpPr>
          <p:cNvPr id="17" name="Text 12"/>
          <p:cNvSpPr txBox="1"/>
          <p:nvPr/>
        </p:nvSpPr>
        <p:spPr>
          <a:xfrm>
            <a:off x="3584448" y="342900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CCPA 2023: basket sneaking</a:t>
            </a:r>
            <a:endParaRPr lang="en-US" sz="1100" dirty="0"/>
          </a:p>
        </p:txBody>
      </p:sp>
      <p:sp>
        <p:nvSpPr>
          <p:cNvPr id="18" name="card"/>
          <p:cNvSpPr/>
          <p:nvPr/>
        </p:nvSpPr>
        <p:spPr>
          <a:xfrm>
            <a:off x="6217920" y="164592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9" name="icon tile"/>
          <p:cNvSpPr/>
          <p:nvPr/>
        </p:nvSpPr>
        <p:spPr>
          <a:xfrm>
            <a:off x="6419088" y="184708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20" name="icon" descr="Stopwatch">    </p:cNvPr>
          <p:cNvPicPr>
            <a:picLocks noChangeAspect="1"/>
          </p:cNvPicPr>
          <p:nvPr/>
        </p:nvPicPr>
        <p:blipFill>
          <a:blip r:embed="rId3"/>
          <a:stretch>
            <a:fillRect/>
          </a:stretch>
        </p:blipFill>
        <p:spPr>
          <a:xfrm>
            <a:off x="6539789" y="1967789"/>
            <a:ext cx="261518" cy="261518"/>
          </a:xfrm>
          <a:prstGeom prst="rect">
            <a:avLst/>
          </a:prstGeom>
        </p:spPr>
      </p:pic>
      <p:sp>
        <p:nvSpPr>
          <p:cNvPr id="21" name="Text 15"/>
          <p:cNvSpPr txBox="1"/>
          <p:nvPr/>
        </p:nvSpPr>
        <p:spPr>
          <a:xfrm>
            <a:off x="6419088" y="2468880"/>
            <a:ext cx="2194560" cy="347472"/>
          </a:xfrm>
          <a:prstGeom prst="rect">
            <a:avLst/>
          </a:prstGeom>
          <a:noFill/>
          <a:ln/>
        </p:spPr>
        <p:txBody>
          <a:bodyPr wrap="square" lIns="0" tIns="0" rIns="0" bIns="0" rtlCol="0" anchor="t"/>
          <a:lstStyle/>
          <a:p>
            <a:pPr indent="0" marL="0">
              <a:buNone/>
            </a:pPr>
            <a:r>
              <a:rPr lang="en-US" sz="1600" b="1" dirty="0">
                <a:solidFill>
                  <a:schemeClr val="tx1"/>
                </a:solidFill>
              </a:rPr>
              <a:t>Fake urgency</a:t>
            </a:r>
            <a:endParaRPr lang="en-US" sz="1600" dirty="0"/>
          </a:p>
        </p:txBody>
      </p:sp>
      <p:sp>
        <p:nvSpPr>
          <p:cNvPr id="22" name="Text 16"/>
          <p:cNvSpPr txBox="1"/>
          <p:nvPr/>
        </p:nvSpPr>
        <p:spPr>
          <a:xfrm>
            <a:off x="6419088" y="281635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Resetting timers, “only N left”, fake popularity</a:t>
            </a:r>
            <a:endParaRPr lang="en-US" sz="1400" dirty="0"/>
          </a:p>
        </p:txBody>
      </p:sp>
      <p:sp>
        <p:nvSpPr>
          <p:cNvPr id="23" name="Text 17"/>
          <p:cNvSpPr txBox="1"/>
          <p:nvPr/>
        </p:nvSpPr>
        <p:spPr>
          <a:xfrm>
            <a:off x="6419088" y="342900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CCPA 2023: false urgency</a:t>
            </a:r>
            <a:endParaRPr lang="en-US" sz="1100" dirty="0"/>
          </a:p>
        </p:txBody>
      </p:sp>
      <p:sp>
        <p:nvSpPr>
          <p:cNvPr id="24" name="card"/>
          <p:cNvSpPr/>
          <p:nvPr/>
        </p:nvSpPr>
        <p:spPr>
          <a:xfrm>
            <a:off x="9052560" y="164592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5" name="icon tile"/>
          <p:cNvSpPr/>
          <p:nvPr/>
        </p:nvSpPr>
        <p:spPr>
          <a:xfrm>
            <a:off x="9253728" y="184708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26" name="icon" descr="CommentSlash">    </p:cNvPr>
          <p:cNvPicPr>
            <a:picLocks noChangeAspect="1"/>
          </p:cNvPicPr>
          <p:nvPr/>
        </p:nvPicPr>
        <p:blipFill>
          <a:blip r:embed="rId4"/>
          <a:stretch>
            <a:fillRect/>
          </a:stretch>
        </p:blipFill>
        <p:spPr>
          <a:xfrm>
            <a:off x="9374429" y="1967789"/>
            <a:ext cx="261518" cy="261518"/>
          </a:xfrm>
          <a:prstGeom prst="rect">
            <a:avLst/>
          </a:prstGeom>
        </p:spPr>
      </p:pic>
      <p:sp>
        <p:nvSpPr>
          <p:cNvPr id="27" name="Text 20"/>
          <p:cNvSpPr txBox="1"/>
          <p:nvPr/>
        </p:nvSpPr>
        <p:spPr>
          <a:xfrm>
            <a:off x="9253728" y="2468880"/>
            <a:ext cx="2194560" cy="347472"/>
          </a:xfrm>
          <a:prstGeom prst="rect">
            <a:avLst/>
          </a:prstGeom>
          <a:noFill/>
          <a:ln/>
        </p:spPr>
        <p:txBody>
          <a:bodyPr wrap="square" lIns="0" tIns="0" rIns="0" bIns="0" rtlCol="0" anchor="t"/>
          <a:lstStyle/>
          <a:p>
            <a:pPr indent="0" marL="0">
              <a:buNone/>
            </a:pPr>
            <a:r>
              <a:rPr lang="en-US" sz="1600" b="1" dirty="0">
                <a:solidFill>
                  <a:schemeClr val="tx1"/>
                </a:solidFill>
              </a:rPr>
              <a:t>Manipulative copy</a:t>
            </a:r>
            <a:endParaRPr lang="en-US" sz="1600" dirty="0"/>
          </a:p>
        </p:txBody>
      </p:sp>
      <p:sp>
        <p:nvSpPr>
          <p:cNvPr id="28" name="Text 21"/>
          <p:cNvSpPr txBox="1"/>
          <p:nvPr/>
        </p:nvSpPr>
        <p:spPr>
          <a:xfrm>
            <a:off x="9253728" y="281635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Confirm-shaming and nagging copy (ML)</a:t>
            </a:r>
            <a:endParaRPr lang="en-US" sz="1400" dirty="0"/>
          </a:p>
        </p:txBody>
      </p:sp>
      <p:sp>
        <p:nvSpPr>
          <p:cNvPr id="29" name="Text 22"/>
          <p:cNvSpPr txBox="1"/>
          <p:nvPr/>
        </p:nvSpPr>
        <p:spPr>
          <a:xfrm>
            <a:off x="9253728" y="342900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CCPA 2023: confirm shaming, nagging</a:t>
            </a:r>
            <a:endParaRPr lang="en-US" sz="1100" dirty="0"/>
          </a:p>
        </p:txBody>
      </p:sp>
      <p:sp>
        <p:nvSpPr>
          <p:cNvPr id="30" name="card"/>
          <p:cNvSpPr/>
          <p:nvPr/>
        </p:nvSpPr>
        <p:spPr>
          <a:xfrm>
            <a:off x="548640" y="402336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31" name="icon tile"/>
          <p:cNvSpPr/>
          <p:nvPr/>
        </p:nvSpPr>
        <p:spPr>
          <a:xfrm>
            <a:off x="749808" y="422452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32" name="icon" descr="MobileScreen">    </p:cNvPr>
          <p:cNvPicPr>
            <a:picLocks noChangeAspect="1"/>
          </p:cNvPicPr>
          <p:nvPr/>
        </p:nvPicPr>
        <p:blipFill>
          <a:blip r:embed="rId5"/>
          <a:stretch>
            <a:fillRect/>
          </a:stretch>
        </p:blipFill>
        <p:spPr>
          <a:xfrm>
            <a:off x="870509" y="4345229"/>
            <a:ext cx="261518" cy="261518"/>
          </a:xfrm>
          <a:prstGeom prst="rect">
            <a:avLst/>
          </a:prstGeom>
        </p:spPr>
      </p:pic>
      <p:sp>
        <p:nvSpPr>
          <p:cNvPr id="33" name="Text 25"/>
          <p:cNvSpPr txBox="1"/>
          <p:nvPr/>
        </p:nvSpPr>
        <p:spPr>
          <a:xfrm>
            <a:off x="749808" y="4846320"/>
            <a:ext cx="2194560" cy="347472"/>
          </a:xfrm>
          <a:prstGeom prst="rect">
            <a:avLst/>
          </a:prstGeom>
          <a:noFill/>
          <a:ln/>
        </p:spPr>
        <p:txBody>
          <a:bodyPr wrap="square" lIns="0" tIns="0" rIns="0" bIns="0" rtlCol="0" anchor="t"/>
          <a:lstStyle/>
          <a:p>
            <a:pPr indent="0" marL="0">
              <a:buNone/>
            </a:pPr>
            <a:r>
              <a:rPr lang="en-US" sz="1600" b="1" dirty="0">
                <a:solidFill>
                  <a:schemeClr val="tx1"/>
                </a:solidFill>
              </a:rPr>
              <a:t>Personalised pricing</a:t>
            </a:r>
            <a:endParaRPr lang="en-US" sz="1600" dirty="0"/>
          </a:p>
        </p:txBody>
      </p:sp>
      <p:sp>
        <p:nvSpPr>
          <p:cNvPr id="34" name="Text 26"/>
          <p:cNvSpPr txBox="1"/>
          <p:nvPr/>
        </p:nvSpPr>
        <p:spPr>
          <a:xfrm>
            <a:off x="749808" y="519379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Same product, price by device, country, visitor</a:t>
            </a:r>
            <a:endParaRPr lang="en-US" sz="1400" dirty="0"/>
          </a:p>
        </p:txBody>
      </p:sp>
      <p:sp>
        <p:nvSpPr>
          <p:cNvPr id="35" name="Text 27"/>
          <p:cNvSpPr txBox="1"/>
          <p:nvPr/>
        </p:nvSpPr>
        <p:spPr>
          <a:xfrm>
            <a:off x="749808" y="580644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CPA 2019: unfair trade practice</a:t>
            </a:r>
            <a:endParaRPr lang="en-US" sz="1100" dirty="0"/>
          </a:p>
        </p:txBody>
      </p:sp>
      <p:sp>
        <p:nvSpPr>
          <p:cNvPr id="36" name="card"/>
          <p:cNvSpPr/>
          <p:nvPr/>
        </p:nvSpPr>
        <p:spPr>
          <a:xfrm>
            <a:off x="3383280" y="402336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37" name="icon tile"/>
          <p:cNvSpPr/>
          <p:nvPr/>
        </p:nvSpPr>
        <p:spPr>
          <a:xfrm>
            <a:off x="3584448" y="422452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38" name="icon" descr="DoorClosed">    </p:cNvPr>
          <p:cNvPicPr>
            <a:picLocks noChangeAspect="1"/>
          </p:cNvPicPr>
          <p:nvPr/>
        </p:nvPicPr>
        <p:blipFill>
          <a:blip r:embed="rId6"/>
          <a:stretch>
            <a:fillRect/>
          </a:stretch>
        </p:blipFill>
        <p:spPr>
          <a:xfrm>
            <a:off x="3705149" y="4345229"/>
            <a:ext cx="261518" cy="261518"/>
          </a:xfrm>
          <a:prstGeom prst="rect">
            <a:avLst/>
          </a:prstGeom>
        </p:spPr>
      </p:pic>
      <p:sp>
        <p:nvSpPr>
          <p:cNvPr id="39" name="Text 30"/>
          <p:cNvSpPr txBox="1"/>
          <p:nvPr/>
        </p:nvSpPr>
        <p:spPr>
          <a:xfrm>
            <a:off x="3584448" y="4846320"/>
            <a:ext cx="2194560" cy="347472"/>
          </a:xfrm>
          <a:prstGeom prst="rect">
            <a:avLst/>
          </a:prstGeom>
          <a:noFill/>
          <a:ln/>
        </p:spPr>
        <p:txBody>
          <a:bodyPr wrap="square" lIns="0" tIns="0" rIns="0" bIns="0" rtlCol="0" anchor="t"/>
          <a:lstStyle/>
          <a:p>
            <a:pPr indent="0" marL="0">
              <a:buNone/>
            </a:pPr>
            <a:r>
              <a:rPr lang="en-US" sz="1600" b="1" dirty="0">
                <a:solidFill>
                  <a:schemeClr val="tx1"/>
                </a:solidFill>
              </a:rPr>
              <a:t>Cancellation trap</a:t>
            </a:r>
            <a:endParaRPr lang="en-US" sz="1600" dirty="0"/>
          </a:p>
        </p:txBody>
      </p:sp>
      <p:sp>
        <p:nvSpPr>
          <p:cNvPr id="40" name="Text 31"/>
          <p:cNvSpPr txBox="1"/>
          <p:nvPr/>
        </p:nvSpPr>
        <p:spPr>
          <a:xfrm>
            <a:off x="3584448" y="519379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Clicks to cancel against clicks to join</a:t>
            </a:r>
            <a:endParaRPr lang="en-US" sz="1400" dirty="0"/>
          </a:p>
        </p:txBody>
      </p:sp>
      <p:sp>
        <p:nvSpPr>
          <p:cNvPr id="41" name="Text 32"/>
          <p:cNvSpPr txBox="1"/>
          <p:nvPr/>
        </p:nvSpPr>
        <p:spPr>
          <a:xfrm>
            <a:off x="3584448" y="580644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CCPA 2023: subscription trap</a:t>
            </a:r>
            <a:endParaRPr lang="en-US" sz="1100" dirty="0"/>
          </a:p>
        </p:txBody>
      </p:sp>
      <p:sp>
        <p:nvSpPr>
          <p:cNvPr id="42" name="card"/>
          <p:cNvSpPr/>
          <p:nvPr/>
        </p:nvSpPr>
        <p:spPr>
          <a:xfrm>
            <a:off x="6217920" y="4023360"/>
            <a:ext cx="2560320" cy="2103120"/>
          </a:xfrm>
          <a:prstGeom prst="roundRect">
            <a:avLst>
              <a:gd name="adj" fmla="val 434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43" name="icon tile"/>
          <p:cNvSpPr/>
          <p:nvPr/>
        </p:nvSpPr>
        <p:spPr>
          <a:xfrm>
            <a:off x="6419088" y="4224528"/>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44" name="icon" descr="ScaleBalanced">    </p:cNvPr>
          <p:cNvPicPr>
            <a:picLocks noChangeAspect="1"/>
          </p:cNvPicPr>
          <p:nvPr/>
        </p:nvPicPr>
        <p:blipFill>
          <a:blip r:embed="rId7"/>
          <a:stretch>
            <a:fillRect/>
          </a:stretch>
        </p:blipFill>
        <p:spPr>
          <a:xfrm>
            <a:off x="6539789" y="4345229"/>
            <a:ext cx="261518" cy="261518"/>
          </a:xfrm>
          <a:prstGeom prst="rect">
            <a:avLst/>
          </a:prstGeom>
        </p:spPr>
      </p:pic>
      <p:sp>
        <p:nvSpPr>
          <p:cNvPr id="45" name="Text 35"/>
          <p:cNvSpPr txBox="1"/>
          <p:nvPr/>
        </p:nvSpPr>
        <p:spPr>
          <a:xfrm>
            <a:off x="6419088" y="4846320"/>
            <a:ext cx="2194560" cy="347472"/>
          </a:xfrm>
          <a:prstGeom prst="rect">
            <a:avLst/>
          </a:prstGeom>
          <a:noFill/>
          <a:ln/>
        </p:spPr>
        <p:txBody>
          <a:bodyPr wrap="square" lIns="0" tIns="0" rIns="0" bIns="0" rtlCol="0" anchor="t"/>
          <a:lstStyle/>
          <a:p>
            <a:pPr indent="0" marL="0">
              <a:buNone/>
            </a:pPr>
            <a:r>
              <a:rPr lang="en-US" sz="1600" b="1" dirty="0">
                <a:solidFill>
                  <a:schemeClr val="tx1"/>
                </a:solidFill>
              </a:rPr>
              <a:t>Policy vs reality</a:t>
            </a:r>
            <a:endParaRPr lang="en-US" sz="1600" dirty="0"/>
          </a:p>
        </p:txBody>
      </p:sp>
      <p:sp>
        <p:nvSpPr>
          <p:cNvPr id="46" name="Text 36"/>
          <p:cNvSpPr txBox="1"/>
          <p:nvPr/>
        </p:nvSpPr>
        <p:spPr>
          <a:xfrm>
            <a:off x="6419088" y="5193792"/>
            <a:ext cx="2194560" cy="594360"/>
          </a:xfrm>
          <a:prstGeom prst="rect">
            <a:avLst/>
          </a:prstGeom>
          <a:noFill/>
          <a:ln/>
        </p:spPr>
        <p:txBody>
          <a:bodyPr wrap="square" lIns="0" tIns="0" rIns="0" bIns="0" rtlCol="0" anchor="t"/>
          <a:lstStyle/>
          <a:p>
            <a:pPr indent="0" marL="0">
              <a:buNone/>
            </a:pPr>
            <a:r>
              <a:rPr lang="en-US" sz="1400" dirty="0">
                <a:solidFill>
                  <a:schemeClr val="accent6"/>
                </a:solidFill>
              </a:rPr>
              <a:t>Written promises the measurements disprove</a:t>
            </a:r>
            <a:endParaRPr lang="en-US" sz="1400" dirty="0"/>
          </a:p>
        </p:txBody>
      </p:sp>
      <p:sp>
        <p:nvSpPr>
          <p:cNvPr id="47" name="Text 37"/>
          <p:cNvSpPr txBox="1"/>
          <p:nvPr/>
        </p:nvSpPr>
        <p:spPr>
          <a:xfrm>
            <a:off x="6419088" y="5806440"/>
            <a:ext cx="2194560" cy="256032"/>
          </a:xfrm>
          <a:prstGeom prst="rect">
            <a:avLst/>
          </a:prstGeom>
          <a:noFill/>
          <a:ln/>
        </p:spPr>
        <p:txBody>
          <a:bodyPr wrap="square" lIns="0" tIns="0" rIns="0" bIns="0" rtlCol="0" anchor="t"/>
          <a:lstStyle/>
          <a:p>
            <a:pPr indent="0" marL="0">
              <a:buNone/>
            </a:pPr>
            <a:r>
              <a:rPr lang="en-US" sz="1100" b="1" dirty="0">
                <a:solidFill>
                  <a:schemeClr val="accent1"/>
                </a:solidFill>
              </a:rPr>
              <a:t>CPA 2019: misleading advertisement</a:t>
            </a:r>
            <a:endParaRPr lang="en-US" sz="1100" dirty="0"/>
          </a:p>
        </p:txBody>
      </p:sp>
      <p:sp>
        <p:nvSpPr>
          <p:cNvPr id="48" name="summary card"/>
          <p:cNvSpPr/>
          <p:nvPr/>
        </p:nvSpPr>
        <p:spPr>
          <a:xfrm>
            <a:off x="9052560" y="4023360"/>
            <a:ext cx="2560320" cy="2103120"/>
          </a:xfrm>
          <a:prstGeom prst="roundRect">
            <a:avLst>
              <a:gd name="adj" fmla="val 4348"/>
            </a:avLst>
          </a:prstGeom>
          <a:solidFill>
            <a:schemeClr val="tx2"/>
          </a:solidFill>
          <a:ln w="9525">
            <a:solidFill>
              <a:schemeClr val="tx2"/>
            </a:solidFill>
            <a:prstDash val="solid"/>
          </a:ln>
          <a:effectLst>
            <a:outerShdw sx="100000" sy="100000" kx="0" ky="0" algn="bl" rotWithShape="0" blurRad="127000" dist="25400" dir="5400000">
              <a:srgbClr val="000000">
                <a:alpha val="10000"/>
              </a:srgbClr>
            </a:outerShdw>
          </a:effectLst>
        </p:spPr>
      </p:sp>
      <p:sp>
        <p:nvSpPr>
          <p:cNvPr id="49" name="Text 39"/>
          <p:cNvSpPr txBox="1"/>
          <p:nvPr/>
        </p:nvSpPr>
        <p:spPr>
          <a:xfrm>
            <a:off x="9281160" y="4251960"/>
            <a:ext cx="2103120" cy="365760"/>
          </a:xfrm>
          <a:prstGeom prst="rect">
            <a:avLst/>
          </a:prstGeom>
          <a:noFill/>
          <a:ln/>
        </p:spPr>
        <p:txBody>
          <a:bodyPr wrap="square" lIns="0" tIns="0" rIns="0" bIns="0" rtlCol="0" anchor="t"/>
          <a:lstStyle/>
          <a:p>
            <a:pPr indent="0" marL="0">
              <a:buNone/>
            </a:pPr>
            <a:r>
              <a:rPr lang="en-US" sz="1600" b="1" dirty="0">
                <a:solidFill>
                  <a:schemeClr val="accent2"/>
                </a:solidFill>
              </a:rPr>
              <a:t>Every finding carries</a:t>
            </a:r>
            <a:endParaRPr lang="en-US" sz="1600" dirty="0"/>
          </a:p>
        </p:txBody>
      </p:sp>
      <p:sp>
        <p:nvSpPr>
          <p:cNvPr id="50" name="Text 40"/>
          <p:cNvSpPr txBox="1"/>
          <p:nvPr/>
        </p:nvSpPr>
        <p:spPr>
          <a:xfrm>
            <a:off x="9281160" y="4663440"/>
            <a:ext cx="2103120" cy="1371600"/>
          </a:xfrm>
          <a:prstGeom prst="rect">
            <a:avLst/>
          </a:prstGeom>
          <a:noFill/>
          <a:ln/>
        </p:spPr>
        <p:txBody>
          <a:bodyPr wrap="square" lIns="0" tIns="0" rIns="0" bIns="0" rtlCol="0" anchor="t"/>
          <a:lstStyle/>
          <a:p>
            <a:pPr indent="0" marL="0">
              <a:buNone/>
            </a:pPr>
            <a:r>
              <a:rPr lang="en-US" sz="1400" dirty="0">
                <a:solidFill>
                  <a:schemeClr val="bg1"/>
                </a:solidFill>
              </a:rPr>
              <a:t>its legal category, severity, penalty points, the run it came from and its screenshots.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Proposed Solution: What Is New</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02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Research proved it can be measured; Pardarshi makes it a repeatable, complaint-ready audit for India</a:t>
            </a:r>
            <a:endParaRPr lang="en-US" sz="170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566160"/>
                <a:gridCol w="1965960"/>
                <a:gridCol w="1965960"/>
                <a:gridCol w="2103120"/>
                <a:gridCol w="1463040"/>
              </a:tblGrid>
              <a:tr h="475488">
                <a:tc>
                  <a:txBody>
                    <a:bodyPr/>
                    <a:lstStyle/>
                    <a:p>
                      <a:pPr indent="0" marL="0">
                        <a:buNone/>
                      </a:pPr>
                      <a:r>
                        <a:rPr lang="en-US" sz="1300" b="1" dirty="0">
                          <a:solidFill>
                            <a:schemeClr val="bg1"/>
                          </a:solidFill>
                        </a:rPr>
                        <a:t>Approach</a:t>
                      </a:r>
                      <a:endParaRPr lang="en-US" sz="13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Real charge</a:t>
                      </a:r>
                      <a:endParaRPr lang="en-US" sz="13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Compares profiles</a:t>
                      </a:r>
                      <a:endParaRPr lang="en-US" sz="13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Repeatable + stats</a:t>
                      </a:r>
                      <a:endParaRPr lang="en-US" sz="13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Independent</a:t>
                      </a:r>
                      <a:endParaRPr lang="en-US" sz="13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Consumer surveys (e.g. LocalCircles)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Self-reported</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Studies (Hannak '14, Mathur '19)</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One-off studies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Detectors and extensions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One page, one shopper</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Manual investigation</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Rarely</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475488">
                <a:tc>
                  <a:txBody>
                    <a:bodyPr/>
                    <a:lstStyle/>
                    <a:p>
                      <a:pPr indent="0" marL="0">
                        <a:buNone/>
                      </a:pPr>
                      <a:r>
                        <a:rPr lang="en-US" sz="1400" b="1" dirty="0">
                          <a:solidFill>
                            <a:schemeClr val="tx1"/>
                          </a:solidFill>
                        </a:rPr>
                        <a:t>Platform self-audit (CCPA, 2025)</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Not disclosed</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Not disclosed</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6"/>
                          </a:solidFill>
                        </a:rPr>
                        <a:t>Not disclosed</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3"/>
                          </a:solidFill>
                        </a:rPr>
                        <a:t>No</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475488">
                <a:tc>
                  <a:txBody>
                    <a:bodyPr/>
                    <a:lstStyle/>
                    <a:p>
                      <a:pPr indent="0" marL="0">
                        <a:buNone/>
                      </a:pPr>
                      <a:r>
                        <a:rPr lang="en-US" sz="1500" b="1" dirty="0">
                          <a:solidFill>
                            <a:schemeClr val="tx1"/>
                          </a:solidFill>
                        </a:rPr>
                        <a:t>Pardarshi</a:t>
                      </a:r>
                      <a:endParaRPr lang="en-US" sz="15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 at checkout</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 6 profiles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Per site, on demand</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Yes</a:t>
                      </a:r>
                      <a:endParaRPr lang="en-US" sz="1400" dirty="0"/>
                    </a:p>
                  </a:txBody>
                  <a:tcPr marL="128016" marR="128016" marT="45720" marB="45720"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bl>
          </a:graphicData>
        </a:graphic>
      </p:graphicFrame>
      <p:sp>
        <p:nvSpPr>
          <p:cNvPr id="7" name="pardarshi row highlight"/>
          <p:cNvSpPr/>
          <p:nvPr/>
        </p:nvSpPr>
        <p:spPr>
          <a:xfrm>
            <a:off x="548640" y="4544568"/>
            <a:ext cx="11064240" cy="475488"/>
          </a:xfrm>
          <a:prstGeom prst="roundRect">
            <a:avLst>
              <a:gd name="adj" fmla="val 7692"/>
            </a:avLst>
          </a:prstGeom>
          <a:solidFill>
            <a:schemeClr val="accent2">
              <a:alpha val="18000"/>
            </a:schemeClr>
          </a:solidFill>
          <a:ln w="19050">
            <a:solidFill>
              <a:schemeClr val="accent2"/>
            </a:solidFill>
            <a:prstDash val="solid"/>
          </a:ln>
        </p:spPr>
      </p:sp>
      <p:sp>
        <p:nvSpPr>
          <p:cNvPr id="8" name="icon tile"/>
          <p:cNvSpPr/>
          <p:nvPr/>
        </p:nvSpPr>
        <p:spPr>
          <a:xfrm>
            <a:off x="548640" y="534924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9" name="icon" descr="ScaleBalanced">    </p:cNvPr>
          <p:cNvPicPr>
            <a:picLocks noChangeAspect="1"/>
          </p:cNvPicPr>
          <p:nvPr/>
        </p:nvPicPr>
        <p:blipFill>
          <a:blip r:embed="rId1"/>
          <a:stretch>
            <a:fillRect/>
          </a:stretch>
        </p:blipFill>
        <p:spPr>
          <a:xfrm>
            <a:off x="669341" y="5469941"/>
            <a:ext cx="261518" cy="261518"/>
          </a:xfrm>
          <a:prstGeom prst="rect">
            <a:avLst/>
          </a:prstGeom>
        </p:spPr>
      </p:pic>
      <p:sp>
        <p:nvSpPr>
          <p:cNvPr id="10" name="Text 5"/>
          <p:cNvSpPr txBox="1"/>
          <p:nvPr/>
        </p:nvSpPr>
        <p:spPr>
          <a:xfrm>
            <a:off x="1207008" y="5321808"/>
            <a:ext cx="2926080" cy="292608"/>
          </a:xfrm>
          <a:prstGeom prst="rect">
            <a:avLst/>
          </a:prstGeom>
          <a:noFill/>
          <a:ln/>
        </p:spPr>
        <p:txBody>
          <a:bodyPr wrap="square" lIns="0" tIns="0" rIns="0" bIns="0" rtlCol="0" anchor="t"/>
          <a:lstStyle/>
          <a:p>
            <a:pPr indent="0" marL="0">
              <a:buNone/>
            </a:pPr>
            <a:r>
              <a:rPr lang="en-US" sz="1500" b="1" dirty="0">
                <a:solidFill>
                  <a:schemeClr val="tx1"/>
                </a:solidFill>
              </a:rPr>
              <a:t>Evidence, not opinion</a:t>
            </a:r>
            <a:endParaRPr lang="en-US" sz="1500" dirty="0"/>
          </a:p>
        </p:txBody>
      </p:sp>
      <p:sp>
        <p:nvSpPr>
          <p:cNvPr id="11" name="Text 6"/>
          <p:cNvSpPr txBox="1"/>
          <p:nvPr/>
        </p:nvSpPr>
        <p:spPr>
          <a:xfrm>
            <a:off x="1207008" y="5614416"/>
            <a:ext cx="2880360" cy="566928"/>
          </a:xfrm>
          <a:prstGeom prst="rect">
            <a:avLst/>
          </a:prstGeom>
          <a:noFill/>
          <a:ln/>
        </p:spPr>
        <p:txBody>
          <a:bodyPr wrap="square" lIns="0" tIns="0" rIns="0" bIns="0" rtlCol="0" anchor="t"/>
          <a:lstStyle/>
          <a:p>
            <a:pPr indent="0" marL="0">
              <a:buNone/>
            </a:pPr>
            <a:r>
              <a:rPr lang="en-US" sz="1200" dirty="0">
                <a:solidFill>
                  <a:schemeClr val="accent6"/>
                </a:solidFill>
              </a:rPr>
              <a:t>Screenshots, price lines and SHA‑256 hashes behind every finding.</a:t>
            </a:r>
            <a:endParaRPr lang="en-US" sz="1200" dirty="0"/>
          </a:p>
        </p:txBody>
      </p:sp>
      <p:sp>
        <p:nvSpPr>
          <p:cNvPr id="12" name="icon tile"/>
          <p:cNvSpPr/>
          <p:nvPr/>
        </p:nvSpPr>
        <p:spPr>
          <a:xfrm>
            <a:off x="4297680" y="534924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13" name="icon" descr="Users">    </p:cNvPr>
          <p:cNvPicPr>
            <a:picLocks noChangeAspect="1"/>
          </p:cNvPicPr>
          <p:nvPr/>
        </p:nvPicPr>
        <p:blipFill>
          <a:blip r:embed="rId2"/>
          <a:stretch>
            <a:fillRect/>
          </a:stretch>
        </p:blipFill>
        <p:spPr>
          <a:xfrm>
            <a:off x="4418381" y="5469941"/>
            <a:ext cx="261518" cy="261518"/>
          </a:xfrm>
          <a:prstGeom prst="rect">
            <a:avLst/>
          </a:prstGeom>
        </p:spPr>
      </p:pic>
      <p:sp>
        <p:nvSpPr>
          <p:cNvPr id="14" name="Text 8"/>
          <p:cNvSpPr txBox="1"/>
          <p:nvPr/>
        </p:nvSpPr>
        <p:spPr>
          <a:xfrm>
            <a:off x="4956048" y="5321808"/>
            <a:ext cx="2926080" cy="292608"/>
          </a:xfrm>
          <a:prstGeom prst="rect">
            <a:avLst/>
          </a:prstGeom>
          <a:noFill/>
          <a:ln/>
        </p:spPr>
        <p:txBody>
          <a:bodyPr wrap="square" lIns="0" tIns="0" rIns="0" bIns="0" rtlCol="0" anchor="t"/>
          <a:lstStyle/>
          <a:p>
            <a:pPr indent="0" marL="0">
              <a:buNone/>
            </a:pPr>
            <a:r>
              <a:rPr lang="en-US" sz="1500" b="1" dirty="0">
                <a:solidFill>
                  <a:schemeClr val="tx1"/>
                </a:solidFill>
              </a:rPr>
              <a:t>Several shopper profiles</a:t>
            </a:r>
            <a:endParaRPr lang="en-US" sz="1500" dirty="0"/>
          </a:p>
        </p:txBody>
      </p:sp>
      <p:sp>
        <p:nvSpPr>
          <p:cNvPr id="15" name="Text 9"/>
          <p:cNvSpPr txBox="1"/>
          <p:nvPr/>
        </p:nvSpPr>
        <p:spPr>
          <a:xfrm>
            <a:off x="4956048" y="5614416"/>
            <a:ext cx="2880360" cy="566928"/>
          </a:xfrm>
          <a:prstGeom prst="rect">
            <a:avLst/>
          </a:prstGeom>
          <a:noFill/>
          <a:ln/>
        </p:spPr>
        <p:txBody>
          <a:bodyPr wrap="square" lIns="0" tIns="0" rIns="0" bIns="0" rtlCol="0" anchor="t"/>
          <a:lstStyle/>
          <a:p>
            <a:pPr indent="0" marL="0">
              <a:buNone/>
            </a:pPr>
            <a:r>
              <a:rPr lang="en-US" sz="1200" dirty="0">
                <a:solidFill>
                  <a:schemeClr val="accent6"/>
                </a:solidFill>
              </a:rPr>
              <a:t>Personalised pricing only shows when you compare profiles.</a:t>
            </a:r>
            <a:endParaRPr lang="en-US" sz="1200" dirty="0"/>
          </a:p>
        </p:txBody>
      </p:sp>
      <p:sp>
        <p:nvSpPr>
          <p:cNvPr id="16" name="icon tile"/>
          <p:cNvSpPr/>
          <p:nvPr/>
        </p:nvSpPr>
        <p:spPr>
          <a:xfrm>
            <a:off x="8046720" y="534924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17" name="icon" descr="Gavel">    </p:cNvPr>
          <p:cNvPicPr>
            <a:picLocks noChangeAspect="1"/>
          </p:cNvPicPr>
          <p:nvPr/>
        </p:nvPicPr>
        <p:blipFill>
          <a:blip r:embed="rId3"/>
          <a:stretch>
            <a:fillRect/>
          </a:stretch>
        </p:blipFill>
        <p:spPr>
          <a:xfrm>
            <a:off x="8167421" y="5469941"/>
            <a:ext cx="261518" cy="261518"/>
          </a:xfrm>
          <a:prstGeom prst="rect">
            <a:avLst/>
          </a:prstGeom>
        </p:spPr>
      </p:pic>
      <p:sp>
        <p:nvSpPr>
          <p:cNvPr id="18" name="Text 11"/>
          <p:cNvSpPr txBox="1"/>
          <p:nvPr/>
        </p:nvSpPr>
        <p:spPr>
          <a:xfrm>
            <a:off x="8705088" y="5321808"/>
            <a:ext cx="2926080" cy="292608"/>
          </a:xfrm>
          <a:prstGeom prst="rect">
            <a:avLst/>
          </a:prstGeom>
          <a:noFill/>
          <a:ln/>
        </p:spPr>
        <p:txBody>
          <a:bodyPr wrap="square" lIns="0" tIns="0" rIns="0" bIns="0" rtlCol="0" anchor="t"/>
          <a:lstStyle/>
          <a:p>
            <a:pPr indent="0" marL="0">
              <a:buNone/>
            </a:pPr>
            <a:r>
              <a:rPr lang="en-US" sz="1500" b="1" dirty="0">
                <a:solidFill>
                  <a:schemeClr val="tx1"/>
                </a:solidFill>
              </a:rPr>
              <a:t>Ready to act on</a:t>
            </a:r>
            <a:endParaRPr lang="en-US" sz="1500" dirty="0"/>
          </a:p>
        </p:txBody>
      </p:sp>
      <p:sp>
        <p:nvSpPr>
          <p:cNvPr id="19" name="Text 12"/>
          <p:cNvSpPr txBox="1"/>
          <p:nvPr/>
        </p:nvSpPr>
        <p:spPr>
          <a:xfrm>
            <a:off x="8705088" y="5614416"/>
            <a:ext cx="2880360" cy="566928"/>
          </a:xfrm>
          <a:prstGeom prst="rect">
            <a:avLst/>
          </a:prstGeom>
          <a:noFill/>
          <a:ln/>
        </p:spPr>
        <p:txBody>
          <a:bodyPr wrap="square" lIns="0" tIns="0" rIns="0" bIns="0" rtlCol="0" anchor="t"/>
          <a:lstStyle/>
          <a:p>
            <a:pPr indent="0" marL="0">
              <a:buNone/>
            </a:pPr>
            <a:r>
              <a:rPr lang="en-US" sz="1200" dirty="0">
                <a:solidFill>
                  <a:schemeClr val="accent6"/>
                </a:solidFill>
              </a:rPr>
              <a:t>Findings map to Indian law and become an NCH complaint.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Target Users and Use Case</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03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Built for people who need proof, not opinions</a:t>
            </a:r>
            <a:endParaRPr lang="en-US" sz="1700" dirty="0"/>
          </a:p>
        </p:txBody>
      </p:sp>
      <p:sp>
        <p:nvSpPr>
          <p:cNvPr id="6" name="card"/>
          <p:cNvSpPr/>
          <p:nvPr/>
        </p:nvSpPr>
        <p:spPr>
          <a:xfrm>
            <a:off x="548640" y="1645920"/>
            <a:ext cx="3504895" cy="3246120"/>
          </a:xfrm>
          <a:prstGeom prst="roundRect">
            <a:avLst>
              <a:gd name="adj" fmla="val 2817"/>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7" name="icon tile"/>
          <p:cNvSpPr/>
          <p:nvPr/>
        </p:nvSpPr>
        <p:spPr>
          <a:xfrm>
            <a:off x="777240" y="187452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8" name="icon" descr="MagnifyingGlass">    </p:cNvPr>
          <p:cNvPicPr>
            <a:picLocks noChangeAspect="1"/>
          </p:cNvPicPr>
          <p:nvPr/>
        </p:nvPicPr>
        <p:blipFill>
          <a:blip r:embed="rId1"/>
          <a:stretch>
            <a:fillRect/>
          </a:stretch>
        </p:blipFill>
        <p:spPr>
          <a:xfrm>
            <a:off x="913303" y="2010583"/>
            <a:ext cx="294803" cy="294803"/>
          </a:xfrm>
          <a:prstGeom prst="rect">
            <a:avLst/>
          </a:prstGeom>
        </p:spPr>
      </p:pic>
      <p:sp>
        <p:nvSpPr>
          <p:cNvPr id="9" name="Text 5"/>
          <p:cNvSpPr txBox="1"/>
          <p:nvPr/>
        </p:nvSpPr>
        <p:spPr>
          <a:xfrm>
            <a:off x="1508760" y="2011680"/>
            <a:ext cx="237744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PRIMARY</a:t>
            </a:r>
            <a:endParaRPr lang="en-US" sz="1100" dirty="0"/>
          </a:p>
        </p:txBody>
      </p:sp>
      <p:sp>
        <p:nvSpPr>
          <p:cNvPr id="10" name="Text 6"/>
          <p:cNvSpPr txBox="1"/>
          <p:nvPr/>
        </p:nvSpPr>
        <p:spPr>
          <a:xfrm>
            <a:off x="777240" y="2560320"/>
            <a:ext cx="3047695" cy="68580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Consumer-rights investigators and journalists</a:t>
            </a:r>
            <a:endParaRPr lang="en-US" sz="1700" dirty="0"/>
          </a:p>
        </p:txBody>
      </p:sp>
      <p:sp>
        <p:nvSpPr>
          <p:cNvPr id="11" name="Text 7"/>
          <p:cNvSpPr txBox="1"/>
          <p:nvPr/>
        </p:nvSpPr>
        <p:spPr>
          <a:xfrm>
            <a:off x="777240" y="3291840"/>
            <a:ext cx="3047695" cy="685800"/>
          </a:xfrm>
          <a:prstGeom prst="rect">
            <a:avLst/>
          </a:prstGeom>
          <a:noFill/>
          <a:ln/>
        </p:spPr>
        <p:txBody>
          <a:bodyPr wrap="square" lIns="0" tIns="0" rIns="0" bIns="0" rtlCol="0" anchor="t"/>
          <a:lstStyle/>
          <a:p>
            <a:pPr indent="0" marL="0">
              <a:buNone/>
            </a:pPr>
            <a:r>
              <a:rPr lang="en-US" sz="1400" dirty="0">
                <a:solidFill>
                  <a:schemeClr val="accent6"/>
                </a:solidFill>
              </a:rPr>
              <a:t>Today: burner accounts, manual screenshots, a single shopper's view.</a:t>
            </a:r>
            <a:endParaRPr lang="en-US" sz="1400" dirty="0"/>
          </a:p>
        </p:txBody>
      </p:sp>
      <p:sp>
        <p:nvSpPr>
          <p:cNvPr id="12" name="Text 8"/>
          <p:cNvSpPr txBox="1"/>
          <p:nvPr/>
        </p:nvSpPr>
        <p:spPr>
          <a:xfrm>
            <a:off x="777240" y="4023360"/>
            <a:ext cx="3047695" cy="731520"/>
          </a:xfrm>
          <a:prstGeom prst="rect">
            <a:avLst/>
          </a:prstGeom>
          <a:noFill/>
          <a:ln/>
        </p:spPr>
        <p:txBody>
          <a:bodyPr wrap="square" lIns="0" tIns="0" rIns="0" bIns="0" rtlCol="0" anchor="t"/>
          <a:lstStyle/>
          <a:p>
            <a:pPr indent="0" marL="0">
              <a:buNone/>
            </a:pPr>
            <a:r>
              <a:rPr lang="en-US" sz="1400" b="1" dirty="0">
                <a:solidFill>
                  <a:schemeClr val="tx1"/>
                </a:solidFill>
              </a:rPr>
              <a:t>With Pardarshi: 20 shopper runs (35 seconds on our demo shop), statistics, a case file.</a:t>
            </a:r>
            <a:endParaRPr lang="en-US" sz="1400" dirty="0"/>
          </a:p>
        </p:txBody>
      </p:sp>
      <p:sp>
        <p:nvSpPr>
          <p:cNvPr id="13" name="card"/>
          <p:cNvSpPr/>
          <p:nvPr/>
        </p:nvSpPr>
        <p:spPr>
          <a:xfrm>
            <a:off x="4327855" y="1645920"/>
            <a:ext cx="3504895" cy="3246120"/>
          </a:xfrm>
          <a:prstGeom prst="roundRect">
            <a:avLst>
              <a:gd name="adj" fmla="val 2817"/>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4" name="icon tile"/>
          <p:cNvSpPr/>
          <p:nvPr/>
        </p:nvSpPr>
        <p:spPr>
          <a:xfrm>
            <a:off x="4556455" y="187452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15" name="icon" descr="BuildingShield">    </p:cNvPr>
          <p:cNvPicPr>
            <a:picLocks noChangeAspect="1"/>
          </p:cNvPicPr>
          <p:nvPr/>
        </p:nvPicPr>
        <p:blipFill>
          <a:blip r:embed="rId2"/>
          <a:stretch>
            <a:fillRect/>
          </a:stretch>
        </p:blipFill>
        <p:spPr>
          <a:xfrm>
            <a:off x="4692518" y="2010583"/>
            <a:ext cx="294803" cy="294803"/>
          </a:xfrm>
          <a:prstGeom prst="rect">
            <a:avLst/>
          </a:prstGeom>
        </p:spPr>
      </p:pic>
      <p:sp>
        <p:nvSpPr>
          <p:cNvPr id="16" name="Text 11"/>
          <p:cNvSpPr txBox="1"/>
          <p:nvPr/>
        </p:nvSpPr>
        <p:spPr>
          <a:xfrm>
            <a:off x="5287975" y="2011680"/>
            <a:ext cx="237744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SECONDARY</a:t>
            </a:r>
            <a:endParaRPr lang="en-US" sz="1100" dirty="0"/>
          </a:p>
        </p:txBody>
      </p:sp>
      <p:sp>
        <p:nvSpPr>
          <p:cNvPr id="17" name="Text 12"/>
          <p:cNvSpPr txBox="1"/>
          <p:nvPr/>
        </p:nvSpPr>
        <p:spPr>
          <a:xfrm>
            <a:off x="4556455" y="2560320"/>
            <a:ext cx="3047695" cy="68580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Platform compliance teams</a:t>
            </a:r>
            <a:endParaRPr lang="en-US" sz="1700" dirty="0"/>
          </a:p>
        </p:txBody>
      </p:sp>
      <p:sp>
        <p:nvSpPr>
          <p:cNvPr id="18" name="Text 13"/>
          <p:cNvSpPr txBox="1"/>
          <p:nvPr/>
        </p:nvSpPr>
        <p:spPr>
          <a:xfrm>
            <a:off x="4556455" y="3291840"/>
            <a:ext cx="3047695" cy="685800"/>
          </a:xfrm>
          <a:prstGeom prst="rect">
            <a:avLst/>
          </a:prstGeom>
          <a:noFill/>
          <a:ln/>
        </p:spPr>
        <p:txBody>
          <a:bodyPr wrap="square" lIns="0" tIns="0" rIns="0" bIns="0" rtlCol="0" anchor="t"/>
          <a:lstStyle/>
          <a:p>
            <a:pPr indent="0" marL="0">
              <a:buNone/>
            </a:pPr>
            <a:r>
              <a:rPr lang="en-US" sz="1400" dirty="0">
                <a:solidFill>
                  <a:schemeClr val="accent6"/>
                </a:solidFill>
              </a:rPr>
              <a:t>Today: the CCPA's 2025 advisory asks for a self-audit and a self-declaration.</a:t>
            </a:r>
            <a:endParaRPr lang="en-US" sz="1400" dirty="0"/>
          </a:p>
        </p:txBody>
      </p:sp>
      <p:sp>
        <p:nvSpPr>
          <p:cNvPr id="19" name="Text 14"/>
          <p:cNvSpPr txBox="1"/>
          <p:nvPr/>
        </p:nvSpPr>
        <p:spPr>
          <a:xfrm>
            <a:off x="4556455" y="4023360"/>
            <a:ext cx="3047695" cy="731520"/>
          </a:xfrm>
          <a:prstGeom prst="rect">
            <a:avLst/>
          </a:prstGeom>
          <a:noFill/>
          <a:ln/>
        </p:spPr>
        <p:txBody>
          <a:bodyPr wrap="square" lIns="0" tIns="0" rIns="0" bIns="0" rtlCol="0" anchor="t"/>
          <a:lstStyle/>
          <a:p>
            <a:pPr indent="0" marL="0">
              <a:buNone/>
            </a:pPr>
            <a:r>
              <a:rPr lang="en-US" sz="1400" b="1" dirty="0">
                <a:solidFill>
                  <a:schemeClr val="tx1"/>
                </a:solidFill>
              </a:rPr>
              <a:t>With Pardarshi: an independent, repeatable check of their own site, with consent.</a:t>
            </a:r>
            <a:endParaRPr lang="en-US" sz="1400" dirty="0"/>
          </a:p>
        </p:txBody>
      </p:sp>
      <p:sp>
        <p:nvSpPr>
          <p:cNvPr id="20" name="card"/>
          <p:cNvSpPr/>
          <p:nvPr/>
        </p:nvSpPr>
        <p:spPr>
          <a:xfrm>
            <a:off x="8107070" y="1645920"/>
            <a:ext cx="3504895" cy="3246120"/>
          </a:xfrm>
          <a:prstGeom prst="roundRect">
            <a:avLst>
              <a:gd name="adj" fmla="val 2817"/>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1" name="icon tile"/>
          <p:cNvSpPr/>
          <p:nvPr/>
        </p:nvSpPr>
        <p:spPr>
          <a:xfrm>
            <a:off x="8335670" y="187452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22" name="icon" descr="PeopleGroup">    </p:cNvPr>
          <p:cNvPicPr>
            <a:picLocks noChangeAspect="1"/>
          </p:cNvPicPr>
          <p:nvPr/>
        </p:nvPicPr>
        <p:blipFill>
          <a:blip r:embed="rId3"/>
          <a:stretch>
            <a:fillRect/>
          </a:stretch>
        </p:blipFill>
        <p:spPr>
          <a:xfrm>
            <a:off x="8471733" y="2010583"/>
            <a:ext cx="294803" cy="294803"/>
          </a:xfrm>
          <a:prstGeom prst="rect">
            <a:avLst/>
          </a:prstGeom>
        </p:spPr>
      </p:pic>
      <p:sp>
        <p:nvSpPr>
          <p:cNvPr id="23" name="Text 17"/>
          <p:cNvSpPr txBox="1"/>
          <p:nvPr/>
        </p:nvSpPr>
        <p:spPr>
          <a:xfrm>
            <a:off x="9067190" y="2011680"/>
            <a:ext cx="237744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BENEFICIARY</a:t>
            </a:r>
            <a:endParaRPr lang="en-US" sz="1100" dirty="0"/>
          </a:p>
        </p:txBody>
      </p:sp>
      <p:sp>
        <p:nvSpPr>
          <p:cNvPr id="24" name="Text 18"/>
          <p:cNvSpPr txBox="1"/>
          <p:nvPr/>
        </p:nvSpPr>
        <p:spPr>
          <a:xfrm>
            <a:off x="8335670" y="2560320"/>
            <a:ext cx="3047695" cy="68580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Shoppers and regulators</a:t>
            </a:r>
            <a:endParaRPr lang="en-US" sz="1700" dirty="0"/>
          </a:p>
        </p:txBody>
      </p:sp>
      <p:sp>
        <p:nvSpPr>
          <p:cNvPr id="25" name="Text 19"/>
          <p:cNvSpPr txBox="1"/>
          <p:nvPr/>
        </p:nvSpPr>
        <p:spPr>
          <a:xfrm>
            <a:off x="8335670" y="3291840"/>
            <a:ext cx="3047695" cy="685800"/>
          </a:xfrm>
          <a:prstGeom prst="rect">
            <a:avLst/>
          </a:prstGeom>
          <a:noFill/>
          <a:ln/>
        </p:spPr>
        <p:txBody>
          <a:bodyPr wrap="square" lIns="0" tIns="0" rIns="0" bIns="0" rtlCol="0" anchor="t"/>
          <a:lstStyle/>
          <a:p>
            <a:pPr indent="0" marL="0">
              <a:buNone/>
            </a:pPr>
            <a:r>
              <a:rPr lang="en-US" sz="1400" dirty="0">
                <a:solidFill>
                  <a:schemeClr val="accent6"/>
                </a:solidFill>
              </a:rPr>
              <a:t>Today: vague complaints (“they overcharged me”) that are hard to act on.</a:t>
            </a:r>
            <a:endParaRPr lang="en-US" sz="1400" dirty="0"/>
          </a:p>
        </p:txBody>
      </p:sp>
      <p:sp>
        <p:nvSpPr>
          <p:cNvPr id="26" name="Text 20"/>
          <p:cNvSpPr txBox="1"/>
          <p:nvPr/>
        </p:nvSpPr>
        <p:spPr>
          <a:xfrm>
            <a:off x="8335670" y="4023360"/>
            <a:ext cx="3047695" cy="731520"/>
          </a:xfrm>
          <a:prstGeom prst="rect">
            <a:avLst/>
          </a:prstGeom>
          <a:noFill/>
          <a:ln/>
        </p:spPr>
        <p:txBody>
          <a:bodyPr wrap="square" lIns="0" tIns="0" rIns="0" bIns="0" rtlCol="0" anchor="t"/>
          <a:lstStyle/>
          <a:p>
            <a:pPr indent="0" marL="0">
              <a:buNone/>
            </a:pPr>
            <a:r>
              <a:rPr lang="en-US" sz="1400" b="1" dirty="0">
                <a:solidFill>
                  <a:schemeClr val="tx1"/>
                </a:solidFill>
              </a:rPr>
              <a:t>With Pardarshi: complaints that name the category, the figures and the exhibits.</a:t>
            </a:r>
            <a:endParaRPr lang="en-US" sz="1400" dirty="0"/>
          </a:p>
        </p:txBody>
      </p:sp>
      <p:sp>
        <p:nvSpPr>
          <p:cNvPr id="27" name="use case"/>
          <p:cNvSpPr/>
          <p:nvPr/>
        </p:nvSpPr>
        <p:spPr>
          <a:xfrm>
            <a:off x="548640" y="5120640"/>
            <a:ext cx="11064240" cy="1051560"/>
          </a:xfrm>
          <a:prstGeom prst="roundRect">
            <a:avLst>
              <a:gd name="adj" fmla="val 8696"/>
            </a:avLst>
          </a:prstGeom>
          <a:solidFill>
            <a:schemeClr val="tx2"/>
          </a:solidFill>
          <a:ln w="9525">
            <a:solidFill>
              <a:schemeClr val="tx2"/>
            </a:solidFill>
            <a:prstDash val="solid"/>
          </a:ln>
          <a:effectLst>
            <a:outerShdw sx="100000" sy="100000" kx="0" ky="0" algn="bl" rotWithShape="0" blurRad="127000" dist="25400" dir="5400000">
              <a:srgbClr val="000000">
                <a:alpha val="10000"/>
              </a:srgbClr>
            </a:outerShdw>
          </a:effectLst>
        </p:spPr>
      </p:sp>
      <p:sp>
        <p:nvSpPr>
          <p:cNvPr id="28" name="Text 22"/>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500" b="1" dirty="0">
                <a:solidFill>
                  <a:schemeClr val="accent2"/>
                </a:solidFill>
              </a:rPr>
              <a:t>Demo use case  </a:t>
            </a:r>
            <a:pPr indent="0" marL="0">
              <a:buNone/>
            </a:pPr>
            <a:r>
              <a:rPr lang="en-US" sz="1500" dirty="0">
                <a:solidFill>
                  <a:schemeClr val="bg1"/>
                </a:solidFill>
              </a:rPr>
              <a:t>Our demo audit of TicketNest (a test shop with planted tricks): ₹1,006 became ₹1,324 at payment (+32%), iPhone shoppers were quoted 9.6% more, and cancelling took 8 clicks against 1 to join. Out came a findings report and an NCH complaint.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Role of Machine Learning</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04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A trained classifier, statistics and rules turn captures into findings, measured on unseen data</a:t>
            </a:r>
            <a:endParaRPr lang="en-US" sz="1700" dirty="0"/>
          </a:p>
        </p:txBody>
      </p:sp>
      <p:sp>
        <p:nvSpPr>
          <p:cNvPr id="6" name="icon tile"/>
          <p:cNvSpPr/>
          <p:nvPr/>
        </p:nvSpPr>
        <p:spPr>
          <a:xfrm>
            <a:off x="548640" y="164592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7" name="icon" descr="Font">    </p:cNvPr>
          <p:cNvPicPr>
            <a:picLocks noChangeAspect="1"/>
          </p:cNvPicPr>
          <p:nvPr/>
        </p:nvPicPr>
        <p:blipFill>
          <a:blip r:embed="rId1"/>
          <a:stretch>
            <a:fillRect/>
          </a:stretch>
        </p:blipFill>
        <p:spPr>
          <a:xfrm>
            <a:off x="684703" y="1781983"/>
            <a:ext cx="294803" cy="294803"/>
          </a:xfrm>
          <a:prstGeom prst="rect">
            <a:avLst/>
          </a:prstGeom>
        </p:spPr>
      </p:pic>
      <p:sp>
        <p:nvSpPr>
          <p:cNvPr id="8" name="Text 4"/>
          <p:cNvSpPr txBox="1"/>
          <p:nvPr/>
        </p:nvSpPr>
        <p:spPr>
          <a:xfrm>
            <a:off x="1325880" y="1645920"/>
            <a:ext cx="4846320" cy="347472"/>
          </a:xfrm>
          <a:prstGeom prst="rect">
            <a:avLst/>
          </a:prstGeom>
          <a:noFill/>
          <a:ln/>
        </p:spPr>
        <p:txBody>
          <a:bodyPr wrap="square" lIns="0" tIns="0" rIns="0" bIns="0" rtlCol="0" anchor="t"/>
          <a:lstStyle/>
          <a:p>
            <a:pPr indent="0" marL="0">
              <a:buNone/>
            </a:pPr>
            <a:r>
              <a:rPr lang="en-US" sz="1700" b="1" dirty="0">
                <a:solidFill>
                  <a:schemeClr val="tx1"/>
                </a:solidFill>
              </a:rPr>
              <a:t>Dark-pattern copy classifier (trained)</a:t>
            </a:r>
            <a:endParaRPr lang="en-US" sz="1700" dirty="0"/>
          </a:p>
        </p:txBody>
      </p:sp>
      <p:sp>
        <p:nvSpPr>
          <p:cNvPr id="9" name="Text 5"/>
          <p:cNvSpPr txBox="1"/>
          <p:nvPr/>
        </p:nvSpPr>
        <p:spPr>
          <a:xfrm>
            <a:off x="1325880" y="2029968"/>
            <a:ext cx="4846320" cy="960120"/>
          </a:xfrm>
          <a:prstGeom prst="rect">
            <a:avLst/>
          </a:prstGeom>
          <a:noFill/>
          <a:ln/>
        </p:spPr>
        <p:txBody>
          <a:bodyPr wrap="square" lIns="0" tIns="0" rIns="0" bIns="0" rtlCol="0" anchor="t"/>
          <a:lstStyle/>
          <a:p>
            <a:pPr indent="0" marL="0">
              <a:buNone/>
            </a:pPr>
            <a:r>
              <a:rPr lang="en-US" sz="1400" dirty="0">
                <a:solidFill>
                  <a:schemeClr val="accent6"/>
                </a:solidFill>
              </a:rPr>
              <a:t>TF‑IDF word and character n‑grams into logistic regression; 9 classes, 725 labelled UI strings (seed set plus augmentation). Tested on 72 human-written strings never seen in training.</a:t>
            </a:r>
            <a:endParaRPr lang="en-US" sz="1400" dirty="0"/>
          </a:p>
        </p:txBody>
      </p:sp>
      <p:sp>
        <p:nvSpPr>
          <p:cNvPr id="10" name="icon tile"/>
          <p:cNvSpPr/>
          <p:nvPr/>
        </p:nvSpPr>
        <p:spPr>
          <a:xfrm>
            <a:off x="548640" y="310896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11" name="icon" descr="ChartColumn">    </p:cNvPr>
          <p:cNvPicPr>
            <a:picLocks noChangeAspect="1"/>
          </p:cNvPicPr>
          <p:nvPr/>
        </p:nvPicPr>
        <p:blipFill>
          <a:blip r:embed="rId2"/>
          <a:stretch>
            <a:fillRect/>
          </a:stretch>
        </p:blipFill>
        <p:spPr>
          <a:xfrm>
            <a:off x="684703" y="3245023"/>
            <a:ext cx="294803" cy="294803"/>
          </a:xfrm>
          <a:prstGeom prst="rect">
            <a:avLst/>
          </a:prstGeom>
        </p:spPr>
      </p:pic>
      <p:sp>
        <p:nvSpPr>
          <p:cNvPr id="12" name="Text 7"/>
          <p:cNvSpPr txBox="1"/>
          <p:nvPr/>
        </p:nvSpPr>
        <p:spPr>
          <a:xfrm>
            <a:off x="1325880" y="3108960"/>
            <a:ext cx="4846320" cy="347472"/>
          </a:xfrm>
          <a:prstGeom prst="rect">
            <a:avLst/>
          </a:prstGeom>
          <a:noFill/>
          <a:ln/>
        </p:spPr>
        <p:txBody>
          <a:bodyPr wrap="square" lIns="0" tIns="0" rIns="0" bIns="0" rtlCol="0" anchor="t"/>
          <a:lstStyle/>
          <a:p>
            <a:pPr indent="0" marL="0">
              <a:buNone/>
            </a:pPr>
            <a:r>
              <a:rPr lang="en-US" sz="1700" b="1" dirty="0">
                <a:solidFill>
                  <a:schemeClr val="tx1"/>
                </a:solidFill>
              </a:rPr>
              <a:t>Personalised-pricing statistics</a:t>
            </a:r>
            <a:endParaRPr lang="en-US" sz="1700" dirty="0"/>
          </a:p>
        </p:txBody>
      </p:sp>
      <p:sp>
        <p:nvSpPr>
          <p:cNvPr id="13" name="Text 8"/>
          <p:cNvSpPr txBox="1"/>
          <p:nvPr/>
        </p:nvSpPr>
        <p:spPr>
          <a:xfrm>
            <a:off x="1325880" y="3493008"/>
            <a:ext cx="4846320" cy="960120"/>
          </a:xfrm>
          <a:prstGeom prst="rect">
            <a:avLst/>
          </a:prstGeom>
          <a:noFill/>
          <a:ln/>
        </p:spPr>
        <p:txBody>
          <a:bodyPr wrap="square" lIns="0" tIns="0" rIns="0" bIns="0" rtlCol="0" anchor="t"/>
          <a:lstStyle/>
          <a:p>
            <a:pPr indent="0" marL="0">
              <a:buNone/>
            </a:pPr>
            <a:r>
              <a:rPr lang="en-US" sz="1400" dirty="0">
                <a:solidFill>
                  <a:schemeClr val="accent6"/>
                </a:solidFill>
              </a:rPr>
              <a:t>Regression on log price by device, country and visitor, with 95% confidence intervals and Benjamini–Hochberg correction. Runs go in random interleaved rounds, so drift over time cannot pose as personalisation.</a:t>
            </a:r>
            <a:endParaRPr lang="en-US" sz="1400" dirty="0"/>
          </a:p>
        </p:txBody>
      </p:sp>
      <p:sp>
        <p:nvSpPr>
          <p:cNvPr id="14" name="icon tile"/>
          <p:cNvSpPr/>
          <p:nvPr/>
        </p:nvSpPr>
        <p:spPr>
          <a:xfrm>
            <a:off x="548640" y="4572000"/>
            <a:ext cx="566928" cy="566928"/>
          </a:xfrm>
          <a:prstGeom prst="roundRect">
            <a:avLst>
              <a:gd name="adj" fmla="val 19355"/>
            </a:avLst>
          </a:prstGeom>
          <a:solidFill>
            <a:schemeClr val="accent2">
              <a:alpha val="30000"/>
            </a:schemeClr>
          </a:solidFill>
          <a:ln w="6350">
            <a:solidFill>
              <a:schemeClr val="accent2">
                <a:alpha val="30000"/>
              </a:schemeClr>
            </a:solidFill>
            <a:prstDash val="solid"/>
          </a:ln>
        </p:spPr>
      </p:sp>
      <p:pic>
        <p:nvPicPr>
          <p:cNvPr id="15" name="icon" descr="Calculator">    </p:cNvPr>
          <p:cNvPicPr>
            <a:picLocks noChangeAspect="1"/>
          </p:cNvPicPr>
          <p:nvPr/>
        </p:nvPicPr>
        <p:blipFill>
          <a:blip r:embed="rId3"/>
          <a:stretch>
            <a:fillRect/>
          </a:stretch>
        </p:blipFill>
        <p:spPr>
          <a:xfrm>
            <a:off x="684703" y="4708063"/>
            <a:ext cx="294803" cy="294803"/>
          </a:xfrm>
          <a:prstGeom prst="rect">
            <a:avLst/>
          </a:prstGeom>
        </p:spPr>
      </p:pic>
      <p:sp>
        <p:nvSpPr>
          <p:cNvPr id="16" name="Text 10"/>
          <p:cNvSpPr txBox="1"/>
          <p:nvPr/>
        </p:nvSpPr>
        <p:spPr>
          <a:xfrm>
            <a:off x="1325880" y="4572000"/>
            <a:ext cx="4846320" cy="347472"/>
          </a:xfrm>
          <a:prstGeom prst="rect">
            <a:avLst/>
          </a:prstGeom>
          <a:noFill/>
          <a:ln/>
        </p:spPr>
        <p:txBody>
          <a:bodyPr wrap="square" lIns="0" tIns="0" rIns="0" bIns="0" rtlCol="0" anchor="t"/>
          <a:lstStyle/>
          <a:p>
            <a:pPr indent="0" marL="0">
              <a:buNone/>
            </a:pPr>
            <a:r>
              <a:rPr lang="en-US" sz="1700" b="1" dirty="0">
                <a:solidFill>
                  <a:schemeClr val="tx1"/>
                </a:solidFill>
              </a:rPr>
              <a:t>Price extraction and trust score (rules)</a:t>
            </a:r>
            <a:endParaRPr lang="en-US" sz="1700" dirty="0"/>
          </a:p>
        </p:txBody>
      </p:sp>
      <p:sp>
        <p:nvSpPr>
          <p:cNvPr id="17" name="Text 11"/>
          <p:cNvSpPr txBox="1"/>
          <p:nvPr/>
        </p:nvSpPr>
        <p:spPr>
          <a:xfrm>
            <a:off x="1325880" y="4956048"/>
            <a:ext cx="4846320" cy="960120"/>
          </a:xfrm>
          <a:prstGeom prst="rect">
            <a:avLst/>
          </a:prstGeom>
          <a:noFill/>
          <a:ln/>
        </p:spPr>
        <p:txBody>
          <a:bodyPr wrap="square" lIns="0" tIns="0" rIns="0" bIns="0" rtlCol="0" anchor="t"/>
          <a:lstStyle/>
          <a:p>
            <a:pPr indent="0" marL="0">
              <a:buNone/>
            </a:pPr>
            <a:r>
              <a:rPr lang="en-US" sz="1400" dirty="0">
                <a:solidFill>
                  <a:schemeClr val="accent6"/>
                </a:solidFill>
              </a:rPr>
              <a:t>Page text into labelled lines: item, fee, tax, add-on, total. Score = 100 × e^(−points / 70), each point traced to a finding.</a:t>
            </a:r>
            <a:endParaRPr lang="en-US" sz="1400" dirty="0"/>
          </a:p>
        </p:txBody>
      </p:sp>
      <p:sp>
        <p:nvSpPr>
          <p:cNvPr id="18" name="chart card"/>
          <p:cNvSpPr/>
          <p:nvPr/>
        </p:nvSpPr>
        <p:spPr>
          <a:xfrm>
            <a:off x="6537960" y="1600200"/>
            <a:ext cx="5074920" cy="3383280"/>
          </a:xfrm>
          <a:prstGeom prst="roundRect">
            <a:avLst>
              <a:gd name="adj" fmla="val 2703"/>
            </a:avLst>
          </a:prstGeom>
          <a:solidFill>
            <a:schemeClr val="bg1"/>
          </a:solidFill>
          <a:ln w="9525">
            <a:solidFill>
              <a:srgbClr val="F5F1E8"/>
            </a:solidFill>
            <a:prstDash val="solid"/>
          </a:ln>
          <a:effectLst>
            <a:outerShdw sx="100000" sy="100000" kx="0" ky="0" algn="bl" rotWithShape="0" blurRad="127000" dist="25400" dir="5400000">
              <a:srgbClr val="000000">
                <a:alpha val="10000"/>
              </a:srgbClr>
            </a:outerShdw>
          </a:effectLst>
        </p:spPr>
      </p:sp>
      <p:graphicFrame>
        <p:nvGraphicFramePr>
          <p:cNvPr id="19" name="F1 chart" descr=""/>
          <p:cNvGraphicFramePr/>
          <p:nvPr/>
        </p:nvGraphicFramePr>
        <p:xfrm>
          <a:off x="6629400" y="1691640"/>
          <a:ext cx="4892040" cy="3200400"/>
        </p:xfrm>
        <a:graphic xmlns:a="http://schemas.openxmlformats.org/drawingml/2006/main">
          <a:graphicData uri="http://schemas.openxmlformats.org/drawingml/2006/chart">
            <c:chart xmlns:c="http://schemas.openxmlformats.org/drawingml/2006/chart" r:id="rId4"/>
          </a:graphicData>
        </a:graphic>
      </p:graphicFrame>
      <p:sp>
        <p:nvSpPr>
          <p:cNvPr id="20" name="card"/>
          <p:cNvSpPr/>
          <p:nvPr/>
        </p:nvSpPr>
        <p:spPr>
          <a:xfrm>
            <a:off x="6537960" y="5120640"/>
            <a:ext cx="1636776" cy="1051560"/>
          </a:xfrm>
          <a:prstGeom prst="roundRect">
            <a:avLst>
              <a:gd name="adj" fmla="val 8696"/>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1" name="Text 14"/>
          <p:cNvSpPr txBox="1"/>
          <p:nvPr/>
        </p:nvSpPr>
        <p:spPr>
          <a:xfrm>
            <a:off x="6675120" y="5175504"/>
            <a:ext cx="1417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0.89</a:t>
            </a:r>
            <a:endParaRPr lang="en-US" sz="2400" dirty="0"/>
          </a:p>
        </p:txBody>
      </p:sp>
      <p:sp>
        <p:nvSpPr>
          <p:cNvPr id="22" name="Text 15"/>
          <p:cNvSpPr txBox="1"/>
          <p:nvPr/>
        </p:nvSpPr>
        <p:spPr>
          <a:xfrm>
            <a:off x="6675120" y="5687568"/>
            <a:ext cx="1417320" cy="411480"/>
          </a:xfrm>
          <a:prstGeom prst="rect">
            <a:avLst/>
          </a:prstGeom>
          <a:noFill/>
          <a:ln/>
        </p:spPr>
        <p:txBody>
          <a:bodyPr wrap="square" lIns="0" tIns="0" rIns="0" bIns="0" rtlCol="0" anchor="t"/>
          <a:lstStyle/>
          <a:p>
            <a:pPr indent="0" marL="0">
              <a:buNone/>
            </a:pPr>
            <a:r>
              <a:rPr lang="en-US" sz="1100" dirty="0">
                <a:solidFill>
                  <a:schemeClr val="accent6"/>
                </a:solidFill>
              </a:rPr>
              <a:t>macro-F1 on unseen strings</a:t>
            </a:r>
            <a:endParaRPr lang="en-US" sz="1100" dirty="0"/>
          </a:p>
        </p:txBody>
      </p:sp>
      <p:sp>
        <p:nvSpPr>
          <p:cNvPr id="23" name="card"/>
          <p:cNvSpPr/>
          <p:nvPr/>
        </p:nvSpPr>
        <p:spPr>
          <a:xfrm>
            <a:off x="8257032" y="5120640"/>
            <a:ext cx="1636776" cy="1051560"/>
          </a:xfrm>
          <a:prstGeom prst="roundRect">
            <a:avLst>
              <a:gd name="adj" fmla="val 8696"/>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4" name="Text 17"/>
          <p:cNvSpPr txBox="1"/>
          <p:nvPr/>
        </p:nvSpPr>
        <p:spPr>
          <a:xfrm>
            <a:off x="8394192" y="5175504"/>
            <a:ext cx="1417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1.00</a:t>
            </a:r>
            <a:endParaRPr lang="en-US" sz="2400" dirty="0"/>
          </a:p>
        </p:txBody>
      </p:sp>
      <p:sp>
        <p:nvSpPr>
          <p:cNvPr id="25" name="Text 18"/>
          <p:cNvSpPr txBox="1"/>
          <p:nvPr/>
        </p:nvSpPr>
        <p:spPr>
          <a:xfrm>
            <a:off x="8394192" y="5687568"/>
            <a:ext cx="1417320" cy="411480"/>
          </a:xfrm>
          <a:prstGeom prst="rect">
            <a:avLst/>
          </a:prstGeom>
          <a:noFill/>
          <a:ln/>
        </p:spPr>
        <p:txBody>
          <a:bodyPr wrap="square" lIns="0" tIns="0" rIns="0" bIns="0" rtlCol="0" anchor="t"/>
          <a:lstStyle/>
          <a:p>
            <a:pPr indent="0" marL="0">
              <a:buNone/>
            </a:pPr>
            <a:r>
              <a:rPr lang="en-US" sz="1100" dirty="0">
                <a:solidFill>
                  <a:schemeClr val="accent6"/>
                </a:solidFill>
              </a:rPr>
              <a:t>precision, dark vs none (recall 0.87)</a:t>
            </a:r>
            <a:endParaRPr lang="en-US" sz="1100" dirty="0"/>
          </a:p>
        </p:txBody>
      </p:sp>
      <p:sp>
        <p:nvSpPr>
          <p:cNvPr id="26" name="card"/>
          <p:cNvSpPr/>
          <p:nvPr/>
        </p:nvSpPr>
        <p:spPr>
          <a:xfrm>
            <a:off x="9976104" y="5120640"/>
            <a:ext cx="1636776" cy="1051560"/>
          </a:xfrm>
          <a:prstGeom prst="roundRect">
            <a:avLst>
              <a:gd name="adj" fmla="val 8696"/>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7" name="Text 20"/>
          <p:cNvSpPr txBox="1"/>
          <p:nvPr/>
        </p:nvSpPr>
        <p:spPr>
          <a:xfrm>
            <a:off x="10113264" y="5175504"/>
            <a:ext cx="14173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12/12</a:t>
            </a:r>
            <a:endParaRPr lang="en-US" sz="2400" dirty="0"/>
          </a:p>
        </p:txBody>
      </p:sp>
      <p:sp>
        <p:nvSpPr>
          <p:cNvPr id="28" name="Text 21"/>
          <p:cNvSpPr txBox="1"/>
          <p:nvPr/>
        </p:nvSpPr>
        <p:spPr>
          <a:xfrm>
            <a:off x="10113264" y="5687568"/>
            <a:ext cx="1417320" cy="411480"/>
          </a:xfrm>
          <a:prstGeom prst="rect">
            <a:avLst/>
          </a:prstGeom>
          <a:noFill/>
          <a:ln/>
        </p:spPr>
        <p:txBody>
          <a:bodyPr wrap="square" lIns="0" tIns="0" rIns="0" bIns="0" rtlCol="0" anchor="t"/>
          <a:lstStyle/>
          <a:p>
            <a:pPr indent="0" marL="0">
              <a:buNone/>
            </a:pPr>
            <a:r>
              <a:rPr lang="en-US" sz="1100" dirty="0">
                <a:solidFill>
                  <a:schemeClr val="accent6"/>
                </a:solidFill>
              </a:rPr>
              <a:t>planted tricks found (demo shop)</a:t>
            </a:r>
            <a:endParaRPr lang="en-US" sz="1100" dirty="0"/>
          </a:p>
        </p:txBody>
      </p:sp>
      <p:sp>
        <p:nvSpPr>
          <p:cNvPr id="29" name="Text 22"/>
          <p:cNvSpPr txBox="1"/>
          <p:nvPr/>
        </p:nvSpPr>
        <p:spPr>
          <a:xfrm>
            <a:off x="548640" y="5943600"/>
            <a:ext cx="5760720" cy="411480"/>
          </a:xfrm>
          <a:prstGeom prst="rect">
            <a:avLst/>
          </a:prstGeom>
          <a:noFill/>
          <a:ln/>
        </p:spPr>
        <p:txBody>
          <a:bodyPr wrap="square" lIns="0" tIns="0" rIns="0" bIns="0" rtlCol="0" anchor="t"/>
          <a:lstStyle/>
          <a:p>
            <a:pPr indent="0" marL="0">
              <a:buNone/>
            </a:pPr>
            <a:r>
              <a:rPr lang="en-US" sz="1100" dirty="0">
                <a:solidFill>
                  <a:schemeClr val="accent6"/>
                </a:solidFill>
              </a:rPr>
              <a:t>Per-class n is small (6–12), so these are early numbers. 12/12 is on our own shop with planted tricks; real-site validation is next.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bg1"/>
                </a:solidFill>
              </a:rPr>
              <a:t>Role of AI</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2"/>
                </a:solidFill>
              </a:rPr>
              <a:t>PARDARSHI  ·  04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bg2"/>
                </a:solidFill>
                <a:latin typeface="Cambria" pitchFamily="34" charset="0"/>
                <a:ea typeface="Cambria" pitchFamily="34" charset="-122"/>
                <a:cs typeface="Cambria" pitchFamily="34" charset="-120"/>
              </a:rPr>
              <a:t>Gemini and Google ADK do the reasoning; guards keep the agents from ever paying</a:t>
            </a:r>
            <a:endParaRPr lang="en-US" sz="1700" dirty="0"/>
          </a:p>
        </p:txBody>
      </p:sp>
      <p:sp>
        <p:nvSpPr>
          <p:cNvPr id="6" name="agent card"/>
          <p:cNvSpPr/>
          <p:nvPr/>
        </p:nvSpPr>
        <p:spPr>
          <a:xfrm>
            <a:off x="548640" y="1645920"/>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7" name="icon tile"/>
          <p:cNvSpPr/>
          <p:nvPr/>
        </p:nvSpPr>
        <p:spPr>
          <a:xfrm>
            <a:off x="777240" y="1874520"/>
            <a:ext cx="548640" cy="548640"/>
          </a:xfrm>
          <a:prstGeom prst="roundRect">
            <a:avLst>
              <a:gd name="adj" fmla="val 20000"/>
            </a:avLst>
          </a:prstGeom>
          <a:solidFill>
            <a:schemeClr val="accent1"/>
          </a:solidFill>
          <a:ln w="6350">
            <a:solidFill>
              <a:schemeClr val="accent1"/>
            </a:solidFill>
            <a:prstDash val="solid"/>
          </a:ln>
        </p:spPr>
      </p:sp>
      <p:pic>
        <p:nvPicPr>
          <p:cNvPr id="8" name="icon" descr="Robot">    </p:cNvPr>
          <p:cNvPicPr>
            <a:picLocks noChangeAspect="1"/>
          </p:cNvPicPr>
          <p:nvPr/>
        </p:nvPicPr>
        <p:blipFill>
          <a:blip r:embed="rId1"/>
          <a:stretch>
            <a:fillRect/>
          </a:stretch>
        </p:blipFill>
        <p:spPr>
          <a:xfrm>
            <a:off x="908914" y="2006194"/>
            <a:ext cx="285293" cy="285293"/>
          </a:xfrm>
          <a:prstGeom prst="rect">
            <a:avLst/>
          </a:prstGeom>
        </p:spPr>
      </p:pic>
      <p:sp>
        <p:nvSpPr>
          <p:cNvPr id="9" name="Text 5"/>
          <p:cNvSpPr txBox="1"/>
          <p:nvPr/>
        </p:nvSpPr>
        <p:spPr>
          <a:xfrm>
            <a:off x="1508760" y="1920240"/>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Shopper agent (Gemini)</a:t>
            </a:r>
            <a:endParaRPr lang="en-US" sz="1600" dirty="0"/>
          </a:p>
        </p:txBody>
      </p:sp>
      <p:sp>
        <p:nvSpPr>
          <p:cNvPr id="10" name="Text 6"/>
          <p:cNvSpPr txBox="1"/>
          <p:nvPr/>
        </p:nvSpPr>
        <p:spPr>
          <a:xfrm>
            <a:off x="777240" y="2560320"/>
            <a:ext cx="3047695" cy="1097280"/>
          </a:xfrm>
          <a:prstGeom prst="rect">
            <a:avLst/>
          </a:prstGeom>
          <a:noFill/>
          <a:ln/>
        </p:spPr>
        <p:txBody>
          <a:bodyPr wrap="square" lIns="0" tIns="0" rIns="0" bIns="0" rtlCol="0" anchor="t"/>
          <a:lstStyle/>
          <a:p>
            <a:pPr indent="0" marL="0">
              <a:buNone/>
            </a:pPr>
            <a:r>
              <a:rPr lang="en-US" sz="1400" dirty="0">
                <a:solidFill>
                  <a:schemeClr val="bg2"/>
                </a:solidFill>
              </a:rPr>
              <a:t>Reads each page and picks one action at a time towards checkout, on sites nobody scripted. TinyFish's Agent API does this in the cloud.</a:t>
            </a:r>
            <a:endParaRPr lang="en-US" sz="1400" dirty="0"/>
          </a:p>
        </p:txBody>
      </p:sp>
      <p:sp>
        <p:nvSpPr>
          <p:cNvPr id="11" name="agent card"/>
          <p:cNvSpPr/>
          <p:nvPr/>
        </p:nvSpPr>
        <p:spPr>
          <a:xfrm>
            <a:off x="4327855" y="1645920"/>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2" name="icon tile"/>
          <p:cNvSpPr/>
          <p:nvPr/>
        </p:nvSpPr>
        <p:spPr>
          <a:xfrm>
            <a:off x="4556455" y="1874520"/>
            <a:ext cx="548640" cy="548640"/>
          </a:xfrm>
          <a:prstGeom prst="roundRect">
            <a:avLst>
              <a:gd name="adj" fmla="val 20000"/>
            </a:avLst>
          </a:prstGeom>
          <a:solidFill>
            <a:schemeClr val="accent1"/>
          </a:solidFill>
          <a:ln w="6350">
            <a:solidFill>
              <a:schemeClr val="accent1"/>
            </a:solidFill>
            <a:prstDash val="solid"/>
          </a:ln>
        </p:spPr>
      </p:sp>
      <p:pic>
        <p:nvPicPr>
          <p:cNvPr id="13" name="icon" descr="ShieldHalved">    </p:cNvPr>
          <p:cNvPicPr>
            <a:picLocks noChangeAspect="1"/>
          </p:cNvPicPr>
          <p:nvPr/>
        </p:nvPicPr>
        <p:blipFill>
          <a:blip r:embed="rId2"/>
          <a:stretch>
            <a:fillRect/>
          </a:stretch>
        </p:blipFill>
        <p:spPr>
          <a:xfrm>
            <a:off x="4688129" y="2006194"/>
            <a:ext cx="285293" cy="285293"/>
          </a:xfrm>
          <a:prstGeom prst="rect">
            <a:avLst/>
          </a:prstGeom>
        </p:spPr>
      </p:pic>
      <p:sp>
        <p:nvSpPr>
          <p:cNvPr id="14" name="Text 9"/>
          <p:cNvSpPr txBox="1"/>
          <p:nvPr/>
        </p:nvSpPr>
        <p:spPr>
          <a:xfrm>
            <a:off x="5287975" y="1920240"/>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Guards that stop payment</a:t>
            </a:r>
            <a:endParaRPr lang="en-US" sz="1600" dirty="0"/>
          </a:p>
        </p:txBody>
      </p:sp>
      <p:sp>
        <p:nvSpPr>
          <p:cNvPr id="15" name="Text 10"/>
          <p:cNvSpPr txBox="1"/>
          <p:nvPr/>
        </p:nvSpPr>
        <p:spPr>
          <a:xfrm>
            <a:off x="4556455" y="2560320"/>
            <a:ext cx="3047695" cy="1097280"/>
          </a:xfrm>
          <a:prstGeom prst="rect">
            <a:avLst/>
          </a:prstGeom>
          <a:noFill/>
          <a:ln/>
        </p:spPr>
        <p:txBody>
          <a:bodyPr wrap="square" lIns="0" tIns="0" rIns="0" bIns="0" rtlCol="0" anchor="t"/>
          <a:lstStyle/>
          <a:p>
            <a:pPr indent="0" marL="0">
              <a:buNone/>
            </a:pPr>
            <a:r>
              <a:rPr lang="en-US" sz="1400" dirty="0">
                <a:solidFill>
                  <a:schemeClr val="bg2"/>
                </a:solidFill>
              </a:rPr>
              <a:t>Browser lanes: code blocks Pay, Confirm order, Subscribe and never types card, OTP or personal data. Agent API: no account, address or card to pay with.</a:t>
            </a:r>
            <a:endParaRPr lang="en-US" sz="1400" dirty="0"/>
          </a:p>
        </p:txBody>
      </p:sp>
      <p:sp>
        <p:nvSpPr>
          <p:cNvPr id="16" name="agent card"/>
          <p:cNvSpPr/>
          <p:nvPr/>
        </p:nvSpPr>
        <p:spPr>
          <a:xfrm>
            <a:off x="8107070" y="1645920"/>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7" name="icon tile"/>
          <p:cNvSpPr/>
          <p:nvPr/>
        </p:nvSpPr>
        <p:spPr>
          <a:xfrm>
            <a:off x="8335670" y="1874520"/>
            <a:ext cx="548640" cy="548640"/>
          </a:xfrm>
          <a:prstGeom prst="roundRect">
            <a:avLst>
              <a:gd name="adj" fmla="val 20000"/>
            </a:avLst>
          </a:prstGeom>
          <a:solidFill>
            <a:schemeClr val="accent1"/>
          </a:solidFill>
          <a:ln w="6350">
            <a:solidFill>
              <a:schemeClr val="accent1"/>
            </a:solidFill>
            <a:prstDash val="solid"/>
          </a:ln>
        </p:spPr>
      </p:sp>
      <p:pic>
        <p:nvPicPr>
          <p:cNvPr id="18" name="icon" descr="FileContract">    </p:cNvPr>
          <p:cNvPicPr>
            <a:picLocks noChangeAspect="1"/>
          </p:cNvPicPr>
          <p:nvPr/>
        </p:nvPicPr>
        <p:blipFill>
          <a:blip r:embed="rId3"/>
          <a:stretch>
            <a:fillRect/>
          </a:stretch>
        </p:blipFill>
        <p:spPr>
          <a:xfrm>
            <a:off x="8467344" y="2006194"/>
            <a:ext cx="285293" cy="285293"/>
          </a:xfrm>
          <a:prstGeom prst="rect">
            <a:avLst/>
          </a:prstGeom>
        </p:spPr>
      </p:pic>
      <p:sp>
        <p:nvSpPr>
          <p:cNvPr id="19" name="Text 13"/>
          <p:cNvSpPr txBox="1"/>
          <p:nvPr/>
        </p:nvSpPr>
        <p:spPr>
          <a:xfrm>
            <a:off x="9067190" y="1920240"/>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Policy vs reality (Gemini)</a:t>
            </a:r>
            <a:endParaRPr lang="en-US" sz="1600" dirty="0"/>
          </a:p>
        </p:txBody>
      </p:sp>
      <p:sp>
        <p:nvSpPr>
          <p:cNvPr id="20" name="Text 14"/>
          <p:cNvSpPr txBox="1"/>
          <p:nvPr/>
        </p:nvSpPr>
        <p:spPr>
          <a:xfrm>
            <a:off x="8335670" y="2560320"/>
            <a:ext cx="3047695" cy="1097280"/>
          </a:xfrm>
          <a:prstGeom prst="rect">
            <a:avLst/>
          </a:prstGeom>
          <a:noFill/>
          <a:ln/>
        </p:spPr>
        <p:txBody>
          <a:bodyPr wrap="square" lIns="0" tIns="0" rIns="0" bIns="0" rtlCol="0" anchor="t"/>
          <a:lstStyle/>
          <a:p>
            <a:pPr indent="0" marL="0">
              <a:buNone/>
            </a:pPr>
            <a:r>
              <a:rPr lang="en-US" sz="1400" dirty="0">
                <a:solidFill>
                  <a:schemeClr val="bg2"/>
                </a:solidFill>
              </a:rPr>
              <a:t>Reads the site's terms and refund pages and flags written promises that the measured runs disprove.</a:t>
            </a:r>
            <a:endParaRPr lang="en-US" sz="1400" dirty="0"/>
          </a:p>
        </p:txBody>
      </p:sp>
      <p:sp>
        <p:nvSpPr>
          <p:cNvPr id="21" name="agent card"/>
          <p:cNvSpPr/>
          <p:nvPr/>
        </p:nvSpPr>
        <p:spPr>
          <a:xfrm>
            <a:off x="548640" y="4041648"/>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2" name="icon tile"/>
          <p:cNvSpPr/>
          <p:nvPr/>
        </p:nvSpPr>
        <p:spPr>
          <a:xfrm>
            <a:off x="777240" y="4270248"/>
            <a:ext cx="548640" cy="548640"/>
          </a:xfrm>
          <a:prstGeom prst="roundRect">
            <a:avLst>
              <a:gd name="adj" fmla="val 20000"/>
            </a:avLst>
          </a:prstGeom>
          <a:solidFill>
            <a:schemeClr val="accent1"/>
          </a:solidFill>
          <a:ln w="6350">
            <a:solidFill>
              <a:schemeClr val="accent1"/>
            </a:solidFill>
            <a:prstDash val="solid"/>
          </a:ln>
        </p:spPr>
      </p:sp>
      <p:pic>
        <p:nvPicPr>
          <p:cNvPr id="23" name="icon" descr="DiagramProject">    </p:cNvPr>
          <p:cNvPicPr>
            <a:picLocks noChangeAspect="1"/>
          </p:cNvPicPr>
          <p:nvPr/>
        </p:nvPicPr>
        <p:blipFill>
          <a:blip r:embed="rId4"/>
          <a:stretch>
            <a:fillRect/>
          </a:stretch>
        </p:blipFill>
        <p:spPr>
          <a:xfrm>
            <a:off x="908914" y="4401922"/>
            <a:ext cx="285293" cy="285293"/>
          </a:xfrm>
          <a:prstGeom prst="rect">
            <a:avLst/>
          </a:prstGeom>
        </p:spPr>
      </p:pic>
      <p:sp>
        <p:nvSpPr>
          <p:cNvPr id="24" name="Text 17"/>
          <p:cNvSpPr txBox="1"/>
          <p:nvPr/>
        </p:nvSpPr>
        <p:spPr>
          <a:xfrm>
            <a:off x="1508760" y="4315968"/>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Google ADK orchestrator</a:t>
            </a:r>
            <a:endParaRPr lang="en-US" sz="1600" dirty="0"/>
          </a:p>
        </p:txBody>
      </p:sp>
      <p:sp>
        <p:nvSpPr>
          <p:cNvPr id="25" name="Text 18"/>
          <p:cNvSpPr txBox="1"/>
          <p:nvPr/>
        </p:nvSpPr>
        <p:spPr>
          <a:xfrm>
            <a:off x="777240" y="4956048"/>
            <a:ext cx="3047695" cy="1097280"/>
          </a:xfrm>
          <a:prstGeom prst="rect">
            <a:avLst/>
          </a:prstGeom>
          <a:noFill/>
          <a:ln/>
        </p:spPr>
        <p:txBody>
          <a:bodyPr wrap="square" lIns="0" tIns="0" rIns="0" bIns="0" rtlCol="0" anchor="t"/>
          <a:lstStyle/>
          <a:p>
            <a:pPr indent="0" marL="0">
              <a:buNone/>
            </a:pPr>
            <a:r>
              <a:rPr lang="en-US" sz="1400" dirty="0">
                <a:solidFill>
                  <a:schemeClr val="bg2"/>
                </a:solidFill>
              </a:rPr>
              <a:t>A tool-using agent that runs audits, finds peer sites (TinyFish Search), reads policies (Fetch) and drafts complaints.</a:t>
            </a:r>
            <a:endParaRPr lang="en-US" sz="1400" dirty="0"/>
          </a:p>
        </p:txBody>
      </p:sp>
      <p:sp>
        <p:nvSpPr>
          <p:cNvPr id="26" name="agent card"/>
          <p:cNvSpPr/>
          <p:nvPr/>
        </p:nvSpPr>
        <p:spPr>
          <a:xfrm>
            <a:off x="4327855" y="4041648"/>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7" name="icon tile"/>
          <p:cNvSpPr/>
          <p:nvPr/>
        </p:nvSpPr>
        <p:spPr>
          <a:xfrm>
            <a:off x="4556455" y="4270248"/>
            <a:ext cx="548640" cy="548640"/>
          </a:xfrm>
          <a:prstGeom prst="roundRect">
            <a:avLst>
              <a:gd name="adj" fmla="val 20000"/>
            </a:avLst>
          </a:prstGeom>
          <a:solidFill>
            <a:schemeClr val="accent1"/>
          </a:solidFill>
          <a:ln w="6350">
            <a:solidFill>
              <a:schemeClr val="accent1"/>
            </a:solidFill>
            <a:prstDash val="solid"/>
          </a:ln>
        </p:spPr>
      </p:sp>
      <p:pic>
        <p:nvPicPr>
          <p:cNvPr id="28" name="icon" descr="MicrophoneLines">    </p:cNvPr>
          <p:cNvPicPr>
            <a:picLocks noChangeAspect="1"/>
          </p:cNvPicPr>
          <p:nvPr/>
        </p:nvPicPr>
        <p:blipFill>
          <a:blip r:embed="rId5"/>
          <a:stretch>
            <a:fillRect/>
          </a:stretch>
        </p:blipFill>
        <p:spPr>
          <a:xfrm>
            <a:off x="4688129" y="4401922"/>
            <a:ext cx="285293" cy="285293"/>
          </a:xfrm>
          <a:prstGeom prst="rect">
            <a:avLst/>
          </a:prstGeom>
        </p:spPr>
      </p:pic>
      <p:sp>
        <p:nvSpPr>
          <p:cNvPr id="29" name="Text 21"/>
          <p:cNvSpPr txBox="1"/>
          <p:nvPr/>
        </p:nvSpPr>
        <p:spPr>
          <a:xfrm>
            <a:off x="5287975" y="4315968"/>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Voice and text assistant</a:t>
            </a:r>
            <a:endParaRPr lang="en-US" sz="1600" dirty="0"/>
          </a:p>
        </p:txBody>
      </p:sp>
      <p:sp>
        <p:nvSpPr>
          <p:cNvPr id="30" name="Text 22"/>
          <p:cNvSpPr txBox="1"/>
          <p:nvPr/>
        </p:nvSpPr>
        <p:spPr>
          <a:xfrm>
            <a:off x="4556455" y="4956048"/>
            <a:ext cx="3047695" cy="1097280"/>
          </a:xfrm>
          <a:prstGeom prst="rect">
            <a:avLst/>
          </a:prstGeom>
          <a:noFill/>
          <a:ln/>
        </p:spPr>
        <p:txBody>
          <a:bodyPr wrap="square" lIns="0" tIns="0" rIns="0" bIns="0" rtlCol="0" anchor="t"/>
          <a:lstStyle/>
          <a:p>
            <a:pPr indent="0" marL="0">
              <a:buNone/>
            </a:pPr>
            <a:r>
              <a:rPr lang="en-US" sz="1400" dirty="0">
                <a:solidFill>
                  <a:schemeClr val="bg2"/>
                </a:solidFill>
              </a:rPr>
              <a:t>Exact answers from the audit's own numbers; open questions go to Gemini with the whole audit as context.</a:t>
            </a:r>
            <a:endParaRPr lang="en-US" sz="1400" dirty="0"/>
          </a:p>
        </p:txBody>
      </p:sp>
      <p:sp>
        <p:nvSpPr>
          <p:cNvPr id="31" name="agent card"/>
          <p:cNvSpPr/>
          <p:nvPr/>
        </p:nvSpPr>
        <p:spPr>
          <a:xfrm>
            <a:off x="8107070" y="4041648"/>
            <a:ext cx="3504895" cy="2121408"/>
          </a:xfrm>
          <a:prstGeom prst="roundRect">
            <a:avLst>
              <a:gd name="adj" fmla="val 4310"/>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32" name="icon tile"/>
          <p:cNvSpPr/>
          <p:nvPr/>
        </p:nvSpPr>
        <p:spPr>
          <a:xfrm>
            <a:off x="8335670" y="4270248"/>
            <a:ext cx="548640" cy="548640"/>
          </a:xfrm>
          <a:prstGeom prst="roundRect">
            <a:avLst>
              <a:gd name="adj" fmla="val 20000"/>
            </a:avLst>
          </a:prstGeom>
          <a:solidFill>
            <a:schemeClr val="accent1"/>
          </a:solidFill>
          <a:ln w="6350">
            <a:solidFill>
              <a:schemeClr val="accent1"/>
            </a:solidFill>
            <a:prstDash val="solid"/>
          </a:ln>
        </p:spPr>
      </p:sp>
      <p:pic>
        <p:nvPicPr>
          <p:cNvPr id="33" name="icon" descr="EnvelopeOpenText">    </p:cNvPr>
          <p:cNvPicPr>
            <a:picLocks noChangeAspect="1"/>
          </p:cNvPicPr>
          <p:nvPr/>
        </p:nvPicPr>
        <p:blipFill>
          <a:blip r:embed="rId6"/>
          <a:stretch>
            <a:fillRect/>
          </a:stretch>
        </p:blipFill>
        <p:spPr>
          <a:xfrm>
            <a:off x="8467344" y="4401922"/>
            <a:ext cx="285293" cy="285293"/>
          </a:xfrm>
          <a:prstGeom prst="rect">
            <a:avLst/>
          </a:prstGeom>
        </p:spPr>
      </p:pic>
      <p:sp>
        <p:nvSpPr>
          <p:cNvPr id="34" name="Text 25"/>
          <p:cNvSpPr txBox="1"/>
          <p:nvPr/>
        </p:nvSpPr>
        <p:spPr>
          <a:xfrm>
            <a:off x="9067190" y="4315968"/>
            <a:ext cx="2361895" cy="502920"/>
          </a:xfrm>
          <a:prstGeom prst="rect">
            <a:avLst/>
          </a:prstGeom>
          <a:noFill/>
          <a:ln/>
        </p:spPr>
        <p:txBody>
          <a:bodyPr wrap="square" lIns="0" tIns="0" rIns="0" bIns="0" rtlCol="0" anchor="ctr"/>
          <a:lstStyle/>
          <a:p>
            <a:pPr indent="0" marL="0">
              <a:buNone/>
            </a:pPr>
            <a:r>
              <a:rPr lang="en-US" sz="1600" b="1" dirty="0">
                <a:solidFill>
                  <a:schemeClr val="bg1"/>
                </a:solidFill>
              </a:rPr>
              <a:t>Complaint writer</a:t>
            </a:r>
            <a:endParaRPr lang="en-US" sz="1600" dirty="0"/>
          </a:p>
        </p:txBody>
      </p:sp>
      <p:sp>
        <p:nvSpPr>
          <p:cNvPr id="35" name="Text 26"/>
          <p:cNvSpPr txBox="1"/>
          <p:nvPr/>
        </p:nvSpPr>
        <p:spPr>
          <a:xfrm>
            <a:off x="8335670" y="4956048"/>
            <a:ext cx="3047695" cy="1097280"/>
          </a:xfrm>
          <a:prstGeom prst="rect">
            <a:avLst/>
          </a:prstGeom>
          <a:noFill/>
          <a:ln/>
        </p:spPr>
        <p:txBody>
          <a:bodyPr wrap="square" lIns="0" tIns="0" rIns="0" bIns="0" rtlCol="0" anchor="t"/>
          <a:lstStyle/>
          <a:p>
            <a:pPr indent="0" marL="0">
              <a:buNone/>
            </a:pPr>
            <a:r>
              <a:rPr lang="en-US" sz="1400" dirty="0">
                <a:solidFill>
                  <a:schemeClr val="bg2"/>
                </a:solidFill>
              </a:rPr>
              <a:t>Drafts a National Consumer Helpline complaint that cites only measured findings, with exhibits.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Proposed Technical Approach</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05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One pipeline, two browser providers, evidence captured at every step</a:t>
            </a:r>
            <a:endParaRPr lang="en-US" sz="1700" dirty="0"/>
          </a:p>
        </p:txBody>
      </p:sp>
      <p:sp>
        <p:nvSpPr>
          <p:cNvPr id="6" name="pipeline stage"/>
          <p:cNvSpPr/>
          <p:nvPr/>
        </p:nvSpPr>
        <p:spPr>
          <a:xfrm>
            <a:off x="548640" y="1645920"/>
            <a:ext cx="1627632" cy="2331720"/>
          </a:xfrm>
          <a:prstGeom prst="roundRect">
            <a:avLst>
              <a:gd name="adj" fmla="val 561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7" name="icon tile"/>
          <p:cNvSpPr/>
          <p:nvPr/>
        </p:nvSpPr>
        <p:spPr>
          <a:xfrm>
            <a:off x="731520" y="182880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8" name="icon" descr="Desktop">    </p:cNvPr>
          <p:cNvPicPr>
            <a:picLocks noChangeAspect="1"/>
          </p:cNvPicPr>
          <p:nvPr/>
        </p:nvPicPr>
        <p:blipFill>
          <a:blip r:embed="rId1"/>
          <a:stretch>
            <a:fillRect/>
          </a:stretch>
        </p:blipFill>
        <p:spPr>
          <a:xfrm>
            <a:off x="852221" y="1949501"/>
            <a:ext cx="261518" cy="261518"/>
          </a:xfrm>
          <a:prstGeom prst="rect">
            <a:avLst/>
          </a:prstGeom>
        </p:spPr>
      </p:pic>
      <p:sp>
        <p:nvSpPr>
          <p:cNvPr id="9" name="Text 5"/>
          <p:cNvSpPr txBox="1"/>
          <p:nvPr/>
        </p:nvSpPr>
        <p:spPr>
          <a:xfrm>
            <a:off x="731520" y="2450592"/>
            <a:ext cx="1353312" cy="347472"/>
          </a:xfrm>
          <a:prstGeom prst="rect">
            <a:avLst/>
          </a:prstGeom>
          <a:noFill/>
          <a:ln/>
        </p:spPr>
        <p:txBody>
          <a:bodyPr wrap="square" lIns="0" tIns="0" rIns="0" bIns="0" rtlCol="0" anchor="t"/>
          <a:lstStyle/>
          <a:p>
            <a:pPr indent="0" marL="0">
              <a:buNone/>
            </a:pPr>
            <a:r>
              <a:rPr lang="en-US" sz="1600" b="1" dirty="0">
                <a:solidFill>
                  <a:schemeClr val="tx1"/>
                </a:solidFill>
              </a:rPr>
              <a:t>Console</a:t>
            </a:r>
            <a:endParaRPr lang="en-US" sz="1600" dirty="0"/>
          </a:p>
        </p:txBody>
      </p:sp>
      <p:sp>
        <p:nvSpPr>
          <p:cNvPr id="10" name="Text 6"/>
          <p:cNvSpPr txBox="1"/>
          <p:nvPr/>
        </p:nvSpPr>
        <p:spPr>
          <a:xfrm>
            <a:off x="731520" y="2834640"/>
            <a:ext cx="1353312" cy="1051560"/>
          </a:xfrm>
          <a:prstGeom prst="rect">
            <a:avLst/>
          </a:prstGeom>
          <a:noFill/>
          <a:ln/>
        </p:spPr>
        <p:txBody>
          <a:bodyPr wrap="square" lIns="0" tIns="0" rIns="0" bIns="0" rtlCol="0" anchor="t"/>
          <a:lstStyle/>
          <a:p>
            <a:pPr indent="0" marL="0">
              <a:buNone/>
            </a:pPr>
            <a:r>
              <a:rPr lang="en-US" sz="1300" dirty="0">
                <a:solidFill>
                  <a:schemeClr val="accent6"/>
                </a:solidFill>
              </a:rPr>
              <a:t>FastAPI, live agent view, voice and text assistant</a:t>
            </a:r>
            <a:endParaRPr lang="en-US" sz="1300" dirty="0"/>
          </a:p>
        </p:txBody>
      </p:sp>
      <p:sp>
        <p:nvSpPr>
          <p:cNvPr id="11" name="flow arrow"/>
          <p:cNvSpPr/>
          <p:nvPr/>
        </p:nvSpPr>
        <p:spPr>
          <a:xfrm>
            <a:off x="2221992" y="2651760"/>
            <a:ext cx="164592" cy="292608"/>
          </a:xfrm>
          <a:prstGeom prst="chevron">
            <a:avLst/>
          </a:prstGeom>
          <a:solidFill>
            <a:schemeClr val="accent2"/>
          </a:solidFill>
          <a:ln w="12700">
            <a:solidFill>
              <a:schemeClr val="accent2"/>
            </a:solidFill>
            <a:prstDash val="solid"/>
          </a:ln>
        </p:spPr>
      </p:sp>
      <p:sp>
        <p:nvSpPr>
          <p:cNvPr id="12" name="pipeline stage"/>
          <p:cNvSpPr/>
          <p:nvPr/>
        </p:nvSpPr>
        <p:spPr>
          <a:xfrm>
            <a:off x="2435962" y="1645920"/>
            <a:ext cx="1627632" cy="2331720"/>
          </a:xfrm>
          <a:prstGeom prst="roundRect">
            <a:avLst>
              <a:gd name="adj" fmla="val 561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3" name="icon tile"/>
          <p:cNvSpPr/>
          <p:nvPr/>
        </p:nvSpPr>
        <p:spPr>
          <a:xfrm>
            <a:off x="2618842" y="182880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14" name="icon" descr="Sitemap">    </p:cNvPr>
          <p:cNvPicPr>
            <a:picLocks noChangeAspect="1"/>
          </p:cNvPicPr>
          <p:nvPr/>
        </p:nvPicPr>
        <p:blipFill>
          <a:blip r:embed="rId2"/>
          <a:stretch>
            <a:fillRect/>
          </a:stretch>
        </p:blipFill>
        <p:spPr>
          <a:xfrm>
            <a:off x="2739542" y="1949501"/>
            <a:ext cx="261518" cy="261518"/>
          </a:xfrm>
          <a:prstGeom prst="rect">
            <a:avLst/>
          </a:prstGeom>
        </p:spPr>
      </p:pic>
      <p:sp>
        <p:nvSpPr>
          <p:cNvPr id="15" name="Text 10"/>
          <p:cNvSpPr txBox="1"/>
          <p:nvPr/>
        </p:nvSpPr>
        <p:spPr>
          <a:xfrm>
            <a:off x="2618842" y="2450592"/>
            <a:ext cx="1353312" cy="347472"/>
          </a:xfrm>
          <a:prstGeom prst="rect">
            <a:avLst/>
          </a:prstGeom>
          <a:noFill/>
          <a:ln/>
        </p:spPr>
        <p:txBody>
          <a:bodyPr wrap="square" lIns="0" tIns="0" rIns="0" bIns="0" rtlCol="0" anchor="t"/>
          <a:lstStyle/>
          <a:p>
            <a:pPr indent="0" marL="0">
              <a:buNone/>
            </a:pPr>
            <a:r>
              <a:rPr lang="en-US" sz="1600" b="1" dirty="0">
                <a:solidFill>
                  <a:schemeClr val="tx1"/>
                </a:solidFill>
              </a:rPr>
              <a:t>Orchestrator</a:t>
            </a:r>
            <a:endParaRPr lang="en-US" sz="1600" dirty="0"/>
          </a:p>
        </p:txBody>
      </p:sp>
      <p:sp>
        <p:nvSpPr>
          <p:cNvPr id="16" name="Text 11"/>
          <p:cNvSpPr txBox="1"/>
          <p:nvPr/>
        </p:nvSpPr>
        <p:spPr>
          <a:xfrm>
            <a:off x="2618842" y="2834640"/>
            <a:ext cx="1353312" cy="1051560"/>
          </a:xfrm>
          <a:prstGeom prst="rect">
            <a:avLst/>
          </a:prstGeom>
          <a:noFill/>
          <a:ln/>
        </p:spPr>
        <p:txBody>
          <a:bodyPr wrap="square" lIns="0" tIns="0" rIns="0" bIns="0" rtlCol="0" anchor="t"/>
          <a:lstStyle/>
          <a:p>
            <a:pPr indent="0" marL="0">
              <a:buNone/>
            </a:pPr>
            <a:r>
              <a:rPr lang="en-US" sz="1300" dirty="0">
                <a:solidFill>
                  <a:schemeClr val="accent6"/>
                </a:solidFill>
              </a:rPr>
              <a:t>Google ADK + pipeline: 6 profiles × 3 runs in random rounds, one product</a:t>
            </a:r>
            <a:endParaRPr lang="en-US" sz="1300" dirty="0"/>
          </a:p>
        </p:txBody>
      </p:sp>
      <p:sp>
        <p:nvSpPr>
          <p:cNvPr id="17" name="flow arrow"/>
          <p:cNvSpPr/>
          <p:nvPr/>
        </p:nvSpPr>
        <p:spPr>
          <a:xfrm>
            <a:off x="4109314" y="2651760"/>
            <a:ext cx="164592" cy="292608"/>
          </a:xfrm>
          <a:prstGeom prst="chevron">
            <a:avLst/>
          </a:prstGeom>
          <a:solidFill>
            <a:schemeClr val="accent2"/>
          </a:solidFill>
          <a:ln w="12700">
            <a:solidFill>
              <a:schemeClr val="accent2"/>
            </a:solidFill>
            <a:prstDash val="solid"/>
          </a:ln>
        </p:spPr>
      </p:sp>
      <p:sp>
        <p:nvSpPr>
          <p:cNvPr id="18" name="pipeline stage"/>
          <p:cNvSpPr/>
          <p:nvPr/>
        </p:nvSpPr>
        <p:spPr>
          <a:xfrm>
            <a:off x="4323283" y="1645920"/>
            <a:ext cx="1627632" cy="2331720"/>
          </a:xfrm>
          <a:prstGeom prst="roundRect">
            <a:avLst>
              <a:gd name="adj" fmla="val 5618"/>
            </a:avLst>
          </a:prstGeom>
          <a:solidFill>
            <a:schemeClr val="tx2"/>
          </a:solidFill>
          <a:ln w="9525">
            <a:solidFill>
              <a:schemeClr val="tx2"/>
            </a:solidFill>
            <a:prstDash val="solid"/>
          </a:ln>
          <a:effectLst>
            <a:outerShdw sx="100000" sy="100000" kx="0" ky="0" algn="bl" rotWithShape="0" blurRad="127000" dist="25400" dir="5400000">
              <a:srgbClr val="000000">
                <a:alpha val="10000"/>
              </a:srgbClr>
            </a:outerShdw>
          </a:effectLst>
        </p:spPr>
      </p:sp>
      <p:sp>
        <p:nvSpPr>
          <p:cNvPr id="19" name="icon tile"/>
          <p:cNvSpPr/>
          <p:nvPr/>
        </p:nvSpPr>
        <p:spPr>
          <a:xfrm>
            <a:off x="4506163" y="1828800"/>
            <a:ext cx="502920" cy="502920"/>
          </a:xfrm>
          <a:prstGeom prst="roundRect">
            <a:avLst>
              <a:gd name="adj" fmla="val 21818"/>
            </a:avLst>
          </a:prstGeom>
          <a:solidFill>
            <a:schemeClr val="accent1"/>
          </a:solidFill>
          <a:ln w="6350">
            <a:solidFill>
              <a:schemeClr val="accent1"/>
            </a:solidFill>
            <a:prstDash val="solid"/>
          </a:ln>
        </p:spPr>
      </p:sp>
      <p:pic>
        <p:nvPicPr>
          <p:cNvPr id="20" name="icon" descr="Globe">    </p:cNvPr>
          <p:cNvPicPr>
            <a:picLocks noChangeAspect="1"/>
          </p:cNvPicPr>
          <p:nvPr/>
        </p:nvPicPr>
        <p:blipFill>
          <a:blip r:embed="rId3"/>
          <a:stretch>
            <a:fillRect/>
          </a:stretch>
        </p:blipFill>
        <p:spPr>
          <a:xfrm>
            <a:off x="4626864" y="1949501"/>
            <a:ext cx="261518" cy="261518"/>
          </a:xfrm>
          <a:prstGeom prst="rect">
            <a:avLst/>
          </a:prstGeom>
        </p:spPr>
      </p:pic>
      <p:sp>
        <p:nvSpPr>
          <p:cNvPr id="21" name="Text 15"/>
          <p:cNvSpPr txBox="1"/>
          <p:nvPr/>
        </p:nvSpPr>
        <p:spPr>
          <a:xfrm>
            <a:off x="4506163" y="2450592"/>
            <a:ext cx="1353312" cy="347472"/>
          </a:xfrm>
          <a:prstGeom prst="rect">
            <a:avLst/>
          </a:prstGeom>
          <a:noFill/>
          <a:ln/>
        </p:spPr>
        <p:txBody>
          <a:bodyPr wrap="square" lIns="0" tIns="0" rIns="0" bIns="0" rtlCol="0" anchor="t"/>
          <a:lstStyle/>
          <a:p>
            <a:pPr indent="0" marL="0">
              <a:buNone/>
            </a:pPr>
            <a:r>
              <a:rPr lang="en-US" sz="1600" b="1" dirty="0">
                <a:solidFill>
                  <a:schemeClr val="bg1"/>
                </a:solidFill>
              </a:rPr>
              <a:t>Browsers</a:t>
            </a:r>
            <a:endParaRPr lang="en-US" sz="1600" dirty="0"/>
          </a:p>
        </p:txBody>
      </p:sp>
      <p:sp>
        <p:nvSpPr>
          <p:cNvPr id="22" name="Text 16"/>
          <p:cNvSpPr txBox="1"/>
          <p:nvPr/>
        </p:nvSpPr>
        <p:spPr>
          <a:xfrm>
            <a:off x="4506163" y="2834640"/>
            <a:ext cx="1353312" cy="1051560"/>
          </a:xfrm>
          <a:prstGeom prst="rect">
            <a:avLst/>
          </a:prstGeom>
          <a:noFill/>
          <a:ln/>
        </p:spPr>
        <p:txBody>
          <a:bodyPr wrap="square" lIns="0" tIns="0" rIns="0" bIns="0" rtlCol="0" anchor="t"/>
          <a:lstStyle/>
          <a:p>
            <a:pPr indent="0" marL="0">
              <a:buNone/>
            </a:pPr>
            <a:r>
              <a:rPr lang="en-US" sz="1300" dirty="0">
                <a:solidFill>
                  <a:schemeClr val="bg2"/>
                </a:solidFill>
              </a:rPr>
              <a:t>TinyFish Browser and Agent API, or Playwright (open source)</a:t>
            </a:r>
            <a:endParaRPr lang="en-US" sz="1300" dirty="0"/>
          </a:p>
        </p:txBody>
      </p:sp>
      <p:sp>
        <p:nvSpPr>
          <p:cNvPr id="23" name="flow arrow"/>
          <p:cNvSpPr/>
          <p:nvPr/>
        </p:nvSpPr>
        <p:spPr>
          <a:xfrm>
            <a:off x="5996635" y="2651760"/>
            <a:ext cx="164592" cy="292608"/>
          </a:xfrm>
          <a:prstGeom prst="chevron">
            <a:avLst/>
          </a:prstGeom>
          <a:solidFill>
            <a:schemeClr val="accent2"/>
          </a:solidFill>
          <a:ln w="12700">
            <a:solidFill>
              <a:schemeClr val="accent2"/>
            </a:solidFill>
            <a:prstDash val="solid"/>
          </a:ln>
        </p:spPr>
      </p:sp>
      <p:sp>
        <p:nvSpPr>
          <p:cNvPr id="24" name="pipeline stage"/>
          <p:cNvSpPr/>
          <p:nvPr/>
        </p:nvSpPr>
        <p:spPr>
          <a:xfrm>
            <a:off x="6210605" y="1645920"/>
            <a:ext cx="1627632" cy="2331720"/>
          </a:xfrm>
          <a:prstGeom prst="roundRect">
            <a:avLst>
              <a:gd name="adj" fmla="val 561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5" name="icon tile"/>
          <p:cNvSpPr/>
          <p:nvPr/>
        </p:nvSpPr>
        <p:spPr>
          <a:xfrm>
            <a:off x="6393485" y="182880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26" name="icon" descr="Camera">    </p:cNvPr>
          <p:cNvPicPr>
            <a:picLocks noChangeAspect="1"/>
          </p:cNvPicPr>
          <p:nvPr/>
        </p:nvPicPr>
        <p:blipFill>
          <a:blip r:embed="rId4"/>
          <a:stretch>
            <a:fillRect/>
          </a:stretch>
        </p:blipFill>
        <p:spPr>
          <a:xfrm>
            <a:off x="6514186" y="1949501"/>
            <a:ext cx="261518" cy="261518"/>
          </a:xfrm>
          <a:prstGeom prst="rect">
            <a:avLst/>
          </a:prstGeom>
        </p:spPr>
      </p:pic>
      <p:sp>
        <p:nvSpPr>
          <p:cNvPr id="27" name="Text 20"/>
          <p:cNvSpPr txBox="1"/>
          <p:nvPr/>
        </p:nvSpPr>
        <p:spPr>
          <a:xfrm>
            <a:off x="6393485" y="2450592"/>
            <a:ext cx="1353312" cy="347472"/>
          </a:xfrm>
          <a:prstGeom prst="rect">
            <a:avLst/>
          </a:prstGeom>
          <a:noFill/>
          <a:ln/>
        </p:spPr>
        <p:txBody>
          <a:bodyPr wrap="square" lIns="0" tIns="0" rIns="0" bIns="0" rtlCol="0" anchor="t"/>
          <a:lstStyle/>
          <a:p>
            <a:pPr indent="0" marL="0">
              <a:buNone/>
            </a:pPr>
            <a:r>
              <a:rPr lang="en-US" sz="1600" b="1" dirty="0">
                <a:solidFill>
                  <a:schemeClr val="tx1"/>
                </a:solidFill>
              </a:rPr>
              <a:t>Capture</a:t>
            </a:r>
            <a:endParaRPr lang="en-US" sz="1600" dirty="0"/>
          </a:p>
        </p:txBody>
      </p:sp>
      <p:sp>
        <p:nvSpPr>
          <p:cNvPr id="28" name="Text 21"/>
          <p:cNvSpPr txBox="1"/>
          <p:nvPr/>
        </p:nvSpPr>
        <p:spPr>
          <a:xfrm>
            <a:off x="6393485" y="2834640"/>
            <a:ext cx="1353312" cy="1051560"/>
          </a:xfrm>
          <a:prstGeom prst="rect">
            <a:avLst/>
          </a:prstGeom>
          <a:noFill/>
          <a:ln/>
        </p:spPr>
        <p:txBody>
          <a:bodyPr wrap="square" lIns="0" tIns="0" rIns="0" bIns="0" rtlCol="0" anchor="t"/>
          <a:lstStyle/>
          <a:p>
            <a:pPr indent="0" marL="0">
              <a:buNone/>
            </a:pPr>
            <a:r>
              <a:rPr lang="en-US" sz="1300" dirty="0">
                <a:solidFill>
                  <a:schemeClr val="accent6"/>
                </a:solidFill>
              </a:rPr>
              <a:t>Every screen: prices, copy, checkboxes, screenshots</a:t>
            </a:r>
            <a:endParaRPr lang="en-US" sz="1300" dirty="0"/>
          </a:p>
        </p:txBody>
      </p:sp>
      <p:sp>
        <p:nvSpPr>
          <p:cNvPr id="29" name="flow arrow"/>
          <p:cNvSpPr/>
          <p:nvPr/>
        </p:nvSpPr>
        <p:spPr>
          <a:xfrm>
            <a:off x="7883957" y="2651760"/>
            <a:ext cx="164592" cy="292608"/>
          </a:xfrm>
          <a:prstGeom prst="chevron">
            <a:avLst/>
          </a:prstGeom>
          <a:solidFill>
            <a:schemeClr val="accent2"/>
          </a:solidFill>
          <a:ln w="12700">
            <a:solidFill>
              <a:schemeClr val="accent2"/>
            </a:solidFill>
            <a:prstDash val="solid"/>
          </a:ln>
        </p:spPr>
      </p:sp>
      <p:sp>
        <p:nvSpPr>
          <p:cNvPr id="30" name="pipeline stage"/>
          <p:cNvSpPr/>
          <p:nvPr/>
        </p:nvSpPr>
        <p:spPr>
          <a:xfrm>
            <a:off x="8097926" y="1645920"/>
            <a:ext cx="1627632" cy="2331720"/>
          </a:xfrm>
          <a:prstGeom prst="roundRect">
            <a:avLst>
              <a:gd name="adj" fmla="val 561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31" name="icon tile"/>
          <p:cNvSpPr/>
          <p:nvPr/>
        </p:nvSpPr>
        <p:spPr>
          <a:xfrm>
            <a:off x="8280806" y="182880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32" name="icon" descr="Brain">    </p:cNvPr>
          <p:cNvPicPr>
            <a:picLocks noChangeAspect="1"/>
          </p:cNvPicPr>
          <p:nvPr/>
        </p:nvPicPr>
        <p:blipFill>
          <a:blip r:embed="rId5"/>
          <a:stretch>
            <a:fillRect/>
          </a:stretch>
        </p:blipFill>
        <p:spPr>
          <a:xfrm>
            <a:off x="8401507" y="1949501"/>
            <a:ext cx="261518" cy="261518"/>
          </a:xfrm>
          <a:prstGeom prst="rect">
            <a:avLst/>
          </a:prstGeom>
        </p:spPr>
      </p:pic>
      <p:sp>
        <p:nvSpPr>
          <p:cNvPr id="33" name="Text 25"/>
          <p:cNvSpPr txBox="1"/>
          <p:nvPr/>
        </p:nvSpPr>
        <p:spPr>
          <a:xfrm>
            <a:off x="8280806" y="2450592"/>
            <a:ext cx="1353312" cy="347472"/>
          </a:xfrm>
          <a:prstGeom prst="rect">
            <a:avLst/>
          </a:prstGeom>
          <a:noFill/>
          <a:ln/>
        </p:spPr>
        <p:txBody>
          <a:bodyPr wrap="square" lIns="0" tIns="0" rIns="0" bIns="0" rtlCol="0" anchor="t"/>
          <a:lstStyle/>
          <a:p>
            <a:pPr indent="0" marL="0">
              <a:buNone/>
            </a:pPr>
            <a:r>
              <a:rPr lang="en-US" sz="1600" b="1" dirty="0">
                <a:solidFill>
                  <a:schemeClr val="tx1"/>
                </a:solidFill>
              </a:rPr>
              <a:t>Analysis</a:t>
            </a:r>
            <a:endParaRPr lang="en-US" sz="1600" dirty="0"/>
          </a:p>
        </p:txBody>
      </p:sp>
      <p:sp>
        <p:nvSpPr>
          <p:cNvPr id="34" name="Text 26"/>
          <p:cNvSpPr txBox="1"/>
          <p:nvPr/>
        </p:nvSpPr>
        <p:spPr>
          <a:xfrm>
            <a:off x="8280806" y="2834640"/>
            <a:ext cx="1353312" cy="1051560"/>
          </a:xfrm>
          <a:prstGeom prst="rect">
            <a:avLst/>
          </a:prstGeom>
          <a:noFill/>
          <a:ln/>
        </p:spPr>
        <p:txBody>
          <a:bodyPr wrap="square" lIns="0" tIns="0" rIns="0" bIns="0" rtlCol="0" anchor="t"/>
          <a:lstStyle/>
          <a:p>
            <a:pPr indent="0" marL="0">
              <a:buNone/>
            </a:pPr>
            <a:r>
              <a:rPr lang="en-US" sz="1300" dirty="0">
                <a:solidFill>
                  <a:schemeClr val="accent6"/>
                </a:solidFill>
              </a:rPr>
              <a:t>Classifier, price statistics, Gemini policy check</a:t>
            </a:r>
            <a:endParaRPr lang="en-US" sz="1300" dirty="0"/>
          </a:p>
        </p:txBody>
      </p:sp>
      <p:sp>
        <p:nvSpPr>
          <p:cNvPr id="35" name="flow arrow"/>
          <p:cNvSpPr/>
          <p:nvPr/>
        </p:nvSpPr>
        <p:spPr>
          <a:xfrm>
            <a:off x="9771278" y="2651760"/>
            <a:ext cx="164592" cy="292608"/>
          </a:xfrm>
          <a:prstGeom prst="chevron">
            <a:avLst/>
          </a:prstGeom>
          <a:solidFill>
            <a:schemeClr val="accent2"/>
          </a:solidFill>
          <a:ln w="12700">
            <a:solidFill>
              <a:schemeClr val="accent2"/>
            </a:solidFill>
            <a:prstDash val="solid"/>
          </a:ln>
        </p:spPr>
      </p:sp>
      <p:sp>
        <p:nvSpPr>
          <p:cNvPr id="36" name="pipeline stage"/>
          <p:cNvSpPr/>
          <p:nvPr/>
        </p:nvSpPr>
        <p:spPr>
          <a:xfrm>
            <a:off x="9985248" y="1645920"/>
            <a:ext cx="1627632" cy="2331720"/>
          </a:xfrm>
          <a:prstGeom prst="roundRect">
            <a:avLst>
              <a:gd name="adj" fmla="val 5618"/>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37" name="icon tile"/>
          <p:cNvSpPr/>
          <p:nvPr/>
        </p:nvSpPr>
        <p:spPr>
          <a:xfrm>
            <a:off x="10168128" y="1828800"/>
            <a:ext cx="502920" cy="502920"/>
          </a:xfrm>
          <a:prstGeom prst="roundRect">
            <a:avLst>
              <a:gd name="adj" fmla="val 21818"/>
            </a:avLst>
          </a:prstGeom>
          <a:solidFill>
            <a:schemeClr val="accent2">
              <a:alpha val="30000"/>
            </a:schemeClr>
          </a:solidFill>
          <a:ln w="6350">
            <a:solidFill>
              <a:schemeClr val="accent2">
                <a:alpha val="30000"/>
              </a:schemeClr>
            </a:solidFill>
            <a:prstDash val="solid"/>
          </a:ln>
        </p:spPr>
      </p:sp>
      <p:pic>
        <p:nvPicPr>
          <p:cNvPr id="38" name="icon" descr="FilePdf">    </p:cNvPr>
          <p:cNvPicPr>
            <a:picLocks noChangeAspect="1"/>
          </p:cNvPicPr>
          <p:nvPr/>
        </p:nvPicPr>
        <p:blipFill>
          <a:blip r:embed="rId6"/>
          <a:stretch>
            <a:fillRect/>
          </a:stretch>
        </p:blipFill>
        <p:spPr>
          <a:xfrm>
            <a:off x="10288829" y="1949501"/>
            <a:ext cx="261518" cy="261518"/>
          </a:xfrm>
          <a:prstGeom prst="rect">
            <a:avLst/>
          </a:prstGeom>
        </p:spPr>
      </p:pic>
      <p:sp>
        <p:nvSpPr>
          <p:cNvPr id="39" name="Text 30"/>
          <p:cNvSpPr txBox="1"/>
          <p:nvPr/>
        </p:nvSpPr>
        <p:spPr>
          <a:xfrm>
            <a:off x="10168128" y="2450592"/>
            <a:ext cx="1353312" cy="347472"/>
          </a:xfrm>
          <a:prstGeom prst="rect">
            <a:avLst/>
          </a:prstGeom>
          <a:noFill/>
          <a:ln/>
        </p:spPr>
        <p:txBody>
          <a:bodyPr wrap="square" lIns="0" tIns="0" rIns="0" bIns="0" rtlCol="0" anchor="t"/>
          <a:lstStyle/>
          <a:p>
            <a:pPr indent="0" marL="0">
              <a:buNone/>
            </a:pPr>
            <a:r>
              <a:rPr lang="en-US" sz="1600" b="1" dirty="0">
                <a:solidFill>
                  <a:schemeClr val="tx1"/>
                </a:solidFill>
              </a:rPr>
              <a:t>Outputs</a:t>
            </a:r>
            <a:endParaRPr lang="en-US" sz="1600" dirty="0"/>
          </a:p>
        </p:txBody>
      </p:sp>
      <p:sp>
        <p:nvSpPr>
          <p:cNvPr id="40" name="Text 31"/>
          <p:cNvSpPr txBox="1"/>
          <p:nvPr/>
        </p:nvSpPr>
        <p:spPr>
          <a:xfrm>
            <a:off x="10168128" y="2834640"/>
            <a:ext cx="1353312" cy="1051560"/>
          </a:xfrm>
          <a:prstGeom prst="rect">
            <a:avLst/>
          </a:prstGeom>
          <a:noFill/>
          <a:ln/>
        </p:spPr>
        <p:txBody>
          <a:bodyPr wrap="square" lIns="0" tIns="0" rIns="0" bIns="0" rtlCol="0" anchor="t"/>
          <a:lstStyle/>
          <a:p>
            <a:pPr indent="0" marL="0">
              <a:buNone/>
            </a:pPr>
            <a:r>
              <a:rPr lang="en-US" sz="1300" dirty="0">
                <a:solidFill>
                  <a:schemeClr val="accent6"/>
                </a:solidFill>
              </a:rPr>
              <a:t>Score, findings report, SHA‑256 hashes, NCH complaint</a:t>
            </a:r>
            <a:endParaRPr lang="en-US" sz="1300" dirty="0"/>
          </a:p>
        </p:txBody>
      </p:sp>
      <p:sp>
        <p:nvSpPr>
          <p:cNvPr id="41" name="Text 32"/>
          <p:cNvSpPr txBox="1"/>
          <p:nvPr/>
        </p:nvSpPr>
        <p:spPr>
          <a:xfrm>
            <a:off x="548640" y="4251960"/>
            <a:ext cx="50292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Stack</a:t>
            </a:r>
            <a:endParaRPr lang="en-US" sz="1800" dirty="0"/>
          </a:p>
        </p:txBody>
      </p:sp>
      <p:sp>
        <p:nvSpPr>
          <p:cNvPr id="42" name="stack chip"/>
          <p:cNvSpPr/>
          <p:nvPr/>
        </p:nvSpPr>
        <p:spPr>
          <a:xfrm>
            <a:off x="548640" y="4709160"/>
            <a:ext cx="795528" cy="347472"/>
          </a:xfrm>
          <a:prstGeom prst="roundRect">
            <a:avLst>
              <a:gd name="adj" fmla="val 47368"/>
            </a:avLst>
          </a:prstGeom>
          <a:solidFill>
            <a:schemeClr val="bg1"/>
          </a:solidFill>
          <a:ln w="12700">
            <a:solidFill>
              <a:schemeClr val="accent1"/>
            </a:solidFill>
            <a:prstDash val="solid"/>
          </a:ln>
        </p:spPr>
      </p:sp>
      <p:sp>
        <p:nvSpPr>
          <p:cNvPr id="43" name="Text 34"/>
          <p:cNvSpPr txBox="1"/>
          <p:nvPr/>
        </p:nvSpPr>
        <p:spPr>
          <a:xfrm>
            <a:off x="548640" y="4709160"/>
            <a:ext cx="795528" cy="347472"/>
          </a:xfrm>
          <a:prstGeom prst="rect">
            <a:avLst/>
          </a:prstGeom>
          <a:noFill/>
          <a:ln/>
        </p:spPr>
        <p:txBody>
          <a:bodyPr wrap="square" lIns="0" tIns="0" rIns="0" bIns="0" rtlCol="0" anchor="ctr"/>
          <a:lstStyle/>
          <a:p>
            <a:pPr algn="ctr" indent="0" marL="0">
              <a:buNone/>
            </a:pPr>
            <a:r>
              <a:rPr lang="en-US" sz="1200" b="1" dirty="0">
                <a:solidFill>
                  <a:schemeClr val="accent1"/>
                </a:solidFill>
              </a:rPr>
              <a:t>Python</a:t>
            </a:r>
            <a:endParaRPr lang="en-US" sz="1200" dirty="0"/>
          </a:p>
        </p:txBody>
      </p:sp>
      <p:sp>
        <p:nvSpPr>
          <p:cNvPr id="44" name="stack chip"/>
          <p:cNvSpPr/>
          <p:nvPr/>
        </p:nvSpPr>
        <p:spPr>
          <a:xfrm>
            <a:off x="1453896" y="4709160"/>
            <a:ext cx="882396" cy="347472"/>
          </a:xfrm>
          <a:prstGeom prst="roundRect">
            <a:avLst>
              <a:gd name="adj" fmla="val 47368"/>
            </a:avLst>
          </a:prstGeom>
          <a:solidFill>
            <a:schemeClr val="bg1"/>
          </a:solidFill>
          <a:ln w="12700">
            <a:solidFill>
              <a:schemeClr val="accent1"/>
            </a:solidFill>
            <a:prstDash val="solid"/>
          </a:ln>
        </p:spPr>
      </p:sp>
      <p:sp>
        <p:nvSpPr>
          <p:cNvPr id="45" name="Text 36"/>
          <p:cNvSpPr txBox="1"/>
          <p:nvPr/>
        </p:nvSpPr>
        <p:spPr>
          <a:xfrm>
            <a:off x="1453896" y="4709160"/>
            <a:ext cx="882396" cy="347472"/>
          </a:xfrm>
          <a:prstGeom prst="rect">
            <a:avLst/>
          </a:prstGeom>
          <a:noFill/>
          <a:ln/>
        </p:spPr>
        <p:txBody>
          <a:bodyPr wrap="square" lIns="0" tIns="0" rIns="0" bIns="0" rtlCol="0" anchor="ctr"/>
          <a:lstStyle/>
          <a:p>
            <a:pPr algn="ctr" indent="0" marL="0">
              <a:buNone/>
            </a:pPr>
            <a:r>
              <a:rPr lang="en-US" sz="1200" b="1" dirty="0">
                <a:solidFill>
                  <a:schemeClr val="accent1"/>
                </a:solidFill>
              </a:rPr>
              <a:t>FastAPI</a:t>
            </a:r>
            <a:endParaRPr lang="en-US" sz="1200" dirty="0"/>
          </a:p>
        </p:txBody>
      </p:sp>
      <p:sp>
        <p:nvSpPr>
          <p:cNvPr id="46" name="stack chip"/>
          <p:cNvSpPr/>
          <p:nvPr/>
        </p:nvSpPr>
        <p:spPr>
          <a:xfrm>
            <a:off x="2446020" y="4709160"/>
            <a:ext cx="1316736" cy="347472"/>
          </a:xfrm>
          <a:prstGeom prst="roundRect">
            <a:avLst>
              <a:gd name="adj" fmla="val 47368"/>
            </a:avLst>
          </a:prstGeom>
          <a:solidFill>
            <a:schemeClr val="bg1"/>
          </a:solidFill>
          <a:ln w="12700">
            <a:solidFill>
              <a:schemeClr val="accent1"/>
            </a:solidFill>
            <a:prstDash val="solid"/>
          </a:ln>
        </p:spPr>
      </p:sp>
      <p:sp>
        <p:nvSpPr>
          <p:cNvPr id="47" name="Text 38"/>
          <p:cNvSpPr txBox="1"/>
          <p:nvPr/>
        </p:nvSpPr>
        <p:spPr>
          <a:xfrm>
            <a:off x="2446020" y="4709160"/>
            <a:ext cx="1316736" cy="347472"/>
          </a:xfrm>
          <a:prstGeom prst="rect">
            <a:avLst/>
          </a:prstGeom>
          <a:noFill/>
          <a:ln/>
        </p:spPr>
        <p:txBody>
          <a:bodyPr wrap="square" lIns="0" tIns="0" rIns="0" bIns="0" rtlCol="0" anchor="ctr"/>
          <a:lstStyle/>
          <a:p>
            <a:pPr algn="ctr" indent="0" marL="0">
              <a:buNone/>
            </a:pPr>
            <a:r>
              <a:rPr lang="en-US" sz="1200" b="1" dirty="0">
                <a:solidFill>
                  <a:schemeClr val="accent1"/>
                </a:solidFill>
              </a:rPr>
              <a:t>TinyFish SDK</a:t>
            </a:r>
            <a:endParaRPr lang="en-US" sz="1200" dirty="0"/>
          </a:p>
        </p:txBody>
      </p:sp>
      <p:sp>
        <p:nvSpPr>
          <p:cNvPr id="48" name="stack chip"/>
          <p:cNvSpPr/>
          <p:nvPr/>
        </p:nvSpPr>
        <p:spPr>
          <a:xfrm>
            <a:off x="3872484" y="4709160"/>
            <a:ext cx="1143000" cy="347472"/>
          </a:xfrm>
          <a:prstGeom prst="roundRect">
            <a:avLst>
              <a:gd name="adj" fmla="val 47368"/>
            </a:avLst>
          </a:prstGeom>
          <a:solidFill>
            <a:schemeClr val="bg1"/>
          </a:solidFill>
          <a:ln w="12700">
            <a:solidFill>
              <a:schemeClr val="accent1"/>
            </a:solidFill>
            <a:prstDash val="solid"/>
          </a:ln>
        </p:spPr>
      </p:sp>
      <p:sp>
        <p:nvSpPr>
          <p:cNvPr id="49" name="Text 40"/>
          <p:cNvSpPr txBox="1"/>
          <p:nvPr/>
        </p:nvSpPr>
        <p:spPr>
          <a:xfrm>
            <a:off x="3872484" y="4709160"/>
            <a:ext cx="1143000" cy="347472"/>
          </a:xfrm>
          <a:prstGeom prst="rect">
            <a:avLst/>
          </a:prstGeom>
          <a:noFill/>
          <a:ln/>
        </p:spPr>
        <p:txBody>
          <a:bodyPr wrap="square" lIns="0" tIns="0" rIns="0" bIns="0" rtlCol="0" anchor="ctr"/>
          <a:lstStyle/>
          <a:p>
            <a:pPr algn="ctr" indent="0" marL="0">
              <a:buNone/>
            </a:pPr>
            <a:r>
              <a:rPr lang="en-US" sz="1200" b="1" dirty="0">
                <a:solidFill>
                  <a:schemeClr val="accent1"/>
                </a:solidFill>
              </a:rPr>
              <a:t>Playwright</a:t>
            </a:r>
            <a:endParaRPr lang="en-US" sz="1200" dirty="0"/>
          </a:p>
        </p:txBody>
      </p:sp>
      <p:sp>
        <p:nvSpPr>
          <p:cNvPr id="50" name="stack chip"/>
          <p:cNvSpPr/>
          <p:nvPr/>
        </p:nvSpPr>
        <p:spPr>
          <a:xfrm>
            <a:off x="548640" y="5166360"/>
            <a:ext cx="1143000" cy="347472"/>
          </a:xfrm>
          <a:prstGeom prst="roundRect">
            <a:avLst>
              <a:gd name="adj" fmla="val 47368"/>
            </a:avLst>
          </a:prstGeom>
          <a:solidFill>
            <a:schemeClr val="bg1"/>
          </a:solidFill>
          <a:ln w="12700">
            <a:solidFill>
              <a:schemeClr val="accent1"/>
            </a:solidFill>
            <a:prstDash val="solid"/>
          </a:ln>
        </p:spPr>
      </p:sp>
      <p:sp>
        <p:nvSpPr>
          <p:cNvPr id="51" name="Text 42"/>
          <p:cNvSpPr txBox="1"/>
          <p:nvPr/>
        </p:nvSpPr>
        <p:spPr>
          <a:xfrm>
            <a:off x="548640" y="5166360"/>
            <a:ext cx="1143000" cy="347472"/>
          </a:xfrm>
          <a:prstGeom prst="rect">
            <a:avLst/>
          </a:prstGeom>
          <a:noFill/>
          <a:ln/>
        </p:spPr>
        <p:txBody>
          <a:bodyPr wrap="square" lIns="0" tIns="0" rIns="0" bIns="0" rtlCol="0" anchor="ctr"/>
          <a:lstStyle/>
          <a:p>
            <a:pPr algn="ctr" indent="0" marL="0">
              <a:buNone/>
            </a:pPr>
            <a:r>
              <a:rPr lang="en-US" sz="1200" b="1" dirty="0">
                <a:solidFill>
                  <a:schemeClr val="accent1"/>
                </a:solidFill>
              </a:rPr>
              <a:t>Google ADK</a:t>
            </a:r>
            <a:endParaRPr lang="en-US" sz="1200" dirty="0"/>
          </a:p>
        </p:txBody>
      </p:sp>
      <p:sp>
        <p:nvSpPr>
          <p:cNvPr id="52" name="stack chip"/>
          <p:cNvSpPr/>
          <p:nvPr/>
        </p:nvSpPr>
        <p:spPr>
          <a:xfrm>
            <a:off x="1801368" y="5166360"/>
            <a:ext cx="795528" cy="347472"/>
          </a:xfrm>
          <a:prstGeom prst="roundRect">
            <a:avLst>
              <a:gd name="adj" fmla="val 47368"/>
            </a:avLst>
          </a:prstGeom>
          <a:solidFill>
            <a:schemeClr val="bg1"/>
          </a:solidFill>
          <a:ln w="12700">
            <a:solidFill>
              <a:schemeClr val="accent1"/>
            </a:solidFill>
            <a:prstDash val="solid"/>
          </a:ln>
        </p:spPr>
      </p:sp>
      <p:sp>
        <p:nvSpPr>
          <p:cNvPr id="53" name="Text 44"/>
          <p:cNvSpPr txBox="1"/>
          <p:nvPr/>
        </p:nvSpPr>
        <p:spPr>
          <a:xfrm>
            <a:off x="1801368" y="5166360"/>
            <a:ext cx="795528" cy="347472"/>
          </a:xfrm>
          <a:prstGeom prst="rect">
            <a:avLst/>
          </a:prstGeom>
          <a:noFill/>
          <a:ln/>
        </p:spPr>
        <p:txBody>
          <a:bodyPr wrap="square" lIns="0" tIns="0" rIns="0" bIns="0" rtlCol="0" anchor="ctr"/>
          <a:lstStyle/>
          <a:p>
            <a:pPr algn="ctr" indent="0" marL="0">
              <a:buNone/>
            </a:pPr>
            <a:r>
              <a:rPr lang="en-US" sz="1200" b="1" dirty="0">
                <a:solidFill>
                  <a:schemeClr val="accent1"/>
                </a:solidFill>
              </a:rPr>
              <a:t>Gemini</a:t>
            </a:r>
            <a:endParaRPr lang="en-US" sz="1200" dirty="0"/>
          </a:p>
        </p:txBody>
      </p:sp>
      <p:sp>
        <p:nvSpPr>
          <p:cNvPr id="54" name="stack chip"/>
          <p:cNvSpPr/>
          <p:nvPr/>
        </p:nvSpPr>
        <p:spPr>
          <a:xfrm>
            <a:off x="2706624" y="5166360"/>
            <a:ext cx="1316736" cy="347472"/>
          </a:xfrm>
          <a:prstGeom prst="roundRect">
            <a:avLst>
              <a:gd name="adj" fmla="val 47368"/>
            </a:avLst>
          </a:prstGeom>
          <a:solidFill>
            <a:schemeClr val="bg1"/>
          </a:solidFill>
          <a:ln w="12700">
            <a:solidFill>
              <a:schemeClr val="accent1"/>
            </a:solidFill>
            <a:prstDash val="solid"/>
          </a:ln>
        </p:spPr>
      </p:sp>
      <p:sp>
        <p:nvSpPr>
          <p:cNvPr id="55" name="Text 46"/>
          <p:cNvSpPr txBox="1"/>
          <p:nvPr/>
        </p:nvSpPr>
        <p:spPr>
          <a:xfrm>
            <a:off x="2706624" y="5166360"/>
            <a:ext cx="1316736" cy="347472"/>
          </a:xfrm>
          <a:prstGeom prst="rect">
            <a:avLst/>
          </a:prstGeom>
          <a:noFill/>
          <a:ln/>
        </p:spPr>
        <p:txBody>
          <a:bodyPr wrap="square" lIns="0" tIns="0" rIns="0" bIns="0" rtlCol="0" anchor="ctr"/>
          <a:lstStyle/>
          <a:p>
            <a:pPr algn="ctr" indent="0" marL="0">
              <a:buNone/>
            </a:pPr>
            <a:r>
              <a:rPr lang="en-US" sz="1200" b="1" dirty="0">
                <a:solidFill>
                  <a:schemeClr val="accent1"/>
                </a:solidFill>
              </a:rPr>
              <a:t>scikit-learn</a:t>
            </a:r>
            <a:endParaRPr lang="en-US" sz="1200" dirty="0"/>
          </a:p>
        </p:txBody>
      </p:sp>
      <p:sp>
        <p:nvSpPr>
          <p:cNvPr id="56" name="stack chip"/>
          <p:cNvSpPr/>
          <p:nvPr/>
        </p:nvSpPr>
        <p:spPr>
          <a:xfrm>
            <a:off x="4133088" y="5166360"/>
            <a:ext cx="708660" cy="347472"/>
          </a:xfrm>
          <a:prstGeom prst="roundRect">
            <a:avLst>
              <a:gd name="adj" fmla="val 47368"/>
            </a:avLst>
          </a:prstGeom>
          <a:solidFill>
            <a:schemeClr val="bg1"/>
          </a:solidFill>
          <a:ln w="12700">
            <a:solidFill>
              <a:schemeClr val="accent1"/>
            </a:solidFill>
            <a:prstDash val="solid"/>
          </a:ln>
        </p:spPr>
      </p:sp>
      <p:sp>
        <p:nvSpPr>
          <p:cNvPr id="57" name="Text 48"/>
          <p:cNvSpPr txBox="1"/>
          <p:nvPr/>
        </p:nvSpPr>
        <p:spPr>
          <a:xfrm>
            <a:off x="4133088" y="5166360"/>
            <a:ext cx="708660" cy="347472"/>
          </a:xfrm>
          <a:prstGeom prst="rect">
            <a:avLst/>
          </a:prstGeom>
          <a:noFill/>
          <a:ln/>
        </p:spPr>
        <p:txBody>
          <a:bodyPr wrap="square" lIns="0" tIns="0" rIns="0" bIns="0" rtlCol="0" anchor="ctr"/>
          <a:lstStyle/>
          <a:p>
            <a:pPr algn="ctr" indent="0" marL="0">
              <a:buNone/>
            </a:pPr>
            <a:r>
              <a:rPr lang="en-US" sz="1200" b="1" dirty="0">
                <a:solidFill>
                  <a:schemeClr val="accent1"/>
                </a:solidFill>
              </a:rPr>
              <a:t>SciPy</a:t>
            </a:r>
            <a:endParaRPr lang="en-US" sz="1200" dirty="0"/>
          </a:p>
        </p:txBody>
      </p:sp>
      <p:sp>
        <p:nvSpPr>
          <p:cNvPr id="58" name="stack chip"/>
          <p:cNvSpPr/>
          <p:nvPr/>
        </p:nvSpPr>
        <p:spPr>
          <a:xfrm>
            <a:off x="4951476" y="5166360"/>
            <a:ext cx="795528" cy="347472"/>
          </a:xfrm>
          <a:prstGeom prst="roundRect">
            <a:avLst>
              <a:gd name="adj" fmla="val 47368"/>
            </a:avLst>
          </a:prstGeom>
          <a:solidFill>
            <a:schemeClr val="bg1"/>
          </a:solidFill>
          <a:ln w="12700">
            <a:solidFill>
              <a:schemeClr val="accent1"/>
            </a:solidFill>
            <a:prstDash val="solid"/>
          </a:ln>
        </p:spPr>
      </p:sp>
      <p:sp>
        <p:nvSpPr>
          <p:cNvPr id="59" name="Text 50"/>
          <p:cNvSpPr txBox="1"/>
          <p:nvPr/>
        </p:nvSpPr>
        <p:spPr>
          <a:xfrm>
            <a:off x="4951476" y="5166360"/>
            <a:ext cx="795528" cy="347472"/>
          </a:xfrm>
          <a:prstGeom prst="rect">
            <a:avLst/>
          </a:prstGeom>
          <a:noFill/>
          <a:ln/>
        </p:spPr>
        <p:txBody>
          <a:bodyPr wrap="square" lIns="0" tIns="0" rIns="0" bIns="0" rtlCol="0" anchor="ctr"/>
          <a:lstStyle/>
          <a:p>
            <a:pPr algn="ctr" indent="0" marL="0">
              <a:buNone/>
            </a:pPr>
            <a:r>
              <a:rPr lang="en-US" sz="1200" b="1" dirty="0">
                <a:solidFill>
                  <a:schemeClr val="accent1"/>
                </a:solidFill>
              </a:rPr>
              <a:t>SQLite</a:t>
            </a:r>
            <a:endParaRPr lang="en-US" sz="1200" dirty="0"/>
          </a:p>
        </p:txBody>
      </p:sp>
      <p:sp>
        <p:nvSpPr>
          <p:cNvPr id="60" name="safety panel"/>
          <p:cNvSpPr/>
          <p:nvPr/>
        </p:nvSpPr>
        <p:spPr>
          <a:xfrm>
            <a:off x="6172200" y="4251960"/>
            <a:ext cx="5440680" cy="1920240"/>
          </a:xfrm>
          <a:prstGeom prst="roundRect">
            <a:avLst>
              <a:gd name="adj" fmla="val 4762"/>
            </a:avLst>
          </a:prstGeom>
          <a:solidFill>
            <a:schemeClr val="tx2"/>
          </a:solidFill>
          <a:ln w="9525">
            <a:solidFill>
              <a:schemeClr val="tx2"/>
            </a:solidFill>
            <a:prstDash val="solid"/>
          </a:ln>
          <a:effectLst>
            <a:outerShdw sx="100000" sy="100000" kx="0" ky="0" algn="bl" rotWithShape="0" blurRad="127000" dist="25400" dir="5400000">
              <a:srgbClr val="000000">
                <a:alpha val="10000"/>
              </a:srgbClr>
            </a:outerShdw>
          </a:effectLst>
        </p:spPr>
      </p:sp>
      <p:sp>
        <p:nvSpPr>
          <p:cNvPr id="61" name="Text 52"/>
          <p:cNvSpPr txBox="1"/>
          <p:nvPr/>
        </p:nvSpPr>
        <p:spPr>
          <a:xfrm>
            <a:off x="6446520" y="4407408"/>
            <a:ext cx="4937760" cy="365760"/>
          </a:xfrm>
          <a:prstGeom prst="rect">
            <a:avLst/>
          </a:prstGeom>
          <a:noFill/>
          <a:ln/>
        </p:spPr>
        <p:txBody>
          <a:bodyPr wrap="square" lIns="0" tIns="0" rIns="0" bIns="0" rtlCol="0" anchor="t"/>
          <a:lstStyle/>
          <a:p>
            <a:pPr indent="0" marL="0">
              <a:buNone/>
            </a:pPr>
            <a:r>
              <a:rPr lang="en-US" sz="1800" b="1" dirty="0">
                <a:solidFill>
                  <a:schemeClr val="accent2"/>
                </a:solidFill>
                <a:latin typeface="Cambria" pitchFamily="34" charset="0"/>
                <a:ea typeface="Cambria" pitchFamily="34" charset="-122"/>
                <a:cs typeface="Cambria" pitchFamily="34" charset="-120"/>
              </a:rPr>
              <a:t>Safety by design</a:t>
            </a:r>
            <a:endParaRPr lang="en-US" sz="1800" dirty="0"/>
          </a:p>
        </p:txBody>
      </p:sp>
      <p:sp>
        <p:nvSpPr>
          <p:cNvPr id="62" name="Text 53"/>
          <p:cNvSpPr txBox="1"/>
          <p:nvPr/>
        </p:nvSpPr>
        <p:spPr>
          <a:xfrm>
            <a:off x="6446520" y="4846320"/>
            <a:ext cx="256032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Allowlisted sites only</a:t>
            </a:r>
            <a:endParaRPr lang="en-US" sz="1400" dirty="0"/>
          </a:p>
          <a:p>
            <a:pPr marL="342900" indent="-342900">
              <a:spcAft>
                <a:spcPts val="400"/>
              </a:spcAft>
              <a:buSzPct val="100000"/>
              <a:buChar char="•"/>
            </a:pPr>
            <a:r>
              <a:rPr lang="en-US" sz="1400" dirty="0">
                <a:solidFill>
                  <a:schemeClr val="bg1"/>
                </a:solidFill>
              </a:rPr>
              <a:t>Stops before payment</a:t>
            </a:r>
            <a:endParaRPr lang="en-US" sz="1400" dirty="0"/>
          </a:p>
          <a:p>
            <a:pPr marL="342900" indent="-342900">
              <a:spcAft>
                <a:spcPts val="400"/>
              </a:spcAft>
              <a:buSzPct val="100000"/>
              <a:buChar char="•"/>
            </a:pPr>
            <a:r>
              <a:rPr lang="en-US" sz="1400" dirty="0">
                <a:solidFill>
                  <a:schemeClr val="bg1"/>
                </a:solidFill>
              </a:rPr>
              <a:t>Pay-button guard in code</a:t>
            </a:r>
            <a:endParaRPr lang="en-US" sz="1400" dirty="0"/>
          </a:p>
        </p:txBody>
      </p:sp>
      <p:sp>
        <p:nvSpPr>
          <p:cNvPr id="63" name="Text 54"/>
          <p:cNvSpPr txBox="1"/>
          <p:nvPr/>
        </p:nvSpPr>
        <p:spPr>
          <a:xfrm>
            <a:off x="9006840" y="4846320"/>
            <a:ext cx="251460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One shopper at a time</a:t>
            </a:r>
            <a:endParaRPr lang="en-US" sz="1400" dirty="0"/>
          </a:p>
          <a:p>
            <a:pPr marL="342900" indent="-342900">
              <a:spcAft>
                <a:spcPts val="400"/>
              </a:spcAft>
              <a:buSzPct val="100000"/>
              <a:buChar char="•"/>
            </a:pPr>
            <a:r>
              <a:rPr lang="en-US" sz="1400" dirty="0">
                <a:solidFill>
                  <a:schemeClr val="bg1"/>
                </a:solidFill>
              </a:rPr>
              <a:t>Blocks reported, not bypassed</a:t>
            </a:r>
            <a:endParaRPr lang="en-US" sz="1400" dirty="0"/>
          </a:p>
          <a:p>
            <a:pPr marL="342900" indent="-342900">
              <a:spcAft>
                <a:spcPts val="400"/>
              </a:spcAft>
              <a:buSzPct val="100000"/>
              <a:buChar char="•"/>
            </a:pPr>
            <a:r>
              <a:rPr lang="en-US" sz="1400" dirty="0">
                <a:solidFill>
                  <a:schemeClr val="bg1"/>
                </a:solidFill>
              </a:rPr>
              <a:t>Private, per-user audits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Proposed Technical Approach: Working Product</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05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One demo audit, three real screens: no mock-ups</a:t>
            </a:r>
            <a:endParaRPr lang="en-US" sz="1700" dirty="0"/>
          </a:p>
        </p:txBody>
      </p:sp>
      <p:sp>
        <p:nvSpPr>
          <p:cNvPr id="6" name="console frame"/>
          <p:cNvSpPr/>
          <p:nvPr/>
        </p:nvSpPr>
        <p:spPr>
          <a:xfrm>
            <a:off x="548640" y="1645920"/>
            <a:ext cx="5029200" cy="4251960"/>
          </a:xfrm>
          <a:prstGeom prst="roundRect">
            <a:avLst>
              <a:gd name="adj" fmla="val 2151"/>
            </a:avLst>
          </a:prstGeom>
          <a:solidFill>
            <a:schemeClr val="bg1"/>
          </a:solidFill>
          <a:ln w="9525">
            <a:solidFill>
              <a:srgbClr val="F5F1E8"/>
            </a:solidFill>
            <a:prstDash val="solid"/>
          </a:ln>
          <a:effectLst>
            <a:outerShdw sx="100000" sy="100000" kx="0" ky="0" algn="bl" rotWithShape="0" blurRad="127000" dist="25400" dir="5400000">
              <a:srgbClr val="000000">
                <a:alpha val="10000"/>
              </a:srgbClr>
            </a:outerShdw>
          </a:effectLst>
        </p:spPr>
      </p:sp>
      <p:pic>
        <p:nvPicPr>
          <p:cNvPr id="7" name="console screenshot" descr="Audit console: score 17, product check, key measurements">    </p:cNvPr>
          <p:cNvPicPr>
            <a:picLocks noChangeAspect="1"/>
          </p:cNvPicPr>
          <p:nvPr/>
        </p:nvPicPr>
        <p:blipFill>
          <a:blip r:embed="rId1"/>
          <a:stretch>
            <a:fillRect/>
          </a:stretch>
        </p:blipFill>
        <p:spPr>
          <a:xfrm>
            <a:off x="672832" y="1691640"/>
            <a:ext cx="4780816" cy="4160520"/>
          </a:xfrm>
          <a:prstGeom prst="rect">
            <a:avLst/>
          </a:prstGeom>
        </p:spPr>
      </p:pic>
      <p:sp>
        <p:nvSpPr>
          <p:cNvPr id="8" name="Text 4"/>
          <p:cNvSpPr txBox="1"/>
          <p:nvPr/>
        </p:nvSpPr>
        <p:spPr>
          <a:xfrm>
            <a:off x="548640" y="5961888"/>
            <a:ext cx="5029200" cy="274320"/>
          </a:xfrm>
          <a:prstGeom prst="rect">
            <a:avLst/>
          </a:prstGeom>
          <a:noFill/>
          <a:ln/>
        </p:spPr>
        <p:txBody>
          <a:bodyPr wrap="square" lIns="0" tIns="0" rIns="0" bIns="0" rtlCol="0" anchor="t"/>
          <a:lstStyle/>
          <a:p>
            <a:pPr indent="0" marL="0">
              <a:buNone/>
            </a:pPr>
            <a:r>
              <a:rPr lang="en-US" sz="1200" dirty="0">
                <a:solidFill>
                  <a:schemeClr val="accent6"/>
                </a:solidFill>
              </a:rPr>
              <a:t>Console: score, verdict, same product in all 18 runs, key measurements</a:t>
            </a:r>
            <a:endParaRPr lang="en-US" sz="1200" dirty="0"/>
          </a:p>
        </p:txBody>
      </p:sp>
      <p:sp>
        <p:nvSpPr>
          <p:cNvPr id="9" name="evidence frame"/>
          <p:cNvSpPr/>
          <p:nvPr/>
        </p:nvSpPr>
        <p:spPr>
          <a:xfrm>
            <a:off x="5852160" y="1645920"/>
            <a:ext cx="5760720" cy="3182112"/>
          </a:xfrm>
          <a:prstGeom prst="roundRect">
            <a:avLst>
              <a:gd name="adj" fmla="val 2874"/>
            </a:avLst>
          </a:prstGeom>
          <a:solidFill>
            <a:schemeClr val="bg1"/>
          </a:solidFill>
          <a:ln w="9525">
            <a:solidFill>
              <a:srgbClr val="F5F1E8"/>
            </a:solidFill>
            <a:prstDash val="solid"/>
          </a:ln>
          <a:effectLst>
            <a:outerShdw sx="100000" sy="100000" kx="0" ky="0" algn="bl" rotWithShape="0" blurRad="127000" dist="25400" dir="5400000">
              <a:srgbClr val="000000">
                <a:alpha val="10000"/>
              </a:srgbClr>
            </a:outerShdw>
          </a:effectLst>
        </p:spPr>
      </p:sp>
      <p:pic>
        <p:nvPicPr>
          <p:cNvPr id="10" name="evidence screenshot" descr="Evidence strip: first screen, added lines, payment screen">    </p:cNvPr>
          <p:cNvPicPr>
            <a:picLocks noChangeAspect="1"/>
          </p:cNvPicPr>
          <p:nvPr/>
        </p:nvPicPr>
        <p:blipFill>
          <a:blip r:embed="rId2"/>
          <a:stretch>
            <a:fillRect/>
          </a:stretch>
        </p:blipFill>
        <p:spPr>
          <a:xfrm>
            <a:off x="5897880" y="1691640"/>
            <a:ext cx="5669280" cy="3081528"/>
          </a:xfrm>
          <a:prstGeom prst="rect">
            <a:avLst/>
          </a:prstGeom>
        </p:spPr>
      </p:pic>
      <p:sp>
        <p:nvSpPr>
          <p:cNvPr id="11" name="Text 6"/>
          <p:cNvSpPr txBox="1"/>
          <p:nvPr/>
        </p:nvSpPr>
        <p:spPr>
          <a:xfrm>
            <a:off x="5852160" y="4873752"/>
            <a:ext cx="5760720" cy="274320"/>
          </a:xfrm>
          <a:prstGeom prst="rect">
            <a:avLst/>
          </a:prstGeom>
          <a:noFill/>
          <a:ln/>
        </p:spPr>
        <p:txBody>
          <a:bodyPr wrap="square" lIns="0" tIns="0" rIns="0" bIns="0" rtlCol="0" anchor="t"/>
          <a:lstStyle/>
          <a:p>
            <a:pPr indent="0" marL="0">
              <a:buNone/>
            </a:pPr>
            <a:r>
              <a:rPr lang="en-US" sz="1200" dirty="0">
                <a:solidFill>
                  <a:schemeClr val="accent6"/>
                </a:solidFill>
              </a:rPr>
              <a:t>Evidence: one real run, first screen vs payment, every line added</a:t>
            </a:r>
            <a:endParaRPr lang="en-US" sz="1200" dirty="0"/>
          </a:p>
        </p:txBody>
      </p:sp>
      <p:sp>
        <p:nvSpPr>
          <p:cNvPr id="12" name="report frame"/>
          <p:cNvSpPr/>
          <p:nvPr/>
        </p:nvSpPr>
        <p:spPr>
          <a:xfrm>
            <a:off x="5852160" y="5212080"/>
            <a:ext cx="3017520" cy="1097280"/>
          </a:xfrm>
          <a:prstGeom prst="roundRect">
            <a:avLst>
              <a:gd name="adj" fmla="val 8333"/>
            </a:avLst>
          </a:prstGeom>
          <a:solidFill>
            <a:schemeClr val="bg1"/>
          </a:solidFill>
          <a:ln w="9525">
            <a:solidFill>
              <a:srgbClr val="F5F1E8"/>
            </a:solidFill>
            <a:prstDash val="solid"/>
          </a:ln>
          <a:effectLst>
            <a:outerShdw sx="100000" sy="100000" kx="0" ky="0" algn="bl" rotWithShape="0" blurRad="127000" dist="25400" dir="5400000">
              <a:srgbClr val="000000">
                <a:alpha val="10000"/>
              </a:srgbClr>
            </a:outerShdw>
          </a:effectLst>
        </p:spPr>
      </p:sp>
      <p:pic>
        <p:nvPicPr>
          <p:cNvPr id="13" name="report screenshot" descr="Findings report header with verdict stamp">    </p:cNvPr>
          <p:cNvPicPr>
            <a:picLocks noChangeAspect="1"/>
          </p:cNvPicPr>
          <p:nvPr/>
        </p:nvPicPr>
        <p:blipFill>
          <a:blip r:embed="rId3"/>
          <a:stretch>
            <a:fillRect/>
          </a:stretch>
        </p:blipFill>
        <p:spPr>
          <a:xfrm>
            <a:off x="5897880" y="5239512"/>
            <a:ext cx="2926080" cy="1024128"/>
          </a:xfrm>
          <a:prstGeom prst="rect">
            <a:avLst/>
          </a:prstGeom>
        </p:spPr>
      </p:pic>
      <p:sp>
        <p:nvSpPr>
          <p:cNvPr id="14" name="Text 8"/>
          <p:cNvSpPr txBox="1"/>
          <p:nvPr/>
        </p:nvSpPr>
        <p:spPr>
          <a:xfrm>
            <a:off x="9006840" y="5257800"/>
            <a:ext cx="2606040" cy="1005840"/>
          </a:xfrm>
          <a:prstGeom prst="rect">
            <a:avLst/>
          </a:prstGeom>
          <a:noFill/>
          <a:ln/>
        </p:spPr>
        <p:txBody>
          <a:bodyPr wrap="square" lIns="0" tIns="0" rIns="0" bIns="0" rtlCol="0" anchor="t"/>
          <a:lstStyle/>
          <a:p>
            <a:pPr indent="0" marL="0">
              <a:buNone/>
            </a:pPr>
            <a:r>
              <a:rPr lang="en-US" sz="1200" b="1" dirty="0">
                <a:solidFill>
                  <a:schemeClr val="tx1"/>
                </a:solidFill>
              </a:rPr>
              <a:t>Findings report</a:t>
            </a:r>
            <a:endParaRPr lang="en-US" sz="1200" dirty="0"/>
          </a:p>
          <a:p>
            <a:pPr indent="0" marL="0">
              <a:buNone/>
            </a:pPr>
            <a:r>
              <a:rPr lang="en-US" sz="1200" dirty="0">
                <a:solidFill>
                  <a:schemeClr val="accent6"/>
                </a:solidFill>
              </a:rPr>
              <a:t>Reference, verdict stamp, exhibits and an integrity section with SHA‑256 hashes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bg1"/>
                </a:solidFill>
              </a:rPr>
              <a:t>Proposed TinyFish Integration</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2"/>
                </a:solidFill>
              </a:rPr>
              <a:t>PARDARSHI  ·  06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bg2"/>
                </a:solidFill>
                <a:latin typeface="Cambria" pitchFamily="34" charset="0"/>
                <a:ea typeface="Cambria" pitchFamily="34" charset="-122"/>
                <a:cs typeface="Cambria" pitchFamily="34" charset="-120"/>
              </a:rPr>
              <a:t>All four TinyFish APIs integrated, each with a specific job, and verified live on 16 Oct 2026</a:t>
            </a:r>
            <a:endParaRPr lang="en-US" sz="1700" dirty="0"/>
          </a:p>
        </p:txBody>
      </p:sp>
      <p:sp>
        <p:nvSpPr>
          <p:cNvPr id="6" name="api card"/>
          <p:cNvSpPr/>
          <p:nvPr/>
        </p:nvSpPr>
        <p:spPr>
          <a:xfrm>
            <a:off x="548640" y="1691640"/>
            <a:ext cx="5440680" cy="1920240"/>
          </a:xfrm>
          <a:prstGeom prst="roundRect">
            <a:avLst>
              <a:gd name="adj" fmla="val 4762"/>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7" name="icon tile"/>
          <p:cNvSpPr/>
          <p:nvPr/>
        </p:nvSpPr>
        <p:spPr>
          <a:xfrm>
            <a:off x="777240" y="1892808"/>
            <a:ext cx="530352" cy="530352"/>
          </a:xfrm>
          <a:prstGeom prst="roundRect">
            <a:avLst>
              <a:gd name="adj" fmla="val 20690"/>
            </a:avLst>
          </a:prstGeom>
          <a:solidFill>
            <a:schemeClr val="accent1"/>
          </a:solidFill>
          <a:ln w="6350">
            <a:solidFill>
              <a:schemeClr val="accent1"/>
            </a:solidFill>
            <a:prstDash val="solid"/>
          </a:ln>
        </p:spPr>
      </p:sp>
      <p:pic>
        <p:nvPicPr>
          <p:cNvPr id="8" name="icon" descr="WindowMaximize">    </p:cNvPr>
          <p:cNvPicPr>
            <a:picLocks noChangeAspect="1"/>
          </p:cNvPicPr>
          <p:nvPr/>
        </p:nvPicPr>
        <p:blipFill>
          <a:blip r:embed="rId1"/>
          <a:stretch>
            <a:fillRect/>
          </a:stretch>
        </p:blipFill>
        <p:spPr>
          <a:xfrm>
            <a:off x="904524" y="2020092"/>
            <a:ext cx="275783" cy="275783"/>
          </a:xfrm>
          <a:prstGeom prst="rect">
            <a:avLst/>
          </a:prstGeom>
        </p:spPr>
      </p:pic>
      <p:sp>
        <p:nvSpPr>
          <p:cNvPr id="9" name="Text 5"/>
          <p:cNvSpPr txBox="1"/>
          <p:nvPr/>
        </p:nvSpPr>
        <p:spPr>
          <a:xfrm>
            <a:off x="1463040" y="1892808"/>
            <a:ext cx="2377440" cy="530352"/>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Browser API</a:t>
            </a:r>
            <a:endParaRPr lang="en-US" sz="1900" dirty="0"/>
          </a:p>
        </p:txBody>
      </p:sp>
      <p:sp>
        <p:nvSpPr>
          <p:cNvPr id="10" name="role chip"/>
          <p:cNvSpPr/>
          <p:nvPr/>
        </p:nvSpPr>
        <p:spPr>
          <a:xfrm>
            <a:off x="4114800" y="1993392"/>
            <a:ext cx="1645920" cy="329184"/>
          </a:xfrm>
          <a:prstGeom prst="roundRect">
            <a:avLst>
              <a:gd name="adj" fmla="val 50000"/>
            </a:avLst>
          </a:prstGeom>
          <a:solidFill>
            <a:schemeClr val="accent2"/>
          </a:solidFill>
          <a:ln w="12700">
            <a:solidFill>
              <a:schemeClr val="accent2"/>
            </a:solidFill>
            <a:prstDash val="solid"/>
          </a:ln>
        </p:spPr>
      </p:sp>
      <p:sp>
        <p:nvSpPr>
          <p:cNvPr id="11" name="Text 7"/>
          <p:cNvSpPr txBox="1"/>
          <p:nvPr/>
        </p:nvSpPr>
        <p:spPr>
          <a:xfrm>
            <a:off x="4114800" y="1993392"/>
            <a:ext cx="1645920" cy="329184"/>
          </a:xfrm>
          <a:prstGeom prst="rect">
            <a:avLst/>
          </a:prstGeom>
          <a:noFill/>
          <a:ln/>
        </p:spPr>
        <p:txBody>
          <a:bodyPr wrap="square" lIns="0" tIns="0" rIns="0" bIns="0" rtlCol="0" anchor="ctr"/>
          <a:lstStyle/>
          <a:p>
            <a:pPr algn="ctr" indent="0" marL="0">
              <a:buNone/>
            </a:pPr>
            <a:r>
              <a:rPr lang="en-US" sz="1100" b="1" dirty="0">
                <a:solidFill>
                  <a:schemeClr val="tx2"/>
                </a:solidFill>
              </a:rPr>
              <a:t>per shopper run</a:t>
            </a:r>
            <a:endParaRPr lang="en-US" sz="1100" dirty="0"/>
          </a:p>
        </p:txBody>
      </p:sp>
      <p:sp>
        <p:nvSpPr>
          <p:cNvPr id="12" name="Text 8"/>
          <p:cNvSpPr txBox="1"/>
          <p:nvPr/>
        </p:nvSpPr>
        <p:spPr>
          <a:xfrm>
            <a:off x="777240" y="2532888"/>
            <a:ext cx="4983480" cy="1005840"/>
          </a:xfrm>
          <a:prstGeom prst="rect">
            <a:avLst/>
          </a:prstGeom>
          <a:noFill/>
          <a:ln/>
        </p:spPr>
        <p:txBody>
          <a:bodyPr wrap="square" lIns="0" tIns="0" rIns="0" bIns="0" rtlCol="0" anchor="t"/>
          <a:lstStyle/>
          <a:p>
            <a:pPr indent="0" marL="0">
              <a:buNone/>
            </a:pPr>
            <a:r>
              <a:rPr lang="en-US" sz="1400" dirty="0">
                <a:solidFill>
                  <a:schemeClr val="bg2"/>
                </a:solidFill>
              </a:rPr>
              <a:t>A cloud browser per shopper over the Chrome DevTools Protocol (CDP), with a country proxy (US, GB, CA, DE, FR, JP, AU). Our flows set device, locale and timezone, take screenshots and reload to expose fake countdowns.</a:t>
            </a:r>
            <a:endParaRPr lang="en-US" sz="1400" dirty="0"/>
          </a:p>
        </p:txBody>
      </p:sp>
      <p:sp>
        <p:nvSpPr>
          <p:cNvPr id="13" name="api card"/>
          <p:cNvSpPr/>
          <p:nvPr/>
        </p:nvSpPr>
        <p:spPr>
          <a:xfrm>
            <a:off x="6172200" y="1691640"/>
            <a:ext cx="5440680" cy="1920240"/>
          </a:xfrm>
          <a:prstGeom prst="roundRect">
            <a:avLst>
              <a:gd name="adj" fmla="val 4762"/>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4" name="icon tile"/>
          <p:cNvSpPr/>
          <p:nvPr/>
        </p:nvSpPr>
        <p:spPr>
          <a:xfrm>
            <a:off x="6400800" y="1892808"/>
            <a:ext cx="530352" cy="530352"/>
          </a:xfrm>
          <a:prstGeom prst="roundRect">
            <a:avLst>
              <a:gd name="adj" fmla="val 20690"/>
            </a:avLst>
          </a:prstGeom>
          <a:solidFill>
            <a:schemeClr val="accent1"/>
          </a:solidFill>
          <a:ln w="6350">
            <a:solidFill>
              <a:schemeClr val="accent1"/>
            </a:solidFill>
            <a:prstDash val="solid"/>
          </a:ln>
        </p:spPr>
      </p:sp>
      <p:pic>
        <p:nvPicPr>
          <p:cNvPr id="15" name="icon" descr="Robot">    </p:cNvPr>
          <p:cNvPicPr>
            <a:picLocks noChangeAspect="1"/>
          </p:cNvPicPr>
          <p:nvPr/>
        </p:nvPicPr>
        <p:blipFill>
          <a:blip r:embed="rId2"/>
          <a:stretch>
            <a:fillRect/>
          </a:stretch>
        </p:blipFill>
        <p:spPr>
          <a:xfrm>
            <a:off x="6528084" y="2020092"/>
            <a:ext cx="275783" cy="275783"/>
          </a:xfrm>
          <a:prstGeom prst="rect">
            <a:avLst/>
          </a:prstGeom>
        </p:spPr>
      </p:pic>
      <p:sp>
        <p:nvSpPr>
          <p:cNvPr id="16" name="Text 11"/>
          <p:cNvSpPr txBox="1"/>
          <p:nvPr/>
        </p:nvSpPr>
        <p:spPr>
          <a:xfrm>
            <a:off x="7086600" y="1892808"/>
            <a:ext cx="2377440" cy="530352"/>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Agent API</a:t>
            </a:r>
            <a:endParaRPr lang="en-US" sz="1900" dirty="0"/>
          </a:p>
        </p:txBody>
      </p:sp>
      <p:sp>
        <p:nvSpPr>
          <p:cNvPr id="17" name="role chip"/>
          <p:cNvSpPr/>
          <p:nvPr/>
        </p:nvSpPr>
        <p:spPr>
          <a:xfrm>
            <a:off x="9738360" y="1993392"/>
            <a:ext cx="1645920" cy="329184"/>
          </a:xfrm>
          <a:prstGeom prst="roundRect">
            <a:avLst>
              <a:gd name="adj" fmla="val 50000"/>
            </a:avLst>
          </a:prstGeom>
          <a:solidFill>
            <a:schemeClr val="accent2"/>
          </a:solidFill>
          <a:ln w="12700">
            <a:solidFill>
              <a:schemeClr val="accent2"/>
            </a:solidFill>
            <a:prstDash val="solid"/>
          </a:ln>
        </p:spPr>
      </p:sp>
      <p:sp>
        <p:nvSpPr>
          <p:cNvPr id="18" name="Text 13"/>
          <p:cNvSpPr txBox="1"/>
          <p:nvPr/>
        </p:nvSpPr>
        <p:spPr>
          <a:xfrm>
            <a:off x="9738360" y="1993392"/>
            <a:ext cx="1645920" cy="329184"/>
          </a:xfrm>
          <a:prstGeom prst="rect">
            <a:avLst/>
          </a:prstGeom>
          <a:noFill/>
          <a:ln/>
        </p:spPr>
        <p:txBody>
          <a:bodyPr wrap="square" lIns="0" tIns="0" rIns="0" bIns="0" rtlCol="0" anchor="ctr"/>
          <a:lstStyle/>
          <a:p>
            <a:pPr algn="ctr" indent="0" marL="0">
              <a:buNone/>
            </a:pPr>
            <a:r>
              <a:rPr lang="en-US" sz="1100" b="1" dirty="0">
                <a:solidFill>
                  <a:schemeClr val="tx2"/>
                </a:solidFill>
              </a:rPr>
              <a:t>unscripted sites</a:t>
            </a:r>
            <a:endParaRPr lang="en-US" sz="1100" dirty="0"/>
          </a:p>
        </p:txBody>
      </p:sp>
      <p:sp>
        <p:nvSpPr>
          <p:cNvPr id="19" name="Text 14"/>
          <p:cNvSpPr txBox="1"/>
          <p:nvPr/>
        </p:nvSpPr>
        <p:spPr>
          <a:xfrm>
            <a:off x="6400800" y="2532888"/>
            <a:ext cx="4983480" cy="1005840"/>
          </a:xfrm>
          <a:prstGeom prst="rect">
            <a:avLst/>
          </a:prstGeom>
          <a:noFill/>
          <a:ln/>
        </p:spPr>
        <p:txBody>
          <a:bodyPr wrap="square" lIns="0" tIns="0" rIns="0" bIns="0" rtlCol="0" anchor="t"/>
          <a:lstStyle/>
          <a:p>
            <a:pPr indent="0" marL="0">
              <a:buNone/>
            </a:pPr>
            <a:r>
              <a:rPr lang="en-US" sz="1400" dirty="0">
                <a:solidFill>
                  <a:schemeClr val="bg2"/>
                </a:solidFill>
              </a:rPr>
              <a:t>A goal (reach checkout, never pay) plus a typed output_schema: advertised price, each price line with its pre‑ticked flag, verbatim urgency and opt-out copy, the product and where it stopped.</a:t>
            </a:r>
            <a:endParaRPr lang="en-US" sz="1400" dirty="0"/>
          </a:p>
        </p:txBody>
      </p:sp>
      <p:sp>
        <p:nvSpPr>
          <p:cNvPr id="20" name="api card"/>
          <p:cNvSpPr/>
          <p:nvPr/>
        </p:nvSpPr>
        <p:spPr>
          <a:xfrm>
            <a:off x="548640" y="3858768"/>
            <a:ext cx="5440680" cy="1417320"/>
          </a:xfrm>
          <a:prstGeom prst="roundRect">
            <a:avLst>
              <a:gd name="adj" fmla="val 6452"/>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1" name="icon tile"/>
          <p:cNvSpPr/>
          <p:nvPr/>
        </p:nvSpPr>
        <p:spPr>
          <a:xfrm>
            <a:off x="777240" y="4059936"/>
            <a:ext cx="530352" cy="530352"/>
          </a:xfrm>
          <a:prstGeom prst="roundRect">
            <a:avLst>
              <a:gd name="adj" fmla="val 20690"/>
            </a:avLst>
          </a:prstGeom>
          <a:solidFill>
            <a:schemeClr val="accent1"/>
          </a:solidFill>
          <a:ln w="6350">
            <a:solidFill>
              <a:schemeClr val="accent1"/>
            </a:solidFill>
            <a:prstDash val="solid"/>
          </a:ln>
        </p:spPr>
      </p:sp>
      <p:pic>
        <p:nvPicPr>
          <p:cNvPr id="22" name="icon" descr="FileLines">    </p:cNvPr>
          <p:cNvPicPr>
            <a:picLocks noChangeAspect="1"/>
          </p:cNvPicPr>
          <p:nvPr/>
        </p:nvPicPr>
        <p:blipFill>
          <a:blip r:embed="rId3"/>
          <a:stretch>
            <a:fillRect/>
          </a:stretch>
        </p:blipFill>
        <p:spPr>
          <a:xfrm>
            <a:off x="904524" y="4187220"/>
            <a:ext cx="275783" cy="275783"/>
          </a:xfrm>
          <a:prstGeom prst="rect">
            <a:avLst/>
          </a:prstGeom>
        </p:spPr>
      </p:pic>
      <p:sp>
        <p:nvSpPr>
          <p:cNvPr id="23" name="Text 17"/>
          <p:cNvSpPr txBox="1"/>
          <p:nvPr/>
        </p:nvSpPr>
        <p:spPr>
          <a:xfrm>
            <a:off x="1463040" y="4059936"/>
            <a:ext cx="2377440" cy="530352"/>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Fetch API</a:t>
            </a:r>
            <a:endParaRPr lang="en-US" sz="1900" dirty="0"/>
          </a:p>
        </p:txBody>
      </p:sp>
      <p:sp>
        <p:nvSpPr>
          <p:cNvPr id="24" name="role chip"/>
          <p:cNvSpPr/>
          <p:nvPr/>
        </p:nvSpPr>
        <p:spPr>
          <a:xfrm>
            <a:off x="4114800" y="4160520"/>
            <a:ext cx="1645920" cy="329184"/>
          </a:xfrm>
          <a:prstGeom prst="roundRect">
            <a:avLst>
              <a:gd name="adj" fmla="val 50000"/>
            </a:avLst>
          </a:prstGeom>
          <a:solidFill>
            <a:schemeClr val="accent2"/>
          </a:solidFill>
          <a:ln w="12700">
            <a:solidFill>
              <a:schemeClr val="accent2"/>
            </a:solidFill>
            <a:prstDash val="solid"/>
          </a:ln>
        </p:spPr>
      </p:sp>
      <p:sp>
        <p:nvSpPr>
          <p:cNvPr id="25" name="Text 19"/>
          <p:cNvSpPr txBox="1"/>
          <p:nvPr/>
        </p:nvSpPr>
        <p:spPr>
          <a:xfrm>
            <a:off x="4114800" y="4160520"/>
            <a:ext cx="1645920" cy="329184"/>
          </a:xfrm>
          <a:prstGeom prst="rect">
            <a:avLst/>
          </a:prstGeom>
          <a:noFill/>
          <a:ln/>
        </p:spPr>
        <p:txBody>
          <a:bodyPr wrap="square" lIns="0" tIns="0" rIns="0" bIns="0" rtlCol="0" anchor="ctr"/>
          <a:lstStyle/>
          <a:p>
            <a:pPr algn="ctr" indent="0" marL="0">
              <a:buNone/>
            </a:pPr>
            <a:r>
              <a:rPr lang="en-US" sz="1100" b="1" dirty="0">
                <a:solidFill>
                  <a:schemeClr val="tx2"/>
                </a:solidFill>
              </a:rPr>
              <a:t>policy pages</a:t>
            </a:r>
            <a:endParaRPr lang="en-US" sz="1100" dirty="0"/>
          </a:p>
        </p:txBody>
      </p:sp>
      <p:sp>
        <p:nvSpPr>
          <p:cNvPr id="26" name="Text 20"/>
          <p:cNvSpPr txBox="1"/>
          <p:nvPr/>
        </p:nvSpPr>
        <p:spPr>
          <a:xfrm>
            <a:off x="777240" y="4700016"/>
            <a:ext cx="4983480" cy="502920"/>
          </a:xfrm>
          <a:prstGeom prst="rect">
            <a:avLst/>
          </a:prstGeom>
          <a:noFill/>
          <a:ln/>
        </p:spPr>
        <p:txBody>
          <a:bodyPr wrap="square" lIns="0" tIns="0" rIns="0" bIns="0" rtlCol="0" anchor="t"/>
          <a:lstStyle/>
          <a:p>
            <a:pPr indent="0" marL="0">
              <a:buNone/>
            </a:pPr>
            <a:r>
              <a:rPr lang="en-US" sz="1400" dirty="0">
                <a:solidFill>
                  <a:schemeClr val="bg2"/>
                </a:solidFill>
              </a:rPr>
              <a:t>Terms, refund and cancellation pages as clean markdown, up to 10 URLs per call, feeding the Gemini policy-vs-reality check.</a:t>
            </a:r>
            <a:endParaRPr lang="en-US" sz="1400" dirty="0"/>
          </a:p>
        </p:txBody>
      </p:sp>
      <p:sp>
        <p:nvSpPr>
          <p:cNvPr id="27" name="api card"/>
          <p:cNvSpPr/>
          <p:nvPr/>
        </p:nvSpPr>
        <p:spPr>
          <a:xfrm>
            <a:off x="6172200" y="3858768"/>
            <a:ext cx="5440680" cy="1417320"/>
          </a:xfrm>
          <a:prstGeom prst="roundRect">
            <a:avLst>
              <a:gd name="adj" fmla="val 6452"/>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8" name="icon tile"/>
          <p:cNvSpPr/>
          <p:nvPr/>
        </p:nvSpPr>
        <p:spPr>
          <a:xfrm>
            <a:off x="6400800" y="4059936"/>
            <a:ext cx="530352" cy="530352"/>
          </a:xfrm>
          <a:prstGeom prst="roundRect">
            <a:avLst>
              <a:gd name="adj" fmla="val 20690"/>
            </a:avLst>
          </a:prstGeom>
          <a:solidFill>
            <a:schemeClr val="accent1"/>
          </a:solidFill>
          <a:ln w="6350">
            <a:solidFill>
              <a:schemeClr val="accent1"/>
            </a:solidFill>
            <a:prstDash val="solid"/>
          </a:ln>
        </p:spPr>
      </p:sp>
      <p:pic>
        <p:nvPicPr>
          <p:cNvPr id="29" name="icon" descr="MagnifyingGlassChart">    </p:cNvPr>
          <p:cNvPicPr>
            <a:picLocks noChangeAspect="1"/>
          </p:cNvPicPr>
          <p:nvPr/>
        </p:nvPicPr>
        <p:blipFill>
          <a:blip r:embed="rId4"/>
          <a:stretch>
            <a:fillRect/>
          </a:stretch>
        </p:blipFill>
        <p:spPr>
          <a:xfrm>
            <a:off x="6528084" y="4187220"/>
            <a:ext cx="275783" cy="275783"/>
          </a:xfrm>
          <a:prstGeom prst="rect">
            <a:avLst/>
          </a:prstGeom>
        </p:spPr>
      </p:pic>
      <p:sp>
        <p:nvSpPr>
          <p:cNvPr id="30" name="Text 23"/>
          <p:cNvSpPr txBox="1"/>
          <p:nvPr/>
        </p:nvSpPr>
        <p:spPr>
          <a:xfrm>
            <a:off x="7086600" y="4059936"/>
            <a:ext cx="2377440" cy="530352"/>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Search API</a:t>
            </a:r>
            <a:endParaRPr lang="en-US" sz="1900" dirty="0"/>
          </a:p>
        </p:txBody>
      </p:sp>
      <p:sp>
        <p:nvSpPr>
          <p:cNvPr id="31" name="role chip"/>
          <p:cNvSpPr/>
          <p:nvPr/>
        </p:nvSpPr>
        <p:spPr>
          <a:xfrm>
            <a:off x="9738360" y="4160520"/>
            <a:ext cx="1645920" cy="329184"/>
          </a:xfrm>
          <a:prstGeom prst="roundRect">
            <a:avLst>
              <a:gd name="adj" fmla="val 50000"/>
            </a:avLst>
          </a:prstGeom>
          <a:solidFill>
            <a:schemeClr val="accent2"/>
          </a:solidFill>
          <a:ln w="12700">
            <a:solidFill>
              <a:schemeClr val="accent2"/>
            </a:solidFill>
            <a:prstDash val="solid"/>
          </a:ln>
        </p:spPr>
      </p:sp>
      <p:sp>
        <p:nvSpPr>
          <p:cNvPr id="32" name="Text 25"/>
          <p:cNvSpPr txBox="1"/>
          <p:nvPr/>
        </p:nvSpPr>
        <p:spPr>
          <a:xfrm>
            <a:off x="9738360" y="4160520"/>
            <a:ext cx="1645920" cy="329184"/>
          </a:xfrm>
          <a:prstGeom prst="rect">
            <a:avLst/>
          </a:prstGeom>
          <a:noFill/>
          <a:ln/>
        </p:spPr>
        <p:txBody>
          <a:bodyPr wrap="square" lIns="0" tIns="0" rIns="0" bIns="0" rtlCol="0" anchor="ctr"/>
          <a:lstStyle/>
          <a:p>
            <a:pPr algn="ctr" indent="0" marL="0">
              <a:buNone/>
            </a:pPr>
            <a:r>
              <a:rPr lang="en-US" sz="1100" b="1" dirty="0">
                <a:solidFill>
                  <a:schemeClr val="tx2"/>
                </a:solidFill>
              </a:rPr>
              <a:t>peer sites</a:t>
            </a:r>
            <a:endParaRPr lang="en-US" sz="1100" dirty="0"/>
          </a:p>
        </p:txBody>
      </p:sp>
      <p:sp>
        <p:nvSpPr>
          <p:cNvPr id="33" name="Text 26"/>
          <p:cNvSpPr txBox="1"/>
          <p:nvPr/>
        </p:nvSpPr>
        <p:spPr>
          <a:xfrm>
            <a:off x="6400800" y="4700016"/>
            <a:ext cx="4983480" cy="502920"/>
          </a:xfrm>
          <a:prstGeom prst="rect">
            <a:avLst/>
          </a:prstGeom>
          <a:noFill/>
          <a:ln/>
        </p:spPr>
        <p:txBody>
          <a:bodyPr wrap="square" lIns="0" tIns="0" rIns="0" bIns="0" rtlCol="0" anchor="t"/>
          <a:lstStyle/>
          <a:p>
            <a:pPr indent="0" marL="0">
              <a:buNone/>
            </a:pPr>
            <a:r>
              <a:rPr lang="en-US" sz="1400" dirty="0">
                <a:solidFill>
                  <a:schemeClr val="bg2"/>
                </a:solidFill>
              </a:rPr>
              <a:t>Finds comparable services on the live web for the Google ADK agent's peer-site tool, so a site can be compared with its peers.</a:t>
            </a:r>
            <a:endParaRPr lang="en-US" sz="1400" dirty="0"/>
          </a:p>
        </p:txBody>
      </p:sp>
      <p:sp>
        <p:nvSpPr>
          <p:cNvPr id="34" name="lane strip"/>
          <p:cNvSpPr/>
          <p:nvPr/>
        </p:nvSpPr>
        <p:spPr>
          <a:xfrm>
            <a:off x="548640" y="5458968"/>
            <a:ext cx="11064240" cy="822960"/>
          </a:xfrm>
          <a:prstGeom prst="roundRect">
            <a:avLst>
              <a:gd name="adj" fmla="val 11111"/>
            </a:avLst>
          </a:prstGeom>
          <a:solidFill>
            <a:schemeClr val="accent1"/>
          </a:solidFill>
          <a:ln w="9525">
            <a:solidFill>
              <a:schemeClr val="accent1"/>
            </a:solidFill>
            <a:prstDash val="solid"/>
          </a:ln>
        </p:spPr>
      </p:sp>
      <p:sp>
        <p:nvSpPr>
          <p:cNvPr id="35" name="Text 28"/>
          <p:cNvSpPr txBox="1"/>
          <p:nvPr/>
        </p:nvSpPr>
        <p:spPr>
          <a:xfrm>
            <a:off x="777240" y="5458968"/>
            <a:ext cx="10698480" cy="822960"/>
          </a:xfrm>
          <a:prstGeom prst="rect">
            <a:avLst/>
          </a:prstGeom>
          <a:noFill/>
          <a:ln/>
        </p:spPr>
        <p:txBody>
          <a:bodyPr wrap="square" lIns="0" tIns="0" rIns="0" bIns="0" rtlCol="0" anchor="ctr"/>
          <a:lstStyle/>
          <a:p>
            <a:pPr indent="0" marL="0">
              <a:buNone/>
            </a:pPr>
            <a:r>
              <a:rPr lang="en-US" sz="1300" b="1" dirty="0">
                <a:solidFill>
                  <a:schemeClr val="accent2"/>
                </a:solidFill>
              </a:rPr>
              <a:t>Live proof, 16 Oct 2026: </a:t>
            </a:r>
            <a:pPr indent="0" marL="0">
              <a:buNone/>
            </a:pPr>
            <a:r>
              <a:rPr lang="en-US" sz="1300" dirty="0">
                <a:solidFill>
                  <a:schemeClr val="bg1"/>
                </a:solidFill>
              </a:rPr>
              <a:t>Browser session tf-2c5a76ec… exit IP country DE · Agent run COMPLETED in 5 steps, JSON {"heading": "Example Domain"}</a:t>
            </a:r>
            <a:endParaRPr lang="en-US" sz="1300" dirty="0"/>
          </a:p>
          <a:p>
            <a:pPr indent="0" marL="0">
              <a:buNone/>
            </a:pPr>
            <a:r>
              <a:rPr lang="en-US" sz="1300" b="1" dirty="0">
                <a:solidFill>
                  <a:schemeClr val="accent2"/>
                </a:solidFill>
              </a:rPr>
              <a:t>Cost per 20-run audit: </a:t>
            </a:r>
            <a:pPr indent="0" marL="0">
              <a:buNone/>
            </a:pPr>
            <a:r>
              <a:rPr lang="en-US" sz="1300" dirty="0">
                <a:solidFill>
                  <a:schemeClr val="bg1"/>
                </a:solidFill>
              </a:rPr>
              <a:t>≈ $0.04 Browser API (scripted sites) · ≈ $5 Agent API (any site) · Search, Fetch $0 (TinyFish rates, 16 Oct 2026)</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Proposed TinyFish Integration: One Run</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06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One shopper run through TinyFish, step by step</a:t>
            </a:r>
            <a:endParaRPr lang="en-US" sz="1700" dirty="0"/>
          </a:p>
        </p:txBody>
      </p:sp>
      <p:sp>
        <p:nvSpPr>
          <p:cNvPr id="6" name="timeline"/>
          <p:cNvSpPr/>
          <p:nvPr/>
        </p:nvSpPr>
        <p:spPr>
          <a:xfrm>
            <a:off x="786384" y="1828800"/>
            <a:ext cx="0" cy="3886200"/>
          </a:xfrm>
          <a:prstGeom prst="line">
            <a:avLst/>
          </a:prstGeom>
          <a:noFill/>
          <a:ln w="25400">
            <a:solidFill>
              <a:schemeClr val="accent2"/>
            </a:solidFill>
            <a:prstDash val="solid"/>
          </a:ln>
        </p:spPr>
      </p:sp>
      <p:sp>
        <p:nvSpPr>
          <p:cNvPr id="7" name="step dot"/>
          <p:cNvSpPr/>
          <p:nvPr/>
        </p:nvSpPr>
        <p:spPr>
          <a:xfrm>
            <a:off x="548640" y="1627632"/>
            <a:ext cx="475488" cy="475488"/>
          </a:xfrm>
          <a:prstGeom prst="ellipse">
            <a:avLst/>
          </a:prstGeom>
          <a:solidFill>
            <a:schemeClr val="accent1"/>
          </a:solidFill>
          <a:ln w="25400">
            <a:solidFill>
              <a:schemeClr val="bg1"/>
            </a:solidFill>
            <a:prstDash val="solid"/>
          </a:ln>
        </p:spPr>
      </p:sp>
      <p:sp>
        <p:nvSpPr>
          <p:cNvPr id="8" name="Text 5"/>
          <p:cNvSpPr txBox="1"/>
          <p:nvPr/>
        </p:nvSpPr>
        <p:spPr>
          <a:xfrm>
            <a:off x="548640" y="162763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34440" y="1609344"/>
            <a:ext cx="4754880" cy="292608"/>
          </a:xfrm>
          <a:prstGeom prst="rect">
            <a:avLst/>
          </a:prstGeom>
          <a:noFill/>
          <a:ln/>
        </p:spPr>
        <p:txBody>
          <a:bodyPr wrap="square" lIns="0" tIns="0" rIns="0" bIns="0" rtlCol="0" anchor="t"/>
          <a:lstStyle/>
          <a:p>
            <a:pPr indent="0" marL="0">
              <a:buNone/>
            </a:pPr>
            <a:r>
              <a:rPr lang="en-US" sz="1600" b="1" dirty="0">
                <a:solidFill>
                  <a:schemeClr val="tx1"/>
                </a:solidFill>
              </a:rPr>
              <a:t>Pick a shopper</a:t>
            </a:r>
            <a:endParaRPr lang="en-US" sz="1600" dirty="0"/>
          </a:p>
        </p:txBody>
      </p:sp>
      <p:sp>
        <p:nvSpPr>
          <p:cNvPr id="10" name="Text 7"/>
          <p:cNvSpPr txBox="1"/>
          <p:nvPr/>
        </p:nvSpPr>
        <p:spPr>
          <a:xfrm>
            <a:off x="1234440" y="1901952"/>
            <a:ext cx="4937760" cy="292608"/>
          </a:xfrm>
          <a:prstGeom prst="rect">
            <a:avLst/>
          </a:prstGeom>
          <a:noFill/>
          <a:ln/>
        </p:spPr>
        <p:txBody>
          <a:bodyPr wrap="square" lIns="0" tIns="0" rIns="0" bIns="0" rtlCol="0" anchor="t"/>
          <a:lstStyle/>
          <a:p>
            <a:pPr indent="0" marL="0">
              <a:buNone/>
            </a:pPr>
            <a:r>
              <a:rPr lang="en-US" sz="1400" dirty="0">
                <a:solidFill>
                  <a:schemeClr val="accent6"/>
                </a:solidFill>
              </a:rPr>
              <a:t>iPhone · Germany · new visitor</a:t>
            </a:r>
            <a:endParaRPr lang="en-US" sz="1400" dirty="0"/>
          </a:p>
        </p:txBody>
      </p:sp>
      <p:sp>
        <p:nvSpPr>
          <p:cNvPr id="11" name="step dot"/>
          <p:cNvSpPr/>
          <p:nvPr/>
        </p:nvSpPr>
        <p:spPr>
          <a:xfrm>
            <a:off x="548640" y="2386584"/>
            <a:ext cx="475488" cy="475488"/>
          </a:xfrm>
          <a:prstGeom prst="ellipse">
            <a:avLst/>
          </a:prstGeom>
          <a:solidFill>
            <a:schemeClr val="accent1"/>
          </a:solidFill>
          <a:ln w="25400">
            <a:solidFill>
              <a:schemeClr val="bg1"/>
            </a:solidFill>
            <a:prstDash val="solid"/>
          </a:ln>
        </p:spPr>
      </p:sp>
      <p:sp>
        <p:nvSpPr>
          <p:cNvPr id="12" name="Text 9"/>
          <p:cNvSpPr txBox="1"/>
          <p:nvPr/>
        </p:nvSpPr>
        <p:spPr>
          <a:xfrm>
            <a:off x="548640" y="238658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1234440" y="2368296"/>
            <a:ext cx="4754880" cy="292608"/>
          </a:xfrm>
          <a:prstGeom prst="rect">
            <a:avLst/>
          </a:prstGeom>
          <a:noFill/>
          <a:ln/>
        </p:spPr>
        <p:txBody>
          <a:bodyPr wrap="square" lIns="0" tIns="0" rIns="0" bIns="0" rtlCol="0" anchor="t"/>
          <a:lstStyle/>
          <a:p>
            <a:pPr indent="0" marL="0">
              <a:buNone/>
            </a:pPr>
            <a:r>
              <a:rPr lang="en-US" sz="1600" b="1" dirty="0">
                <a:solidFill>
                  <a:schemeClr val="tx1"/>
                </a:solidFill>
              </a:rPr>
              <a:t>Open a session</a:t>
            </a:r>
            <a:endParaRPr lang="en-US" sz="1600" dirty="0"/>
          </a:p>
        </p:txBody>
      </p:sp>
      <p:sp>
        <p:nvSpPr>
          <p:cNvPr id="14" name="Text 11"/>
          <p:cNvSpPr txBox="1"/>
          <p:nvPr/>
        </p:nvSpPr>
        <p:spPr>
          <a:xfrm>
            <a:off x="1234440" y="2660904"/>
            <a:ext cx="4937760" cy="292608"/>
          </a:xfrm>
          <a:prstGeom prst="rect">
            <a:avLst/>
          </a:prstGeom>
          <a:noFill/>
          <a:ln/>
        </p:spPr>
        <p:txBody>
          <a:bodyPr wrap="square" lIns="0" tIns="0" rIns="0" bIns="0" rtlCol="0" anchor="t"/>
          <a:lstStyle/>
          <a:p>
            <a:pPr indent="0" marL="0">
              <a:buNone/>
            </a:pPr>
            <a:r>
              <a:rPr lang="en-US" sz="1400" dirty="0">
                <a:solidFill>
                  <a:schemeClr val="accent6"/>
                </a:solidFill>
              </a:rPr>
              <a:t>Browser API with a DE proxy (verified live), or the Agent API</a:t>
            </a:r>
            <a:endParaRPr lang="en-US" sz="1400" dirty="0"/>
          </a:p>
        </p:txBody>
      </p:sp>
      <p:sp>
        <p:nvSpPr>
          <p:cNvPr id="15" name="step dot"/>
          <p:cNvSpPr/>
          <p:nvPr/>
        </p:nvSpPr>
        <p:spPr>
          <a:xfrm>
            <a:off x="548640" y="3145536"/>
            <a:ext cx="475488" cy="475488"/>
          </a:xfrm>
          <a:prstGeom prst="ellipse">
            <a:avLst/>
          </a:prstGeom>
          <a:solidFill>
            <a:schemeClr val="accent1"/>
          </a:solidFill>
          <a:ln w="25400">
            <a:solidFill>
              <a:schemeClr val="bg1"/>
            </a:solidFill>
            <a:prstDash val="solid"/>
          </a:ln>
        </p:spPr>
      </p:sp>
      <p:sp>
        <p:nvSpPr>
          <p:cNvPr id="16" name="Text 13"/>
          <p:cNvSpPr txBox="1"/>
          <p:nvPr/>
        </p:nvSpPr>
        <p:spPr>
          <a:xfrm>
            <a:off x="548640" y="314553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1234440" y="3127248"/>
            <a:ext cx="4754880" cy="292608"/>
          </a:xfrm>
          <a:prstGeom prst="rect">
            <a:avLst/>
          </a:prstGeom>
          <a:noFill/>
          <a:ln/>
        </p:spPr>
        <p:txBody>
          <a:bodyPr wrap="square" lIns="0" tIns="0" rIns="0" bIns="0" rtlCol="0" anchor="t"/>
          <a:lstStyle/>
          <a:p>
            <a:pPr indent="0" marL="0">
              <a:buNone/>
            </a:pPr>
            <a:r>
              <a:rPr lang="en-US" sz="1600" b="1" dirty="0">
                <a:solidFill>
                  <a:schemeClr val="tx1"/>
                </a:solidFill>
              </a:rPr>
              <a:t>Become that shopper</a:t>
            </a:r>
            <a:endParaRPr lang="en-US" sz="1600" dirty="0"/>
          </a:p>
        </p:txBody>
      </p:sp>
      <p:sp>
        <p:nvSpPr>
          <p:cNvPr id="18" name="Text 15"/>
          <p:cNvSpPr txBox="1"/>
          <p:nvPr/>
        </p:nvSpPr>
        <p:spPr>
          <a:xfrm>
            <a:off x="1234440" y="3419856"/>
            <a:ext cx="4937760" cy="292608"/>
          </a:xfrm>
          <a:prstGeom prst="rect">
            <a:avLst/>
          </a:prstGeom>
          <a:noFill/>
          <a:ln/>
        </p:spPr>
        <p:txBody>
          <a:bodyPr wrap="square" lIns="0" tIns="0" rIns="0" bIns="0" rtlCol="0" anchor="t"/>
          <a:lstStyle/>
          <a:p>
            <a:pPr indent="0" marL="0">
              <a:buNone/>
            </a:pPr>
            <a:r>
              <a:rPr lang="en-US" sz="1400" dirty="0">
                <a:solidFill>
                  <a:schemeClr val="accent6"/>
                </a:solidFill>
              </a:rPr>
              <a:t>CDP: device metrics, user agent, locale, timezone</a:t>
            </a:r>
            <a:endParaRPr lang="en-US" sz="1400" dirty="0"/>
          </a:p>
        </p:txBody>
      </p:sp>
      <p:sp>
        <p:nvSpPr>
          <p:cNvPr id="19" name="step dot"/>
          <p:cNvSpPr/>
          <p:nvPr/>
        </p:nvSpPr>
        <p:spPr>
          <a:xfrm>
            <a:off x="548640" y="3904488"/>
            <a:ext cx="475488" cy="475488"/>
          </a:xfrm>
          <a:prstGeom prst="ellipse">
            <a:avLst/>
          </a:prstGeom>
          <a:solidFill>
            <a:schemeClr val="accent1"/>
          </a:solidFill>
          <a:ln w="25400">
            <a:solidFill>
              <a:schemeClr val="bg1"/>
            </a:solidFill>
            <a:prstDash val="solid"/>
          </a:ln>
        </p:spPr>
      </p:sp>
      <p:sp>
        <p:nvSpPr>
          <p:cNvPr id="20" name="Text 17"/>
          <p:cNvSpPr txBox="1"/>
          <p:nvPr/>
        </p:nvSpPr>
        <p:spPr>
          <a:xfrm>
            <a:off x="548640" y="3904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8"/>
          <p:cNvSpPr txBox="1"/>
          <p:nvPr/>
        </p:nvSpPr>
        <p:spPr>
          <a:xfrm>
            <a:off x="1234440" y="3886200"/>
            <a:ext cx="4754880" cy="292608"/>
          </a:xfrm>
          <a:prstGeom prst="rect">
            <a:avLst/>
          </a:prstGeom>
          <a:noFill/>
          <a:ln/>
        </p:spPr>
        <p:txBody>
          <a:bodyPr wrap="square" lIns="0" tIns="0" rIns="0" bIns="0" rtlCol="0" anchor="t"/>
          <a:lstStyle/>
          <a:p>
            <a:pPr indent="0" marL="0">
              <a:buNone/>
            </a:pPr>
            <a:r>
              <a:rPr lang="en-US" sz="1600" b="1" dirty="0">
                <a:solidFill>
                  <a:schemeClr val="tx1"/>
                </a:solidFill>
              </a:rPr>
              <a:t>Walk the checkout</a:t>
            </a:r>
            <a:endParaRPr lang="en-US" sz="1600" dirty="0"/>
          </a:p>
        </p:txBody>
      </p:sp>
      <p:sp>
        <p:nvSpPr>
          <p:cNvPr id="22" name="Text 19"/>
          <p:cNvSpPr txBox="1"/>
          <p:nvPr/>
        </p:nvSpPr>
        <p:spPr>
          <a:xfrm>
            <a:off x="1234440" y="4178808"/>
            <a:ext cx="4937760" cy="292608"/>
          </a:xfrm>
          <a:prstGeom prst="rect">
            <a:avLst/>
          </a:prstGeom>
          <a:noFill/>
          <a:ln/>
        </p:spPr>
        <p:txBody>
          <a:bodyPr wrap="square" lIns="0" tIns="0" rIns="0" bIns="0" rtlCol="0" anchor="t"/>
          <a:lstStyle/>
          <a:p>
            <a:pPr indent="0" marL="0">
              <a:buNone/>
            </a:pPr>
            <a:r>
              <a:rPr lang="en-US" sz="1400" dirty="0">
                <a:solidFill>
                  <a:schemeClr val="accent6"/>
                </a:solidFill>
              </a:rPr>
              <a:t>Pinned product → basket → checkout, every screen captured</a:t>
            </a:r>
            <a:endParaRPr lang="en-US" sz="1400" dirty="0"/>
          </a:p>
        </p:txBody>
      </p:sp>
      <p:sp>
        <p:nvSpPr>
          <p:cNvPr id="23" name="step dot"/>
          <p:cNvSpPr/>
          <p:nvPr/>
        </p:nvSpPr>
        <p:spPr>
          <a:xfrm>
            <a:off x="548640" y="4663440"/>
            <a:ext cx="475488" cy="475488"/>
          </a:xfrm>
          <a:prstGeom prst="ellipse">
            <a:avLst/>
          </a:prstGeom>
          <a:solidFill>
            <a:schemeClr val="accent1"/>
          </a:solidFill>
          <a:ln w="25400">
            <a:solidFill>
              <a:schemeClr val="bg1"/>
            </a:solidFill>
            <a:prstDash val="solid"/>
          </a:ln>
        </p:spPr>
      </p:sp>
      <p:sp>
        <p:nvSpPr>
          <p:cNvPr id="24" name="Text 21"/>
          <p:cNvSpPr txBox="1"/>
          <p:nvPr/>
        </p:nvSpPr>
        <p:spPr>
          <a:xfrm>
            <a:off x="548640" y="466344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Text 22"/>
          <p:cNvSpPr txBox="1"/>
          <p:nvPr/>
        </p:nvSpPr>
        <p:spPr>
          <a:xfrm>
            <a:off x="1234440" y="4645152"/>
            <a:ext cx="4754880" cy="292608"/>
          </a:xfrm>
          <a:prstGeom prst="rect">
            <a:avLst/>
          </a:prstGeom>
          <a:noFill/>
          <a:ln/>
        </p:spPr>
        <p:txBody>
          <a:bodyPr wrap="square" lIns="0" tIns="0" rIns="0" bIns="0" rtlCol="0" anchor="t"/>
          <a:lstStyle/>
          <a:p>
            <a:pPr indent="0" marL="0">
              <a:buNone/>
            </a:pPr>
            <a:r>
              <a:rPr lang="en-US" sz="1600" b="1" dirty="0">
                <a:solidFill>
                  <a:schemeClr val="tx1"/>
                </a:solidFill>
              </a:rPr>
              <a:t>Stop safely</a:t>
            </a:r>
            <a:endParaRPr lang="en-US" sz="1600" dirty="0"/>
          </a:p>
        </p:txBody>
      </p:sp>
      <p:sp>
        <p:nvSpPr>
          <p:cNvPr id="26" name="Text 23"/>
          <p:cNvSpPr txBox="1"/>
          <p:nvPr/>
        </p:nvSpPr>
        <p:spPr>
          <a:xfrm>
            <a:off x="1234440" y="4937760"/>
            <a:ext cx="4937760" cy="292608"/>
          </a:xfrm>
          <a:prstGeom prst="rect">
            <a:avLst/>
          </a:prstGeom>
          <a:noFill/>
          <a:ln/>
        </p:spPr>
        <p:txBody>
          <a:bodyPr wrap="square" lIns="0" tIns="0" rIns="0" bIns="0" rtlCol="0" anchor="t"/>
          <a:lstStyle/>
          <a:p>
            <a:pPr indent="0" marL="0">
              <a:buNone/>
            </a:pPr>
            <a:r>
              <a:rPr lang="en-US" sz="1400" dirty="0">
                <a:solidFill>
                  <a:schemeClr val="accent6"/>
                </a:solidFill>
              </a:rPr>
              <a:t>At payment, a login wall or a CAPTCHA (reported, never bypassed)</a:t>
            </a:r>
            <a:endParaRPr lang="en-US" sz="1400" dirty="0"/>
          </a:p>
        </p:txBody>
      </p:sp>
      <p:sp>
        <p:nvSpPr>
          <p:cNvPr id="27" name="step dot"/>
          <p:cNvSpPr/>
          <p:nvPr/>
        </p:nvSpPr>
        <p:spPr>
          <a:xfrm>
            <a:off x="548640" y="5422392"/>
            <a:ext cx="475488" cy="475488"/>
          </a:xfrm>
          <a:prstGeom prst="ellipse">
            <a:avLst/>
          </a:prstGeom>
          <a:solidFill>
            <a:schemeClr val="accent1"/>
          </a:solidFill>
          <a:ln w="25400">
            <a:solidFill>
              <a:schemeClr val="bg1"/>
            </a:solidFill>
            <a:prstDash val="solid"/>
          </a:ln>
        </p:spPr>
      </p:sp>
      <p:sp>
        <p:nvSpPr>
          <p:cNvPr id="28" name="Text 25"/>
          <p:cNvSpPr txBox="1"/>
          <p:nvPr/>
        </p:nvSpPr>
        <p:spPr>
          <a:xfrm>
            <a:off x="548640" y="542239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9" name="Text 26"/>
          <p:cNvSpPr txBox="1"/>
          <p:nvPr/>
        </p:nvSpPr>
        <p:spPr>
          <a:xfrm>
            <a:off x="1234440" y="5404104"/>
            <a:ext cx="4754880" cy="292608"/>
          </a:xfrm>
          <a:prstGeom prst="rect">
            <a:avLst/>
          </a:prstGeom>
          <a:noFill/>
          <a:ln/>
        </p:spPr>
        <p:txBody>
          <a:bodyPr wrap="square" lIns="0" tIns="0" rIns="0" bIns="0" rtlCol="0" anchor="t"/>
          <a:lstStyle/>
          <a:p>
            <a:pPr indent="0" marL="0">
              <a:buNone/>
            </a:pPr>
            <a:r>
              <a:rPr lang="en-US" sz="1600" b="1" dirty="0">
                <a:solidFill>
                  <a:schemeClr val="tx1"/>
                </a:solidFill>
              </a:rPr>
              <a:t>Hand back evidence</a:t>
            </a:r>
            <a:endParaRPr lang="en-US" sz="1600" dirty="0"/>
          </a:p>
        </p:txBody>
      </p:sp>
      <p:sp>
        <p:nvSpPr>
          <p:cNvPr id="30" name="Text 27"/>
          <p:cNvSpPr txBox="1"/>
          <p:nvPr/>
        </p:nvSpPr>
        <p:spPr>
          <a:xfrm>
            <a:off x="1234440" y="5696712"/>
            <a:ext cx="4937760" cy="292608"/>
          </a:xfrm>
          <a:prstGeom prst="rect">
            <a:avLst/>
          </a:prstGeom>
          <a:noFill/>
          <a:ln/>
        </p:spPr>
        <p:txBody>
          <a:bodyPr wrap="square" lIns="0" tIns="0" rIns="0" bIns="0" rtlCol="0" anchor="t"/>
          <a:lstStyle/>
          <a:p>
            <a:pPr indent="0" marL="0">
              <a:buNone/>
            </a:pPr>
            <a:r>
              <a:rPr lang="en-US" sz="1400" dirty="0">
                <a:solidFill>
                  <a:schemeClr val="accent6"/>
                </a:solidFill>
              </a:rPr>
              <a:t>Typed JSON + screenshots → RunRecord → ML and statistics</a:t>
            </a:r>
            <a:endParaRPr lang="en-US" sz="1400" dirty="0"/>
          </a:p>
        </p:txBody>
      </p:sp>
      <p:sp>
        <p:nvSpPr>
          <p:cNvPr id="31" name="code panel"/>
          <p:cNvSpPr/>
          <p:nvPr/>
        </p:nvSpPr>
        <p:spPr>
          <a:xfrm>
            <a:off x="6492240" y="1627632"/>
            <a:ext cx="5120640" cy="2926080"/>
          </a:xfrm>
          <a:prstGeom prst="roundRect">
            <a:avLst>
              <a:gd name="adj" fmla="val 3125"/>
            </a:avLst>
          </a:prstGeom>
          <a:solidFill>
            <a:schemeClr val="tx2"/>
          </a:solidFill>
          <a:ln w="9525">
            <a:solidFill>
              <a:schemeClr val="tx2"/>
            </a:solidFill>
            <a:prstDash val="solid"/>
          </a:ln>
          <a:effectLst>
            <a:outerShdw sx="100000" sy="100000" kx="0" ky="0" algn="bl" rotWithShape="0" blurRad="127000" dist="25400" dir="5400000">
              <a:srgbClr val="000000">
                <a:alpha val="10000"/>
              </a:srgbClr>
            </a:outerShdw>
          </a:effectLst>
        </p:spPr>
      </p:sp>
      <p:sp>
        <p:nvSpPr>
          <p:cNvPr id="32" name="Text 29"/>
          <p:cNvSpPr txBox="1"/>
          <p:nvPr/>
        </p:nvSpPr>
        <p:spPr>
          <a:xfrm>
            <a:off x="6720840" y="1755648"/>
            <a:ext cx="466344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Agent API · illustrative output, demo-audit values</a:t>
            </a:r>
            <a:endParaRPr lang="en-US" sz="1100" dirty="0"/>
          </a:p>
        </p:txBody>
      </p:sp>
      <p:sp>
        <p:nvSpPr>
          <p:cNvPr id="33" name="Text 30"/>
          <p:cNvSpPr txBox="1"/>
          <p:nvPr/>
        </p:nvSpPr>
        <p:spPr>
          <a:xfrm>
            <a:off x="6720840" y="2084832"/>
            <a:ext cx="4754880" cy="2423160"/>
          </a:xfrm>
          <a:prstGeom prst="rect">
            <a:avLst/>
          </a:prstGeom>
          <a:noFill/>
          <a:ln/>
        </p:spPr>
        <p:txBody>
          <a:bodyPr wrap="square" lIns="0" tIns="0" rIns="0" bIns="0" rtlCol="0" anchor="t"/>
          <a:lstStyle/>
          <a:p>
            <a:pPr indent="0" marL="0">
              <a:buNone/>
            </a:pPr>
            <a:r>
              <a:rPr lang="en-US" sz="1100" dirty="0">
                <a:solidFill>
                  <a:schemeClr val="bg1"/>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"product_name": "Indie Rock Night",</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"advertised_price": 1006,</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"final_payable_total": 1324,</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"stopped_at": "payment",</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"steps": [{</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"name": "cart",</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"price_lines": [</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{"label": "Convenience fee", "amount": 80},</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{"label": "Ticket Protect", "amount": 149,</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"preselected": true}]</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chemeClr val="bg1"/>
                </a:solidFill>
                <a:latin typeface="Consolas" pitchFamily="34" charset="0"/>
                <a:ea typeface="Consolas" pitchFamily="34" charset="-122"/>
                <a:cs typeface="Consolas" pitchFamily="34" charset="-120"/>
              </a:rPr>
              <a:t>}</a:t>
            </a:r>
            <a:endParaRPr lang="en-US" sz="1100" dirty="0"/>
          </a:p>
        </p:txBody>
      </p:sp>
      <p:sp>
        <p:nvSpPr>
          <p:cNvPr id="34" name="Text 31"/>
          <p:cNvSpPr txBox="1"/>
          <p:nvPr/>
        </p:nvSpPr>
        <p:spPr>
          <a:xfrm>
            <a:off x="6492240" y="475488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Why TinyFish</a:t>
            </a:r>
            <a:endParaRPr lang="en-US" sz="1800" dirty="0"/>
          </a:p>
        </p:txBody>
      </p:sp>
      <p:sp>
        <p:nvSpPr>
          <p:cNvPr id="35" name="Text 32"/>
          <p:cNvSpPr txBox="1"/>
          <p:nvPr/>
        </p:nvSpPr>
        <p:spPr>
          <a:xfrm>
            <a:off x="6492240" y="5120640"/>
            <a:ext cx="5120640" cy="1188720"/>
          </a:xfrm>
          <a:prstGeom prst="rect">
            <a:avLst/>
          </a:prstGeom>
          <a:noFill/>
          <a:ln/>
        </p:spPr>
        <p:txBody>
          <a:bodyPr wrap="square" lIns="0" tIns="0" rIns="0" bIns="0" rtlCol="0" anchor="t"/>
          <a:lstStyle/>
          <a:p>
            <a:pPr marL="342900" indent="-342900">
              <a:spcAft>
                <a:spcPts val="400"/>
              </a:spcAft>
              <a:buSzPct val="100000"/>
              <a:buChar char="•"/>
            </a:pPr>
            <a:r>
              <a:rPr lang="en-US" sz="1400" b="1" dirty="0">
                <a:solidFill>
                  <a:schemeClr val="tx1"/>
                </a:solidFill>
              </a:rPr>
              <a:t>Real geography: </a:t>
            </a:r>
            <a:pPr indent="0" marL="0">
              <a:spcAft>
                <a:spcPts val="400"/>
              </a:spcAft>
              <a:buNone/>
            </a:pPr>
            <a:r>
              <a:rPr lang="en-US" sz="1400" dirty="0">
                <a:solidFill>
                  <a:schemeClr val="tx1"/>
                </a:solidFill>
              </a:rPr>
              <a:t>a German exit IP, verified live; India exits are on our roadmap.</a:t>
            </a:r>
            <a:endParaRPr lang="en-US" sz="1400" dirty="0"/>
          </a:p>
          <a:p>
            <a:pPr marL="342900" indent="-342900">
              <a:spcAft>
                <a:spcPts val="400"/>
              </a:spcAft>
              <a:buSzPct val="100000"/>
              <a:buChar char="•"/>
            </a:pPr>
            <a:r>
              <a:rPr lang="en-US" sz="1400" b="1" dirty="0">
                <a:solidFill>
                  <a:schemeClr val="tx1"/>
                </a:solidFill>
              </a:rPr>
              <a:t>Unscripted sites: </a:t>
            </a:r>
            <a:pPr indent="0" marL="0">
              <a:spcAft>
                <a:spcPts val="400"/>
              </a:spcAft>
              <a:buNone/>
            </a:pPr>
            <a:r>
              <a:rPr lang="en-US" sz="1400" dirty="0">
                <a:solidFill>
                  <a:schemeClr val="tx1"/>
                </a:solidFill>
              </a:rPr>
              <a:t>the Agent API walks checkouts nobody scripted.</a:t>
            </a:r>
            <a:endParaRPr lang="en-US" sz="1400" dirty="0"/>
          </a:p>
          <a:p>
            <a:pPr marL="342900" indent="-342900">
              <a:spcAft>
                <a:spcPts val="400"/>
              </a:spcAft>
              <a:buSzPct val="100000"/>
              <a:buChar char="•"/>
            </a:pPr>
            <a:r>
              <a:rPr lang="en-US" sz="1400" b="1" dirty="0">
                <a:solidFill>
                  <a:schemeClr val="tx1"/>
                </a:solidFill>
              </a:rPr>
              <a:t>Managed browsers: </a:t>
            </a:r>
            <a:pPr indent="0" marL="0">
              <a:spcAft>
                <a:spcPts val="400"/>
              </a:spcAft>
              <a:buNone/>
            </a:pPr>
            <a:r>
              <a:rPr lang="en-US" sz="1400" dirty="0">
                <a:solidFill>
                  <a:schemeClr val="tx1"/>
                </a:solidFill>
              </a:rPr>
              <a:t>we spend our time on measurement, not infrastructure.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bg1"/>
                </a:solidFill>
              </a:rPr>
              <a:t>Expected Impact</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2"/>
                </a:solidFill>
              </a:rPr>
              <a:t>PARDARSHI  ·  07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bg2"/>
                </a:solidFill>
                <a:latin typeface="Cambria" pitchFamily="34" charset="0"/>
                <a:ea typeface="Cambria" pitchFamily="34" charset="-122"/>
                <a:cs typeface="Cambria" pitchFamily="34" charset="-120"/>
              </a:rPr>
              <a:t>From a shopper's suspicion to evidence a regulator can act on</a:t>
            </a:r>
            <a:endParaRPr lang="en-US" sz="1700" dirty="0"/>
          </a:p>
        </p:txBody>
      </p:sp>
      <p:sp>
        <p:nvSpPr>
          <p:cNvPr id="6" name="Text 3"/>
          <p:cNvSpPr txBox="1"/>
          <p:nvPr/>
        </p:nvSpPr>
        <p:spPr>
          <a:xfrm>
            <a:off x="548640" y="1645920"/>
            <a:ext cx="5669280" cy="411480"/>
          </a:xfrm>
          <a:prstGeom prst="rect">
            <a:avLst/>
          </a:prstGeom>
          <a:noFill/>
          <a:ln/>
        </p:spPr>
        <p:txBody>
          <a:bodyPr wrap="square" lIns="0" tIns="0" rIns="0" bIns="0" rtlCol="0" anchor="t"/>
          <a:lstStyle/>
          <a:p>
            <a:pPr indent="0" marL="0">
              <a:buNone/>
            </a:pPr>
            <a:r>
              <a:rPr lang="en-US" sz="1800" dirty="0">
                <a:solidFill>
                  <a:schemeClr val="bg2"/>
                </a:solidFill>
              </a:rPr>
              <a:t>One shopper's view</a:t>
            </a:r>
            <a:pPr indent="0" marL="0">
              <a:buNone/>
            </a:pPr>
            <a:r>
              <a:rPr lang="en-US" sz="1800" b="1" dirty="0">
                <a:solidFill>
                  <a:schemeClr val="accent2"/>
                </a:solidFill>
              </a:rPr>
              <a:t>  →  </a:t>
            </a:r>
            <a:pPr indent="0" marL="0">
              <a:buNone/>
            </a:pPr>
            <a:r>
              <a:rPr lang="en-US" sz="2000" b="1" dirty="0">
                <a:solidFill>
                  <a:schemeClr val="bg1"/>
                </a:solidFill>
                <a:latin typeface="Cambria" pitchFamily="34" charset="0"/>
                <a:ea typeface="Cambria" pitchFamily="34" charset="-122"/>
                <a:cs typeface="Cambria" pitchFamily="34" charset="-120"/>
              </a:rPr>
              <a:t>20 runs in 35 s</a:t>
            </a:r>
            <a:endParaRPr lang="en-US" sz="1400" dirty="0"/>
          </a:p>
        </p:txBody>
      </p:sp>
      <p:sp>
        <p:nvSpPr>
          <p:cNvPr id="7" name="Text 4"/>
          <p:cNvSpPr txBox="1"/>
          <p:nvPr/>
        </p:nvSpPr>
        <p:spPr>
          <a:xfrm>
            <a:off x="548640" y="2084832"/>
            <a:ext cx="5669280" cy="320040"/>
          </a:xfrm>
          <a:prstGeom prst="rect">
            <a:avLst/>
          </a:prstGeom>
          <a:noFill/>
          <a:ln/>
        </p:spPr>
        <p:txBody>
          <a:bodyPr wrap="square" lIns="0" tIns="0" rIns="0" bIns="0" rtlCol="0" anchor="t"/>
          <a:lstStyle/>
          <a:p>
            <a:pPr indent="0" marL="0">
              <a:buNone/>
            </a:pPr>
            <a:r>
              <a:rPr lang="en-US" sz="1400" dirty="0">
                <a:solidFill>
                  <a:schemeClr val="bg2"/>
                </a:solidFill>
              </a:rPr>
              <a:t>measured on our demo shop; real sites run one shopper at a time</a:t>
            </a:r>
            <a:endParaRPr lang="en-US" sz="1400" dirty="0"/>
          </a:p>
        </p:txBody>
      </p:sp>
      <p:sp>
        <p:nvSpPr>
          <p:cNvPr id="8" name="Text 5"/>
          <p:cNvSpPr txBox="1"/>
          <p:nvPr/>
        </p:nvSpPr>
        <p:spPr>
          <a:xfrm>
            <a:off x="548640" y="2670048"/>
            <a:ext cx="5669280" cy="411480"/>
          </a:xfrm>
          <a:prstGeom prst="rect">
            <a:avLst/>
          </a:prstGeom>
          <a:noFill/>
          <a:ln/>
        </p:spPr>
        <p:txBody>
          <a:bodyPr wrap="square" lIns="0" tIns="0" rIns="0" bIns="0" rtlCol="0" anchor="t"/>
          <a:lstStyle/>
          <a:p>
            <a:pPr indent="0" marL="0">
              <a:buNone/>
            </a:pPr>
            <a:r>
              <a:rPr lang="en-US" sz="1800" dirty="0">
                <a:solidFill>
                  <a:schemeClr val="bg2"/>
                </a:solidFill>
              </a:rPr>
              <a:t>Suspicion</a:t>
            </a:r>
            <a:pPr indent="0" marL="0">
              <a:buNone/>
            </a:pPr>
            <a:r>
              <a:rPr lang="en-US" sz="1800" b="1" dirty="0">
                <a:solidFill>
                  <a:schemeClr val="accent2"/>
                </a:solidFill>
              </a:rPr>
              <a:t>  →  </a:t>
            </a:r>
            <a:pPr indent="0" marL="0">
              <a:buNone/>
            </a:pPr>
            <a:r>
              <a:rPr lang="en-US" sz="2000" b="1" dirty="0">
                <a:solidFill>
                  <a:schemeClr val="bg1"/>
                </a:solidFill>
                <a:latin typeface="Cambria" pitchFamily="34" charset="0"/>
                <a:ea typeface="Cambria" pitchFamily="34" charset="-122"/>
                <a:cs typeface="Cambria" pitchFamily="34" charset="-120"/>
              </a:rPr>
              <a:t>Statistics</a:t>
            </a:r>
            <a:endParaRPr lang="en-US" sz="1400" dirty="0"/>
          </a:p>
        </p:txBody>
      </p:sp>
      <p:sp>
        <p:nvSpPr>
          <p:cNvPr id="9" name="Text 6"/>
          <p:cNvSpPr txBox="1"/>
          <p:nvPr/>
        </p:nvSpPr>
        <p:spPr>
          <a:xfrm>
            <a:off x="548640" y="3108960"/>
            <a:ext cx="5669280" cy="320040"/>
          </a:xfrm>
          <a:prstGeom prst="rect">
            <a:avLst/>
          </a:prstGeom>
          <a:noFill/>
          <a:ln/>
        </p:spPr>
        <p:txBody>
          <a:bodyPr wrap="square" lIns="0" tIns="0" rIns="0" bIns="0" rtlCol="0" anchor="t"/>
          <a:lstStyle/>
          <a:p>
            <a:pPr indent="0" marL="0">
              <a:buNone/>
            </a:pPr>
            <a:r>
              <a:rPr lang="en-US" sz="1400" dirty="0">
                <a:solidFill>
                  <a:schemeClr val="bg2"/>
                </a:solidFill>
              </a:rPr>
              <a:t>price gaps with 95% confidence intervals and a noise floor</a:t>
            </a:r>
            <a:endParaRPr lang="en-US" sz="1400" dirty="0"/>
          </a:p>
        </p:txBody>
      </p:sp>
      <p:sp>
        <p:nvSpPr>
          <p:cNvPr id="10" name="Text 7"/>
          <p:cNvSpPr txBox="1"/>
          <p:nvPr/>
        </p:nvSpPr>
        <p:spPr>
          <a:xfrm>
            <a:off x="548640" y="3694176"/>
            <a:ext cx="5669280" cy="411480"/>
          </a:xfrm>
          <a:prstGeom prst="rect">
            <a:avLst/>
          </a:prstGeom>
          <a:noFill/>
          <a:ln/>
        </p:spPr>
        <p:txBody>
          <a:bodyPr wrap="square" lIns="0" tIns="0" rIns="0" bIns="0" rtlCol="0" anchor="t"/>
          <a:lstStyle/>
          <a:p>
            <a:pPr indent="0" marL="0">
              <a:buNone/>
            </a:pPr>
            <a:r>
              <a:rPr lang="en-US" sz="1800" dirty="0">
                <a:solidFill>
                  <a:schemeClr val="bg2"/>
                </a:solidFill>
              </a:rPr>
              <a:t>Complaint</a:t>
            </a:r>
            <a:pPr indent="0" marL="0">
              <a:buNone/>
            </a:pPr>
            <a:r>
              <a:rPr lang="en-US" sz="1800" b="1" dirty="0">
                <a:solidFill>
                  <a:schemeClr val="accent2"/>
                </a:solidFill>
              </a:rPr>
              <a:t>  →  </a:t>
            </a:r>
            <a:pPr indent="0" marL="0">
              <a:buNone/>
            </a:pPr>
            <a:r>
              <a:rPr lang="en-US" sz="2000" b="1" dirty="0">
                <a:solidFill>
                  <a:schemeClr val="bg1"/>
                </a:solidFill>
                <a:latin typeface="Cambria" pitchFamily="34" charset="0"/>
                <a:ea typeface="Cambria" pitchFamily="34" charset="-122"/>
                <a:cs typeface="Cambria" pitchFamily="34" charset="-120"/>
              </a:rPr>
              <a:t>Case file</a:t>
            </a:r>
            <a:endParaRPr lang="en-US" sz="1400" dirty="0"/>
          </a:p>
        </p:txBody>
      </p:sp>
      <p:sp>
        <p:nvSpPr>
          <p:cNvPr id="11" name="Text 8"/>
          <p:cNvSpPr txBox="1"/>
          <p:nvPr/>
        </p:nvSpPr>
        <p:spPr>
          <a:xfrm>
            <a:off x="548640" y="4133088"/>
            <a:ext cx="5669280" cy="320040"/>
          </a:xfrm>
          <a:prstGeom prst="rect">
            <a:avLst/>
          </a:prstGeom>
          <a:noFill/>
          <a:ln/>
        </p:spPr>
        <p:txBody>
          <a:bodyPr wrap="square" lIns="0" tIns="0" rIns="0" bIns="0" rtlCol="0" anchor="t"/>
          <a:lstStyle/>
          <a:p>
            <a:pPr indent="0" marL="0">
              <a:buNone/>
            </a:pPr>
            <a:r>
              <a:rPr lang="en-US" sz="1400" dirty="0">
                <a:solidFill>
                  <a:schemeClr val="bg2"/>
                </a:solidFill>
              </a:rPr>
              <a:t>an NCH-ready letter with exhibits and SHA‑256 hashes</a:t>
            </a:r>
            <a:endParaRPr lang="en-US" sz="1400" dirty="0"/>
          </a:p>
        </p:txBody>
      </p:sp>
      <p:sp>
        <p:nvSpPr>
          <p:cNvPr id="12" name="Text 9"/>
          <p:cNvSpPr txBox="1"/>
          <p:nvPr/>
        </p:nvSpPr>
        <p:spPr>
          <a:xfrm>
            <a:off x="548640" y="4718304"/>
            <a:ext cx="5669280" cy="411480"/>
          </a:xfrm>
          <a:prstGeom prst="rect">
            <a:avLst/>
          </a:prstGeom>
          <a:noFill/>
          <a:ln/>
        </p:spPr>
        <p:txBody>
          <a:bodyPr wrap="square" lIns="0" tIns="0" rIns="0" bIns="0" rtlCol="0" anchor="t"/>
          <a:lstStyle/>
          <a:p>
            <a:pPr indent="0" marL="0">
              <a:buNone/>
            </a:pPr>
            <a:r>
              <a:rPr lang="en-US" sz="1800" dirty="0">
                <a:solidFill>
                  <a:schemeClr val="bg2"/>
                </a:solidFill>
              </a:rPr>
              <a:t>Self-declaration</a:t>
            </a:r>
            <a:pPr indent="0" marL="0">
              <a:buNone/>
            </a:pPr>
            <a:r>
              <a:rPr lang="en-US" sz="1800" b="1" dirty="0">
                <a:solidFill>
                  <a:schemeClr val="accent2"/>
                </a:solidFill>
              </a:rPr>
              <a:t>  →  </a:t>
            </a:r>
            <a:pPr indent="0" marL="0">
              <a:buNone/>
            </a:pPr>
            <a:r>
              <a:rPr lang="en-US" sz="2000" b="1" dirty="0">
                <a:solidFill>
                  <a:schemeClr val="bg1"/>
                </a:solidFill>
                <a:latin typeface="Cambria" pitchFamily="34" charset="0"/>
                <a:ea typeface="Cambria" pitchFamily="34" charset="-122"/>
                <a:cs typeface="Cambria" pitchFamily="34" charset="-120"/>
              </a:rPr>
              <a:t>Independent check</a:t>
            </a:r>
            <a:endParaRPr lang="en-US" sz="1400" dirty="0"/>
          </a:p>
        </p:txBody>
      </p:sp>
      <p:sp>
        <p:nvSpPr>
          <p:cNvPr id="13" name="Text 10"/>
          <p:cNvSpPr txBox="1"/>
          <p:nvPr/>
        </p:nvSpPr>
        <p:spPr>
          <a:xfrm>
            <a:off x="548640" y="5157216"/>
            <a:ext cx="5669280" cy="320040"/>
          </a:xfrm>
          <a:prstGeom prst="rect">
            <a:avLst/>
          </a:prstGeom>
          <a:noFill/>
          <a:ln/>
        </p:spPr>
        <p:txBody>
          <a:bodyPr wrap="square" lIns="0" tIns="0" rIns="0" bIns="0" rtlCol="0" anchor="t"/>
          <a:lstStyle/>
          <a:p>
            <a:pPr indent="0" marL="0">
              <a:buNone/>
            </a:pPr>
            <a:r>
              <a:rPr lang="en-US" sz="1400" dirty="0">
                <a:solidFill>
                  <a:schemeClr val="bg2"/>
                </a:solidFill>
              </a:rPr>
              <a:t>a repeatable re-check that a regulator can ask for</a:t>
            </a:r>
            <a:endParaRPr lang="en-US" sz="1400" dirty="0"/>
          </a:p>
        </p:txBody>
      </p:sp>
      <p:sp>
        <p:nvSpPr>
          <p:cNvPr id="14" name="stat"/>
          <p:cNvSpPr/>
          <p:nvPr/>
        </p:nvSpPr>
        <p:spPr>
          <a:xfrm>
            <a:off x="6583680" y="1645920"/>
            <a:ext cx="2331720" cy="1737360"/>
          </a:xfrm>
          <a:prstGeom prst="roundRect">
            <a:avLst>
              <a:gd name="adj" fmla="val 5263"/>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5" name="Text 12"/>
          <p:cNvSpPr txBox="1"/>
          <p:nvPr/>
        </p:nvSpPr>
        <p:spPr>
          <a:xfrm>
            <a:off x="6784848" y="1828800"/>
            <a:ext cx="2011680" cy="73152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+32%</a:t>
            </a:r>
            <a:endParaRPr lang="en-US" sz="3800" dirty="0"/>
          </a:p>
        </p:txBody>
      </p:sp>
      <p:sp>
        <p:nvSpPr>
          <p:cNvPr id="16" name="Text 13"/>
          <p:cNvSpPr txBox="1"/>
          <p:nvPr/>
        </p:nvSpPr>
        <p:spPr>
          <a:xfrm>
            <a:off x="6784848" y="2606040"/>
            <a:ext cx="2011680" cy="685800"/>
          </a:xfrm>
          <a:prstGeom prst="rect">
            <a:avLst/>
          </a:prstGeom>
          <a:noFill/>
          <a:ln/>
        </p:spPr>
        <p:txBody>
          <a:bodyPr wrap="square" lIns="0" tIns="0" rIns="0" bIns="0" rtlCol="0" anchor="t"/>
          <a:lstStyle/>
          <a:p>
            <a:pPr indent="0" marL="0">
              <a:buNone/>
            </a:pPr>
            <a:r>
              <a:rPr lang="en-US" sz="1300" dirty="0">
                <a:solidFill>
                  <a:schemeClr val="bg2"/>
                </a:solidFill>
              </a:rPr>
              <a:t>price growth from the first screen to payment</a:t>
            </a:r>
            <a:endParaRPr lang="en-US" sz="1300" dirty="0"/>
          </a:p>
        </p:txBody>
      </p:sp>
      <p:sp>
        <p:nvSpPr>
          <p:cNvPr id="17" name="stat"/>
          <p:cNvSpPr/>
          <p:nvPr/>
        </p:nvSpPr>
        <p:spPr>
          <a:xfrm>
            <a:off x="9281160" y="1645920"/>
            <a:ext cx="2331720" cy="1737360"/>
          </a:xfrm>
          <a:prstGeom prst="roundRect">
            <a:avLst>
              <a:gd name="adj" fmla="val 5263"/>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18" name="Text 15"/>
          <p:cNvSpPr txBox="1"/>
          <p:nvPr/>
        </p:nvSpPr>
        <p:spPr>
          <a:xfrm>
            <a:off x="9482328" y="1828800"/>
            <a:ext cx="2011680" cy="73152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+9.6%</a:t>
            </a:r>
            <a:endParaRPr lang="en-US" sz="3800" dirty="0"/>
          </a:p>
        </p:txBody>
      </p:sp>
      <p:sp>
        <p:nvSpPr>
          <p:cNvPr id="19" name="Text 16"/>
          <p:cNvSpPr txBox="1"/>
          <p:nvPr/>
        </p:nvSpPr>
        <p:spPr>
          <a:xfrm>
            <a:off x="9482328" y="2606040"/>
            <a:ext cx="2011680" cy="685800"/>
          </a:xfrm>
          <a:prstGeom prst="rect">
            <a:avLst/>
          </a:prstGeom>
          <a:noFill/>
          <a:ln/>
        </p:spPr>
        <p:txBody>
          <a:bodyPr wrap="square" lIns="0" tIns="0" rIns="0" bIns="0" rtlCol="0" anchor="t"/>
          <a:lstStyle/>
          <a:p>
            <a:pPr indent="0" marL="0">
              <a:buNone/>
            </a:pPr>
            <a:r>
              <a:rPr lang="en-US" sz="1300" dirty="0">
                <a:solidFill>
                  <a:schemeClr val="bg2"/>
                </a:solidFill>
              </a:rPr>
              <a:t>quoted to iPhone shoppers (95% CI 8.4–10.9%)</a:t>
            </a:r>
            <a:endParaRPr lang="en-US" sz="1300" dirty="0"/>
          </a:p>
        </p:txBody>
      </p:sp>
      <p:sp>
        <p:nvSpPr>
          <p:cNvPr id="20" name="stat"/>
          <p:cNvSpPr/>
          <p:nvPr/>
        </p:nvSpPr>
        <p:spPr>
          <a:xfrm>
            <a:off x="6583680" y="3566160"/>
            <a:ext cx="2331720" cy="1737360"/>
          </a:xfrm>
          <a:prstGeom prst="roundRect">
            <a:avLst>
              <a:gd name="adj" fmla="val 5263"/>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1" name="Text 18"/>
          <p:cNvSpPr txBox="1"/>
          <p:nvPr/>
        </p:nvSpPr>
        <p:spPr>
          <a:xfrm>
            <a:off x="6784848" y="3749040"/>
            <a:ext cx="2011680" cy="73152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8 vs 1</a:t>
            </a:r>
            <a:endParaRPr lang="en-US" sz="3800" dirty="0"/>
          </a:p>
        </p:txBody>
      </p:sp>
      <p:sp>
        <p:nvSpPr>
          <p:cNvPr id="22" name="Text 19"/>
          <p:cNvSpPr txBox="1"/>
          <p:nvPr/>
        </p:nvSpPr>
        <p:spPr>
          <a:xfrm>
            <a:off x="6784848" y="4526280"/>
            <a:ext cx="2011680" cy="685800"/>
          </a:xfrm>
          <a:prstGeom prst="rect">
            <a:avLst/>
          </a:prstGeom>
          <a:noFill/>
          <a:ln/>
        </p:spPr>
        <p:txBody>
          <a:bodyPr wrap="square" lIns="0" tIns="0" rIns="0" bIns="0" rtlCol="0" anchor="t"/>
          <a:lstStyle/>
          <a:p>
            <a:pPr indent="0" marL="0">
              <a:buNone/>
            </a:pPr>
            <a:r>
              <a:rPr lang="en-US" sz="1300" dirty="0">
                <a:solidFill>
                  <a:schemeClr val="bg2"/>
                </a:solidFill>
              </a:rPr>
              <a:t>clicks to cancel against clicks to join</a:t>
            </a:r>
            <a:endParaRPr lang="en-US" sz="1300" dirty="0"/>
          </a:p>
        </p:txBody>
      </p:sp>
      <p:sp>
        <p:nvSpPr>
          <p:cNvPr id="23" name="stat"/>
          <p:cNvSpPr/>
          <p:nvPr/>
        </p:nvSpPr>
        <p:spPr>
          <a:xfrm>
            <a:off x="9281160" y="3566160"/>
            <a:ext cx="2331720" cy="1737360"/>
          </a:xfrm>
          <a:prstGeom prst="roundRect">
            <a:avLst>
              <a:gd name="adj" fmla="val 5263"/>
            </a:avLst>
          </a:prstGeom>
          <a:solidFill>
            <a:srgbClr val="1C2046"/>
          </a:solidFill>
          <a:ln w="9525">
            <a:solidFill>
              <a:srgbClr val="2A2F5E"/>
            </a:solidFill>
            <a:prstDash val="solid"/>
          </a:ln>
          <a:effectLst>
            <a:outerShdw sx="100000" sy="100000" kx="0" ky="0" algn="bl" rotWithShape="0" blurRad="127000" dist="25400" dir="5400000">
              <a:srgbClr val="000000">
                <a:alpha val="10000"/>
              </a:srgbClr>
            </a:outerShdw>
          </a:effectLst>
        </p:spPr>
      </p:sp>
      <p:sp>
        <p:nvSpPr>
          <p:cNvPr id="24" name="Text 21"/>
          <p:cNvSpPr txBox="1"/>
          <p:nvPr/>
        </p:nvSpPr>
        <p:spPr>
          <a:xfrm>
            <a:off x="9482328" y="3749040"/>
            <a:ext cx="2011680" cy="731520"/>
          </a:xfrm>
          <a:prstGeom prst="rect">
            <a:avLst/>
          </a:prstGeom>
          <a:noFill/>
          <a:ln/>
        </p:spPr>
        <p:txBody>
          <a:bodyPr wrap="square" lIns="0" tIns="0" rIns="0" bIns="0" rtlCol="0" anchor="t"/>
          <a:lstStyle/>
          <a:p>
            <a:pPr indent="0" marL="0">
              <a:buNone/>
            </a:pPr>
            <a:r>
              <a:rPr lang="en-US" sz="3800" b="1" dirty="0">
                <a:solidFill>
                  <a:schemeClr val="accent2"/>
                </a:solidFill>
                <a:latin typeface="Cambria" pitchFamily="34" charset="0"/>
                <a:ea typeface="Cambria" pitchFamily="34" charset="-122"/>
                <a:cs typeface="Cambria" pitchFamily="34" charset="-120"/>
              </a:rPr>
              <a:t>17/100</a:t>
            </a:r>
            <a:endParaRPr lang="en-US" sz="3800" dirty="0"/>
          </a:p>
        </p:txBody>
      </p:sp>
      <p:sp>
        <p:nvSpPr>
          <p:cNvPr id="25" name="Text 22"/>
          <p:cNvSpPr txBox="1"/>
          <p:nvPr/>
        </p:nvSpPr>
        <p:spPr>
          <a:xfrm>
            <a:off x="9482328" y="4526280"/>
            <a:ext cx="2011680" cy="685800"/>
          </a:xfrm>
          <a:prstGeom prst="rect">
            <a:avLst/>
          </a:prstGeom>
          <a:noFill/>
          <a:ln/>
        </p:spPr>
        <p:txBody>
          <a:bodyPr wrap="square" lIns="0" tIns="0" rIns="0" bIns="0" rtlCol="0" anchor="t"/>
          <a:lstStyle/>
          <a:p>
            <a:pPr indent="0" marL="0">
              <a:buNone/>
            </a:pPr>
            <a:r>
              <a:rPr lang="en-US" sz="1300" dirty="0">
                <a:solidFill>
                  <a:schemeClr val="bg2"/>
                </a:solidFill>
              </a:rPr>
              <a:t>trust score: 12 findings, 20/20 runs</a:t>
            </a:r>
            <a:endParaRPr lang="en-US" sz="1300" dirty="0"/>
          </a:p>
        </p:txBody>
      </p:sp>
      <p:sp>
        <p:nvSpPr>
          <p:cNvPr id="26" name="Text 23"/>
          <p:cNvSpPr txBox="1"/>
          <p:nvPr/>
        </p:nvSpPr>
        <p:spPr>
          <a:xfrm>
            <a:off x="6583680" y="5486400"/>
            <a:ext cx="5029200" cy="274320"/>
          </a:xfrm>
          <a:prstGeom prst="rect">
            <a:avLst/>
          </a:prstGeom>
          <a:noFill/>
          <a:ln/>
        </p:spPr>
        <p:txBody>
          <a:bodyPr wrap="square" lIns="0" tIns="0" rIns="0" bIns="0" rtlCol="0" anchor="t"/>
          <a:lstStyle/>
          <a:p>
            <a:pPr indent="0" marL="0">
              <a:buNone/>
            </a:pPr>
            <a:r>
              <a:rPr lang="en-US" sz="1200" i="1" dirty="0">
                <a:solidFill>
                  <a:schemeClr val="bg2"/>
                </a:solidFill>
              </a:rPr>
              <a:t>All four figures: our demo audit of TicketNest, a test shop with planted tricks.</a:t>
            </a:r>
            <a:endParaRPr lang="en-US" sz="1200" dirty="0"/>
          </a:p>
        </p:txBody>
      </p:sp>
      <p:sp>
        <p:nvSpPr>
          <p:cNvPr id="27" name="pilot"/>
          <p:cNvSpPr/>
          <p:nvPr/>
        </p:nvSpPr>
        <p:spPr>
          <a:xfrm>
            <a:off x="548640" y="5486400"/>
            <a:ext cx="5760720" cy="804672"/>
          </a:xfrm>
          <a:prstGeom prst="roundRect">
            <a:avLst>
              <a:gd name="adj" fmla="val 11364"/>
            </a:avLst>
          </a:prstGeom>
          <a:solidFill>
            <a:schemeClr val="accent1"/>
          </a:solidFill>
          <a:ln w="9525">
            <a:solidFill>
              <a:schemeClr val="accent1"/>
            </a:solidFill>
            <a:prstDash val="solid"/>
          </a:ln>
        </p:spPr>
      </p:sp>
      <p:sp>
        <p:nvSpPr>
          <p:cNvPr id="28" name="Text 25"/>
          <p:cNvSpPr txBox="1"/>
          <p:nvPr/>
        </p:nvSpPr>
        <p:spPr>
          <a:xfrm>
            <a:off x="777240" y="5486400"/>
            <a:ext cx="5349240" cy="804672"/>
          </a:xfrm>
          <a:prstGeom prst="rect">
            <a:avLst/>
          </a:prstGeom>
          <a:noFill/>
          <a:ln/>
        </p:spPr>
        <p:txBody>
          <a:bodyPr wrap="square" lIns="0" tIns="0" rIns="0" bIns="0" rtlCol="0" anchor="ctr"/>
          <a:lstStyle/>
          <a:p>
            <a:pPr indent="0" marL="0">
              <a:buNone/>
            </a:pPr>
            <a:r>
              <a:rPr lang="en-US" sz="1300" b="1" dirty="0">
                <a:solidFill>
                  <a:schemeClr val="accent2"/>
                </a:solidFill>
              </a:rPr>
              <a:t>Pilot goal  </a:t>
            </a:r>
            <a:pPr indent="0" marL="0">
              <a:buNone/>
            </a:pPr>
            <a:r>
              <a:rPr lang="en-US" sz="1300" b="1" dirty="0">
                <a:solidFill>
                  <a:schemeClr val="bg1"/>
                </a:solidFill>
              </a:rPr>
              <a:t>2 consumer NGOs · 50 Indian sites in 3 months</a:t>
            </a:r>
            <a:endParaRPr lang="en-US" sz="1300" dirty="0"/>
          </a:p>
          <a:p>
            <a:pPr indent="0" marL="0">
              <a:buNone/>
            </a:pPr>
            <a:r>
              <a:rPr lang="en-US" sz="1300" dirty="0">
                <a:solidFill>
                  <a:schemeClr val="bg1"/>
                </a:solidFill>
              </a:rPr>
              <a:t>Budget ≈ ₹22,000 on the TinyFish Agent API (≈ ₹440 per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Feasibility</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08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Built, tested and running today, with an honest list of risks</a:t>
            </a:r>
            <a:endParaRPr lang="en-US" sz="1700" dirty="0"/>
          </a:p>
        </p:txBody>
      </p:sp>
      <p:sp>
        <p:nvSpPr>
          <p:cNvPr id="6" name="Text 3"/>
          <p:cNvSpPr txBox="1"/>
          <p:nvPr/>
        </p:nvSpPr>
        <p:spPr>
          <a:xfrm>
            <a:off x="548640" y="1645920"/>
            <a:ext cx="512064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Built and working</a:t>
            </a:r>
            <a:endParaRPr lang="en-US" sz="1800" dirty="0"/>
          </a:p>
        </p:txBody>
      </p:sp>
      <p:pic>
        <p:nvPicPr>
          <p:cNvPr id="7" name="check" descr="done">    </p:cNvPr>
          <p:cNvPicPr>
            <a:picLocks noChangeAspect="1"/>
          </p:cNvPicPr>
          <p:nvPr/>
        </p:nvPicPr>
        <p:blipFill>
          <a:blip r:embed="rId1"/>
          <a:stretch>
            <a:fillRect/>
          </a:stretch>
        </p:blipFill>
        <p:spPr>
          <a:xfrm>
            <a:off x="548640" y="2176272"/>
            <a:ext cx="292608" cy="292608"/>
          </a:xfrm>
          <a:prstGeom prst="rect">
            <a:avLst/>
          </a:prstGeom>
        </p:spPr>
      </p:pic>
      <p:sp>
        <p:nvSpPr>
          <p:cNvPr id="8" name="Text 4"/>
          <p:cNvSpPr txBox="1"/>
          <p:nvPr/>
        </p:nvSpPr>
        <p:spPr>
          <a:xfrm>
            <a:off x="1005840" y="2148840"/>
            <a:ext cx="4846320" cy="548640"/>
          </a:xfrm>
          <a:prstGeom prst="rect">
            <a:avLst/>
          </a:prstGeom>
          <a:noFill/>
          <a:ln/>
        </p:spPr>
        <p:txBody>
          <a:bodyPr wrap="square" lIns="0" tIns="0" rIns="0" bIns="0" rtlCol="0" anchor="t"/>
          <a:lstStyle/>
          <a:p>
            <a:pPr indent="0" marL="0">
              <a:buNone/>
            </a:pPr>
            <a:r>
              <a:rPr lang="en-US" sz="1400" dirty="0">
                <a:solidFill>
                  <a:schemeClr val="tx1"/>
                </a:solidFill>
              </a:rPr>
              <a:t>End to end: 20 of 20 runs in 35 s (demo shop)</a:t>
            </a:r>
            <a:endParaRPr lang="en-US" sz="1400" dirty="0"/>
          </a:p>
        </p:txBody>
      </p:sp>
      <p:pic>
        <p:nvPicPr>
          <p:cNvPr id="9" name="check" descr="done">    </p:cNvPr>
          <p:cNvPicPr>
            <a:picLocks noChangeAspect="1"/>
          </p:cNvPicPr>
          <p:nvPr/>
        </p:nvPicPr>
        <p:blipFill>
          <a:blip r:embed="rId2"/>
          <a:stretch>
            <a:fillRect/>
          </a:stretch>
        </p:blipFill>
        <p:spPr>
          <a:xfrm>
            <a:off x="548640" y="2816352"/>
            <a:ext cx="292608" cy="292608"/>
          </a:xfrm>
          <a:prstGeom prst="rect">
            <a:avLst/>
          </a:prstGeom>
        </p:spPr>
      </p:pic>
      <p:sp>
        <p:nvSpPr>
          <p:cNvPr id="10" name="Text 5"/>
          <p:cNvSpPr txBox="1"/>
          <p:nvPr/>
        </p:nvSpPr>
        <p:spPr>
          <a:xfrm>
            <a:off x="1005840" y="2788920"/>
            <a:ext cx="4846320" cy="548640"/>
          </a:xfrm>
          <a:prstGeom prst="rect">
            <a:avLst/>
          </a:prstGeom>
          <a:noFill/>
          <a:ln/>
        </p:spPr>
        <p:txBody>
          <a:bodyPr wrap="square" lIns="0" tIns="0" rIns="0" bIns="0" rtlCol="0" anchor="t"/>
          <a:lstStyle/>
          <a:p>
            <a:pPr indent="0" marL="0">
              <a:buNone/>
            </a:pPr>
            <a:r>
              <a:rPr lang="en-US" sz="1400" dirty="0">
                <a:solidFill>
                  <a:schemeClr val="tx1"/>
                </a:solidFill>
              </a:rPr>
              <a:t>All four TinyFish APIs verified live (16 Oct 2026)</a:t>
            </a:r>
            <a:endParaRPr lang="en-US" sz="1400" dirty="0"/>
          </a:p>
        </p:txBody>
      </p:sp>
      <p:pic>
        <p:nvPicPr>
          <p:cNvPr id="11" name="check" descr="done">    </p:cNvPr>
          <p:cNvPicPr>
            <a:picLocks noChangeAspect="1"/>
          </p:cNvPicPr>
          <p:nvPr/>
        </p:nvPicPr>
        <p:blipFill>
          <a:blip r:embed="rId3"/>
          <a:stretch>
            <a:fillRect/>
          </a:stretch>
        </p:blipFill>
        <p:spPr>
          <a:xfrm>
            <a:off x="548640" y="3456432"/>
            <a:ext cx="292608" cy="292608"/>
          </a:xfrm>
          <a:prstGeom prst="rect">
            <a:avLst/>
          </a:prstGeom>
        </p:spPr>
      </p:pic>
      <p:sp>
        <p:nvSpPr>
          <p:cNvPr id="12" name="Text 6"/>
          <p:cNvSpPr txBox="1"/>
          <p:nvPr/>
        </p:nvSpPr>
        <p:spPr>
          <a:xfrm>
            <a:off x="1005840" y="3429000"/>
            <a:ext cx="4846320" cy="548640"/>
          </a:xfrm>
          <a:prstGeom prst="rect">
            <a:avLst/>
          </a:prstGeom>
          <a:noFill/>
          <a:ln/>
        </p:spPr>
        <p:txBody>
          <a:bodyPr wrap="square" lIns="0" tIns="0" rIns="0" bIns="0" rtlCol="0" anchor="t"/>
          <a:lstStyle/>
          <a:p>
            <a:pPr indent="0" marL="0">
              <a:buNone/>
            </a:pPr>
            <a:r>
              <a:rPr lang="en-US" sz="1400" dirty="0">
                <a:solidFill>
                  <a:schemeClr val="tx1"/>
                </a:solidFill>
              </a:rPr>
              <a:t>Real site (Demoblaze): reached payment, no false alarms</a:t>
            </a:r>
            <a:endParaRPr lang="en-US" sz="1400" dirty="0"/>
          </a:p>
        </p:txBody>
      </p:sp>
      <p:pic>
        <p:nvPicPr>
          <p:cNvPr id="13" name="check" descr="done">    </p:cNvPr>
          <p:cNvPicPr>
            <a:picLocks noChangeAspect="1"/>
          </p:cNvPicPr>
          <p:nvPr/>
        </p:nvPicPr>
        <p:blipFill>
          <a:blip r:embed="rId4"/>
          <a:stretch>
            <a:fillRect/>
          </a:stretch>
        </p:blipFill>
        <p:spPr>
          <a:xfrm>
            <a:off x="548640" y="4096512"/>
            <a:ext cx="292608" cy="292608"/>
          </a:xfrm>
          <a:prstGeom prst="rect">
            <a:avLst/>
          </a:prstGeom>
        </p:spPr>
      </p:pic>
      <p:sp>
        <p:nvSpPr>
          <p:cNvPr id="14" name="Text 7"/>
          <p:cNvSpPr txBox="1"/>
          <p:nvPr/>
        </p:nvSpPr>
        <p:spPr>
          <a:xfrm>
            <a:off x="1005840" y="4069080"/>
            <a:ext cx="4846320" cy="548640"/>
          </a:xfrm>
          <a:prstGeom prst="rect">
            <a:avLst/>
          </a:prstGeom>
          <a:noFill/>
          <a:ln/>
        </p:spPr>
        <p:txBody>
          <a:bodyPr wrap="square" lIns="0" tIns="0" rIns="0" bIns="0" rtlCol="0" anchor="t"/>
          <a:lstStyle/>
          <a:p>
            <a:pPr indent="0" marL="0">
              <a:buNone/>
            </a:pPr>
            <a:r>
              <a:rPr lang="en-US" sz="1400" dirty="0">
                <a:solidFill>
                  <a:schemeClr val="tx1"/>
                </a:solidFill>
              </a:rPr>
              <a:t>92 automated tests: ML, flows, guards, auth, TinyFish</a:t>
            </a:r>
            <a:endParaRPr lang="en-US" sz="1400" dirty="0"/>
          </a:p>
        </p:txBody>
      </p:sp>
      <p:pic>
        <p:nvPicPr>
          <p:cNvPr id="15" name="check" descr="done">    </p:cNvPr>
          <p:cNvPicPr>
            <a:picLocks noChangeAspect="1"/>
          </p:cNvPicPr>
          <p:nvPr/>
        </p:nvPicPr>
        <p:blipFill>
          <a:blip r:embed="rId5"/>
          <a:stretch>
            <a:fillRect/>
          </a:stretch>
        </p:blipFill>
        <p:spPr>
          <a:xfrm>
            <a:off x="548640" y="4736592"/>
            <a:ext cx="292608" cy="292608"/>
          </a:xfrm>
          <a:prstGeom prst="rect">
            <a:avLst/>
          </a:prstGeom>
        </p:spPr>
      </p:pic>
      <p:sp>
        <p:nvSpPr>
          <p:cNvPr id="16" name="Text 8"/>
          <p:cNvSpPr txBox="1"/>
          <p:nvPr/>
        </p:nvSpPr>
        <p:spPr>
          <a:xfrm>
            <a:off x="1005840" y="4709160"/>
            <a:ext cx="4846320" cy="548640"/>
          </a:xfrm>
          <a:prstGeom prst="rect">
            <a:avLst/>
          </a:prstGeom>
          <a:noFill/>
          <a:ln/>
        </p:spPr>
        <p:txBody>
          <a:bodyPr wrap="square" lIns="0" tIns="0" rIns="0" bIns="0" rtlCol="0" anchor="t"/>
          <a:lstStyle/>
          <a:p>
            <a:pPr indent="0" marL="0">
              <a:buNone/>
            </a:pPr>
            <a:r>
              <a:rPr lang="en-US" sz="1400" dirty="0">
                <a:solidFill>
                  <a:schemeClr val="tx1"/>
                </a:solidFill>
              </a:rPr>
              <a:t>Classifier on unseen strings: macro-F1 0.89</a:t>
            </a:r>
            <a:endParaRPr lang="en-US" sz="1400" dirty="0"/>
          </a:p>
        </p:txBody>
      </p:sp>
      <p:pic>
        <p:nvPicPr>
          <p:cNvPr id="17" name="check" descr="done">    </p:cNvPr>
          <p:cNvPicPr>
            <a:picLocks noChangeAspect="1"/>
          </p:cNvPicPr>
          <p:nvPr/>
        </p:nvPicPr>
        <p:blipFill>
          <a:blip r:embed="rId6"/>
          <a:stretch>
            <a:fillRect/>
          </a:stretch>
        </p:blipFill>
        <p:spPr>
          <a:xfrm>
            <a:off x="548640" y="5376672"/>
            <a:ext cx="292608" cy="292608"/>
          </a:xfrm>
          <a:prstGeom prst="rect">
            <a:avLst/>
          </a:prstGeom>
        </p:spPr>
      </p:pic>
      <p:sp>
        <p:nvSpPr>
          <p:cNvPr id="18" name="Text 9"/>
          <p:cNvSpPr txBox="1"/>
          <p:nvPr/>
        </p:nvSpPr>
        <p:spPr>
          <a:xfrm>
            <a:off x="1005840" y="5349240"/>
            <a:ext cx="4846320" cy="548640"/>
          </a:xfrm>
          <a:prstGeom prst="rect">
            <a:avLst/>
          </a:prstGeom>
          <a:noFill/>
          <a:ln/>
        </p:spPr>
        <p:txBody>
          <a:bodyPr wrap="square" lIns="0" tIns="0" rIns="0" bIns="0" rtlCol="0" anchor="t"/>
          <a:lstStyle/>
          <a:p>
            <a:pPr indent="0" marL="0">
              <a:buNone/>
            </a:pPr>
            <a:r>
              <a:rPr lang="en-US" sz="1400" dirty="0">
                <a:solidFill>
                  <a:schemeClr val="tx1"/>
                </a:solidFill>
              </a:rPr>
              <a:t>Private accounts, live console, printable report</a:t>
            </a:r>
            <a:endParaRPr lang="en-US" sz="1400" dirty="0"/>
          </a:p>
        </p:txBody>
      </p:sp>
      <p:graphicFrame>
        <p:nvGraphicFramePr>
          <p:cNvPr id="15" name="risk table"/>
          <p:cNvGraphicFramePr>
            <a:graphicFrameLocks noGrp="1"/>
          </p:cNvGraphicFramePr>
          <p:nvPr>
            <p:extLst>
              <p:ext uri="{D42A27DB-BD31-4B8C-83A1-F6EECF244321}">
                <p14:modId xmlns:p14="http://schemas.microsoft.com/office/powerpoint/2010/main" val="1579011935"/>
              </p:ext>
            </p:extLst>
          </p:nvPr>
        </p:nvGraphicFramePr>
        <p:xfrm>
          <a:off x="6172200" y="1645920"/>
          <a:ext cx="5440680" cy="914400"/>
        </p:xfrm>
        <a:graphic>
          <a:graphicData uri="http://schemas.openxmlformats.org/drawingml/2006/table">
            <a:tbl>
              <a:tblPr/>
              <a:tblGrid>
                <a:gridCol w="1600200"/>
                <a:gridCol w="3840480"/>
              </a:tblGrid>
              <a:tr h="603504">
                <a:tc>
                  <a:txBody>
                    <a:bodyPr/>
                    <a:lstStyle/>
                    <a:p>
                      <a:pPr indent="0" marL="0">
                        <a:buNone/>
                      </a:pPr>
                      <a:r>
                        <a:rPr lang="en-US" sz="1300" b="1" dirty="0">
                          <a:solidFill>
                            <a:schemeClr val="bg1"/>
                          </a:solidFill>
                        </a:rPr>
                        <a:t>Risk</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Mitigation</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tx2"/>
                    </a:solidFill>
                  </a:tcPr>
                </a:tc>
              </a:tr>
              <a:tr h="603504">
                <a:tc>
                  <a:txBody>
                    <a:bodyPr/>
                    <a:lstStyle/>
                    <a:p>
                      <a:pPr indent="0" marL="0">
                        <a:buNone/>
                      </a:pPr>
                      <a:r>
                        <a:rPr lang="en-US" sz="1300" b="1" dirty="0">
                          <a:solidFill>
                            <a:schemeClr val="tx1"/>
                          </a:solidFill>
                        </a:rPr>
                        <a:t>Bot protection</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Reported with evidence, never bypassed; standard (not stealth) browsers; own-account session</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603504">
                <a:tc>
                  <a:txBody>
                    <a:bodyPr/>
                    <a:lstStyle/>
                    <a:p>
                      <a:pPr indent="0" marL="0">
                        <a:buNone/>
                      </a:pPr>
                      <a:r>
                        <a:rPr lang="en-US" sz="1300" b="1" dirty="0">
                          <a:solidFill>
                            <a:schemeClr val="tx1"/>
                          </a:solidFill>
                        </a:rPr>
                        <a:t>Login before payment</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Measure up to the furthest price screen; audit your own account</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603504">
                <a:tc>
                  <a:txBody>
                    <a:bodyPr/>
                    <a:lstStyle/>
                    <a:p>
                      <a:pPr indent="0" marL="0">
                        <a:buNone/>
                      </a:pPr>
                      <a:r>
                        <a:rPr lang="en-US" sz="1300" b="1" dirty="0">
                          <a:solidFill>
                            <a:schemeClr val="tx1"/>
                          </a:solidFill>
                        </a:rPr>
                        <a:t>False positives</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Noise floor, Benjamini–Hochberg, 2% minimum gap, random interleaved run order; a person files</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603504">
                <a:tc>
                  <a:txBody>
                    <a:bodyPr/>
                    <a:lstStyle/>
                    <a:p>
                      <a:pPr indent="0" marL="0">
                        <a:buNone/>
                      </a:pPr>
                      <a:r>
                        <a:rPr lang="en-US" sz="1300" b="1" dirty="0">
                          <a:solidFill>
                            <a:schemeClr val="tx1"/>
                          </a:solidFill>
                        </a:rPr>
                        <a:t>Evidence in court</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SHA‑256 hashes reveal tampering; next: trusted timestamps and a Section 63 (BSA 2023) certificate</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603504">
                <a:tc>
                  <a:txBody>
                    <a:bodyPr/>
                    <a:lstStyle/>
                    <a:p>
                      <a:pPr indent="0" marL="0">
                        <a:buNone/>
                      </a:pPr>
                      <a:r>
                        <a:rPr lang="en-US" sz="1300" b="1" dirty="0">
                          <a:solidFill>
                            <a:schemeClr val="tx1"/>
                          </a:solidFill>
                        </a:rPr>
                        <a:t>Legal and ethics</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Allowlisted sites, observe only, never pays, one shopper at a time</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r h="603504">
                <a:tc>
                  <a:txBody>
                    <a:bodyPr/>
                    <a:lstStyle/>
                    <a:p>
                      <a:pPr indent="0" marL="0">
                        <a:buNone/>
                      </a:pPr>
                      <a:r>
                        <a:rPr lang="en-US" sz="1300" b="1" dirty="0">
                          <a:solidFill>
                            <a:schemeClr val="tx1"/>
                          </a:solidFill>
                        </a:rPr>
                        <a:t>Cost</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 open-source; ≈ ₹3.5 per audit on the Browser API (scripted), ≈ ₹440 on the Agent API</a:t>
                      </a:r>
                      <a:endParaRPr lang="en-US" sz="1300" dirty="0"/>
                    </a:p>
                  </a:txBody>
                  <a:tcPr marL="109728" marR="109728" marT="54864" marB="54864" anchor="ctr">
                    <a:lnL w="9525" cap="flat" cmpd="sng" algn="ctr">
                      <a:solidFill>
                        <a:srgbClr val="DDD4BF"/>
                      </a:solidFill>
                      <a:prstDash val="solid"/>
                      <a:round/>
                      <a:headEnd type="none" w="med" len="med"/>
                      <a:tailEnd type="none" w="med" len="med"/>
                    </a:lnL>
                    <a:lnR w="9525" cap="flat" cmpd="sng" algn="ctr">
                      <a:solidFill>
                        <a:srgbClr val="DDD4BF"/>
                      </a:solidFill>
                      <a:prstDash val="solid"/>
                      <a:round/>
                      <a:headEnd type="none" w="med" len="med"/>
                      <a:tailEnd type="none" w="med" len="med"/>
                    </a:lnR>
                    <a:lnT w="9525" cap="flat" cmpd="sng" algn="ctr">
                      <a:solidFill>
                        <a:srgbClr val="DDD4BF"/>
                      </a:solidFill>
                      <a:prstDash val="solid"/>
                      <a:round/>
                      <a:headEnd type="none" w="med" len="med"/>
                      <a:tailEnd type="none" w="med" len="med"/>
                    </a:lnT>
                    <a:lnB w="9525" cap="flat" cmpd="sng" algn="ctr">
                      <a:solidFill>
                        <a:srgbClr val="DDD4B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64240" cy="777240"/>
          </a:xfrm>
          <a:prstGeom prst="rect">
            <a:avLst/>
          </a:prstGeom>
          <a:noFill/>
          <a:ln/>
        </p:spPr>
        <p:txBody>
          <a:bodyPr wrap="square" lIns="0" tIns="0" rIns="0" bIns="0" rtlCol="0" anchor="t"/>
          <a:lstStyle/>
          <a:p>
            <a:pPr algn="l" indent="0" marL="0">
              <a:buNone/>
            </a:pPr>
            <a:r>
              <a:rPr lang="en-US" sz="3000" b="1" dirty="0">
                <a:solidFill>
                  <a:schemeClr val="tx1"/>
                </a:solidFill>
              </a:rPr>
              <a:t>Future Scope</a:t>
            </a:r>
            <a:endParaRPr lang="en-US" sz="3000" dirty="0"/>
          </a:p>
        </p:txBody>
      </p:sp>
      <p:sp>
        <p:nvSpPr>
          <p:cNvPr id="4" name="kicker"/>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400" kern="0" dirty="0">
                <a:solidFill>
                  <a:schemeClr val="accent1"/>
                </a:solidFill>
              </a:rPr>
              <a:t>PARDARSHI  ·  09 / 09</a:t>
            </a:r>
            <a:endParaRPr lang="en-US" sz="1200" dirty="0"/>
          </a:p>
        </p:txBody>
      </p:sp>
      <p:sp>
        <p:nvSpPr>
          <p:cNvPr id="5" name="subtitle"/>
          <p:cNvSpPr txBox="1"/>
          <p:nvPr/>
        </p:nvSpPr>
        <p:spPr>
          <a:xfrm>
            <a:off x="548640" y="1133856"/>
            <a:ext cx="11064240" cy="384048"/>
          </a:xfrm>
          <a:prstGeom prst="rect">
            <a:avLst/>
          </a:prstGeom>
          <a:noFill/>
          <a:ln/>
        </p:spPr>
        <p:txBody>
          <a:bodyPr wrap="square" lIns="0" tIns="0" rIns="0" bIns="0" rtlCol="0" anchor="t"/>
          <a:lstStyle/>
          <a:p>
            <a:pPr indent="0" marL="0">
              <a:buNone/>
            </a:pPr>
            <a:r>
              <a:rPr lang="en-US" sz="1700" i="1" dirty="0">
                <a:solidFill>
                  <a:schemeClr val="accent6"/>
                </a:solidFill>
                <a:latin typeface="Cambria" pitchFamily="34" charset="0"/>
                <a:ea typeface="Cambria" pitchFamily="34" charset="-122"/>
                <a:cs typeface="Cambria" pitchFamily="34" charset="-120"/>
              </a:rPr>
              <a:t>From a hackathon tool to public consumer-protection infrastructure</a:t>
            </a:r>
            <a:endParaRPr lang="en-US" sz="1700" dirty="0"/>
          </a:p>
        </p:txBody>
      </p:sp>
      <p:sp>
        <p:nvSpPr>
          <p:cNvPr id="6" name="roadmap line"/>
          <p:cNvSpPr/>
          <p:nvPr/>
        </p:nvSpPr>
        <p:spPr>
          <a:xfrm>
            <a:off x="548640" y="1938528"/>
            <a:ext cx="9390888" cy="0"/>
          </a:xfrm>
          <a:prstGeom prst="line">
            <a:avLst/>
          </a:prstGeom>
          <a:noFill/>
          <a:ln w="25400">
            <a:solidFill>
              <a:schemeClr val="accent2"/>
            </a:solidFill>
            <a:prstDash val="solid"/>
          </a:ln>
        </p:spPr>
      </p:sp>
      <p:sp>
        <p:nvSpPr>
          <p:cNvPr id="7" name="phase chip"/>
          <p:cNvSpPr/>
          <p:nvPr/>
        </p:nvSpPr>
        <p:spPr>
          <a:xfrm>
            <a:off x="548640" y="1737360"/>
            <a:ext cx="1828800" cy="402336"/>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548640" y="1737360"/>
            <a:ext cx="1828800" cy="402336"/>
          </a:xfrm>
          <a:prstGeom prst="rect">
            <a:avLst/>
          </a:prstGeom>
          <a:noFill/>
          <a:ln/>
        </p:spPr>
        <p:txBody>
          <a:bodyPr wrap="square" lIns="0" tIns="0" rIns="0" bIns="0" rtlCol="0" anchor="ctr"/>
          <a:lstStyle/>
          <a:p>
            <a:pPr algn="ctr" indent="0" marL="0">
              <a:buNone/>
            </a:pPr>
            <a:r>
              <a:rPr lang="en-US" sz="1200" b="1" spc="200" kern="0" dirty="0">
                <a:solidFill>
                  <a:schemeClr val="bg1"/>
                </a:solidFill>
              </a:rPr>
              <a:t>NEXT 3 MONTHS</a:t>
            </a:r>
            <a:endParaRPr lang="en-US" sz="1200" dirty="0"/>
          </a:p>
        </p:txBody>
      </p:sp>
      <p:sp>
        <p:nvSpPr>
          <p:cNvPr id="9" name="card"/>
          <p:cNvSpPr/>
          <p:nvPr/>
        </p:nvSpPr>
        <p:spPr>
          <a:xfrm>
            <a:off x="548640" y="2377440"/>
            <a:ext cx="3504895" cy="3017520"/>
          </a:xfrm>
          <a:prstGeom prst="roundRect">
            <a:avLst>
              <a:gd name="adj" fmla="val 3030"/>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10" name="icon tile"/>
          <p:cNvSpPr/>
          <p:nvPr/>
        </p:nvSpPr>
        <p:spPr>
          <a:xfrm>
            <a:off x="777240" y="2560320"/>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11" name="icon" descr="Handshake">    </p:cNvPr>
          <p:cNvPicPr>
            <a:picLocks noChangeAspect="1"/>
          </p:cNvPicPr>
          <p:nvPr/>
        </p:nvPicPr>
        <p:blipFill>
          <a:blip r:embed="rId1"/>
          <a:stretch>
            <a:fillRect/>
          </a:stretch>
        </p:blipFill>
        <p:spPr>
          <a:xfrm>
            <a:off x="904524" y="2687604"/>
            <a:ext cx="275783" cy="275783"/>
          </a:xfrm>
          <a:prstGeom prst="rect">
            <a:avLst/>
          </a:prstGeom>
        </p:spPr>
      </p:pic>
      <p:sp>
        <p:nvSpPr>
          <p:cNvPr id="12" name="Text 8"/>
          <p:cNvSpPr txBox="1"/>
          <p:nvPr/>
        </p:nvSpPr>
        <p:spPr>
          <a:xfrm>
            <a:off x="1463040" y="2542032"/>
            <a:ext cx="2407615" cy="868680"/>
          </a:xfrm>
          <a:prstGeom prst="rect">
            <a:avLst/>
          </a:prstGeom>
          <a:noFill/>
          <a:ln/>
        </p:spPr>
        <p:txBody>
          <a:bodyPr wrap="square" lIns="0" tIns="0" rIns="0" bIns="0" rtlCol="0" anchor="t"/>
          <a:lstStyle/>
          <a:p>
            <a:pPr indent="0" marL="0">
              <a:buNone/>
            </a:pPr>
            <a:r>
              <a:rPr lang="en-US" sz="1500" dirty="0">
                <a:solidFill>
                  <a:schemeClr val="tx1"/>
                </a:solidFill>
              </a:rPr>
              <a:t>Validate on real Indian sites with consumer NGOs</a:t>
            </a:r>
            <a:endParaRPr lang="en-US" sz="1500" dirty="0"/>
          </a:p>
        </p:txBody>
      </p:sp>
      <p:sp>
        <p:nvSpPr>
          <p:cNvPr id="13" name="icon tile"/>
          <p:cNvSpPr/>
          <p:nvPr/>
        </p:nvSpPr>
        <p:spPr>
          <a:xfrm>
            <a:off x="777240" y="3502152"/>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14" name="icon" descr="LocationDot">    </p:cNvPr>
          <p:cNvPicPr>
            <a:picLocks noChangeAspect="1"/>
          </p:cNvPicPr>
          <p:nvPr/>
        </p:nvPicPr>
        <p:blipFill>
          <a:blip r:embed="rId2"/>
          <a:stretch>
            <a:fillRect/>
          </a:stretch>
        </p:blipFill>
        <p:spPr>
          <a:xfrm>
            <a:off x="904524" y="3629436"/>
            <a:ext cx="275783" cy="275783"/>
          </a:xfrm>
          <a:prstGeom prst="rect">
            <a:avLst/>
          </a:prstGeom>
        </p:spPr>
      </p:pic>
      <p:sp>
        <p:nvSpPr>
          <p:cNvPr id="15" name="Text 10"/>
          <p:cNvSpPr txBox="1"/>
          <p:nvPr/>
        </p:nvSpPr>
        <p:spPr>
          <a:xfrm>
            <a:off x="1463040" y="3483864"/>
            <a:ext cx="2407615" cy="868680"/>
          </a:xfrm>
          <a:prstGeom prst="rect">
            <a:avLst/>
          </a:prstGeom>
          <a:noFill/>
          <a:ln/>
        </p:spPr>
        <p:txBody>
          <a:bodyPr wrap="square" lIns="0" tIns="0" rIns="0" bIns="0" rtlCol="0" anchor="t"/>
          <a:lstStyle/>
          <a:p>
            <a:pPr indent="0" marL="0">
              <a:buNone/>
            </a:pPr>
            <a:r>
              <a:rPr lang="en-US" sz="1500" dirty="0">
                <a:solidFill>
                  <a:schemeClr val="tx1"/>
                </a:solidFill>
              </a:rPr>
              <a:t>India exit nodes for geo-pricing tests</a:t>
            </a:r>
            <a:endParaRPr lang="en-US" sz="1500" dirty="0"/>
          </a:p>
        </p:txBody>
      </p:sp>
      <p:sp>
        <p:nvSpPr>
          <p:cNvPr id="16" name="icon tile"/>
          <p:cNvSpPr/>
          <p:nvPr/>
        </p:nvSpPr>
        <p:spPr>
          <a:xfrm>
            <a:off x="777240" y="4443984"/>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17" name="icon" descr="Language">    </p:cNvPr>
          <p:cNvPicPr>
            <a:picLocks noChangeAspect="1"/>
          </p:cNvPicPr>
          <p:nvPr/>
        </p:nvPicPr>
        <p:blipFill>
          <a:blip r:embed="rId3"/>
          <a:stretch>
            <a:fillRect/>
          </a:stretch>
        </p:blipFill>
        <p:spPr>
          <a:xfrm>
            <a:off x="904524" y="4571268"/>
            <a:ext cx="275783" cy="275783"/>
          </a:xfrm>
          <a:prstGeom prst="rect">
            <a:avLst/>
          </a:prstGeom>
        </p:spPr>
      </p:pic>
      <p:sp>
        <p:nvSpPr>
          <p:cNvPr id="18" name="Text 12"/>
          <p:cNvSpPr txBox="1"/>
          <p:nvPr/>
        </p:nvSpPr>
        <p:spPr>
          <a:xfrm>
            <a:off x="1463040" y="4425696"/>
            <a:ext cx="2407615" cy="868680"/>
          </a:xfrm>
          <a:prstGeom prst="rect">
            <a:avLst/>
          </a:prstGeom>
          <a:noFill/>
          <a:ln/>
        </p:spPr>
        <p:txBody>
          <a:bodyPr wrap="square" lIns="0" tIns="0" rIns="0" bIns="0" rtlCol="0" anchor="t"/>
          <a:lstStyle/>
          <a:p>
            <a:pPr indent="0" marL="0">
              <a:buNone/>
            </a:pPr>
            <a:r>
              <a:rPr lang="en-US" sz="1500" dirty="0">
                <a:solidFill>
                  <a:schemeClr val="tx1"/>
                </a:solidFill>
              </a:rPr>
              <a:t>Hindi and Indic-language copy classifier</a:t>
            </a:r>
            <a:endParaRPr lang="en-US" sz="1500" dirty="0"/>
          </a:p>
        </p:txBody>
      </p:sp>
      <p:sp>
        <p:nvSpPr>
          <p:cNvPr id="19" name="phase chip"/>
          <p:cNvSpPr/>
          <p:nvPr/>
        </p:nvSpPr>
        <p:spPr>
          <a:xfrm>
            <a:off x="4327855" y="1737360"/>
            <a:ext cx="1828800" cy="402336"/>
          </a:xfrm>
          <a:prstGeom prst="roundRect">
            <a:avLst>
              <a:gd name="adj" fmla="val 50000"/>
            </a:avLst>
          </a:prstGeom>
          <a:solidFill>
            <a:schemeClr val="tx2"/>
          </a:solidFill>
          <a:ln w="12700">
            <a:solidFill>
              <a:schemeClr val="tx2"/>
            </a:solidFill>
            <a:prstDash val="solid"/>
          </a:ln>
        </p:spPr>
      </p:sp>
      <p:sp>
        <p:nvSpPr>
          <p:cNvPr id="20" name="Text 14"/>
          <p:cNvSpPr txBox="1"/>
          <p:nvPr/>
        </p:nvSpPr>
        <p:spPr>
          <a:xfrm>
            <a:off x="4327855" y="1737360"/>
            <a:ext cx="1828800" cy="402336"/>
          </a:xfrm>
          <a:prstGeom prst="rect">
            <a:avLst/>
          </a:prstGeom>
          <a:noFill/>
          <a:ln/>
        </p:spPr>
        <p:txBody>
          <a:bodyPr wrap="square" lIns="0" tIns="0" rIns="0" bIns="0" rtlCol="0" anchor="ctr"/>
          <a:lstStyle/>
          <a:p>
            <a:pPr algn="ctr" indent="0" marL="0">
              <a:buNone/>
            </a:pPr>
            <a:r>
              <a:rPr lang="en-US" sz="1200" b="1" spc="200" kern="0" dirty="0">
                <a:solidFill>
                  <a:schemeClr val="bg1"/>
                </a:solidFill>
              </a:rPr>
              <a:t>6 MONTHS</a:t>
            </a:r>
            <a:endParaRPr lang="en-US" sz="1200" dirty="0"/>
          </a:p>
        </p:txBody>
      </p:sp>
      <p:sp>
        <p:nvSpPr>
          <p:cNvPr id="21" name="card"/>
          <p:cNvSpPr/>
          <p:nvPr/>
        </p:nvSpPr>
        <p:spPr>
          <a:xfrm>
            <a:off x="4327855" y="2377440"/>
            <a:ext cx="3504895" cy="3017520"/>
          </a:xfrm>
          <a:prstGeom prst="roundRect">
            <a:avLst>
              <a:gd name="adj" fmla="val 3030"/>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22" name="icon tile"/>
          <p:cNvSpPr/>
          <p:nvPr/>
        </p:nvSpPr>
        <p:spPr>
          <a:xfrm>
            <a:off x="4556455" y="2560320"/>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23" name="icon" descr="PuzzlePiece">    </p:cNvPr>
          <p:cNvPicPr>
            <a:picLocks noChangeAspect="1"/>
          </p:cNvPicPr>
          <p:nvPr/>
        </p:nvPicPr>
        <p:blipFill>
          <a:blip r:embed="rId4"/>
          <a:stretch>
            <a:fillRect/>
          </a:stretch>
        </p:blipFill>
        <p:spPr>
          <a:xfrm>
            <a:off x="4683740" y="2687604"/>
            <a:ext cx="275783" cy="275783"/>
          </a:xfrm>
          <a:prstGeom prst="rect">
            <a:avLst/>
          </a:prstGeom>
        </p:spPr>
      </p:pic>
      <p:sp>
        <p:nvSpPr>
          <p:cNvPr id="24" name="Text 17"/>
          <p:cNvSpPr txBox="1"/>
          <p:nvPr/>
        </p:nvSpPr>
        <p:spPr>
          <a:xfrm>
            <a:off x="5242255" y="2542032"/>
            <a:ext cx="2407615" cy="868680"/>
          </a:xfrm>
          <a:prstGeom prst="rect">
            <a:avLst/>
          </a:prstGeom>
          <a:noFill/>
          <a:ln/>
        </p:spPr>
        <p:txBody>
          <a:bodyPr wrap="square" lIns="0" tIns="0" rIns="0" bIns="0" rtlCol="0" anchor="t"/>
          <a:lstStyle/>
          <a:p>
            <a:pPr indent="0" marL="0">
              <a:buNone/>
            </a:pPr>
            <a:r>
              <a:rPr lang="en-US" sz="1500" dirty="0">
                <a:solidFill>
                  <a:schemeClr val="tx1"/>
                </a:solidFill>
              </a:rPr>
              <a:t>Shopper capture extension: real people, no bot</a:t>
            </a:r>
            <a:endParaRPr lang="en-US" sz="1500" dirty="0"/>
          </a:p>
        </p:txBody>
      </p:sp>
      <p:sp>
        <p:nvSpPr>
          <p:cNvPr id="25" name="icon tile"/>
          <p:cNvSpPr/>
          <p:nvPr/>
        </p:nvSpPr>
        <p:spPr>
          <a:xfrm>
            <a:off x="4556455" y="3502152"/>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26" name="icon" descr="Bell">    </p:cNvPr>
          <p:cNvPicPr>
            <a:picLocks noChangeAspect="1"/>
          </p:cNvPicPr>
          <p:nvPr/>
        </p:nvPicPr>
        <p:blipFill>
          <a:blip r:embed="rId5"/>
          <a:stretch>
            <a:fillRect/>
          </a:stretch>
        </p:blipFill>
        <p:spPr>
          <a:xfrm>
            <a:off x="4683740" y="3629436"/>
            <a:ext cx="275783" cy="275783"/>
          </a:xfrm>
          <a:prstGeom prst="rect">
            <a:avLst/>
          </a:prstGeom>
        </p:spPr>
      </p:pic>
      <p:sp>
        <p:nvSpPr>
          <p:cNvPr id="27" name="Text 19"/>
          <p:cNvSpPr txBox="1"/>
          <p:nvPr/>
        </p:nvSpPr>
        <p:spPr>
          <a:xfrm>
            <a:off x="5242255" y="3483864"/>
            <a:ext cx="2407615" cy="868680"/>
          </a:xfrm>
          <a:prstGeom prst="rect">
            <a:avLst/>
          </a:prstGeom>
          <a:noFill/>
          <a:ln/>
        </p:spPr>
        <p:txBody>
          <a:bodyPr wrap="square" lIns="0" tIns="0" rIns="0" bIns="0" rtlCol="0" anchor="t"/>
          <a:lstStyle/>
          <a:p>
            <a:pPr indent="0" marL="0">
              <a:buNone/>
            </a:pPr>
            <a:r>
              <a:rPr lang="en-US" sz="1500" dirty="0">
                <a:solidFill>
                  <a:schemeClr val="tx1"/>
                </a:solidFill>
              </a:rPr>
              <a:t>Continuous monitoring with alerts</a:t>
            </a:r>
            <a:endParaRPr lang="en-US" sz="1500" dirty="0"/>
          </a:p>
        </p:txBody>
      </p:sp>
      <p:sp>
        <p:nvSpPr>
          <p:cNvPr id="28" name="icon tile"/>
          <p:cNvSpPr/>
          <p:nvPr/>
        </p:nvSpPr>
        <p:spPr>
          <a:xfrm>
            <a:off x="4556455" y="4443984"/>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29" name="icon" descr="ChartPie">    </p:cNvPr>
          <p:cNvPicPr>
            <a:picLocks noChangeAspect="1"/>
          </p:cNvPicPr>
          <p:nvPr/>
        </p:nvPicPr>
        <p:blipFill>
          <a:blip r:embed="rId6"/>
          <a:stretch>
            <a:fillRect/>
          </a:stretch>
        </p:blipFill>
        <p:spPr>
          <a:xfrm>
            <a:off x="4683740" y="4571268"/>
            <a:ext cx="275783" cy="275783"/>
          </a:xfrm>
          <a:prstGeom prst="rect">
            <a:avLst/>
          </a:prstGeom>
        </p:spPr>
      </p:pic>
      <p:sp>
        <p:nvSpPr>
          <p:cNvPr id="30" name="Text 21"/>
          <p:cNvSpPr txBox="1"/>
          <p:nvPr/>
        </p:nvSpPr>
        <p:spPr>
          <a:xfrm>
            <a:off x="5242255" y="4425696"/>
            <a:ext cx="2407615" cy="868680"/>
          </a:xfrm>
          <a:prstGeom prst="rect">
            <a:avLst/>
          </a:prstGeom>
          <a:noFill/>
          <a:ln/>
        </p:spPr>
        <p:txBody>
          <a:bodyPr wrap="square" lIns="0" tIns="0" rIns="0" bIns="0" rtlCol="0" anchor="t"/>
          <a:lstStyle/>
          <a:p>
            <a:pPr indent="0" marL="0">
              <a:buNone/>
            </a:pPr>
            <a:r>
              <a:rPr lang="en-US" sz="1500" dirty="0">
                <a:solidFill>
                  <a:schemeClr val="tx1"/>
                </a:solidFill>
              </a:rPr>
              <a:t>Regulator dashboard across sites</a:t>
            </a:r>
            <a:endParaRPr lang="en-US" sz="1500" dirty="0"/>
          </a:p>
        </p:txBody>
      </p:sp>
      <p:sp>
        <p:nvSpPr>
          <p:cNvPr id="31" name="phase chip"/>
          <p:cNvSpPr/>
          <p:nvPr/>
        </p:nvSpPr>
        <p:spPr>
          <a:xfrm>
            <a:off x="8107070" y="1737360"/>
            <a:ext cx="1828800" cy="402336"/>
          </a:xfrm>
          <a:prstGeom prst="roundRect">
            <a:avLst>
              <a:gd name="adj" fmla="val 50000"/>
            </a:avLst>
          </a:prstGeom>
          <a:solidFill>
            <a:schemeClr val="tx2"/>
          </a:solidFill>
          <a:ln w="12700">
            <a:solidFill>
              <a:schemeClr val="tx2"/>
            </a:solidFill>
            <a:prstDash val="solid"/>
          </a:ln>
        </p:spPr>
      </p:sp>
      <p:sp>
        <p:nvSpPr>
          <p:cNvPr id="32" name="Text 23"/>
          <p:cNvSpPr txBox="1"/>
          <p:nvPr/>
        </p:nvSpPr>
        <p:spPr>
          <a:xfrm>
            <a:off x="8107070" y="1737360"/>
            <a:ext cx="1828800" cy="402336"/>
          </a:xfrm>
          <a:prstGeom prst="rect">
            <a:avLst/>
          </a:prstGeom>
          <a:noFill/>
          <a:ln/>
        </p:spPr>
        <p:txBody>
          <a:bodyPr wrap="square" lIns="0" tIns="0" rIns="0" bIns="0" rtlCol="0" anchor="ctr"/>
          <a:lstStyle/>
          <a:p>
            <a:pPr algn="ctr" indent="0" marL="0">
              <a:buNone/>
            </a:pPr>
            <a:r>
              <a:rPr lang="en-US" sz="1200" b="1" spc="200" kern="0" dirty="0">
                <a:solidFill>
                  <a:schemeClr val="bg1"/>
                </a:solidFill>
              </a:rPr>
              <a:t>12 MONTHS</a:t>
            </a:r>
            <a:endParaRPr lang="en-US" sz="1200" dirty="0"/>
          </a:p>
        </p:txBody>
      </p:sp>
      <p:sp>
        <p:nvSpPr>
          <p:cNvPr id="33" name="card"/>
          <p:cNvSpPr/>
          <p:nvPr/>
        </p:nvSpPr>
        <p:spPr>
          <a:xfrm>
            <a:off x="8107070" y="2377440"/>
            <a:ext cx="3504895" cy="3017520"/>
          </a:xfrm>
          <a:prstGeom prst="roundRect">
            <a:avLst>
              <a:gd name="adj" fmla="val 3030"/>
            </a:avLst>
          </a:prstGeom>
          <a:solidFill>
            <a:schemeClr val="bg2"/>
          </a:solidFill>
          <a:ln w="9525">
            <a:solidFill>
              <a:schemeClr val="bg2"/>
            </a:solidFill>
            <a:prstDash val="solid"/>
          </a:ln>
          <a:effectLst>
            <a:outerShdw sx="100000" sy="100000" kx="0" ky="0" algn="bl" rotWithShape="0" blurRad="127000" dist="25400" dir="5400000">
              <a:srgbClr val="000000">
                <a:alpha val="10000"/>
              </a:srgbClr>
            </a:outerShdw>
          </a:effectLst>
        </p:spPr>
      </p:sp>
      <p:sp>
        <p:nvSpPr>
          <p:cNvPr id="34" name="icon tile"/>
          <p:cNvSpPr/>
          <p:nvPr/>
        </p:nvSpPr>
        <p:spPr>
          <a:xfrm>
            <a:off x="8335670" y="2560320"/>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35" name="icon" descr="Certificate">    </p:cNvPr>
          <p:cNvPicPr>
            <a:picLocks noChangeAspect="1"/>
          </p:cNvPicPr>
          <p:nvPr/>
        </p:nvPicPr>
        <p:blipFill>
          <a:blip r:embed="rId7"/>
          <a:stretch>
            <a:fillRect/>
          </a:stretch>
        </p:blipFill>
        <p:spPr>
          <a:xfrm>
            <a:off x="8462955" y="2687604"/>
            <a:ext cx="275783" cy="275783"/>
          </a:xfrm>
          <a:prstGeom prst="rect">
            <a:avLst/>
          </a:prstGeom>
        </p:spPr>
      </p:pic>
      <p:sp>
        <p:nvSpPr>
          <p:cNvPr id="36" name="Text 26"/>
          <p:cNvSpPr txBox="1"/>
          <p:nvPr/>
        </p:nvSpPr>
        <p:spPr>
          <a:xfrm>
            <a:off x="9021470" y="2542032"/>
            <a:ext cx="2407615" cy="868680"/>
          </a:xfrm>
          <a:prstGeom prst="rect">
            <a:avLst/>
          </a:prstGeom>
          <a:noFill/>
          <a:ln/>
        </p:spPr>
        <p:txBody>
          <a:bodyPr wrap="square" lIns="0" tIns="0" rIns="0" bIns="0" rtlCol="0" anchor="t"/>
          <a:lstStyle/>
          <a:p>
            <a:pPr indent="0" marL="0">
              <a:buNone/>
            </a:pPr>
            <a:r>
              <a:rPr lang="en-US" sz="1500" dirty="0">
                <a:solidFill>
                  <a:schemeClr val="tx1"/>
                </a:solidFill>
              </a:rPr>
              <a:t>Platform allowlisting for independent audits</a:t>
            </a:r>
            <a:endParaRPr lang="en-US" sz="1500" dirty="0"/>
          </a:p>
        </p:txBody>
      </p:sp>
      <p:sp>
        <p:nvSpPr>
          <p:cNvPr id="37" name="icon tile"/>
          <p:cNvSpPr/>
          <p:nvPr/>
        </p:nvSpPr>
        <p:spPr>
          <a:xfrm>
            <a:off x="8335670" y="3502152"/>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38" name="icon" descr="Link">    </p:cNvPr>
          <p:cNvPicPr>
            <a:picLocks noChangeAspect="1"/>
          </p:cNvPicPr>
          <p:nvPr/>
        </p:nvPicPr>
        <p:blipFill>
          <a:blip r:embed="rId8"/>
          <a:stretch>
            <a:fillRect/>
          </a:stretch>
        </p:blipFill>
        <p:spPr>
          <a:xfrm>
            <a:off x="8462955" y="3629436"/>
            <a:ext cx="275783" cy="275783"/>
          </a:xfrm>
          <a:prstGeom prst="rect">
            <a:avLst/>
          </a:prstGeom>
        </p:spPr>
      </p:pic>
      <p:sp>
        <p:nvSpPr>
          <p:cNvPr id="39" name="Text 28"/>
          <p:cNvSpPr txBox="1"/>
          <p:nvPr/>
        </p:nvSpPr>
        <p:spPr>
          <a:xfrm>
            <a:off x="9021470" y="3483864"/>
            <a:ext cx="2407615" cy="868680"/>
          </a:xfrm>
          <a:prstGeom prst="rect">
            <a:avLst/>
          </a:prstGeom>
          <a:noFill/>
          <a:ln/>
        </p:spPr>
        <p:txBody>
          <a:bodyPr wrap="square" lIns="0" tIns="0" rIns="0" bIns="0" rtlCol="0" anchor="t"/>
          <a:lstStyle/>
          <a:p>
            <a:pPr indent="0" marL="0">
              <a:buNone/>
            </a:pPr>
            <a:r>
              <a:rPr lang="en-US" sz="1500" dirty="0">
                <a:solidFill>
                  <a:schemeClr val="tx1"/>
                </a:solidFill>
              </a:rPr>
              <a:t>Filing into NCH's INGRAM complaint portal</a:t>
            </a:r>
            <a:endParaRPr lang="en-US" sz="1500" dirty="0"/>
          </a:p>
        </p:txBody>
      </p:sp>
      <p:sp>
        <p:nvSpPr>
          <p:cNvPr id="40" name="icon tile"/>
          <p:cNvSpPr/>
          <p:nvPr/>
        </p:nvSpPr>
        <p:spPr>
          <a:xfrm>
            <a:off x="8335670" y="4443984"/>
            <a:ext cx="530352" cy="530352"/>
          </a:xfrm>
          <a:prstGeom prst="roundRect">
            <a:avLst>
              <a:gd name="adj" fmla="val 20690"/>
            </a:avLst>
          </a:prstGeom>
          <a:solidFill>
            <a:schemeClr val="accent2">
              <a:alpha val="30000"/>
            </a:schemeClr>
          </a:solidFill>
          <a:ln w="6350">
            <a:solidFill>
              <a:schemeClr val="accent2">
                <a:alpha val="30000"/>
              </a:schemeClr>
            </a:solidFill>
            <a:prstDash val="solid"/>
          </a:ln>
        </p:spPr>
      </p:sp>
      <p:pic>
        <p:nvPicPr>
          <p:cNvPr id="41" name="icon" descr="MobileScreenButton">    </p:cNvPr>
          <p:cNvPicPr>
            <a:picLocks noChangeAspect="1"/>
          </p:cNvPicPr>
          <p:nvPr/>
        </p:nvPicPr>
        <p:blipFill>
          <a:blip r:embed="rId9"/>
          <a:stretch>
            <a:fillRect/>
          </a:stretch>
        </p:blipFill>
        <p:spPr>
          <a:xfrm>
            <a:off x="8462955" y="4571268"/>
            <a:ext cx="275783" cy="275783"/>
          </a:xfrm>
          <a:prstGeom prst="rect">
            <a:avLst/>
          </a:prstGeom>
        </p:spPr>
      </p:pic>
      <p:sp>
        <p:nvSpPr>
          <p:cNvPr id="42" name="Text 30"/>
          <p:cNvSpPr txBox="1"/>
          <p:nvPr/>
        </p:nvSpPr>
        <p:spPr>
          <a:xfrm>
            <a:off x="9021470" y="4425696"/>
            <a:ext cx="2407615" cy="868680"/>
          </a:xfrm>
          <a:prstGeom prst="rect">
            <a:avLst/>
          </a:prstGeom>
          <a:noFill/>
          <a:ln/>
        </p:spPr>
        <p:txBody>
          <a:bodyPr wrap="square" lIns="0" tIns="0" rIns="0" bIns="0" rtlCol="0" anchor="t"/>
          <a:lstStyle/>
          <a:p>
            <a:pPr indent="0" marL="0">
              <a:buNone/>
            </a:pPr>
            <a:r>
              <a:rPr lang="en-US" sz="1500" dirty="0">
                <a:solidFill>
                  <a:schemeClr val="tx1"/>
                </a:solidFill>
              </a:rPr>
              <a:t>Apps and quick-commerce audits</a:t>
            </a:r>
            <a:endParaRPr lang="en-US" sz="1500" dirty="0"/>
          </a:p>
        </p:txBody>
      </p:sp>
      <p:sp>
        <p:nvSpPr>
          <p:cNvPr id="43" name="sustainability"/>
          <p:cNvSpPr/>
          <p:nvPr/>
        </p:nvSpPr>
        <p:spPr>
          <a:xfrm>
            <a:off x="548640" y="5715000"/>
            <a:ext cx="11064240" cy="548640"/>
          </a:xfrm>
          <a:prstGeom prst="roundRect">
            <a:avLst>
              <a:gd name="adj" fmla="val 16667"/>
            </a:avLst>
          </a:prstGeom>
          <a:solidFill>
            <a:schemeClr val="tx2"/>
          </a:solidFill>
          <a:ln w="9525">
            <a:solidFill>
              <a:schemeClr val="tx2"/>
            </a:solidFill>
            <a:prstDash val="solid"/>
          </a:ln>
        </p:spPr>
      </p:sp>
      <p:sp>
        <p:nvSpPr>
          <p:cNvPr id="44" name="Text 32"/>
          <p:cNvSpPr txBox="1"/>
          <p:nvPr/>
        </p:nvSpPr>
        <p:spPr>
          <a:xfrm>
            <a:off x="777240" y="5715000"/>
            <a:ext cx="10698480" cy="548640"/>
          </a:xfrm>
          <a:prstGeom prst="rect">
            <a:avLst/>
          </a:prstGeom>
          <a:noFill/>
          <a:ln/>
        </p:spPr>
        <p:txBody>
          <a:bodyPr wrap="square" lIns="0" tIns="0" rIns="0" bIns="0" rtlCol="0" anchor="ctr"/>
          <a:lstStyle/>
          <a:p>
            <a:pPr indent="0" marL="0">
              <a:buNone/>
            </a:pPr>
            <a:r>
              <a:rPr lang="en-US" sz="1400" b="1" dirty="0">
                <a:solidFill>
                  <a:schemeClr val="accent2"/>
                </a:solidFill>
              </a:rPr>
              <a:t>Sustainability  </a:t>
            </a:r>
            <a:pPr indent="0" marL="0">
              <a:buNone/>
            </a:pPr>
            <a:r>
              <a:rPr lang="en-US" sz="1400" dirty="0">
                <a:solidFill>
                  <a:schemeClr val="bg1"/>
                </a:solidFill>
              </a:rPr>
              <a:t>free for shoppers and consumer NGOs; paid, consented recurring audits for platforms that want to prove compliance.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40080" y="548640"/>
            <a:ext cx="7315200" cy="320040"/>
          </a:xfrm>
          <a:prstGeom prst="rect">
            <a:avLst/>
          </a:prstGeom>
          <a:noFill/>
          <a:ln/>
        </p:spPr>
        <p:txBody>
          <a:bodyPr wrap="square" lIns="0" tIns="0" rIns="0" bIns="0" rtlCol="0" anchor="t"/>
          <a:lstStyle/>
          <a:p>
            <a:pPr indent="0" marL="0">
              <a:buNone/>
            </a:pPr>
            <a:r>
              <a:rPr lang="en-US" sz="1300" b="1" spc="400" kern="0" dirty="0">
                <a:solidFill>
                  <a:schemeClr val="accent2"/>
                </a:solidFill>
              </a:rPr>
              <a:t>TEAM RED-HAT   ·   AZINHACK '26</a:t>
            </a:r>
            <a:endParaRPr lang="en-US" sz="1300" dirty="0"/>
          </a:p>
        </p:txBody>
      </p:sp>
      <p:sp>
        <p:nvSpPr>
          <p:cNvPr id="4" name="Text 1"/>
          <p:cNvSpPr txBox="1"/>
          <p:nvPr/>
        </p:nvSpPr>
        <p:spPr>
          <a:xfrm>
            <a:off x="640080" y="1828800"/>
            <a:ext cx="10881360" cy="1097280"/>
          </a:xfrm>
          <a:prstGeom prst="rect">
            <a:avLst/>
          </a:prstGeom>
          <a:noFill/>
          <a:ln/>
        </p:spPr>
        <p:txBody>
          <a:bodyPr wrap="square" lIns="0" tIns="0" rIns="0" bIns="0" rtlCol="0" anchor="t"/>
          <a:lstStyle/>
          <a:p>
            <a:pPr indent="0" marL="0">
              <a:buNone/>
            </a:pPr>
            <a:r>
              <a:rPr lang="en-US" sz="5400" b="1" dirty="0">
                <a:solidFill>
                  <a:schemeClr val="bg1"/>
                </a:solidFill>
                <a:latin typeface="Cambria" pitchFamily="34" charset="0"/>
                <a:ea typeface="Cambria" pitchFamily="34" charset="-122"/>
                <a:cs typeface="Cambria" pitchFamily="34" charset="-120"/>
              </a:rPr>
              <a:t>Measured, not surveyed</a:t>
            </a:r>
            <a:endParaRPr lang="en-US" sz="5400" dirty="0"/>
          </a:p>
        </p:txBody>
      </p:sp>
      <p:sp>
        <p:nvSpPr>
          <p:cNvPr id="5" name="Text 2"/>
          <p:cNvSpPr txBox="1"/>
          <p:nvPr/>
        </p:nvSpPr>
        <p:spPr>
          <a:xfrm>
            <a:off x="640080" y="3063240"/>
            <a:ext cx="9601200" cy="1005840"/>
          </a:xfrm>
          <a:prstGeom prst="rect">
            <a:avLst/>
          </a:prstGeom>
          <a:noFill/>
          <a:ln/>
        </p:spPr>
        <p:txBody>
          <a:bodyPr wrap="square" lIns="0" tIns="0" rIns="0" bIns="0" rtlCol="0" anchor="t"/>
          <a:lstStyle/>
          <a:p>
            <a:pPr indent="0" marL="0">
              <a:buNone/>
            </a:pPr>
            <a:r>
              <a:rPr lang="en-US" sz="2000" i="1" dirty="0">
                <a:solidFill>
                  <a:schemeClr val="bg2"/>
                </a:solidFill>
                <a:latin typeface="Cambria" pitchFamily="34" charset="0"/>
                <a:ea typeface="Cambria" pitchFamily="34" charset="-122"/>
                <a:cs typeface="Cambria" pitchFamily="34" charset="-120"/>
              </a:rPr>
              <a:t>Pardarshi sends AI shoppers through checkout, stops before paying, and hands consumers and regulators the evidence: the hidden fees, the fake urgency and the personalised prices.</a:t>
            </a:r>
            <a:endParaRPr lang="en-US" sz="2000" dirty="0"/>
          </a:p>
        </p:txBody>
      </p:sp>
      <p:sp>
        <p:nvSpPr>
          <p:cNvPr id="6" name="Text 3"/>
          <p:cNvSpPr txBox="1"/>
          <p:nvPr/>
        </p:nvSpPr>
        <p:spPr>
          <a:xfrm>
            <a:off x="640080" y="4526280"/>
            <a:ext cx="256032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4</a:t>
            </a:r>
            <a:endParaRPr lang="en-US" sz="4000" dirty="0"/>
          </a:p>
        </p:txBody>
      </p:sp>
      <p:sp>
        <p:nvSpPr>
          <p:cNvPr id="7" name="Text 4"/>
          <p:cNvSpPr txBox="1"/>
          <p:nvPr/>
        </p:nvSpPr>
        <p:spPr>
          <a:xfrm>
            <a:off x="640080" y="5212080"/>
            <a:ext cx="2560320" cy="320040"/>
          </a:xfrm>
          <a:prstGeom prst="rect">
            <a:avLst/>
          </a:prstGeom>
          <a:noFill/>
          <a:ln/>
        </p:spPr>
        <p:txBody>
          <a:bodyPr wrap="square" lIns="0" tIns="0" rIns="0" bIns="0" rtlCol="0" anchor="t"/>
          <a:lstStyle/>
          <a:p>
            <a:pPr indent="0" marL="0">
              <a:buNone/>
            </a:pPr>
            <a:r>
              <a:rPr lang="en-US" sz="1400" dirty="0">
                <a:solidFill>
                  <a:schemeClr val="bg1"/>
                </a:solidFill>
              </a:rPr>
              <a:t>TinyFish APIs, verified live</a:t>
            </a:r>
            <a:endParaRPr lang="en-US" sz="1400" dirty="0"/>
          </a:p>
        </p:txBody>
      </p:sp>
      <p:sp>
        <p:nvSpPr>
          <p:cNvPr id="8" name="Text 5"/>
          <p:cNvSpPr txBox="1"/>
          <p:nvPr/>
        </p:nvSpPr>
        <p:spPr>
          <a:xfrm>
            <a:off x="3429000" y="4526280"/>
            <a:ext cx="256032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7</a:t>
            </a:r>
            <a:endParaRPr lang="en-US" sz="4000" dirty="0"/>
          </a:p>
        </p:txBody>
      </p:sp>
      <p:sp>
        <p:nvSpPr>
          <p:cNvPr id="9" name="Text 6"/>
          <p:cNvSpPr txBox="1"/>
          <p:nvPr/>
        </p:nvSpPr>
        <p:spPr>
          <a:xfrm>
            <a:off x="3429000" y="5212080"/>
            <a:ext cx="2560320" cy="320040"/>
          </a:xfrm>
          <a:prstGeom prst="rect">
            <a:avLst/>
          </a:prstGeom>
          <a:noFill/>
          <a:ln/>
        </p:spPr>
        <p:txBody>
          <a:bodyPr wrap="square" lIns="0" tIns="0" rIns="0" bIns="0" rtlCol="0" anchor="t"/>
          <a:lstStyle/>
          <a:p>
            <a:pPr indent="0" marL="0">
              <a:buNone/>
            </a:pPr>
            <a:r>
              <a:rPr lang="en-US" sz="1400" dirty="0">
                <a:solidFill>
                  <a:schemeClr val="bg1"/>
                </a:solidFill>
              </a:rPr>
              <a:t>checks mapped to Indian law</a:t>
            </a:r>
            <a:endParaRPr lang="en-US" sz="1400" dirty="0"/>
          </a:p>
        </p:txBody>
      </p:sp>
      <p:sp>
        <p:nvSpPr>
          <p:cNvPr id="10" name="Text 7"/>
          <p:cNvSpPr txBox="1"/>
          <p:nvPr/>
        </p:nvSpPr>
        <p:spPr>
          <a:xfrm>
            <a:off x="6217920" y="4526280"/>
            <a:ext cx="256032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0.89</a:t>
            </a:r>
            <a:endParaRPr lang="en-US" sz="4000" dirty="0"/>
          </a:p>
        </p:txBody>
      </p:sp>
      <p:sp>
        <p:nvSpPr>
          <p:cNvPr id="11" name="Text 8"/>
          <p:cNvSpPr txBox="1"/>
          <p:nvPr/>
        </p:nvSpPr>
        <p:spPr>
          <a:xfrm>
            <a:off x="6217920" y="5212080"/>
            <a:ext cx="2560320" cy="320040"/>
          </a:xfrm>
          <a:prstGeom prst="rect">
            <a:avLst/>
          </a:prstGeom>
          <a:noFill/>
          <a:ln/>
        </p:spPr>
        <p:txBody>
          <a:bodyPr wrap="square" lIns="0" tIns="0" rIns="0" bIns="0" rtlCol="0" anchor="t"/>
          <a:lstStyle/>
          <a:p>
            <a:pPr indent="0" marL="0">
              <a:buNone/>
            </a:pPr>
            <a:r>
              <a:rPr lang="en-US" sz="1400" dirty="0">
                <a:solidFill>
                  <a:schemeClr val="bg1"/>
                </a:solidFill>
              </a:rPr>
              <a:t>classifier macro-F1, unseen text</a:t>
            </a:r>
            <a:endParaRPr lang="en-US" sz="1400" dirty="0"/>
          </a:p>
        </p:txBody>
      </p:sp>
      <p:sp>
        <p:nvSpPr>
          <p:cNvPr id="12" name="Text 9"/>
          <p:cNvSpPr txBox="1"/>
          <p:nvPr/>
        </p:nvSpPr>
        <p:spPr>
          <a:xfrm>
            <a:off x="9006840" y="4526280"/>
            <a:ext cx="2560320" cy="68580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92</a:t>
            </a:r>
            <a:endParaRPr lang="en-US" sz="4000" dirty="0"/>
          </a:p>
        </p:txBody>
      </p:sp>
      <p:sp>
        <p:nvSpPr>
          <p:cNvPr id="13" name="Text 10"/>
          <p:cNvSpPr txBox="1"/>
          <p:nvPr/>
        </p:nvSpPr>
        <p:spPr>
          <a:xfrm>
            <a:off x="9006840" y="5212080"/>
            <a:ext cx="2560320" cy="320040"/>
          </a:xfrm>
          <a:prstGeom prst="rect">
            <a:avLst/>
          </a:prstGeom>
          <a:noFill/>
          <a:ln/>
        </p:spPr>
        <p:txBody>
          <a:bodyPr wrap="square" lIns="0" tIns="0" rIns="0" bIns="0" rtlCol="0" anchor="t"/>
          <a:lstStyle/>
          <a:p>
            <a:pPr indent="0" marL="0">
              <a:buNone/>
            </a:pPr>
            <a:r>
              <a:rPr lang="en-US" sz="1400" dirty="0">
                <a:solidFill>
                  <a:schemeClr val="bg1"/>
                </a:solidFill>
              </a:rPr>
              <a:t>automated tests</a:t>
            </a:r>
            <a:endParaRPr lang="en-US" sz="1400" dirty="0"/>
          </a:p>
        </p:txBody>
      </p:sp>
      <p:sp>
        <p:nvSpPr>
          <p:cNvPr id="14" name="Text 11"/>
          <p:cNvSpPr txBox="1"/>
          <p:nvPr/>
        </p:nvSpPr>
        <p:spPr>
          <a:xfrm>
            <a:off x="640080" y="5989320"/>
            <a:ext cx="54864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Thank you  </a:t>
            </a:r>
            <a:pPr indent="0" marL="0">
              <a:buNone/>
            </a:pPr>
            <a:r>
              <a:rPr lang="en-US" sz="2000" b="1" dirty="0">
                <a:solidFill>
                  <a:schemeClr val="accent2"/>
                </a:solidFill>
                <a:latin typeface="Nirmala UI" pitchFamily="34" charset="0"/>
                <a:ea typeface="Nirmala UI" pitchFamily="34" charset="-122"/>
                <a:cs typeface="Nirmala UI" pitchFamily="34" charset="-120"/>
              </a:rPr>
              <a:t>पारदर्शी</a:t>
            </a:r>
            <a:endParaRPr lang="en-US" sz="1400" dirty="0"/>
          </a:p>
        </p:txBody>
      </p:sp>
    </p:spTree>
  </p:cSld>
  <p:clrMapOvr>
    <a:masterClrMapping/>
  </p:clrMapOvr>
</p:sld>
</file>

<file path=ppt/theme/theme1.xml><?xml version="1.0" encoding="utf-8"?>
<a:theme xmlns:a="http://schemas.openxmlformats.org/drawingml/2006/main" name="Pardarshi">
  <a:themeElements>
    <a:clrScheme name="Pardarshi">
      <a:dk1>
        <a:srgbClr val="15171F"/>
      </a:dk1>
      <a:lt1>
        <a:srgbClr val="FFFFFF"/>
      </a:lt1>
      <a:dk2>
        <a:srgbClr val="121530"/>
      </a:dk2>
      <a:lt2>
        <a:srgbClr val="F5F1E8"/>
      </a:lt2>
      <a:accent1>
        <a:srgbClr val="27358F"/>
      </a:accent1>
      <a:accent2>
        <a:srgbClr val="F0B429"/>
      </a:accent2>
      <a:accent3>
        <a:srgbClr val="D03B3B"/>
      </a:accent3>
      <a:accent4>
        <a:srgbClr val="1B8A6B"/>
      </a:accent4>
      <a:accent5>
        <a:srgbClr val="EC835A"/>
      </a:accent5>
      <a:accent6>
        <a:srgbClr val="6C6759"/>
      </a:accent6>
      <a:hlink>
        <a:srgbClr val="27358F"/>
      </a:hlink>
      <a:folHlink>
        <a:srgbClr val="6250D6"/>
      </a:folHlink>
    </a:clrScheme>
    <a:fontScheme name="Pardarsh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Team RED-HAT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Pardarshi: an active consumer-protection auditor</dc:title>
  <dc:subject>AZINHACK '26 submission</dc:subject>
  <dc:creator>Team RED-HAT</dc:creator>
  <cp:lastModifiedBy>Team RED-HAT</cp:lastModifiedBy>
  <cp:revision>1</cp:revision>
  <dcterms:created xsi:type="dcterms:W3CDTF">2026-10-16T08:53:51Z</dcterms:created>
  <dcterms:modified xsi:type="dcterms:W3CDTF">2026-10-16T08:53:51Z</dcterms:modified>
</cp:coreProperties>
</file>