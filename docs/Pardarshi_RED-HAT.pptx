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charts/chart1.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c2b04958-341d-ef29-7515-364556290f74}">
          <p14:sldIdLst>
            <p14:sldId id="256"/>
          </p14:sldIdLst>
        </p14:section>
        <p14:section name="At a Glance" id="{d7199a4d-480e-bcc9-c21c-93ecfa459de0}">
          <p14:sldIdLst>
            <p14:sldId id="257"/>
          </p14:sldIdLst>
        </p14:section>
        <p14:section name="Problem Statement" id="{a97d58ca-7cea-057e-8fce-728d796c3da5}">
          <p14:sldIdLst>
            <p14:sldId id="258"/>
          </p14:sldIdLst>
        </p14:section>
        <p14:section name="Proposed Solution" id="{1267f5df-ba38-aedf-5c72-2571eb4b9b2e}">
          <p14:sldIdLst>
            <p14:sldId id="259"/>
            <p14:sldId id="260"/>
            <p14:sldId id="261"/>
          </p14:sldIdLst>
        </p14:section>
        <p14:section name="Target Users and Use Case" id="{da35d7e2-fe5f-754c-001f-4abd07d24a26}">
          <p14:sldIdLst>
            <p14:sldId id="262"/>
          </p14:sldIdLst>
        </p14:section>
        <p14:section name="Role of Machine Learning and AI" id="{3a071ead-d281-16aa-5c06-a500f54b0f54}">
          <p14:sldIdLst>
            <p14:sldId id="263"/>
            <p14:sldId id="264"/>
          </p14:sldIdLst>
        </p14:section>
        <p14:section name="Proposed Technical Approach" id="{0e534c04-c22c-9535-62d6-ebe988726ce3}">
          <p14:sldIdLst>
            <p14:sldId id="265"/>
            <p14:sldId id="266"/>
          </p14:sldIdLst>
        </p14:section>
        <p14:section name="Real-World Validation" id="{5199bcc4-e55a-473c-ecf7-dac18337e201}">
          <p14:sldIdLst>
            <p14:sldId id="267"/>
          </p14:sldIdLst>
        </p14:section>
        <p14:section name="Proposed TinyFish Integration" id="{67adfbf2-9c80-d80f-629f-3f9eed37a224}">
          <p14:sldIdLst>
            <p14:sldId id="268"/>
            <p14:sldId id="269"/>
          </p14:sldIdLst>
        </p14:section>
        <p14:section name="Expected Impact" id="{9f320038-6834-8b5d-4c1f-e93caadfbbaf}">
          <p14:sldIdLst>
            <p14:sldId id="270"/>
          </p14:sldIdLst>
        </p14:section>
        <p14:section name="Feasibility" id="{fe110139-d48c-458f-9d8d-771ced863774}">
          <p14:sldIdLst>
            <p14:sldId id="271"/>
          </p14:sldIdLst>
        </p14:section>
        <p14:section name="Future Scope" id="{6e6f3cc9-57b8-954c-9926-c2ab93eb613c}">
          <p14:sldIdLst>
            <p14:sldId id="272"/>
          </p14:sldIdLst>
        </p14:section>
        <p14:section name="Closing" id="{6621d356-6c25-deb6-8c95-0226045c057e}">
          <p14:sldIdLst>
            <p14:sldId id="273"/>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chemeClr val="tx1"/>
                </a:solidFill>
                <a:latin typeface="+mn-lt"/>
              </a:defRPr>
            </a:pPr>
            <a:r>
              <a:rPr sz="1300" b="0" i="0" u="none" strike="noStrike">
                <a:solidFill>
                  <a:schemeClr val="tx1"/>
                </a:solidFill>
                <a:latin typeface="+mn-lt"/>
              </a:rPr>
              <a:t>Classifier F1 by class  ·  72 unseen strings</a:t>
            </a:r>
          </a:p>
        </c:rich>
      </c:tx>
      <c:layout/>
      <c:overlay val="0"/>
    </c:title>
    <c:autoTitleDeleted val="0"/>
    <c:plotArea>
      <c:layout/>
      <c:barChart>
        <c:barDir val="bar"/>
        <c:grouping val="clustered"/>
        <c:varyColors val="0"/>
        <c:ser>
          <c:idx val="0"/>
          <c:order val="0"/>
          <c:tx>
            <c:strRef>
              <c:f>Sheet1!$B$1</c:f>
              <c:strCache>
                <c:ptCount val="1"/>
                <c:pt idx="0">
                  <c:v>F1</c:v>
                </c:pt>
              </c:strCache>
            </c:strRef>
          </c:tx>
          <c:spPr>
            <a:solidFill>
              <a:schemeClr val="accent1"/>
            </a:solidFill>
            <a:effectLst/>
          </c:spPr>
          <c:invertIfNegative val="0"/>
          <c:dLbls>
            <c:numFmt formatCode="0.00" sourceLinked="0"/>
            <c:txPr>
              <a:bodyPr/>
              <a:lstStyle/>
              <a:p>
                <a:pPr>
                  <a:defRPr b="0" i="0" strike="noStrike" sz="1100" u="none">
                    <a:solidFill>
                      <a:schemeClr val="tx1"/>
                    </a:solidFill>
                    <a:latin typeface="+mn-lt"/>
                  </a:defRPr>
                </a:pPr>
              </a:p>
            </c:txPr>
            <c:showLegendKey val="0"/>
            <c:showVal val="1"/>
            <c:showCatName val="0"/>
            <c:showSerName val="0"/>
            <c:showPercent val="0"/>
            <c:showBubbleSize val="0"/>
            <c:showLeaderLines val="0"/>
          </c:dLbls>
          <c:cat>
            <c:multiLvlStrRef>
              <c:f>Sheet1!$A$2:$A$10</c:f>
              <c:multiLvlStrCache>
                <c:ptCount val="9"/>
                <c:lvl>
                  <c:pt idx="0">
                    <c:v>No dark pattern (n=12)</c:v>
                  </c:pt>
                  <c:pt idx="1">
                    <c:v>False urgency (n=8)</c:v>
                  </c:pt>
                  <c:pt idx="2">
                    <c:v>Nagging (n=6)</c:v>
                  </c:pt>
                  <c:pt idx="3">
                    <c:v>Confirm-shaming (n=8)</c:v>
                  </c:pt>
                  <c:pt idx="4">
                    <c:v>Scarcity (n=8)</c:v>
                  </c:pt>
                  <c:pt idx="5">
                    <c:v>Subscription trap (n=7)</c:v>
                  </c:pt>
                  <c:pt idx="6">
                    <c:v>Fake popularity (n=7)</c:v>
                  </c:pt>
                  <c:pt idx="7">
                    <c:v>Pre‑ticked add-on (n=8)</c:v>
                  </c:pt>
                  <c:pt idx="8">
                    <c:v>Forced action (n=8)</c:v>
                  </c:pt>
                </c:lvl>
              </c:multiLvlStrCache>
            </c:multiLvlStrRef>
          </c:cat>
          <c:val>
            <c:numRef>
              <c:f>Sheet1!$B$2:$B$10</c:f>
              <c:numCache>
                <c:formatCode>General</c:formatCode>
                <c:ptCount val="9"/>
                <c:pt idx="0">
                  <c:v>0.75</c:v>
                </c:pt>
                <c:pt idx="1">
                  <c:v>0.769</c:v>
                </c:pt>
                <c:pt idx="2">
                  <c:v>0.8</c:v>
                </c:pt>
                <c:pt idx="3">
                  <c:v>0.857</c:v>
                </c:pt>
                <c:pt idx="4">
                  <c:v>0.875</c:v>
                </c:pt>
                <c:pt idx="5">
                  <c:v>0.923</c:v>
                </c:pt>
                <c:pt idx="6">
                  <c:v>1</c:v>
                </c:pt>
                <c:pt idx="7">
                  <c:v>1</c:v>
                </c:pt>
                <c:pt idx="8">
                  <c:v>1</c:v>
                </c:pt>
              </c:numCache>
            </c:numRef>
          </c:val>
        </c:ser>
        <c:dLbls>
          <c:numFmt formatCode="0.00" sourceLinked="0"/>
          <c:txPr>
            <a:bodyPr/>
            <a:lstStyle/>
            <a:p>
              <a:pPr>
                <a:defRPr b="0" i="0" strike="noStrike" sz="1100" u="none">
                  <a:solidFill>
                    <a:schemeClr val="tx1"/>
                  </a:solidFill>
                  <a:latin typeface="+mn-lt"/>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00" b="0" i="0" u="none" strike="noStrike">
                <a:solidFill>
                  <a:schemeClr val="tx1"/>
                </a:solidFill>
                <a:latin typeface="+mn-lt"/>
              </a:defRPr>
            </a:pPr>
            <a:endParaRPr lang="en-US"/>
          </a:p>
        </c:txPr>
        <c:crossAx val="2094734552"/>
        <c:crosses val="autoZero"/>
        <c:auto val="1"/>
        <c:lblAlgn val="ctr"/>
        <c:noMultiLvlLbl val="1"/>
      </c:catAx>
      <c:valAx>
        <c:axId val="2094734552"/>
        <c:scaling>
          <c:orientation val="minMax"/>
          <c:max val="1.15"/>
          <c:min val="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Pardarshi (Hindi for 'transparent'). AI shopper agents go through a shop's checkout like real people, stop before paying, and measure hidden fees, fake urgency and personalised prices. Built and tested: on our ground-truth demo shop the price rose from Rs 1,006 to Rs 1,324 (+32%) between the first screen and payment. On real Indian sites, agents completed checkouts on bummer.in and fardaclothing.com. Team RED-HAT, AZINHACK '26. Demo video: https://youtu.be/xR9-eA1mp7o. Code: https://github.com/mathurojus/Pardarshi.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One-slide summary for the reviewer: each judging section, the answer in one line, and where the evidence is in this deck.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price a shopper sees first is not the price they pay. Fees, pre-ticked add-ons and fake urgency appear late in checkout; personalised prices are invisible to a single shopper; compliance is self-declared. Sources: Datum Intelligence (June 2026), LocalCircles (Oct 2025), National Consumer Helpline data FY2024-25, CCPA advisory of 5 June 2025.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steps. Agents shop as different people, stop before payment, record everything; ML and statistics turn the captures into findings with confidence. Output: a 0-100 trust score, a findings report with SHA-256 evidence hashes, and a draft complaint for the National Consumer Helpline.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checks map to named dark patterns in the CCPA Guidelines for Prevention and Regulation of Dark Patterns, 2023; personalised pricing and policy contradictions rest on the Consumer Protection Act 2019 (unfair trade practice, misleading advertisement).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Research (Hannak et al. 2014 on price discrimination; Mathur et al. 2019 on dark patterns at scale) proved these practices can be measured, as one-off studies. Detectors flag patterns on the page you are on. Pardarshi turns the measurement into a repeatable, per-site audit with statistics and output mapped to Indian law and the NCH complaint process.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Primary user: the consumer-rights investigator or journalist who proves dark patterns by hand today. Secondary: platform compliance teams under the CCPA self-audit advisory. Beneficiaries: shoppers and regulators.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classifier is scored on 72 human-written strings never seen in training (near-duplicates of training text removed). Per-class n is small, so these are early numbers. The pricing test interleaves runs in random rounds so price drift over time cannot pose as personalisation.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Gemini drives the shopper agent one action at a time on unscripted sites, checks policies against measurements, and powers the audit assistant. Google ADK is the orchestrator agent. On browser lanes the safety rules are code; on TinyFish's Agent API the rule is in the goal and the cloud browser holds no account, address or card, so it cannot pay.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Architecture: the console starts an audit; the orchestrator builds the shopper matrix and pins one product; TinyFish or the open-source Playwright lane drives the browsers; every screen is captured; analysis produces findings; outputs are the score, the findings report and the complaint. Real sites run as Indian shoppers (en-IN, Asia/Kolkata), one at a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three screens come from one audit of our ground-truth demo shop, 20 of 20 runs. Left: the console with the score, the product check and the key measurements. Right: the evidence strip from one real run, and the printable findings report.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Tested on live Indian shops on 16 Oct 2026, as Indian shoppers (en-IN, Asia/Kolkata), open-source lane, one shopper at a time, never paying. bummer.in: reached the payment screen as an Indian shopper, product pinned (Modal Stretch Trunks, ₹599); The agent reached payment without paying. fardaclothing.com: The agent reached payment without paying. TinyFish Agent API on bummer.in: The Agent API walked product, cart and checkout in 13 steps, stopped at payment without paying, and priced Modal Stretch Trunks at ₹599 (₹28.52 tax included) for $0.21 of credit. Of 30 Indian sites probed, 8 large platforms blocked automated browsers at the door; those blocks are reported as evidence, never bypassed.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TinyFish is the production browser layer. Browser API: a cloud browser per shopper run with a country proxy, driven over CDP by our flows. Agent API: goal plus typed output_schema for unscripted sites. Fetch API: policy pages as markdown. Search API: peer sites. Verified live: Browser API session with a German exit IP; Agent API on the real Indian shop bummer.in: The Agent API walked product, cart and checkout in 13 steps, stopped at payment without paying, and priced Modal Stretch Trunks at ₹599 (₹28.52 tax included) for $0.21 of credit. No India exit node yet.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shopper run: pick a persona, open a TinyFish session in that country, become that shopper via CDP or hand the goal to the Agent API, walk the product to checkout, stop safely, and hand back typed JSON plus screenshots. The JSON shown is the real Agent API output from bummer.in, abridged.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shifts: one shopper's view to many profiles; suspicion to statistics; complaint to case file; self-declaration to an independent check. Pilot goal: 2 consumer NGOs, 50 Indian sites in 3 months on the TinyFish Agent API, about Rs 440 per audit, roughly Rs 22,000 in 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Everything on the left exists and runs. The right side is the honest risk list with the mitigation for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Next three months: pilots with consumer NGOs, India exit nodes, Indic-language classifier. Six months: a capture extension so real shoppers add evidence with no bot; monitoring; regulator dashboard. Twelve months: platform allowlisting under CCPA, NCH filing, app audits.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Pardarshi turns a shopper's suspicion into measured evidence, on a ground-truth shop and on live Indian sites. Code: https://github.com/mathurojus/Pardarshi. Team RED-HAT.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image" Target="../media/image-1002-2.png"/><Relationship Id="rId3"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image" Target="../media/image-1003-2.png"/><Relationship Id="rId3"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image" Target="../media/image-1004-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IGHT">
    <p:bg>
      <p:bgPr>
        <a:solidFill>
          <a:schemeClr val="bg1"/>
        </a:solidFill>
      </p:bgPr>
    </p:bg>
    <p:spTree>
      <p:nvGrpSpPr>
        <p:cNvPr id="1" name=""/>
        <p:cNvGrpSpPr/>
        <p:nvPr/>
      </p:nvGrpSpPr>
      <p:grpSpPr>
        <a:xfrm>
          <a:off x="0" y="0"/>
          <a:ext cx="0" cy="0"/>
          <a:chOff x="0" y="0"/>
          <a:chExt cx="0" cy="0"/>
        </a:xfrm>
      </p:grpSpPr>
      <p:pic>
        <p:nvPicPr>
          <p:cNvPr id="2" name="Image 0" descr="decorative halftone border">    </p:cNvPr>
          <p:cNvPicPr>
            <a:picLocks noChangeAspect="1"/>
          </p:cNvPicPr>
          <p:nvPr/>
        </p:nvPicPr>
        <p:blipFill>
          <a:blip r:embed="rId1"/>
          <a:stretch>
            <a:fillRect/>
          </a:stretch>
        </p:blipFill>
        <p:spPr>
          <a:xfrm>
            <a:off x="0" y="0"/>
            <a:ext cx="12191695" cy="6858000"/>
          </a:xfrm>
          <a:prstGeom prst="rect">
            <a:avLst/>
          </a:prstGeom>
        </p:spPr>
      </p:pic>
      <p:sp>
        <p:nvSpPr>
          <p:cNvPr id="3" name="Shape 0"/>
          <p:cNvSpPr/>
          <p:nvPr/>
        </p:nvSpPr>
        <p:spPr>
          <a:xfrm>
            <a:off x="5852160" y="429768"/>
            <a:ext cx="4434840" cy="0"/>
          </a:xfrm>
          <a:prstGeom prst="line">
            <a:avLst/>
          </a:prstGeom>
          <a:noFill/>
          <a:ln w="15875">
            <a:solidFill>
              <a:schemeClr val="tx2"/>
            </a:solidFill>
            <a:prstDash val="solid"/>
          </a:ln>
        </p:spPr>
      </p:sp>
      <p:pic>
        <p:nvPicPr>
          <p:cNvPr id="4" name="Image 1" descr="Pardarshi logo">    </p:cNvPr>
          <p:cNvPicPr>
            <a:picLocks noChangeAspect="1"/>
          </p:cNvPicPr>
          <p:nvPr/>
        </p:nvPicPr>
        <p:blipFill>
          <a:blip r:embed="rId2"/>
          <a:stretch>
            <a:fillRect/>
          </a:stretch>
        </p:blipFill>
        <p:spPr>
          <a:xfrm>
            <a:off x="11155680" y="274320"/>
            <a:ext cx="475488" cy="475488"/>
          </a:xfrm>
          <a:prstGeom prst="rect">
            <a:avLst/>
          </a:prstGeom>
        </p:spPr>
      </p:pic>
      <p:sp>
        <p:nvSpPr>
          <p:cNvPr id="5" name="Text 1"/>
          <p:cNvSpPr txBox="1"/>
          <p:nvPr/>
        </p:nvSpPr>
        <p:spPr>
          <a:xfrm>
            <a:off x="548640" y="6419088"/>
            <a:ext cx="7315200" cy="256032"/>
          </a:xfrm>
          <a:prstGeom prst="rect">
            <a:avLst/>
          </a:prstGeom>
          <a:noFill/>
          <a:ln/>
        </p:spPr>
        <p:txBody>
          <a:bodyPr wrap="square" lIns="0" tIns="0" rIns="0" bIns="0" rtlCol="0" anchor="ctr"/>
          <a:lstStyle/>
          <a:p>
            <a:pPr indent="0" marL="0">
              <a:buNone/>
            </a:pPr>
            <a:r>
              <a:rPr lang="en-US" sz="1000" dirty="0">
                <a:solidFill>
                  <a:schemeClr val="accent6"/>
                </a:solidFill>
              </a:rPr>
              <a:t>Pardarshi  ·  Team RED-HAT  ·  AZINHACK '26</a:t>
            </a:r>
            <a:endParaRPr lang="en-US" sz="1000" dirty="0"/>
          </a:p>
        </p:txBody>
      </p:sp>
      <p:sp>
        <p:nvSpPr>
          <p:cNvPr id="6" name="Text 2"/>
          <p:cNvSpPr/>
          <p:nvPr>
            <p:ph idx="104" type="title" hasCustomPrompt="1"/>
          </p:nvPr>
        </p:nvSpPr>
        <p:spPr>
          <a:xfrm>
            <a:off x="548640" y="603504"/>
            <a:ext cx="10332720" cy="603504"/>
          </a:xfrm>
          <a:prstGeom prst="rect">
            <a:avLst/>
          </a:prstGeom>
          <a:noFill/>
          <a:ln/>
        </p:spPr>
        <p:txBody>
          <a:bodyPr wrap="square" rtlCol="0"/>
          <a:lstStyle>
            <a:lvl1pPr algn="l" indent="0" marL="0">
              <a:buNone/>
              <a:defRPr lang="en-US" sz="3200" spc="100" kern="0" dirty="0">
                <a:solidFill>
                  <a:schemeClr val="tx2"/>
                </a:solidFill>
                <a:latin typeface="Impact" pitchFamily="34" charset="0"/>
                <a:ea typeface="Impact" pitchFamily="34" charset="-122"/>
                <a:cs typeface="Impact" pitchFamily="34" charset="-120"/>
              </a:defRPr>
            </a:lvl1pPr>
          </a:lstStyle>
          <a:p>
            <a:pPr algn="l" indent="0" marL="0">
              <a:buNone/>
            </a:pPr>
            <a:endParaRPr lang="en-US" sz="3200" dirty="0"/>
          </a:p>
        </p:txBody>
      </p:sp>
      <p:sp>
        <p:nvSpPr>
          <p:cNvPr id="25" name="Slide Number Placeholder 0"/>
          <p:cNvSpPr>
            <a:spLocks noGrp="1"/>
          </p:cNvSpPr>
          <p:nvPr>
            <p:ph type="sldNum" sz="quarter" idx="4294967295"/>
          </p:nvPr>
        </p:nvSpPr>
        <p:spPr>
          <a:xfrm>
            <a:off x="10424160" y="274320"/>
            <a:ext cx="594360" cy="365760"/>
          </a:xfrm>
          <a:prstGeom prst="rect">
            <a:avLst/>
          </a:prstGeom>
          <a:extLst>
            <a:ext uri="{C572A759-6A51-4108-AA02-DFA0A04FC94B}">
              <ma14:wrappingTextBoxFlag xmlns:ma14="http://schemas.microsoft.com/office/mac/drawingml/2011/main" val="0"/>
            </a:ext>
          </a:extLst>
        </p:spPr>
        <p:txBody>
          <a:bodyPr/>
          <a:lstStyle>
            <a:lvl1pPr>
              <a:defRPr sz="2000">
                <a:solidFill>
                  <a:schemeClr val="tx2"/>
                </a:solidFill>
                <a:latin typeface="Impact"/>
                <a:ea typeface="Impact"/>
                <a:cs typeface="Impact"/>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p:bg>
      <p:bgPr>
        <a:solidFill>
          <a:schemeClr val="tx2"/>
        </a:solidFill>
      </p:bgPr>
    </p:bg>
    <p:spTree>
      <p:nvGrpSpPr>
        <p:cNvPr id="1" name=""/>
        <p:cNvGrpSpPr/>
        <p:nvPr/>
      </p:nvGrpSpPr>
      <p:grpSpPr>
        <a:xfrm>
          <a:off x="0" y="0"/>
          <a:ext cx="0" cy="0"/>
          <a:chOff x="0" y="0"/>
          <a:chExt cx="0" cy="0"/>
        </a:xfrm>
      </p:grpSpPr>
      <p:pic>
        <p:nvPicPr>
          <p:cNvPr id="2" name="Image 0" descr="decorative halftone border">    </p:cNvPr>
          <p:cNvPicPr>
            <a:picLocks noChangeAspect="1"/>
          </p:cNvPicPr>
          <p:nvPr/>
        </p:nvPicPr>
        <p:blipFill>
          <a:blip r:embed="rId1"/>
          <a:stretch>
            <a:fillRect/>
          </a:stretch>
        </p:blipFill>
        <p:spPr>
          <a:xfrm>
            <a:off x="0" y="0"/>
            <a:ext cx="12191695" cy="6858000"/>
          </a:xfrm>
          <a:prstGeom prst="rect">
            <a:avLst/>
          </a:prstGeom>
        </p:spPr>
      </p:pic>
      <p:sp>
        <p:nvSpPr>
          <p:cNvPr id="3" name="Shape 0"/>
          <p:cNvSpPr/>
          <p:nvPr/>
        </p:nvSpPr>
        <p:spPr>
          <a:xfrm>
            <a:off x="5852160" y="429768"/>
            <a:ext cx="4434840" cy="0"/>
          </a:xfrm>
          <a:prstGeom prst="line">
            <a:avLst/>
          </a:prstGeom>
          <a:noFill/>
          <a:ln w="15875">
            <a:solidFill>
              <a:schemeClr val="accent2"/>
            </a:solidFill>
            <a:prstDash val="solid"/>
          </a:ln>
        </p:spPr>
      </p:sp>
      <p:pic>
        <p:nvPicPr>
          <p:cNvPr id="4" name="Image 1" descr="Pardarshi logo">    </p:cNvPr>
          <p:cNvPicPr>
            <a:picLocks noChangeAspect="1"/>
          </p:cNvPicPr>
          <p:nvPr/>
        </p:nvPicPr>
        <p:blipFill>
          <a:blip r:embed="rId2"/>
          <a:stretch>
            <a:fillRect/>
          </a:stretch>
        </p:blipFill>
        <p:spPr>
          <a:xfrm>
            <a:off x="11155680" y="274320"/>
            <a:ext cx="475488" cy="475488"/>
          </a:xfrm>
          <a:prstGeom prst="rect">
            <a:avLst/>
          </a:prstGeom>
        </p:spPr>
      </p:pic>
      <p:sp>
        <p:nvSpPr>
          <p:cNvPr id="5" name="Text 1"/>
          <p:cNvSpPr txBox="1"/>
          <p:nvPr/>
        </p:nvSpPr>
        <p:spPr>
          <a:xfrm>
            <a:off x="548640" y="6419088"/>
            <a:ext cx="7315200" cy="256032"/>
          </a:xfrm>
          <a:prstGeom prst="rect">
            <a:avLst/>
          </a:prstGeom>
          <a:noFill/>
          <a:ln/>
        </p:spPr>
        <p:txBody>
          <a:bodyPr wrap="square" lIns="0" tIns="0" rIns="0" bIns="0" rtlCol="0" anchor="ctr"/>
          <a:lstStyle/>
          <a:p>
            <a:pPr indent="0" marL="0">
              <a:buNone/>
            </a:pPr>
            <a:r>
              <a:rPr lang="en-US" sz="1000" dirty="0">
                <a:solidFill>
                  <a:srgbClr val="BDB0E0"/>
                </a:solidFill>
              </a:rPr>
              <a:t>Pardarshi  ·  Team RED-HAT  ·  AZINHACK '26</a:t>
            </a:r>
            <a:endParaRPr lang="en-US" sz="1000" dirty="0"/>
          </a:p>
        </p:txBody>
      </p:sp>
      <p:sp>
        <p:nvSpPr>
          <p:cNvPr id="6" name="Text 2"/>
          <p:cNvSpPr/>
          <p:nvPr>
            <p:ph idx="104" type="title" hasCustomPrompt="1"/>
          </p:nvPr>
        </p:nvSpPr>
        <p:spPr>
          <a:xfrm>
            <a:off x="548640" y="603504"/>
            <a:ext cx="10332720" cy="603504"/>
          </a:xfrm>
          <a:prstGeom prst="rect">
            <a:avLst/>
          </a:prstGeom>
          <a:noFill/>
          <a:ln/>
        </p:spPr>
        <p:txBody>
          <a:bodyPr wrap="square" rtlCol="0"/>
          <a:lstStyle>
            <a:lvl1pPr algn="l" indent="0" marL="0">
              <a:buNone/>
              <a:defRPr lang="en-US" sz="3200" spc="100" kern="0" dirty="0">
                <a:solidFill>
                  <a:schemeClr val="accent2"/>
                </a:solidFill>
                <a:latin typeface="Impact" pitchFamily="34" charset="0"/>
                <a:ea typeface="Impact" pitchFamily="34" charset="-122"/>
                <a:cs typeface="Impact" pitchFamily="34" charset="-120"/>
              </a:defRPr>
            </a:lvl1pPr>
          </a:lstStyle>
          <a:p>
            <a:pPr algn="l" indent="0" marL="0">
              <a:buNone/>
            </a:pPr>
            <a:endParaRPr lang="en-US" sz="3200" dirty="0"/>
          </a:p>
        </p:txBody>
      </p:sp>
      <p:sp>
        <p:nvSpPr>
          <p:cNvPr id="25" name="Slide Number Placeholder 0"/>
          <p:cNvSpPr>
            <a:spLocks noGrp="1"/>
          </p:cNvSpPr>
          <p:nvPr>
            <p:ph type="sldNum" sz="quarter" idx="4294967295"/>
          </p:nvPr>
        </p:nvSpPr>
        <p:spPr>
          <a:xfrm>
            <a:off x="10424160" y="274320"/>
            <a:ext cx="594360" cy="365760"/>
          </a:xfrm>
          <a:prstGeom prst="rect">
            <a:avLst/>
          </a:prstGeom>
          <a:extLst>
            <a:ext uri="{C572A759-6A51-4108-AA02-DFA0A04FC94B}">
              <ma14:wrappingTextBoxFlag xmlns:ma14="http://schemas.microsoft.com/office/mac/drawingml/2011/main" val="0"/>
            </a:ext>
          </a:extLst>
        </p:spPr>
        <p:txBody>
          <a:bodyPr/>
          <a:lstStyle>
            <a:lvl1pPr>
              <a:defRPr sz="2000">
                <a:solidFill>
                  <a:schemeClr val="accent2"/>
                </a:solidFill>
                <a:latin typeface="Impact"/>
                <a:ea typeface="Impact"/>
                <a:cs typeface="Impact"/>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VER">
    <p:bg>
      <p:bgPr>
        <a:solidFill>
          <a:schemeClr val="tx2"/>
        </a:solidFill>
      </p:bgPr>
    </p:bg>
    <p:spTree>
      <p:nvGrpSpPr>
        <p:cNvPr id="1" name=""/>
        <p:cNvGrpSpPr/>
        <p:nvPr/>
      </p:nvGrpSpPr>
      <p:grpSpPr>
        <a:xfrm>
          <a:off x="0" y="0"/>
          <a:ext cx="0" cy="0"/>
          <a:chOff x="0" y="0"/>
          <a:chExt cx="0" cy="0"/>
        </a:xfrm>
      </p:grpSpPr>
      <p:pic>
        <p:nvPicPr>
          <p:cNvPr id="2" name="Image 0" descr="decorative halftone border">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424160" y="274320"/>
            <a:ext cx="594360" cy="365760"/>
          </a:xfrm>
          <a:prstGeom prst="rect">
            <a:avLst/>
          </a:prstGeom>
          <a:extLst>
            <a:ext uri="{C572A759-6A51-4108-AA02-DFA0A04FC94B}">
              <ma14:wrappingTextBoxFlag xmlns:ma14="http://schemas.microsoft.com/office/mac/drawingml/2011/main" val="0"/>
            </a:ext>
          </a:extLst>
        </p:spPr>
        <p:txBody>
          <a:bodyPr/>
          <a:lstStyle>
            <a:lvl1pPr>
              <a:defRPr sz="2000">
                <a:solidFill>
                  <a:schemeClr val="tx2"/>
                </a:solidFill>
                <a:latin typeface="Impact"/>
                <a:ea typeface="Impact"/>
                <a:cs typeface="Impact"/>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https://youtu.be/xR9-eA1mp7o" TargetMode="External"/><Relationship Id="rId3" Type="http://schemas.openxmlformats.org/officeDocument/2006/relationships/hyperlink" Target="https://github.com/mathurojus/Pardarshi" TargetMode="External"/><Relationship Id="rId1" Type="http://schemas.openxmlformats.org/officeDocument/2006/relationships/image" Target="../media/image-1-1.png"/><Relationship Id="rId4" Type="http://schemas.openxmlformats.org/officeDocument/2006/relationships/slideLayout" Target="../slideLayouts/slideLayout4.xml"/><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hyperlink" Target="https://youtu.be/xR9-eA1mp7o" TargetMode="External"/><Relationship Id="rId2" Type="http://schemas.openxmlformats.org/officeDocument/2006/relationships/hyperlink" Target="https://github.com/mathurojus/Pardarshi" TargetMode="External"/><Relationship Id="rId3" Type="http://schemas.openxmlformats.org/officeDocument/2006/relationships/slideLayout" Target="../slideLayouts/slideLayout2.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2.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slideLayout" Target="../slideLayouts/slideLayout3.xml"/><Relationship Id="rId7"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image" Target="../media/image-5-7.png"/><Relationship Id="rId8" Type="http://schemas.openxmlformats.org/officeDocument/2006/relationships/slideLayout" Target="../slideLayouts/slideLayout2.xml"/><Relationship Id="rId9"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slideLayout" Target="../slideLayouts/slideLayout2.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slideLayout" Target="../slideLayouts/slideLayout2.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4" Type="http://schemas.openxmlformats.org/officeDocument/2006/relationships/chart" Target="/ppt/charts/chart1.xml"/><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5" Type="http://schemas.openxmlformats.org/officeDocument/2006/relationships/slideLayout" Target="../slideLayouts/slideLayout2.xml"/><Relationship Id="rId6"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image" Target="../media/image-9-6.png"/><Relationship Id="rId7" Type="http://schemas.openxmlformats.org/officeDocument/2006/relationships/slideLayout" Target="../slideLayouts/slideLayout3.xml"/><Relationship Id="rId8"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image" Target="../media/image-10-6.png"/><Relationship Id="rId7" Type="http://schemas.openxmlformats.org/officeDocument/2006/relationships/slideLayout" Target="../slideLayouts/slideLayout2.xml"/><Relationship Id="rId8"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slideLayout" Target="../slideLayouts/slideLayout2.xml"/><Relationship Id="rId5"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3.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slideLayout" Target="../slideLayouts/slideLayout3.xml"/><Relationship Id="rId6"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image" Target="../media/image-16-4.png"/><Relationship Id="rId5" Type="http://schemas.openxmlformats.org/officeDocument/2006/relationships/image" Target="../media/image-16-5.png"/><Relationship Id="rId6" Type="http://schemas.openxmlformats.org/officeDocument/2006/relationships/image" Target="../media/image-16-6.png"/><Relationship Id="rId7" Type="http://schemas.openxmlformats.org/officeDocument/2006/relationships/slideLayout" Target="../slideLayouts/slideLayout2.xml"/><Relationship Id="rId8"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image" Target="../media/image-17-4.png"/><Relationship Id="rId5" Type="http://schemas.openxmlformats.org/officeDocument/2006/relationships/image" Target="../media/image-17-5.png"/><Relationship Id="rId6" Type="http://schemas.openxmlformats.org/officeDocument/2006/relationships/image" Target="../media/image-17-6.png"/><Relationship Id="rId7" Type="http://schemas.openxmlformats.org/officeDocument/2006/relationships/image" Target="../media/image-17-7.png"/><Relationship Id="rId8" Type="http://schemas.openxmlformats.org/officeDocument/2006/relationships/image" Target="../media/image-17-8.png"/><Relationship Id="rId9" Type="http://schemas.openxmlformats.org/officeDocument/2006/relationships/image" Target="../media/image-17-9.png"/><Relationship Id="rId10" Type="http://schemas.openxmlformats.org/officeDocument/2006/relationships/slideLayout" Target="../slideLayouts/slideLayout2.xml"/><Relationship Id="rId11"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2" Type="http://schemas.openxmlformats.org/officeDocument/2006/relationships/hyperlink" Target="https://youtu.be/xR9-eA1mp7o" TargetMode="External"/><Relationship Id="rId3" Type="http://schemas.openxmlformats.org/officeDocument/2006/relationships/hyperlink" Target="https://github.com/mathurojus/Pardarshi" TargetMode="External"/><Relationship Id="rId1" Type="http://schemas.openxmlformats.org/officeDocument/2006/relationships/image" Target="../media/image-18-1.png"/><Relationship Id="rId4" Type="http://schemas.openxmlformats.org/officeDocument/2006/relationships/slideLayout" Target="../slideLayouts/slideLayout4.xml"/><Relationship Id="rId5"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3" name="logo" descr="Pardarshi logo">    </p:cNvPr>
          <p:cNvPicPr>
            <a:picLocks noChangeAspect="1"/>
          </p:cNvPicPr>
          <p:nvPr/>
        </p:nvPicPr>
        <p:blipFill>
          <a:blip r:embed="rId1"/>
          <a:stretch>
            <a:fillRect/>
          </a:stretch>
        </p:blipFill>
        <p:spPr>
          <a:xfrm>
            <a:off x="640080" y="566928"/>
            <a:ext cx="566928" cy="566928"/>
          </a:xfrm>
          <a:prstGeom prst="rect">
            <a:avLst/>
          </a:prstGeom>
        </p:spPr>
      </p:pic>
      <p:sp>
        <p:nvSpPr>
          <p:cNvPr id="4" name="Text 0"/>
          <p:cNvSpPr txBox="1"/>
          <p:nvPr/>
        </p:nvSpPr>
        <p:spPr>
          <a:xfrm>
            <a:off x="1371600" y="713232"/>
            <a:ext cx="5486400" cy="292608"/>
          </a:xfrm>
          <a:prstGeom prst="rect">
            <a:avLst/>
          </a:prstGeom>
          <a:noFill/>
          <a:ln/>
        </p:spPr>
        <p:txBody>
          <a:bodyPr wrap="square" lIns="0" tIns="0" rIns="0" bIns="0" rtlCol="0" anchor="t"/>
          <a:lstStyle/>
          <a:p>
            <a:pPr indent="0" marL="0">
              <a:buNone/>
            </a:pPr>
            <a:r>
              <a:rPr lang="en-US" sz="1300" b="1" spc="400" kern="0" dirty="0">
                <a:solidFill>
                  <a:schemeClr val="accent2"/>
                </a:solidFill>
              </a:rPr>
              <a:t>AZINHACK '26   ·   TEAM RED-HAT</a:t>
            </a:r>
            <a:endParaRPr lang="en-US" sz="1300" dirty="0"/>
          </a:p>
        </p:txBody>
      </p:sp>
      <p:sp>
        <p:nvSpPr>
          <p:cNvPr id="5" name="title shadow"/>
          <p:cNvSpPr txBox="1"/>
          <p:nvPr/>
        </p:nvSpPr>
        <p:spPr>
          <a:xfrm>
            <a:off x="694944" y="1380744"/>
            <a:ext cx="6949440" cy="1188720"/>
          </a:xfrm>
          <a:prstGeom prst="rect">
            <a:avLst/>
          </a:prstGeom>
          <a:noFill/>
          <a:ln/>
        </p:spPr>
        <p:txBody>
          <a:bodyPr wrap="square" lIns="0" tIns="0" rIns="0" bIns="0" rtlCol="0" anchor="b"/>
          <a:lstStyle/>
          <a:p>
            <a:pPr indent="0" marL="0">
              <a:buNone/>
            </a:pPr>
            <a:r>
              <a:rPr lang="en-US" sz="7600" dirty="0">
                <a:solidFill>
                  <a:srgbClr val="21134A"/>
                </a:solidFill>
                <a:latin typeface="Impact" pitchFamily="34" charset="0"/>
                <a:ea typeface="Impact" pitchFamily="34" charset="-122"/>
                <a:cs typeface="Impact" pitchFamily="34" charset="-120"/>
              </a:rPr>
              <a:t>PARDARSHI</a:t>
            </a:r>
            <a:pPr indent="0" marL="0">
              <a:buNone/>
            </a:pPr>
            <a:r>
              <a:rPr lang="en-US" sz="3000" b="1" dirty="0">
                <a:solidFill>
                  <a:srgbClr val="21134A"/>
                </a:solidFill>
                <a:latin typeface="Nirmala UI" pitchFamily="34" charset="0"/>
                <a:ea typeface="Nirmala UI" pitchFamily="34" charset="-122"/>
                <a:cs typeface="Nirmala UI" pitchFamily="34" charset="-120"/>
              </a:rPr>
              <a:t>  पारदर्शी</a:t>
            </a:r>
            <a:endParaRPr lang="en-US" sz="1400" dirty="0"/>
          </a:p>
        </p:txBody>
      </p:sp>
      <p:sp>
        <p:nvSpPr>
          <p:cNvPr id="6" name="product name"/>
          <p:cNvSpPr txBox="1"/>
          <p:nvPr/>
        </p:nvSpPr>
        <p:spPr>
          <a:xfrm>
            <a:off x="640080" y="1325880"/>
            <a:ext cx="6949440" cy="1188720"/>
          </a:xfrm>
          <a:prstGeom prst="rect">
            <a:avLst/>
          </a:prstGeom>
          <a:noFill/>
          <a:ln/>
        </p:spPr>
        <p:txBody>
          <a:bodyPr wrap="square" lIns="0" tIns="0" rIns="0" bIns="0" rtlCol="0" anchor="b"/>
          <a:lstStyle/>
          <a:p>
            <a:pPr indent="0" marL="0">
              <a:buNone/>
            </a:pPr>
            <a:r>
              <a:rPr lang="en-US" sz="7600" dirty="0">
                <a:solidFill>
                  <a:schemeClr val="accent2"/>
                </a:solidFill>
                <a:latin typeface="Impact" pitchFamily="34" charset="0"/>
                <a:ea typeface="Impact" pitchFamily="34" charset="-122"/>
                <a:cs typeface="Impact" pitchFamily="34" charset="-120"/>
              </a:rPr>
              <a:t>PARDARSHI</a:t>
            </a:r>
            <a:pPr indent="0" marL="0">
              <a:buNone/>
            </a:pPr>
            <a:r>
              <a:rPr lang="en-US" sz="3000" b="1" dirty="0">
                <a:solidFill>
                  <a:schemeClr val="bg1"/>
                </a:solidFill>
                <a:latin typeface="Nirmala UI" pitchFamily="34" charset="0"/>
                <a:ea typeface="Nirmala UI" pitchFamily="34" charset="-122"/>
                <a:cs typeface="Nirmala UI" pitchFamily="34" charset="-120"/>
              </a:rPr>
              <a:t>  पारदर्शी</a:t>
            </a:r>
            <a:endParaRPr lang="en-US" sz="1400" dirty="0"/>
          </a:p>
        </p:txBody>
      </p:sp>
      <p:sp>
        <p:nvSpPr>
          <p:cNvPr id="7" name="Text 3"/>
          <p:cNvSpPr txBox="1"/>
          <p:nvPr/>
        </p:nvSpPr>
        <p:spPr>
          <a:xfrm>
            <a:off x="640080" y="2697480"/>
            <a:ext cx="6309360" cy="1188720"/>
          </a:xfrm>
          <a:prstGeom prst="rect">
            <a:avLst/>
          </a:prstGeom>
          <a:noFill/>
          <a:ln/>
        </p:spPr>
        <p:txBody>
          <a:bodyPr wrap="square" lIns="0" tIns="0" rIns="0" bIns="0" rtlCol="0" anchor="t"/>
          <a:lstStyle/>
          <a:p>
            <a:pPr indent="0" marL="0">
              <a:buNone/>
            </a:pPr>
            <a:r>
              <a:rPr lang="en-US" sz="2100" dirty="0">
                <a:solidFill>
                  <a:srgbClr val="EFE9FF"/>
                </a:solidFill>
                <a:latin typeface="Calibri" pitchFamily="34" charset="0"/>
                <a:ea typeface="Calibri" pitchFamily="34" charset="-122"/>
                <a:cs typeface="Calibri" pitchFamily="34" charset="-120"/>
              </a:rPr>
              <a:t>AI shopper agents go through checkout like real people, stop before paying, and measure the hidden fees, fake urgency and personalised prices.</a:t>
            </a:r>
            <a:endParaRPr lang="en-US" sz="2100" dirty="0"/>
          </a:p>
        </p:txBody>
      </p:sp>
      <p:sp>
        <p:nvSpPr>
          <p:cNvPr id="8" name="Text 4"/>
          <p:cNvSpPr txBox="1"/>
          <p:nvPr/>
        </p:nvSpPr>
        <p:spPr>
          <a:xfrm>
            <a:off x="640080" y="4023360"/>
            <a:ext cx="6309360" cy="365760"/>
          </a:xfrm>
          <a:prstGeom prst="rect">
            <a:avLst/>
          </a:prstGeom>
          <a:noFill/>
          <a:ln/>
        </p:spPr>
        <p:txBody>
          <a:bodyPr wrap="square" lIns="0" tIns="0" rIns="0" bIns="0" rtlCol="0" anchor="t"/>
          <a:lstStyle/>
          <a:p>
            <a:pPr indent="0" marL="0">
              <a:buNone/>
            </a:pPr>
            <a:r>
              <a:rPr lang="en-US" sz="1600" b="1" dirty="0">
                <a:solidFill>
                  <a:schemeClr val="bg1"/>
                </a:solidFill>
              </a:rPr>
              <a:t>An independent consumer-protection auditor for India's online shoppers</a:t>
            </a:r>
            <a:endParaRPr lang="en-US" sz="1600" dirty="0"/>
          </a:p>
        </p:txBody>
      </p:sp>
      <p:sp>
        <p:nvSpPr>
          <p:cNvPr id="9" name="chip"/>
          <p:cNvSpPr/>
          <p:nvPr/>
        </p:nvSpPr>
        <p:spPr>
          <a:xfrm>
            <a:off x="640080" y="4663440"/>
            <a:ext cx="1463040" cy="365760"/>
          </a:xfrm>
          <a:prstGeom prst="roundRect">
            <a:avLst>
              <a:gd name="adj" fmla="val 47500"/>
            </a:avLst>
          </a:prstGeom>
          <a:solidFill>
            <a:schemeClr val="accent4"/>
          </a:solidFill>
          <a:ln w="9525">
            <a:solidFill>
              <a:schemeClr val="accent4"/>
            </a:solidFill>
            <a:prstDash val="solid"/>
          </a:ln>
        </p:spPr>
      </p:sp>
      <p:sp>
        <p:nvSpPr>
          <p:cNvPr id="10" name="Text 6"/>
          <p:cNvSpPr txBox="1"/>
          <p:nvPr/>
        </p:nvSpPr>
        <p:spPr>
          <a:xfrm>
            <a:off x="640080" y="4663440"/>
            <a:ext cx="1463040" cy="365760"/>
          </a:xfrm>
          <a:prstGeom prst="rect">
            <a:avLst/>
          </a:prstGeom>
          <a:noFill/>
          <a:ln/>
        </p:spPr>
        <p:txBody>
          <a:bodyPr wrap="square" lIns="0" tIns="0" rIns="0" bIns="0" rtlCol="0" anchor="ctr"/>
          <a:lstStyle/>
          <a:p>
            <a:pPr algn="ctr" indent="0" marL="0">
              <a:buNone/>
            </a:pPr>
            <a:r>
              <a:rPr lang="en-US" sz="1200" b="1" dirty="0">
                <a:solidFill>
                  <a:schemeClr val="bg1"/>
                </a:solidFill>
              </a:rPr>
              <a:t>Working product</a:t>
            </a:r>
            <a:endParaRPr lang="en-US" sz="1200" dirty="0"/>
          </a:p>
        </p:txBody>
      </p:sp>
      <p:sp>
        <p:nvSpPr>
          <p:cNvPr id="11" name="chip"/>
          <p:cNvSpPr/>
          <p:nvPr/>
        </p:nvSpPr>
        <p:spPr>
          <a:xfrm>
            <a:off x="2212848" y="4663440"/>
            <a:ext cx="1783080" cy="365760"/>
          </a:xfrm>
          <a:prstGeom prst="roundRect">
            <a:avLst>
              <a:gd name="adj" fmla="val 47500"/>
            </a:avLst>
          </a:prstGeom>
          <a:solidFill>
            <a:schemeClr val="accent4"/>
          </a:solidFill>
          <a:ln w="9525">
            <a:solidFill>
              <a:schemeClr val="accent4"/>
            </a:solidFill>
            <a:prstDash val="solid"/>
          </a:ln>
        </p:spPr>
      </p:sp>
      <p:sp>
        <p:nvSpPr>
          <p:cNvPr id="12" name="Text 8"/>
          <p:cNvSpPr txBox="1"/>
          <p:nvPr/>
        </p:nvSpPr>
        <p:spPr>
          <a:xfrm>
            <a:off x="2212848" y="4663440"/>
            <a:ext cx="1783080" cy="365760"/>
          </a:xfrm>
          <a:prstGeom prst="rect">
            <a:avLst/>
          </a:prstGeom>
          <a:noFill/>
          <a:ln/>
        </p:spPr>
        <p:txBody>
          <a:bodyPr wrap="square" lIns="0" tIns="0" rIns="0" bIns="0" rtlCol="0" anchor="ctr"/>
          <a:lstStyle/>
          <a:p>
            <a:pPr algn="ctr" indent="0" marL="0">
              <a:buNone/>
            </a:pPr>
            <a:r>
              <a:rPr lang="en-US" sz="1200" b="1" dirty="0">
                <a:solidFill>
                  <a:schemeClr val="bg1"/>
                </a:solidFill>
              </a:rPr>
              <a:t>Live on Indian sites</a:t>
            </a:r>
            <a:endParaRPr lang="en-US" sz="1200" dirty="0"/>
          </a:p>
        </p:txBody>
      </p:sp>
      <p:sp>
        <p:nvSpPr>
          <p:cNvPr id="13" name="chip"/>
          <p:cNvSpPr/>
          <p:nvPr/>
        </p:nvSpPr>
        <p:spPr>
          <a:xfrm>
            <a:off x="4105656" y="4663440"/>
            <a:ext cx="2011680" cy="365760"/>
          </a:xfrm>
          <a:prstGeom prst="roundRect">
            <a:avLst>
              <a:gd name="adj" fmla="val 47500"/>
            </a:avLst>
          </a:prstGeom>
          <a:solidFill>
            <a:schemeClr val="accent1"/>
          </a:solidFill>
          <a:ln w="9525">
            <a:solidFill>
              <a:schemeClr val="accent1"/>
            </a:solidFill>
            <a:prstDash val="solid"/>
          </a:ln>
        </p:spPr>
      </p:sp>
      <p:sp>
        <p:nvSpPr>
          <p:cNvPr id="14" name="Text 10"/>
          <p:cNvSpPr txBox="1"/>
          <p:nvPr/>
        </p:nvSpPr>
        <p:spPr>
          <a:xfrm>
            <a:off x="4105656" y="4663440"/>
            <a:ext cx="2011680" cy="365760"/>
          </a:xfrm>
          <a:prstGeom prst="rect">
            <a:avLst/>
          </a:prstGeom>
          <a:noFill/>
          <a:ln/>
        </p:spPr>
        <p:txBody>
          <a:bodyPr wrap="square" lIns="0" tIns="0" rIns="0" bIns="0" rtlCol="0" anchor="ctr"/>
          <a:lstStyle/>
          <a:p>
            <a:pPr algn="ctr" indent="0" marL="0">
              <a:buNone/>
            </a:pPr>
            <a:r>
              <a:rPr lang="en-US" sz="1200" b="1" dirty="0">
                <a:solidFill>
                  <a:schemeClr val="bg1"/>
                </a:solidFill>
              </a:rPr>
              <a:t>TinyFish on a live shop</a:t>
            </a:r>
            <a:endParaRPr lang="en-US" sz="1200" dirty="0"/>
          </a:p>
        </p:txBody>
      </p:sp>
      <p:sp>
        <p:nvSpPr>
          <p:cNvPr id="15" name="chip"/>
          <p:cNvSpPr/>
          <p:nvPr/>
        </p:nvSpPr>
        <p:spPr>
          <a:xfrm>
            <a:off x="6227064" y="4663440"/>
            <a:ext cx="960120" cy="365760"/>
          </a:xfrm>
          <a:prstGeom prst="roundRect">
            <a:avLst>
              <a:gd name="adj" fmla="val 47500"/>
            </a:avLst>
          </a:prstGeom>
          <a:solidFill>
            <a:schemeClr val="accent1"/>
          </a:solidFill>
          <a:ln w="9525">
            <a:solidFill>
              <a:schemeClr val="accent1"/>
            </a:solidFill>
            <a:prstDash val="solid"/>
          </a:ln>
        </p:spPr>
      </p:sp>
      <p:sp>
        <p:nvSpPr>
          <p:cNvPr id="16" name="Text 12"/>
          <p:cNvSpPr txBox="1"/>
          <p:nvPr/>
        </p:nvSpPr>
        <p:spPr>
          <a:xfrm>
            <a:off x="6227064" y="4663440"/>
            <a:ext cx="960120" cy="365760"/>
          </a:xfrm>
          <a:prstGeom prst="rect">
            <a:avLst/>
          </a:prstGeom>
          <a:noFill/>
          <a:ln/>
        </p:spPr>
        <p:txBody>
          <a:bodyPr wrap="square" lIns="0" tIns="0" rIns="0" bIns="0" rtlCol="0" anchor="ctr"/>
          <a:lstStyle/>
          <a:p>
            <a:pPr algn="ctr" indent="0" marL="0">
              <a:buNone/>
            </a:pPr>
            <a:r>
              <a:rPr lang="en-US" sz="1200" b="1" dirty="0">
                <a:solidFill>
                  <a:schemeClr val="bg1"/>
                </a:solidFill>
              </a:rPr>
              <a:t>94 tests</a:t>
            </a:r>
            <a:endParaRPr lang="en-US" sz="1200" dirty="0"/>
          </a:p>
        </p:txBody>
      </p:sp>
      <p:sp>
        <p:nvSpPr>
          <p:cNvPr id="17" name="Text 13"/>
          <p:cNvSpPr txBox="1"/>
          <p:nvPr/>
        </p:nvSpPr>
        <p:spPr>
          <a:xfrm>
            <a:off x="640080" y="5230368"/>
            <a:ext cx="6858000" cy="274320"/>
          </a:xfrm>
          <a:prstGeom prst="rect">
            <a:avLst/>
          </a:prstGeom>
          <a:noFill/>
          <a:ln/>
        </p:spPr>
        <p:txBody>
          <a:bodyPr wrap="square" lIns="0" tIns="0" rIns="0" bIns="0" rtlCol="0" anchor="t"/>
          <a:lstStyle/>
          <a:p>
            <a:pPr indent="0" marL="0">
              <a:buNone/>
            </a:pPr>
            <a:r>
              <a:rPr lang="en-US" sz="1300" dirty="0">
                <a:solidFill>
                  <a:srgbClr val="BDB0E0"/>
                </a:solidFill>
              </a:rPr>
              <a:t>Built with TinyFish  ·  Google ADK  ·  Gemini  ·  scikit-learn  ·  Playwright</a:t>
            </a:r>
            <a:endParaRPr lang="en-US" sz="1300" dirty="0"/>
          </a:p>
        </p:txBody>
      </p:sp>
      <p:sp>
        <p:nvSpPr>
          <p:cNvPr id="18" name="links"/>
          <p:cNvSpPr txBox="1"/>
          <p:nvPr/>
        </p:nvSpPr>
        <p:spPr>
          <a:xfrm>
            <a:off x="640080" y="5669280"/>
            <a:ext cx="6949440" cy="502920"/>
          </a:xfrm>
          <a:prstGeom prst="rect">
            <a:avLst/>
          </a:prstGeom>
          <a:noFill/>
          <a:ln/>
        </p:spPr>
        <p:txBody>
          <a:bodyPr wrap="square" lIns="0" tIns="0" rIns="0" bIns="0" rtlCol="0" anchor="t"/>
          <a:lstStyle/>
          <a:p>
            <a:pPr indent="0" marL="0">
              <a:buNone/>
            </a:pPr>
            <a:r>
              <a:rPr lang="en-US" sz="1300" b="1" dirty="0">
                <a:solidFill>
                  <a:schemeClr val="accent2"/>
                </a:solidFill>
              </a:rPr>
              <a:t>Demo video  </a:t>
            </a:r>
            <a:pPr indent="0" marL="0">
              <a:buNone/>
            </a:pPr>
            <a:r>
              <a:rPr lang="en-US" sz="1300" u="sng" dirty="0">
                <a:solidFill>
                  <a:srgbClr val="FFFFFF"/>
                </a:solidFill>
                <a:hlinkClick r:id="rId2" invalidUrl="" action="" tgtFrame="" tooltip="https://youtu.be/xR9-eA1mp7o" history="1" highlightClick="0" endSnd="0">
                  <a:extLst>
                    <a:ext uri="{A12FA001-AC4F-418D-AE19-62706E023703}">
                      <ahyp:hlinkClr xmlns:ahyp="http://schemas.microsoft.com/office/drawing/2018/hyperlinkcolor" val="tx"/>
                    </a:ext>
                  </a:extLst>
                </a:hlinkClick>
              </a:rPr>
              <a:t>https://youtu.be/xR9-eA1mp7o</a:t>
            </a:r>
            <a:pPr indent="0" marL="0">
              <a:buNone/>
            </a:pPr>
            <a:r>
              <a:rPr lang="en-US" sz="1300" dirty="0">
                <a:solidFill>
                  <a:schemeClr val="accent2"/>
                </a:solidFill>
              </a:rPr>
              <a:t>     ·     </a:t>
            </a:r>
            <a:pPr indent="0" marL="0">
              <a:buNone/>
            </a:pPr>
            <a:r>
              <a:rPr lang="en-US" sz="1300" b="1" dirty="0">
                <a:solidFill>
                  <a:schemeClr val="accent2"/>
                </a:solidFill>
              </a:rPr>
              <a:t>Code  </a:t>
            </a:r>
            <a:pPr indent="0" marL="0">
              <a:buNone/>
            </a:pPr>
            <a:r>
              <a:rPr lang="en-US" sz="1300" u="sng" dirty="0">
                <a:solidFill>
                  <a:srgbClr val="FFFFFF"/>
                </a:solidFill>
                <a:hlinkClick r:id="rId3" invalidUrl="" action="" tgtFrame="" tooltip="https://github.com/mathurojus/Pardarshi" history="1" highlightClick="0" endSnd="0">
                  <a:extLst>
                    <a:ext uri="{A12FA001-AC4F-418D-AE19-62706E023703}">
                      <ahyp:hlinkClr xmlns:ahyp="http://schemas.microsoft.com/office/drawing/2018/hyperlinkcolor" val="tx"/>
                    </a:ext>
                  </a:extLst>
                </a:hlinkClick>
              </a:rPr>
              <a:t>https://github.com/mathurojus/Pardarshi</a:t>
            </a:r>
            <a:endParaRPr lang="en-US" sz="1400" dirty="0"/>
          </a:p>
        </p:txBody>
      </p:sp>
      <p:sp>
        <p:nvSpPr>
          <p:cNvPr id="19" name="receipt panel"/>
          <p:cNvSpPr/>
          <p:nvPr/>
        </p:nvSpPr>
        <p:spPr>
          <a:xfrm>
            <a:off x="7772400" y="685800"/>
            <a:ext cx="4069080" cy="5440680"/>
          </a:xfrm>
          <a:prstGeom prst="roundRect">
            <a:avLst>
              <a:gd name="adj" fmla="val 1124"/>
            </a:avLst>
          </a:prstGeom>
          <a:solidFill>
            <a:srgbClr val="2B1A59"/>
          </a:solidFill>
          <a:ln w="12700">
            <a:solidFill>
              <a:srgbClr val="6B55B5"/>
            </a:solidFill>
            <a:prstDash val="solid"/>
          </a:ln>
        </p:spPr>
      </p:sp>
      <p:sp>
        <p:nvSpPr>
          <p:cNvPr id="20" name="Text 16"/>
          <p:cNvSpPr txBox="1"/>
          <p:nvPr/>
        </p:nvSpPr>
        <p:spPr>
          <a:xfrm>
            <a:off x="8092440" y="914400"/>
            <a:ext cx="3429000" cy="274320"/>
          </a:xfrm>
          <a:prstGeom prst="rect">
            <a:avLst/>
          </a:prstGeom>
          <a:noFill/>
          <a:ln/>
        </p:spPr>
        <p:txBody>
          <a:bodyPr wrap="square" lIns="0" tIns="0" rIns="0" bIns="0" rtlCol="0" anchor="t"/>
          <a:lstStyle/>
          <a:p>
            <a:pPr indent="0" marL="0">
              <a:buNone/>
            </a:pPr>
            <a:r>
              <a:rPr lang="en-US" sz="1100" b="1" spc="300" kern="0" dirty="0">
                <a:solidFill>
                  <a:schemeClr val="accent2"/>
                </a:solidFill>
              </a:rPr>
              <a:t>SAME TICKET, ONE CHECKOUT</a:t>
            </a:r>
            <a:endParaRPr lang="en-US" sz="1100" dirty="0"/>
          </a:p>
        </p:txBody>
      </p:sp>
      <p:sp>
        <p:nvSpPr>
          <p:cNvPr id="21" name="price layer"/>
          <p:cNvSpPr/>
          <p:nvPr/>
        </p:nvSpPr>
        <p:spPr>
          <a:xfrm>
            <a:off x="8092440" y="1371600"/>
            <a:ext cx="3429000" cy="347472"/>
          </a:xfrm>
          <a:prstGeom prst="roundRect">
            <a:avLst>
              <a:gd name="adj" fmla="val 21053"/>
            </a:avLst>
          </a:prstGeom>
          <a:solidFill>
            <a:schemeClr val="accent3"/>
          </a:solidFill>
          <a:ln w="12700">
            <a:solidFill>
              <a:schemeClr val="accent3"/>
            </a:solidFill>
            <a:prstDash val="solid"/>
          </a:ln>
        </p:spPr>
      </p:sp>
      <p:sp>
        <p:nvSpPr>
          <p:cNvPr id="22" name="Text 18"/>
          <p:cNvSpPr txBox="1"/>
          <p:nvPr/>
        </p:nvSpPr>
        <p:spPr>
          <a:xfrm>
            <a:off x="8275320" y="1371600"/>
            <a:ext cx="2103120" cy="347472"/>
          </a:xfrm>
          <a:prstGeom prst="rect">
            <a:avLst/>
          </a:prstGeom>
          <a:noFill/>
          <a:ln/>
        </p:spPr>
        <p:txBody>
          <a:bodyPr wrap="square" lIns="0" tIns="0" rIns="0" bIns="0" rtlCol="0" anchor="ctr"/>
          <a:lstStyle/>
          <a:p>
            <a:pPr indent="0" marL="0">
              <a:buNone/>
            </a:pPr>
            <a:r>
              <a:rPr lang="en-US" sz="1300" b="1" dirty="0">
                <a:solidFill>
                  <a:schemeClr val="bg1"/>
                </a:solidFill>
              </a:rPr>
              <a:t>Pre‑ticked insurance</a:t>
            </a:r>
            <a:endParaRPr lang="en-US" sz="1300" dirty="0"/>
          </a:p>
        </p:txBody>
      </p:sp>
      <p:sp>
        <p:nvSpPr>
          <p:cNvPr id="23" name="Text 19"/>
          <p:cNvSpPr txBox="1"/>
          <p:nvPr/>
        </p:nvSpPr>
        <p:spPr>
          <a:xfrm>
            <a:off x="10287000" y="1371600"/>
            <a:ext cx="1051560" cy="347472"/>
          </a:xfrm>
          <a:prstGeom prst="rect">
            <a:avLst/>
          </a:prstGeom>
          <a:noFill/>
          <a:ln/>
        </p:spPr>
        <p:txBody>
          <a:bodyPr wrap="square" lIns="0" tIns="0" rIns="0" bIns="0" rtlCol="0" anchor="ctr"/>
          <a:lstStyle/>
          <a:p>
            <a:pPr algn="r" indent="0" marL="0">
              <a:buNone/>
            </a:pPr>
            <a:r>
              <a:rPr lang="en-US" sz="1400" b="1" dirty="0">
                <a:solidFill>
                  <a:schemeClr val="bg1"/>
                </a:solidFill>
              </a:rPr>
              <a:t>+₹149</a:t>
            </a:r>
            <a:endParaRPr lang="en-US" sz="1400" dirty="0"/>
          </a:p>
        </p:txBody>
      </p:sp>
      <p:sp>
        <p:nvSpPr>
          <p:cNvPr id="24" name="price layer"/>
          <p:cNvSpPr/>
          <p:nvPr/>
        </p:nvSpPr>
        <p:spPr>
          <a:xfrm>
            <a:off x="8092440" y="1792224"/>
            <a:ext cx="3429000" cy="384048"/>
          </a:xfrm>
          <a:prstGeom prst="roundRect">
            <a:avLst>
              <a:gd name="adj" fmla="val 19048"/>
            </a:avLst>
          </a:prstGeom>
          <a:solidFill>
            <a:schemeClr val="accent5"/>
          </a:solidFill>
          <a:ln w="12700">
            <a:solidFill>
              <a:schemeClr val="accent5"/>
            </a:solidFill>
            <a:prstDash val="solid"/>
          </a:ln>
        </p:spPr>
      </p:sp>
      <p:sp>
        <p:nvSpPr>
          <p:cNvPr id="25" name="Text 21"/>
          <p:cNvSpPr txBox="1"/>
          <p:nvPr/>
        </p:nvSpPr>
        <p:spPr>
          <a:xfrm>
            <a:off x="8275320" y="1792224"/>
            <a:ext cx="2103120" cy="384048"/>
          </a:xfrm>
          <a:prstGeom prst="rect">
            <a:avLst/>
          </a:prstGeom>
          <a:noFill/>
          <a:ln/>
        </p:spPr>
        <p:txBody>
          <a:bodyPr wrap="square" lIns="0" tIns="0" rIns="0" bIns="0" rtlCol="0" anchor="ctr"/>
          <a:lstStyle/>
          <a:p>
            <a:pPr indent="0" marL="0">
              <a:buNone/>
            </a:pPr>
            <a:r>
              <a:rPr lang="en-US" sz="1300" b="1" dirty="0">
                <a:solidFill>
                  <a:schemeClr val="bg1"/>
                </a:solidFill>
              </a:rPr>
              <a:t>Fees and charges</a:t>
            </a:r>
            <a:endParaRPr lang="en-US" sz="1300" dirty="0"/>
          </a:p>
        </p:txBody>
      </p:sp>
      <p:sp>
        <p:nvSpPr>
          <p:cNvPr id="26" name="Text 22"/>
          <p:cNvSpPr txBox="1"/>
          <p:nvPr/>
        </p:nvSpPr>
        <p:spPr>
          <a:xfrm>
            <a:off x="10287000" y="1792224"/>
            <a:ext cx="1051560" cy="384048"/>
          </a:xfrm>
          <a:prstGeom prst="rect">
            <a:avLst/>
          </a:prstGeom>
          <a:noFill/>
          <a:ln/>
        </p:spPr>
        <p:txBody>
          <a:bodyPr wrap="square" lIns="0" tIns="0" rIns="0" bIns="0" rtlCol="0" anchor="ctr"/>
          <a:lstStyle/>
          <a:p>
            <a:pPr algn="r" indent="0" marL="0">
              <a:buNone/>
            </a:pPr>
            <a:r>
              <a:rPr lang="en-US" sz="1400" b="1" dirty="0">
                <a:solidFill>
                  <a:schemeClr val="bg1"/>
                </a:solidFill>
              </a:rPr>
              <a:t>+₹169</a:t>
            </a:r>
            <a:endParaRPr lang="en-US" sz="1400" dirty="0"/>
          </a:p>
        </p:txBody>
      </p:sp>
      <p:sp>
        <p:nvSpPr>
          <p:cNvPr id="27" name="price layer"/>
          <p:cNvSpPr/>
          <p:nvPr/>
        </p:nvSpPr>
        <p:spPr>
          <a:xfrm>
            <a:off x="8092440" y="2249424"/>
            <a:ext cx="3429000" cy="2240280"/>
          </a:xfrm>
          <a:prstGeom prst="roundRect">
            <a:avLst>
              <a:gd name="adj" fmla="val 3265"/>
            </a:avLst>
          </a:prstGeom>
          <a:solidFill>
            <a:schemeClr val="accent1"/>
          </a:solidFill>
          <a:ln w="12700">
            <a:solidFill>
              <a:schemeClr val="accent1"/>
            </a:solidFill>
            <a:prstDash val="solid"/>
          </a:ln>
        </p:spPr>
      </p:sp>
      <p:sp>
        <p:nvSpPr>
          <p:cNvPr id="28" name="Text 24"/>
          <p:cNvSpPr txBox="1"/>
          <p:nvPr/>
        </p:nvSpPr>
        <p:spPr>
          <a:xfrm>
            <a:off x="8275320" y="2249424"/>
            <a:ext cx="2103120" cy="2240280"/>
          </a:xfrm>
          <a:prstGeom prst="rect">
            <a:avLst/>
          </a:prstGeom>
          <a:noFill/>
          <a:ln/>
        </p:spPr>
        <p:txBody>
          <a:bodyPr wrap="square" lIns="0" tIns="0" rIns="0" bIns="0" rtlCol="0" anchor="ctr"/>
          <a:lstStyle/>
          <a:p>
            <a:pPr indent="0" marL="0">
              <a:buNone/>
            </a:pPr>
            <a:r>
              <a:rPr lang="en-US" sz="1300" b="1" dirty="0">
                <a:solidFill>
                  <a:schemeClr val="bg1"/>
                </a:solidFill>
              </a:rPr>
              <a:t>Advertised price</a:t>
            </a:r>
            <a:endParaRPr lang="en-US" sz="1300" dirty="0"/>
          </a:p>
        </p:txBody>
      </p:sp>
      <p:sp>
        <p:nvSpPr>
          <p:cNvPr id="29" name="Text 25"/>
          <p:cNvSpPr txBox="1"/>
          <p:nvPr/>
        </p:nvSpPr>
        <p:spPr>
          <a:xfrm>
            <a:off x="10287000" y="2249424"/>
            <a:ext cx="1051560" cy="2240280"/>
          </a:xfrm>
          <a:prstGeom prst="rect">
            <a:avLst/>
          </a:prstGeom>
          <a:noFill/>
          <a:ln/>
        </p:spPr>
        <p:txBody>
          <a:bodyPr wrap="square" lIns="0" tIns="0" rIns="0" bIns="0" rtlCol="0" anchor="ctr"/>
          <a:lstStyle/>
          <a:p>
            <a:pPr algn="r" indent="0" marL="0">
              <a:buNone/>
            </a:pPr>
            <a:r>
              <a:rPr lang="en-US" sz="1400" b="1" dirty="0">
                <a:solidFill>
                  <a:schemeClr val="bg1"/>
                </a:solidFill>
              </a:rPr>
              <a:t>₹1,006</a:t>
            </a:r>
            <a:endParaRPr lang="en-US" sz="1400" dirty="0"/>
          </a:p>
        </p:txBody>
      </p:sp>
      <p:sp>
        <p:nvSpPr>
          <p:cNvPr id="30" name="Text 26"/>
          <p:cNvSpPr txBox="1"/>
          <p:nvPr/>
        </p:nvSpPr>
        <p:spPr>
          <a:xfrm>
            <a:off x="8092440" y="4700016"/>
            <a:ext cx="3429000" cy="640080"/>
          </a:xfrm>
          <a:prstGeom prst="rect">
            <a:avLst/>
          </a:prstGeom>
          <a:noFill/>
          <a:ln/>
        </p:spPr>
        <p:txBody>
          <a:bodyPr wrap="square" lIns="0" tIns="0" rIns="0" bIns="0" rtlCol="0" anchor="ctr"/>
          <a:lstStyle/>
          <a:p>
            <a:pPr indent="0" marL="0">
              <a:buNone/>
            </a:pPr>
            <a:r>
              <a:rPr lang="en-US" sz="1600" dirty="0">
                <a:solidFill>
                  <a:srgbClr val="E4DCFA"/>
                </a:solidFill>
              </a:rPr>
              <a:t>You pay  </a:t>
            </a:r>
            <a:pPr indent="0" marL="0">
              <a:buNone/>
            </a:pPr>
            <a:r>
              <a:rPr lang="en-US" sz="3600" b="1" dirty="0">
                <a:solidFill>
                  <a:schemeClr val="bg1"/>
                </a:solidFill>
                <a:latin typeface="Impact" pitchFamily="34" charset="0"/>
                <a:ea typeface="Impact" pitchFamily="34" charset="-122"/>
                <a:cs typeface="Impact" pitchFamily="34" charset="-120"/>
              </a:rPr>
              <a:t>₹1,324</a:t>
            </a:r>
            <a:endParaRPr lang="en-US" sz="1400" dirty="0"/>
          </a:p>
        </p:txBody>
      </p:sp>
      <p:sp>
        <p:nvSpPr>
          <p:cNvPr id="31" name="Text 27"/>
          <p:cNvSpPr txBox="1"/>
          <p:nvPr/>
        </p:nvSpPr>
        <p:spPr>
          <a:xfrm>
            <a:off x="8092440" y="5367528"/>
            <a:ext cx="3429000" cy="292608"/>
          </a:xfrm>
          <a:prstGeom prst="rect">
            <a:avLst/>
          </a:prstGeom>
          <a:noFill/>
          <a:ln/>
        </p:spPr>
        <p:txBody>
          <a:bodyPr wrap="square" lIns="0" tIns="0" rIns="0" bIns="0" rtlCol="0" anchor="t"/>
          <a:lstStyle/>
          <a:p>
            <a:pPr indent="0" marL="0">
              <a:buNone/>
            </a:pPr>
            <a:r>
              <a:rPr lang="en-US" sz="1300" b="1" dirty="0">
                <a:solidFill>
                  <a:schemeClr val="accent2"/>
                </a:solidFill>
              </a:rPr>
              <a:t>+32% between the first screen and payment</a:t>
            </a:r>
            <a:endParaRPr lang="en-US" sz="1300" dirty="0"/>
          </a:p>
        </p:txBody>
      </p:sp>
      <p:sp>
        <p:nvSpPr>
          <p:cNvPr id="32" name="Text 28"/>
          <p:cNvSpPr txBox="1"/>
          <p:nvPr/>
        </p:nvSpPr>
        <p:spPr>
          <a:xfrm>
            <a:off x="8092440" y="5678424"/>
            <a:ext cx="3429000" cy="274320"/>
          </a:xfrm>
          <a:prstGeom prst="rect">
            <a:avLst/>
          </a:prstGeom>
          <a:noFill/>
          <a:ln/>
        </p:spPr>
        <p:txBody>
          <a:bodyPr wrap="square" lIns="0" tIns="0" rIns="0" bIns="0" rtlCol="0" anchor="t"/>
          <a:lstStyle/>
          <a:p>
            <a:pPr indent="0" marL="0">
              <a:buNone/>
            </a:pPr>
            <a:r>
              <a:rPr lang="en-US" sz="1100" i="1" dirty="0">
                <a:solidFill>
                  <a:srgbClr val="BDB0E0"/>
                </a:solidFill>
              </a:rPr>
              <a:t>Ground-truth demo shop with planted tricks</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2"/>
          <p:cNvSpPr/>
          <p:nvPr>
            <p:ph idx="104" type="title" hasCustomPrompt="1"/>
          </p:nvPr>
        </p:nvSpPr>
        <p:spPr>
          <a:xfrm>
            <a:off x="548640" y="603504"/>
            <a:ext cx="10332720" cy="603504"/>
          </a:xfrm>
          <a:prstGeom prst="rect">
            <a:avLst/>
          </a:prstGeom>
          <a:noFill/>
          <a:ln/>
        </p:spPr>
        <p:txBody>
          <a:bodyPr wrap="square" lIns="0" tIns="0" rIns="0" bIns="0" rtlCol="0" anchor="t"/>
          <a:lstStyle/>
          <a:p>
            <a:pPr algn="l" indent="0" marL="0">
              <a:buNone/>
            </a:pPr>
            <a:r>
              <a:rPr lang="en-US" sz="3200" spc="100" kern="0" dirty="0">
                <a:solidFill>
                  <a:schemeClr val="tx2"/>
                </a:solidFill>
                <a:latin typeface="Impact" pitchFamily="34" charset="0"/>
                <a:ea typeface="Impact" pitchFamily="34" charset="-122"/>
                <a:cs typeface="Impact" pitchFamily="34" charset="-120"/>
              </a:rPr>
              <a:t>AT A GLANCE</a:t>
            </a:r>
            <a:endParaRPr lang="en-US" sz="3200" dirty="0"/>
          </a:p>
        </p:txBody>
      </p:sp>
      <p:sp>
        <p:nvSpPr>
          <p:cNvPr id="4" name="section label"/>
          <p:cNvSpPr txBox="1"/>
          <p:nvPr/>
        </p:nvSpPr>
        <p:spPr>
          <a:xfrm>
            <a:off x="548640" y="274320"/>
            <a:ext cx="6035040" cy="274320"/>
          </a:xfrm>
          <a:prstGeom prst="rect">
            <a:avLst/>
          </a:prstGeom>
          <a:noFill/>
          <a:ln/>
        </p:spPr>
        <p:txBody>
          <a:bodyPr wrap="square" lIns="0" tIns="0" rIns="0" bIns="0" rtlCol="0" anchor="t"/>
          <a:lstStyle/>
          <a:p>
            <a:pPr indent="0" marL="0">
              <a:buNone/>
            </a:pPr>
            <a:r>
              <a:rPr lang="en-US" sz="1500" spc="100" kern="0" dirty="0">
                <a:solidFill>
                  <a:schemeClr val="tx2"/>
                </a:solidFill>
                <a:latin typeface="Impact" pitchFamily="34" charset="0"/>
                <a:ea typeface="Impact" pitchFamily="34" charset="-122"/>
                <a:cs typeface="Impact" pitchFamily="34" charset="-120"/>
              </a:rPr>
              <a:t>EXECUTIVE SUMMARY</a:t>
            </a:r>
            <a:endParaRPr lang="en-US" sz="1500" dirty="0"/>
          </a:p>
        </p:txBody>
      </p:sp>
      <p:sp>
        <p:nvSpPr>
          <p:cNvPr id="5" name="subtitle"/>
          <p:cNvSpPr txBox="1"/>
          <p:nvPr/>
        </p:nvSpPr>
        <p:spPr>
          <a:xfrm>
            <a:off x="548640" y="1188720"/>
            <a:ext cx="10424160" cy="384048"/>
          </a:xfrm>
          <a:prstGeom prst="rect">
            <a:avLst/>
          </a:prstGeom>
          <a:noFill/>
          <a:ln/>
        </p:spPr>
        <p:txBody>
          <a:bodyPr wrap="square" lIns="0" tIns="0" rIns="0" bIns="0" rtlCol="0" anchor="t"/>
          <a:lstStyle/>
          <a:p>
            <a:pPr indent="0" marL="0">
              <a:buNone/>
            </a:pPr>
            <a:r>
              <a:rPr lang="en-US" sz="1700" dirty="0">
                <a:solidFill>
                  <a:schemeClr val="accent6"/>
                </a:solidFill>
                <a:latin typeface="Calibri" pitchFamily="34" charset="0"/>
                <a:ea typeface="Calibri" pitchFamily="34" charset="-122"/>
                <a:cs typeface="Calibri" pitchFamily="34" charset="-120"/>
              </a:rPr>
              <a:t>Every section the judges score, answered in one line, with the slide that proves it</a:t>
            </a:r>
            <a:endParaRPr lang="en-US" sz="1700" dirty="0"/>
          </a:p>
        </p:txBody>
      </p:sp>
      <p:graphicFrame>
        <p:nvGraphicFramePr>
          <p:cNvPr id="3" name="summary table"/>
          <p:cNvGraphicFramePr>
            <a:graphicFrameLocks noGrp="1"/>
          </p:cNvGraphicFramePr>
          <p:nvPr>
            <p:extLst>
              <p:ext uri="{D42A27DB-BD31-4B8C-83A1-F6EECF244321}">
                <p14:modId xmlns:p14="http://schemas.microsoft.com/office/powerpoint/2010/main" val="1579011935"/>
              </p:ext>
            </p:extLst>
          </p:nvPr>
        </p:nvGraphicFramePr>
        <p:xfrm>
          <a:off x="548640" y="1755648"/>
          <a:ext cx="11091672" cy="914400"/>
        </p:xfrm>
        <a:graphic>
          <a:graphicData uri="http://schemas.openxmlformats.org/drawingml/2006/table">
            <a:tbl>
              <a:tblPr/>
              <a:tblGrid>
                <a:gridCol w="2331720"/>
                <a:gridCol w="7982712"/>
                <a:gridCol w="777240"/>
              </a:tblGrid>
              <a:tr h="384048">
                <a:tc>
                  <a:txBody>
                    <a:bodyPr/>
                    <a:lstStyle/>
                    <a:p>
                      <a:pPr indent="0" marL="0">
                        <a:buNone/>
                      </a:pPr>
                      <a:r>
                        <a:rPr lang="en-US" sz="1300" b="1" dirty="0">
                          <a:solidFill>
                            <a:schemeClr val="bg1"/>
                          </a:solidFill>
                        </a:rPr>
                        <a:t>Section</a:t>
                      </a:r>
                      <a:endParaRPr lang="en-US" sz="1300" dirty="0"/>
                    </a:p>
                  </a:txBody>
                  <a:tcPr marL="109728" marR="109728" marT="27432" marB="27432" anchor="ctr">
                    <a:lnL w="9525" cap="flat" cmpd="sng" algn="ctr">
                      <a:solidFill>
                        <a:srgbClr val="CFC688"/>
                      </a:solidFill>
                      <a:prstDash val="solid"/>
                      <a:round/>
                      <a:headEnd type="none" w="med" len="med"/>
                      <a:tailEnd type="none" w="med" len="med"/>
                    </a:lnL>
                    <a:lnR w="9525" cap="flat" cmpd="sng" algn="ctr">
                      <a:solidFill>
                        <a:srgbClr val="CFC688"/>
                      </a:solidFill>
                      <a:prstDash val="solid"/>
                      <a:round/>
                      <a:headEnd type="none" w="med" len="med"/>
                      <a:tailEnd type="none" w="med" len="med"/>
                    </a:lnR>
                    <a:lnT w="9525" cap="flat" cmpd="sng" algn="ctr">
                      <a:solidFill>
                        <a:srgbClr val="CFC688"/>
                      </a:solidFill>
                      <a:prstDash val="solid"/>
                      <a:round/>
                      <a:headEnd type="none" w="med" len="med"/>
                      <a:tailEnd type="none" w="med" len="med"/>
                    </a:lnT>
                    <a:lnB w="9525" cap="flat" cmpd="sng" algn="ctr">
                      <a:solidFill>
                        <a:srgbClr val="CFC688"/>
                      </a:solidFill>
                      <a:prstDash val="solid"/>
                      <a:round/>
                      <a:headEnd type="none" w="med" len="med"/>
                      <a:tailEnd type="none" w="med" len="med"/>
                    </a:lnB>
                    <a:solidFill>
                      <a:schemeClr val="tx2"/>
                    </a:solidFill>
                  </a:tcPr>
                </a:tc>
                <a:tc>
                  <a:txBody>
                    <a:bodyPr/>
                    <a:lstStyle/>
                    <a:p>
                      <a:pPr indent="0" marL="0">
                        <a:buNone/>
                      </a:pPr>
                      <a:r>
                        <a:rPr lang="en-US" sz="1300" b="1" dirty="0">
                          <a:solidFill>
                            <a:schemeClr val="bg1"/>
                          </a:solidFill>
                        </a:rPr>
                        <a:t>Answer</a:t>
                      </a:r>
                      <a:endParaRPr lang="en-US" sz="1300" dirty="0"/>
                    </a:p>
                  </a:txBody>
                  <a:tcPr marL="109728" marR="109728" marT="27432" marB="27432" anchor="ctr">
                    <a:lnL w="9525" cap="flat" cmpd="sng" algn="ctr">
                      <a:solidFill>
                        <a:srgbClr val="CFC688"/>
                      </a:solidFill>
                      <a:prstDash val="solid"/>
                      <a:round/>
                      <a:headEnd type="none" w="med" len="med"/>
                      <a:tailEnd type="none" w="med" len="med"/>
                    </a:lnL>
                    <a:lnR w="9525" cap="flat" cmpd="sng" algn="ctr">
                      <a:solidFill>
                        <a:srgbClr val="CFC688"/>
                      </a:solidFill>
                      <a:prstDash val="solid"/>
                      <a:round/>
                      <a:headEnd type="none" w="med" len="med"/>
                      <a:tailEnd type="none" w="med" len="med"/>
                    </a:lnR>
                    <a:lnT w="9525" cap="flat" cmpd="sng" algn="ctr">
                      <a:solidFill>
                        <a:srgbClr val="CFC688"/>
                      </a:solidFill>
                      <a:prstDash val="solid"/>
                      <a:round/>
                      <a:headEnd type="none" w="med" len="med"/>
                      <a:tailEnd type="none" w="med" len="med"/>
                    </a:lnT>
                    <a:lnB w="9525" cap="flat" cmpd="sng" algn="ctr">
                      <a:solidFill>
                        <a:srgbClr val="CFC688"/>
                      </a:solidFill>
                      <a:prstDash val="solid"/>
                      <a:round/>
                      <a:headEnd type="none" w="med" len="med"/>
                      <a:tailEnd type="none" w="med" len="med"/>
                    </a:lnB>
                    <a:solidFill>
                      <a:schemeClr val="tx2"/>
                    </a:solidFill>
                  </a:tcPr>
                </a:tc>
                <a:tc>
                  <a:txBody>
                    <a:bodyPr/>
                    <a:lstStyle/>
                    <a:p>
                      <a:pPr algn="ctr" indent="0" marL="0">
                        <a:buNone/>
                      </a:pPr>
                      <a:r>
                        <a:rPr lang="en-US" sz="1300" b="1" dirty="0">
                          <a:solidFill>
                            <a:schemeClr val="bg1"/>
                          </a:solidFill>
                        </a:rPr>
                        <a:t>Slide</a:t>
                      </a:r>
                      <a:endParaRPr lang="en-US" sz="1300" dirty="0"/>
                    </a:p>
                  </a:txBody>
                  <a:tcPr marL="109728" marR="109728" marT="27432" marB="27432" anchor="ctr">
                    <a:lnL w="9525" cap="flat" cmpd="sng" algn="ctr">
                      <a:solidFill>
                        <a:srgbClr val="CFC688"/>
                      </a:solidFill>
                      <a:prstDash val="solid"/>
                      <a:round/>
                      <a:headEnd type="none" w="med" len="med"/>
                      <a:tailEnd type="none" w="med" len="med"/>
                    </a:lnL>
                    <a:lnR w="9525" cap="flat" cmpd="sng" algn="ctr">
                      <a:solidFill>
                        <a:srgbClr val="CFC688"/>
                      </a:solidFill>
                      <a:prstDash val="solid"/>
                      <a:round/>
                      <a:headEnd type="none" w="med" len="med"/>
                      <a:tailEnd type="none" w="med" len="med"/>
                    </a:lnR>
                    <a:lnT w="9525" cap="flat" cmpd="sng" algn="ctr">
                      <a:solidFill>
                        <a:srgbClr val="CFC688"/>
                      </a:solidFill>
                      <a:prstDash val="solid"/>
                      <a:round/>
                      <a:headEnd type="none" w="med" len="med"/>
                      <a:tailEnd type="none" w="med" len="med"/>
                    </a:lnT>
                    <a:lnB w="9525" cap="flat" cmpd="sng" algn="ctr">
                      <a:solidFill>
                        <a:srgbClr val="CFC688"/>
                      </a:solidFill>
                      <a:prstDash val="solid"/>
                      <a:round/>
                      <a:headEnd type="none" w="med" len="med"/>
                      <a:tailEnd type="none" w="med" len="med"/>
                    </a:lnB>
                    <a:solidFill>
                      <a:schemeClr val="tx2"/>
                    </a:solidFill>
                  </a:tcPr>
                </a:tc>
              </a:tr>
              <a:tr h="384048">
                <a:tc>
                  <a:txBody>
                    <a:bodyPr/>
                    <a:lstStyle/>
                    <a:p>
                      <a:pPr indent="0" marL="0">
                        <a:buNone/>
                      </a:pPr>
                      <a:r>
                        <a:rPr lang="en-US" sz="1300" b="1" dirty="0">
                          <a:solidFill>
                            <a:schemeClr val="accent1"/>
                          </a:solidFill>
                        </a:rPr>
                        <a:t>Problem Statement</a:t>
                      </a:r>
                      <a:endParaRPr lang="en-US" sz="1300" dirty="0"/>
                    </a:p>
                  </a:txBody>
                  <a:tcPr marL="109728" marR="109728" marT="27432" marB="27432" anchor="ctr">
                    <a:lnL w="9525" cap="flat" cmpd="sng" algn="ctr">
                      <a:solidFill>
                        <a:srgbClr val="CFC688"/>
                      </a:solidFill>
                      <a:prstDash val="solid"/>
                      <a:round/>
                      <a:headEnd type="none" w="med" len="med"/>
                      <a:tailEnd type="none" w="med" len="med"/>
                    </a:lnL>
                    <a:lnR w="9525" cap="flat" cmpd="sng" algn="ctr">
                      <a:solidFill>
                        <a:srgbClr val="CFC688"/>
                      </a:solidFill>
                      <a:prstDash val="solid"/>
                      <a:round/>
                      <a:headEnd type="none" w="med" len="med"/>
                      <a:tailEnd type="none" w="med" len="med"/>
                    </a:lnR>
                    <a:lnT w="9525" cap="flat" cmpd="sng" algn="ctr">
                      <a:solidFill>
                        <a:srgbClr val="CFC688"/>
                      </a:solidFill>
                      <a:prstDash val="solid"/>
                      <a:round/>
                      <a:headEnd type="none" w="med" len="med"/>
                      <a:tailEnd type="none" w="med" len="med"/>
                    </a:lnT>
                    <a:lnB w="9525" cap="flat" cmpd="sng" algn="ctr">
                      <a:solidFill>
                        <a:srgbClr val="CFC688"/>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The price shown first is not the price paid; one shopper cannot see fees, pre-ticks or personalised prices.</a:t>
                      </a:r>
                      <a:endParaRPr lang="en-US" sz="1300" dirty="0"/>
                    </a:p>
                  </a:txBody>
                  <a:tcPr marL="109728" marR="109728" marT="27432" marB="27432" anchor="ctr">
                    <a:lnL w="9525" cap="flat" cmpd="sng" algn="ctr">
                      <a:solidFill>
                        <a:srgbClr val="CFC688"/>
                      </a:solidFill>
                      <a:prstDash val="solid"/>
                      <a:round/>
                      <a:headEnd type="none" w="med" len="med"/>
                      <a:tailEnd type="none" w="med" len="med"/>
                    </a:lnL>
                    <a:lnR w="9525" cap="flat" cmpd="sng" algn="ctr">
                      <a:solidFill>
                        <a:srgbClr val="CFC688"/>
                      </a:solidFill>
                      <a:prstDash val="solid"/>
                      <a:round/>
                      <a:headEnd type="none" w="med" len="med"/>
                      <a:tailEnd type="none" w="med" len="med"/>
                    </a:lnR>
                    <a:lnT w="9525" cap="flat" cmpd="sng" algn="ctr">
                      <a:solidFill>
                        <a:srgbClr val="CFC688"/>
                      </a:solidFill>
                      <a:prstDash val="solid"/>
                      <a:round/>
                      <a:headEnd type="none" w="med" len="med"/>
                      <a:tailEnd type="none" w="med" len="med"/>
                    </a:lnT>
                    <a:lnB w="9525" cap="flat" cmpd="sng" algn="ctr">
                      <a:solidFill>
                        <a:srgbClr val="CFC688"/>
                      </a:solidFill>
                      <a:prstDash val="solid"/>
                      <a:round/>
                      <a:headEnd type="none" w="med" len="med"/>
                      <a:tailEnd type="none" w="med" len="med"/>
                    </a:lnB>
                    <a:solidFill>
                      <a:schemeClr val="bg1"/>
                    </a:solidFill>
                  </a:tcPr>
                </a:tc>
                <a:tc>
                  <a:txBody>
                    <a:bodyPr/>
                    <a:lstStyle/>
                    <a:p>
                      <a:pPr algn="ctr" indent="0" marL="0">
                        <a:buNone/>
                      </a:pPr>
                      <a:r>
                        <a:rPr lang="en-US" sz="1300" b="1" dirty="0">
                          <a:solidFill>
                            <a:schemeClr val="tx1"/>
                          </a:solidFill>
                        </a:rPr>
                        <a:t>3</a:t>
                      </a:r>
                      <a:endParaRPr lang="en-US" sz="1300" dirty="0"/>
                    </a:p>
                  </a:txBody>
                  <a:tcPr marL="109728" marR="109728" marT="27432" marB="27432" anchor="ctr">
                    <a:lnL w="9525" cap="flat" cmpd="sng" algn="ctr">
                      <a:solidFill>
                        <a:srgbClr val="CFC688"/>
                      </a:solidFill>
                      <a:prstDash val="solid"/>
                      <a:round/>
                      <a:headEnd type="none" w="med" len="med"/>
                      <a:tailEnd type="none" w="med" len="med"/>
                    </a:lnL>
                    <a:lnR w="9525" cap="flat" cmpd="sng" algn="ctr">
                      <a:solidFill>
                        <a:srgbClr val="CFC688"/>
                      </a:solidFill>
                      <a:prstDash val="solid"/>
                      <a:round/>
                      <a:headEnd type="none" w="med" len="med"/>
                      <a:tailEnd type="none" w="med" len="med"/>
                    </a:lnR>
                    <a:lnT w="9525" cap="flat" cmpd="sng" algn="ctr">
                      <a:solidFill>
                        <a:srgbClr val="CFC688"/>
                      </a:solidFill>
                      <a:prstDash val="solid"/>
                      <a:round/>
                      <a:headEnd type="none" w="med" len="med"/>
                      <a:tailEnd type="none" w="med" len="med"/>
                    </a:lnT>
                    <a:lnB w="9525" cap="flat" cmpd="sng" algn="ctr">
                      <a:solidFill>
                        <a:srgbClr val="CFC688"/>
                      </a:solidFill>
                      <a:prstDash val="solid"/>
                      <a:round/>
                      <a:headEnd type="none" w="med" len="med"/>
                      <a:tailEnd type="none" w="med" len="med"/>
                    </a:lnB>
                    <a:solidFill>
                      <a:schemeClr val="bg1"/>
                    </a:solidFill>
                  </a:tcPr>
                </a:tc>
              </a:tr>
              <a:tr h="384048">
                <a:tc>
                  <a:txBody>
                    <a:bodyPr/>
                    <a:lstStyle/>
                    <a:p>
                      <a:pPr indent="0" marL="0">
                        <a:buNone/>
                      </a:pPr>
                      <a:r>
                        <a:rPr lang="en-US" sz="1300" b="1" dirty="0">
                          <a:solidFill>
                            <a:schemeClr val="accent1"/>
                          </a:solidFill>
                        </a:rPr>
                        <a:t>Proposed Solution</a:t>
                      </a:r>
                      <a:endParaRPr lang="en-US" sz="1300" dirty="0"/>
                    </a:p>
                  </a:txBody>
                  <a:tcPr marL="109728" marR="109728" marT="27432" marB="27432" anchor="ctr">
                    <a:lnL w="9525" cap="flat" cmpd="sng" algn="ctr">
                      <a:solidFill>
                        <a:srgbClr val="CFC688"/>
                      </a:solidFill>
                      <a:prstDash val="solid"/>
                      <a:round/>
                      <a:headEnd type="none" w="med" len="med"/>
                      <a:tailEnd type="none" w="med" len="med"/>
                    </a:lnL>
                    <a:lnR w="9525" cap="flat" cmpd="sng" algn="ctr">
                      <a:solidFill>
                        <a:srgbClr val="CFC688"/>
                      </a:solidFill>
                      <a:prstDash val="solid"/>
                      <a:round/>
                      <a:headEnd type="none" w="med" len="med"/>
                      <a:tailEnd type="none" w="med" len="med"/>
                    </a:lnR>
                    <a:lnT w="9525" cap="flat" cmpd="sng" algn="ctr">
                      <a:solidFill>
                        <a:srgbClr val="CFC688"/>
                      </a:solidFill>
                      <a:prstDash val="solid"/>
                      <a:round/>
                      <a:headEnd type="none" w="med" len="med"/>
                      <a:tailEnd type="none" w="med" len="med"/>
                    </a:lnT>
                    <a:lnB w="9525" cap="flat" cmpd="sng" algn="ctr">
                      <a:solidFill>
                        <a:srgbClr val="CFC688"/>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AI shopper agents run checkout as 6 profiles, stop before payment and measure 7 dark patterns as evidence.</a:t>
                      </a:r>
                      <a:endParaRPr lang="en-US" sz="1300" dirty="0"/>
                    </a:p>
                  </a:txBody>
                  <a:tcPr marL="109728" marR="109728" marT="27432" marB="27432" anchor="ctr">
                    <a:lnL w="9525" cap="flat" cmpd="sng" algn="ctr">
                      <a:solidFill>
                        <a:srgbClr val="CFC688"/>
                      </a:solidFill>
                      <a:prstDash val="solid"/>
                      <a:round/>
                      <a:headEnd type="none" w="med" len="med"/>
                      <a:tailEnd type="none" w="med" len="med"/>
                    </a:lnL>
                    <a:lnR w="9525" cap="flat" cmpd="sng" algn="ctr">
                      <a:solidFill>
                        <a:srgbClr val="CFC688"/>
                      </a:solidFill>
                      <a:prstDash val="solid"/>
                      <a:round/>
                      <a:headEnd type="none" w="med" len="med"/>
                      <a:tailEnd type="none" w="med" len="med"/>
                    </a:lnR>
                    <a:lnT w="9525" cap="flat" cmpd="sng" algn="ctr">
                      <a:solidFill>
                        <a:srgbClr val="CFC688"/>
                      </a:solidFill>
                      <a:prstDash val="solid"/>
                      <a:round/>
                      <a:headEnd type="none" w="med" len="med"/>
                      <a:tailEnd type="none" w="med" len="med"/>
                    </a:lnT>
                    <a:lnB w="9525" cap="flat" cmpd="sng" algn="ctr">
                      <a:solidFill>
                        <a:srgbClr val="CFC688"/>
                      </a:solidFill>
                      <a:prstDash val="solid"/>
                      <a:round/>
                      <a:headEnd type="none" w="med" len="med"/>
                      <a:tailEnd type="none" w="med" len="med"/>
                    </a:lnB>
                    <a:solidFill>
                      <a:schemeClr val="bg1"/>
                    </a:solidFill>
                  </a:tcPr>
                </a:tc>
                <a:tc>
                  <a:txBody>
                    <a:bodyPr/>
                    <a:lstStyle/>
                    <a:p>
                      <a:pPr algn="ctr" indent="0" marL="0">
                        <a:buNone/>
                      </a:pPr>
                      <a:r>
                        <a:rPr lang="en-US" sz="1300" b="1" dirty="0">
                          <a:solidFill>
                            <a:schemeClr val="tx1"/>
                          </a:solidFill>
                        </a:rPr>
                        <a:t>4–6</a:t>
                      </a:r>
                      <a:endParaRPr lang="en-US" sz="1300" dirty="0"/>
                    </a:p>
                  </a:txBody>
                  <a:tcPr marL="109728" marR="109728" marT="27432" marB="27432" anchor="ctr">
                    <a:lnL w="9525" cap="flat" cmpd="sng" algn="ctr">
                      <a:solidFill>
                        <a:srgbClr val="CFC688"/>
                      </a:solidFill>
                      <a:prstDash val="solid"/>
                      <a:round/>
                      <a:headEnd type="none" w="med" len="med"/>
                      <a:tailEnd type="none" w="med" len="med"/>
                    </a:lnL>
                    <a:lnR w="9525" cap="flat" cmpd="sng" algn="ctr">
                      <a:solidFill>
                        <a:srgbClr val="CFC688"/>
                      </a:solidFill>
                      <a:prstDash val="solid"/>
                      <a:round/>
                      <a:headEnd type="none" w="med" len="med"/>
                      <a:tailEnd type="none" w="med" len="med"/>
                    </a:lnR>
                    <a:lnT w="9525" cap="flat" cmpd="sng" algn="ctr">
                      <a:solidFill>
                        <a:srgbClr val="CFC688"/>
                      </a:solidFill>
                      <a:prstDash val="solid"/>
                      <a:round/>
                      <a:headEnd type="none" w="med" len="med"/>
                      <a:tailEnd type="none" w="med" len="med"/>
                    </a:lnT>
                    <a:lnB w="9525" cap="flat" cmpd="sng" algn="ctr">
                      <a:solidFill>
                        <a:srgbClr val="CFC688"/>
                      </a:solidFill>
                      <a:prstDash val="solid"/>
                      <a:round/>
                      <a:headEnd type="none" w="med" len="med"/>
                      <a:tailEnd type="none" w="med" len="med"/>
                    </a:lnB>
                    <a:solidFill>
                      <a:schemeClr val="bg1"/>
                    </a:solidFill>
                  </a:tcPr>
                </a:tc>
              </a:tr>
              <a:tr h="384048">
                <a:tc>
                  <a:txBody>
                    <a:bodyPr/>
                    <a:lstStyle/>
                    <a:p>
                      <a:pPr indent="0" marL="0">
                        <a:buNone/>
                      </a:pPr>
                      <a:r>
                        <a:rPr lang="en-US" sz="1300" b="1" dirty="0">
                          <a:solidFill>
                            <a:schemeClr val="accent1"/>
                          </a:solidFill>
                        </a:rPr>
                        <a:t>Target Users</a:t>
                      </a:r>
                      <a:endParaRPr lang="en-US" sz="1300" dirty="0"/>
                    </a:p>
                  </a:txBody>
                  <a:tcPr marL="109728" marR="109728" marT="27432" marB="27432" anchor="ctr">
                    <a:lnL w="9525" cap="flat" cmpd="sng" algn="ctr">
                      <a:solidFill>
                        <a:srgbClr val="CFC688"/>
                      </a:solidFill>
                      <a:prstDash val="solid"/>
                      <a:round/>
                      <a:headEnd type="none" w="med" len="med"/>
                      <a:tailEnd type="none" w="med" len="med"/>
                    </a:lnL>
                    <a:lnR w="9525" cap="flat" cmpd="sng" algn="ctr">
                      <a:solidFill>
                        <a:srgbClr val="CFC688"/>
                      </a:solidFill>
                      <a:prstDash val="solid"/>
                      <a:round/>
                      <a:headEnd type="none" w="med" len="med"/>
                      <a:tailEnd type="none" w="med" len="med"/>
                    </a:lnR>
                    <a:lnT w="9525" cap="flat" cmpd="sng" algn="ctr">
                      <a:solidFill>
                        <a:srgbClr val="CFC688"/>
                      </a:solidFill>
                      <a:prstDash val="solid"/>
                      <a:round/>
                      <a:headEnd type="none" w="med" len="med"/>
                      <a:tailEnd type="none" w="med" len="med"/>
                    </a:lnT>
                    <a:lnB w="9525" cap="flat" cmpd="sng" algn="ctr">
                      <a:solidFill>
                        <a:srgbClr val="CFC688"/>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Consumer-rights investigators and journalists; platform compliance teams; shoppers and regulators.</a:t>
                      </a:r>
                      <a:endParaRPr lang="en-US" sz="1300" dirty="0"/>
                    </a:p>
                  </a:txBody>
                  <a:tcPr marL="109728" marR="109728" marT="27432" marB="27432" anchor="ctr">
                    <a:lnL w="9525" cap="flat" cmpd="sng" algn="ctr">
                      <a:solidFill>
                        <a:srgbClr val="CFC688"/>
                      </a:solidFill>
                      <a:prstDash val="solid"/>
                      <a:round/>
                      <a:headEnd type="none" w="med" len="med"/>
                      <a:tailEnd type="none" w="med" len="med"/>
                    </a:lnL>
                    <a:lnR w="9525" cap="flat" cmpd="sng" algn="ctr">
                      <a:solidFill>
                        <a:srgbClr val="CFC688"/>
                      </a:solidFill>
                      <a:prstDash val="solid"/>
                      <a:round/>
                      <a:headEnd type="none" w="med" len="med"/>
                      <a:tailEnd type="none" w="med" len="med"/>
                    </a:lnR>
                    <a:lnT w="9525" cap="flat" cmpd="sng" algn="ctr">
                      <a:solidFill>
                        <a:srgbClr val="CFC688"/>
                      </a:solidFill>
                      <a:prstDash val="solid"/>
                      <a:round/>
                      <a:headEnd type="none" w="med" len="med"/>
                      <a:tailEnd type="none" w="med" len="med"/>
                    </a:lnT>
                    <a:lnB w="9525" cap="flat" cmpd="sng" algn="ctr">
                      <a:solidFill>
                        <a:srgbClr val="CFC688"/>
                      </a:solidFill>
                      <a:prstDash val="solid"/>
                      <a:round/>
                      <a:headEnd type="none" w="med" len="med"/>
                      <a:tailEnd type="none" w="med" len="med"/>
                    </a:lnB>
                    <a:solidFill>
                      <a:schemeClr val="bg1"/>
                    </a:solidFill>
                  </a:tcPr>
                </a:tc>
                <a:tc>
                  <a:txBody>
                    <a:bodyPr/>
                    <a:lstStyle/>
                    <a:p>
                      <a:pPr algn="ctr" indent="0" marL="0">
                        <a:buNone/>
                      </a:pPr>
                      <a:r>
                        <a:rPr lang="en-US" sz="1300" b="1" dirty="0">
                          <a:solidFill>
                            <a:schemeClr val="tx1"/>
                          </a:solidFill>
                        </a:rPr>
                        <a:t>7</a:t>
                      </a:r>
                      <a:endParaRPr lang="en-US" sz="1300" dirty="0"/>
                    </a:p>
                  </a:txBody>
                  <a:tcPr marL="109728" marR="109728" marT="27432" marB="27432" anchor="ctr">
                    <a:lnL w="9525" cap="flat" cmpd="sng" algn="ctr">
                      <a:solidFill>
                        <a:srgbClr val="CFC688"/>
                      </a:solidFill>
                      <a:prstDash val="solid"/>
                      <a:round/>
                      <a:headEnd type="none" w="med" len="med"/>
                      <a:tailEnd type="none" w="med" len="med"/>
                    </a:lnL>
                    <a:lnR w="9525" cap="flat" cmpd="sng" algn="ctr">
                      <a:solidFill>
                        <a:srgbClr val="CFC688"/>
                      </a:solidFill>
                      <a:prstDash val="solid"/>
                      <a:round/>
                      <a:headEnd type="none" w="med" len="med"/>
                      <a:tailEnd type="none" w="med" len="med"/>
                    </a:lnR>
                    <a:lnT w="9525" cap="flat" cmpd="sng" algn="ctr">
                      <a:solidFill>
                        <a:srgbClr val="CFC688"/>
                      </a:solidFill>
                      <a:prstDash val="solid"/>
                      <a:round/>
                      <a:headEnd type="none" w="med" len="med"/>
                      <a:tailEnd type="none" w="med" len="med"/>
                    </a:lnT>
                    <a:lnB w="9525" cap="flat" cmpd="sng" algn="ctr">
                      <a:solidFill>
                        <a:srgbClr val="CFC688"/>
                      </a:solidFill>
                      <a:prstDash val="solid"/>
                      <a:round/>
                      <a:headEnd type="none" w="med" len="med"/>
                      <a:tailEnd type="none" w="med" len="med"/>
                    </a:lnB>
                    <a:solidFill>
                      <a:schemeClr val="bg1"/>
                    </a:solidFill>
                  </a:tcPr>
                </a:tc>
              </a:tr>
              <a:tr h="384048">
                <a:tc>
                  <a:txBody>
                    <a:bodyPr/>
                    <a:lstStyle/>
                    <a:p>
                      <a:pPr indent="0" marL="0">
                        <a:buNone/>
                      </a:pPr>
                      <a:r>
                        <a:rPr lang="en-US" sz="1300" b="1" dirty="0">
                          <a:solidFill>
                            <a:schemeClr val="accent1"/>
                          </a:solidFill>
                        </a:rPr>
                        <a:t>Role of ML and AI</a:t>
                      </a:r>
                      <a:endParaRPr lang="en-US" sz="1300" dirty="0"/>
                    </a:p>
                  </a:txBody>
                  <a:tcPr marL="109728" marR="109728" marT="27432" marB="27432" anchor="ctr">
                    <a:lnL w="9525" cap="flat" cmpd="sng" algn="ctr">
                      <a:solidFill>
                        <a:srgbClr val="CFC688"/>
                      </a:solidFill>
                      <a:prstDash val="solid"/>
                      <a:round/>
                      <a:headEnd type="none" w="med" len="med"/>
                      <a:tailEnd type="none" w="med" len="med"/>
                    </a:lnL>
                    <a:lnR w="9525" cap="flat" cmpd="sng" algn="ctr">
                      <a:solidFill>
                        <a:srgbClr val="CFC688"/>
                      </a:solidFill>
                      <a:prstDash val="solid"/>
                      <a:round/>
                      <a:headEnd type="none" w="med" len="med"/>
                      <a:tailEnd type="none" w="med" len="med"/>
                    </a:lnR>
                    <a:lnT w="9525" cap="flat" cmpd="sng" algn="ctr">
                      <a:solidFill>
                        <a:srgbClr val="CFC688"/>
                      </a:solidFill>
                      <a:prstDash val="solid"/>
                      <a:round/>
                      <a:headEnd type="none" w="med" len="med"/>
                      <a:tailEnd type="none" w="med" len="med"/>
                    </a:lnT>
                    <a:lnB w="9525" cap="flat" cmpd="sng" algn="ctr">
                      <a:solidFill>
                        <a:srgbClr val="CFC688"/>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Trained copy classifier (macro-F1 0.89 on unseen text), price regression with BH correction; Gemini agent + ADK.</a:t>
                      </a:r>
                      <a:endParaRPr lang="en-US" sz="1300" dirty="0"/>
                    </a:p>
                  </a:txBody>
                  <a:tcPr marL="109728" marR="109728" marT="27432" marB="27432" anchor="ctr">
                    <a:lnL w="9525" cap="flat" cmpd="sng" algn="ctr">
                      <a:solidFill>
                        <a:srgbClr val="CFC688"/>
                      </a:solidFill>
                      <a:prstDash val="solid"/>
                      <a:round/>
                      <a:headEnd type="none" w="med" len="med"/>
                      <a:tailEnd type="none" w="med" len="med"/>
                    </a:lnL>
                    <a:lnR w="9525" cap="flat" cmpd="sng" algn="ctr">
                      <a:solidFill>
                        <a:srgbClr val="CFC688"/>
                      </a:solidFill>
                      <a:prstDash val="solid"/>
                      <a:round/>
                      <a:headEnd type="none" w="med" len="med"/>
                      <a:tailEnd type="none" w="med" len="med"/>
                    </a:lnR>
                    <a:lnT w="9525" cap="flat" cmpd="sng" algn="ctr">
                      <a:solidFill>
                        <a:srgbClr val="CFC688"/>
                      </a:solidFill>
                      <a:prstDash val="solid"/>
                      <a:round/>
                      <a:headEnd type="none" w="med" len="med"/>
                      <a:tailEnd type="none" w="med" len="med"/>
                    </a:lnT>
                    <a:lnB w="9525" cap="flat" cmpd="sng" algn="ctr">
                      <a:solidFill>
                        <a:srgbClr val="CFC688"/>
                      </a:solidFill>
                      <a:prstDash val="solid"/>
                      <a:round/>
                      <a:headEnd type="none" w="med" len="med"/>
                      <a:tailEnd type="none" w="med" len="med"/>
                    </a:lnB>
                    <a:solidFill>
                      <a:schemeClr val="bg1"/>
                    </a:solidFill>
                  </a:tcPr>
                </a:tc>
                <a:tc>
                  <a:txBody>
                    <a:bodyPr/>
                    <a:lstStyle/>
                    <a:p>
                      <a:pPr algn="ctr" indent="0" marL="0">
                        <a:buNone/>
                      </a:pPr>
                      <a:r>
                        <a:rPr lang="en-US" sz="1300" b="1" dirty="0">
                          <a:solidFill>
                            <a:schemeClr val="tx1"/>
                          </a:solidFill>
                        </a:rPr>
                        <a:t>8–9</a:t>
                      </a:r>
                      <a:endParaRPr lang="en-US" sz="1300" dirty="0"/>
                    </a:p>
                  </a:txBody>
                  <a:tcPr marL="109728" marR="109728" marT="27432" marB="27432" anchor="ctr">
                    <a:lnL w="9525" cap="flat" cmpd="sng" algn="ctr">
                      <a:solidFill>
                        <a:srgbClr val="CFC688"/>
                      </a:solidFill>
                      <a:prstDash val="solid"/>
                      <a:round/>
                      <a:headEnd type="none" w="med" len="med"/>
                      <a:tailEnd type="none" w="med" len="med"/>
                    </a:lnL>
                    <a:lnR w="9525" cap="flat" cmpd="sng" algn="ctr">
                      <a:solidFill>
                        <a:srgbClr val="CFC688"/>
                      </a:solidFill>
                      <a:prstDash val="solid"/>
                      <a:round/>
                      <a:headEnd type="none" w="med" len="med"/>
                      <a:tailEnd type="none" w="med" len="med"/>
                    </a:lnR>
                    <a:lnT w="9525" cap="flat" cmpd="sng" algn="ctr">
                      <a:solidFill>
                        <a:srgbClr val="CFC688"/>
                      </a:solidFill>
                      <a:prstDash val="solid"/>
                      <a:round/>
                      <a:headEnd type="none" w="med" len="med"/>
                      <a:tailEnd type="none" w="med" len="med"/>
                    </a:lnT>
                    <a:lnB w="9525" cap="flat" cmpd="sng" algn="ctr">
                      <a:solidFill>
                        <a:srgbClr val="CFC688"/>
                      </a:solidFill>
                      <a:prstDash val="solid"/>
                      <a:round/>
                      <a:headEnd type="none" w="med" len="med"/>
                      <a:tailEnd type="none" w="med" len="med"/>
                    </a:lnB>
                    <a:solidFill>
                      <a:schemeClr val="bg1"/>
                    </a:solidFill>
                  </a:tcPr>
                </a:tc>
              </a:tr>
              <a:tr h="384048">
                <a:tc>
                  <a:txBody>
                    <a:bodyPr/>
                    <a:lstStyle/>
                    <a:p>
                      <a:pPr indent="0" marL="0">
                        <a:buNone/>
                      </a:pPr>
                      <a:r>
                        <a:rPr lang="en-US" sz="1300" b="1" dirty="0">
                          <a:solidFill>
                            <a:schemeClr val="accent1"/>
                          </a:solidFill>
                        </a:rPr>
                        <a:t>Technical Approach</a:t>
                      </a:r>
                      <a:endParaRPr lang="en-US" sz="1300" dirty="0"/>
                    </a:p>
                  </a:txBody>
                  <a:tcPr marL="109728" marR="109728" marT="27432" marB="27432" anchor="ctr">
                    <a:lnL w="9525" cap="flat" cmpd="sng" algn="ctr">
                      <a:solidFill>
                        <a:srgbClr val="CFC688"/>
                      </a:solidFill>
                      <a:prstDash val="solid"/>
                      <a:round/>
                      <a:headEnd type="none" w="med" len="med"/>
                      <a:tailEnd type="none" w="med" len="med"/>
                    </a:lnL>
                    <a:lnR w="9525" cap="flat" cmpd="sng" algn="ctr">
                      <a:solidFill>
                        <a:srgbClr val="CFC688"/>
                      </a:solidFill>
                      <a:prstDash val="solid"/>
                      <a:round/>
                      <a:headEnd type="none" w="med" len="med"/>
                      <a:tailEnd type="none" w="med" len="med"/>
                    </a:lnR>
                    <a:lnT w="9525" cap="flat" cmpd="sng" algn="ctr">
                      <a:solidFill>
                        <a:srgbClr val="CFC688"/>
                      </a:solidFill>
                      <a:prstDash val="solid"/>
                      <a:round/>
                      <a:headEnd type="none" w="med" len="med"/>
                      <a:tailEnd type="none" w="med" len="med"/>
                    </a:lnT>
                    <a:lnB w="9525" cap="flat" cmpd="sng" algn="ctr">
                      <a:solidFill>
                        <a:srgbClr val="CFC688"/>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FastAPI pipeline, two browser lanes, evidence at every step, hard pay-button guard, 94 tests.</a:t>
                      </a:r>
                      <a:endParaRPr lang="en-US" sz="1300" dirty="0"/>
                    </a:p>
                  </a:txBody>
                  <a:tcPr marL="109728" marR="109728" marT="27432" marB="27432" anchor="ctr">
                    <a:lnL w="9525" cap="flat" cmpd="sng" algn="ctr">
                      <a:solidFill>
                        <a:srgbClr val="CFC688"/>
                      </a:solidFill>
                      <a:prstDash val="solid"/>
                      <a:round/>
                      <a:headEnd type="none" w="med" len="med"/>
                      <a:tailEnd type="none" w="med" len="med"/>
                    </a:lnL>
                    <a:lnR w="9525" cap="flat" cmpd="sng" algn="ctr">
                      <a:solidFill>
                        <a:srgbClr val="CFC688"/>
                      </a:solidFill>
                      <a:prstDash val="solid"/>
                      <a:round/>
                      <a:headEnd type="none" w="med" len="med"/>
                      <a:tailEnd type="none" w="med" len="med"/>
                    </a:lnR>
                    <a:lnT w="9525" cap="flat" cmpd="sng" algn="ctr">
                      <a:solidFill>
                        <a:srgbClr val="CFC688"/>
                      </a:solidFill>
                      <a:prstDash val="solid"/>
                      <a:round/>
                      <a:headEnd type="none" w="med" len="med"/>
                      <a:tailEnd type="none" w="med" len="med"/>
                    </a:lnT>
                    <a:lnB w="9525" cap="flat" cmpd="sng" algn="ctr">
                      <a:solidFill>
                        <a:srgbClr val="CFC688"/>
                      </a:solidFill>
                      <a:prstDash val="solid"/>
                      <a:round/>
                      <a:headEnd type="none" w="med" len="med"/>
                      <a:tailEnd type="none" w="med" len="med"/>
                    </a:lnB>
                    <a:solidFill>
                      <a:schemeClr val="bg1"/>
                    </a:solidFill>
                  </a:tcPr>
                </a:tc>
                <a:tc>
                  <a:txBody>
                    <a:bodyPr/>
                    <a:lstStyle/>
                    <a:p>
                      <a:pPr algn="ctr" indent="0" marL="0">
                        <a:buNone/>
                      </a:pPr>
                      <a:r>
                        <a:rPr lang="en-US" sz="1300" b="1" dirty="0">
                          <a:solidFill>
                            <a:schemeClr val="tx1"/>
                          </a:solidFill>
                        </a:rPr>
                        <a:t>10–11</a:t>
                      </a:r>
                      <a:endParaRPr lang="en-US" sz="1300" dirty="0"/>
                    </a:p>
                  </a:txBody>
                  <a:tcPr marL="109728" marR="109728" marT="27432" marB="27432" anchor="ctr">
                    <a:lnL w="9525" cap="flat" cmpd="sng" algn="ctr">
                      <a:solidFill>
                        <a:srgbClr val="CFC688"/>
                      </a:solidFill>
                      <a:prstDash val="solid"/>
                      <a:round/>
                      <a:headEnd type="none" w="med" len="med"/>
                      <a:tailEnd type="none" w="med" len="med"/>
                    </a:lnL>
                    <a:lnR w="9525" cap="flat" cmpd="sng" algn="ctr">
                      <a:solidFill>
                        <a:srgbClr val="CFC688"/>
                      </a:solidFill>
                      <a:prstDash val="solid"/>
                      <a:round/>
                      <a:headEnd type="none" w="med" len="med"/>
                      <a:tailEnd type="none" w="med" len="med"/>
                    </a:lnR>
                    <a:lnT w="9525" cap="flat" cmpd="sng" algn="ctr">
                      <a:solidFill>
                        <a:srgbClr val="CFC688"/>
                      </a:solidFill>
                      <a:prstDash val="solid"/>
                      <a:round/>
                      <a:headEnd type="none" w="med" len="med"/>
                      <a:tailEnd type="none" w="med" len="med"/>
                    </a:lnT>
                    <a:lnB w="9525" cap="flat" cmpd="sng" algn="ctr">
                      <a:solidFill>
                        <a:srgbClr val="CFC688"/>
                      </a:solidFill>
                      <a:prstDash val="solid"/>
                      <a:round/>
                      <a:headEnd type="none" w="med" len="med"/>
                      <a:tailEnd type="none" w="med" len="med"/>
                    </a:lnB>
                    <a:solidFill>
                      <a:schemeClr val="bg1"/>
                    </a:solidFill>
                  </a:tcPr>
                </a:tc>
              </a:tr>
              <a:tr h="384048">
                <a:tc>
                  <a:txBody>
                    <a:bodyPr/>
                    <a:lstStyle/>
                    <a:p>
                      <a:pPr indent="0" marL="0">
                        <a:buNone/>
                      </a:pPr>
                      <a:r>
                        <a:rPr lang="en-US" sz="1300" b="1" dirty="0">
                          <a:solidFill>
                            <a:schemeClr val="accent1"/>
                          </a:solidFill>
                        </a:rPr>
                        <a:t>Real-World Validation</a:t>
                      </a:r>
                      <a:endParaRPr lang="en-US" sz="1300" dirty="0"/>
                    </a:p>
                  </a:txBody>
                  <a:tcPr marL="109728" marR="109728" marT="27432" marB="27432" anchor="ctr">
                    <a:lnL w="9525" cap="flat" cmpd="sng" algn="ctr">
                      <a:solidFill>
                        <a:srgbClr val="CFC688"/>
                      </a:solidFill>
                      <a:prstDash val="solid"/>
                      <a:round/>
                      <a:headEnd type="none" w="med" len="med"/>
                      <a:tailEnd type="none" w="med" len="med"/>
                    </a:lnL>
                    <a:lnR w="9525" cap="flat" cmpd="sng" algn="ctr">
                      <a:solidFill>
                        <a:srgbClr val="CFC688"/>
                      </a:solidFill>
                      <a:prstDash val="solid"/>
                      <a:round/>
                      <a:headEnd type="none" w="med" len="med"/>
                      <a:tailEnd type="none" w="med" len="med"/>
                    </a:lnR>
                    <a:lnT w="9525" cap="flat" cmpd="sng" algn="ctr">
                      <a:solidFill>
                        <a:srgbClr val="CFC688"/>
                      </a:solidFill>
                      <a:prstDash val="solid"/>
                      <a:round/>
                      <a:headEnd type="none" w="med" len="med"/>
                      <a:tailEnd type="none" w="med" len="med"/>
                    </a:lnT>
                    <a:lnB w="9525" cap="flat" cmpd="sng" algn="ctr">
                      <a:solidFill>
                        <a:srgbClr val="CFC688"/>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Audited live Indian shops: bummer.in and fardaclothing.com reached payment; 30 sites probed.</a:t>
                      </a:r>
                      <a:endParaRPr lang="en-US" sz="1300" dirty="0"/>
                    </a:p>
                  </a:txBody>
                  <a:tcPr marL="109728" marR="109728" marT="27432" marB="27432" anchor="ctr">
                    <a:lnL w="9525" cap="flat" cmpd="sng" algn="ctr">
                      <a:solidFill>
                        <a:srgbClr val="CFC688"/>
                      </a:solidFill>
                      <a:prstDash val="solid"/>
                      <a:round/>
                      <a:headEnd type="none" w="med" len="med"/>
                      <a:tailEnd type="none" w="med" len="med"/>
                    </a:lnL>
                    <a:lnR w="9525" cap="flat" cmpd="sng" algn="ctr">
                      <a:solidFill>
                        <a:srgbClr val="CFC688"/>
                      </a:solidFill>
                      <a:prstDash val="solid"/>
                      <a:round/>
                      <a:headEnd type="none" w="med" len="med"/>
                      <a:tailEnd type="none" w="med" len="med"/>
                    </a:lnR>
                    <a:lnT w="9525" cap="flat" cmpd="sng" algn="ctr">
                      <a:solidFill>
                        <a:srgbClr val="CFC688"/>
                      </a:solidFill>
                      <a:prstDash val="solid"/>
                      <a:round/>
                      <a:headEnd type="none" w="med" len="med"/>
                      <a:tailEnd type="none" w="med" len="med"/>
                    </a:lnT>
                    <a:lnB w="9525" cap="flat" cmpd="sng" algn="ctr">
                      <a:solidFill>
                        <a:srgbClr val="CFC688"/>
                      </a:solidFill>
                      <a:prstDash val="solid"/>
                      <a:round/>
                      <a:headEnd type="none" w="med" len="med"/>
                      <a:tailEnd type="none" w="med" len="med"/>
                    </a:lnB>
                    <a:solidFill>
                      <a:schemeClr val="bg1"/>
                    </a:solidFill>
                  </a:tcPr>
                </a:tc>
                <a:tc>
                  <a:txBody>
                    <a:bodyPr/>
                    <a:lstStyle/>
                    <a:p>
                      <a:pPr algn="ctr" indent="0" marL="0">
                        <a:buNone/>
                      </a:pPr>
                      <a:r>
                        <a:rPr lang="en-US" sz="1300" b="1" dirty="0">
                          <a:solidFill>
                            <a:schemeClr val="tx1"/>
                          </a:solidFill>
                        </a:rPr>
                        <a:t>12</a:t>
                      </a:r>
                      <a:endParaRPr lang="en-US" sz="1300" dirty="0"/>
                    </a:p>
                  </a:txBody>
                  <a:tcPr marL="109728" marR="109728" marT="27432" marB="27432" anchor="ctr">
                    <a:lnL w="9525" cap="flat" cmpd="sng" algn="ctr">
                      <a:solidFill>
                        <a:srgbClr val="CFC688"/>
                      </a:solidFill>
                      <a:prstDash val="solid"/>
                      <a:round/>
                      <a:headEnd type="none" w="med" len="med"/>
                      <a:tailEnd type="none" w="med" len="med"/>
                    </a:lnL>
                    <a:lnR w="9525" cap="flat" cmpd="sng" algn="ctr">
                      <a:solidFill>
                        <a:srgbClr val="CFC688"/>
                      </a:solidFill>
                      <a:prstDash val="solid"/>
                      <a:round/>
                      <a:headEnd type="none" w="med" len="med"/>
                      <a:tailEnd type="none" w="med" len="med"/>
                    </a:lnR>
                    <a:lnT w="9525" cap="flat" cmpd="sng" algn="ctr">
                      <a:solidFill>
                        <a:srgbClr val="CFC688"/>
                      </a:solidFill>
                      <a:prstDash val="solid"/>
                      <a:round/>
                      <a:headEnd type="none" w="med" len="med"/>
                      <a:tailEnd type="none" w="med" len="med"/>
                    </a:lnT>
                    <a:lnB w="9525" cap="flat" cmpd="sng" algn="ctr">
                      <a:solidFill>
                        <a:srgbClr val="CFC688"/>
                      </a:solidFill>
                      <a:prstDash val="solid"/>
                      <a:round/>
                      <a:headEnd type="none" w="med" len="med"/>
                      <a:tailEnd type="none" w="med" len="med"/>
                    </a:lnB>
                    <a:solidFill>
                      <a:schemeClr val="bg1"/>
                    </a:solidFill>
                  </a:tcPr>
                </a:tc>
              </a:tr>
              <a:tr h="384048">
                <a:tc>
                  <a:txBody>
                    <a:bodyPr/>
                    <a:lstStyle/>
                    <a:p>
                      <a:pPr indent="0" marL="0">
                        <a:buNone/>
                      </a:pPr>
                      <a:r>
                        <a:rPr lang="en-US" sz="1300" b="1" dirty="0">
                          <a:solidFill>
                            <a:schemeClr val="accent1"/>
                          </a:solidFill>
                        </a:rPr>
                        <a:t>TinyFish Integration</a:t>
                      </a:r>
                      <a:endParaRPr lang="en-US" sz="1300" dirty="0"/>
                    </a:p>
                  </a:txBody>
                  <a:tcPr marL="109728" marR="109728" marT="27432" marB="27432" anchor="ctr">
                    <a:lnL w="9525" cap="flat" cmpd="sng" algn="ctr">
                      <a:solidFill>
                        <a:srgbClr val="CFC688"/>
                      </a:solidFill>
                      <a:prstDash val="solid"/>
                      <a:round/>
                      <a:headEnd type="none" w="med" len="med"/>
                      <a:tailEnd type="none" w="med" len="med"/>
                    </a:lnL>
                    <a:lnR w="9525" cap="flat" cmpd="sng" algn="ctr">
                      <a:solidFill>
                        <a:srgbClr val="CFC688"/>
                      </a:solidFill>
                      <a:prstDash val="solid"/>
                      <a:round/>
                      <a:headEnd type="none" w="med" len="med"/>
                      <a:tailEnd type="none" w="med" len="med"/>
                    </a:lnR>
                    <a:lnT w="9525" cap="flat" cmpd="sng" algn="ctr">
                      <a:solidFill>
                        <a:srgbClr val="CFC688"/>
                      </a:solidFill>
                      <a:prstDash val="solid"/>
                      <a:round/>
                      <a:headEnd type="none" w="med" len="med"/>
                      <a:tailEnd type="none" w="med" len="med"/>
                    </a:lnT>
                    <a:lnB w="9525" cap="flat" cmpd="sng" algn="ctr">
                      <a:solidFill>
                        <a:srgbClr val="CFC688"/>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All 4 APIs wired and verified; Agent API walked bummer.in to checkout in 13 steps.</a:t>
                      </a:r>
                      <a:endParaRPr lang="en-US" sz="1300" dirty="0"/>
                    </a:p>
                  </a:txBody>
                  <a:tcPr marL="109728" marR="109728" marT="27432" marB="27432" anchor="ctr">
                    <a:lnL w="9525" cap="flat" cmpd="sng" algn="ctr">
                      <a:solidFill>
                        <a:srgbClr val="CFC688"/>
                      </a:solidFill>
                      <a:prstDash val="solid"/>
                      <a:round/>
                      <a:headEnd type="none" w="med" len="med"/>
                      <a:tailEnd type="none" w="med" len="med"/>
                    </a:lnL>
                    <a:lnR w="9525" cap="flat" cmpd="sng" algn="ctr">
                      <a:solidFill>
                        <a:srgbClr val="CFC688"/>
                      </a:solidFill>
                      <a:prstDash val="solid"/>
                      <a:round/>
                      <a:headEnd type="none" w="med" len="med"/>
                      <a:tailEnd type="none" w="med" len="med"/>
                    </a:lnR>
                    <a:lnT w="9525" cap="flat" cmpd="sng" algn="ctr">
                      <a:solidFill>
                        <a:srgbClr val="CFC688"/>
                      </a:solidFill>
                      <a:prstDash val="solid"/>
                      <a:round/>
                      <a:headEnd type="none" w="med" len="med"/>
                      <a:tailEnd type="none" w="med" len="med"/>
                    </a:lnT>
                    <a:lnB w="9525" cap="flat" cmpd="sng" algn="ctr">
                      <a:solidFill>
                        <a:srgbClr val="CFC688"/>
                      </a:solidFill>
                      <a:prstDash val="solid"/>
                      <a:round/>
                      <a:headEnd type="none" w="med" len="med"/>
                      <a:tailEnd type="none" w="med" len="med"/>
                    </a:lnB>
                    <a:solidFill>
                      <a:schemeClr val="bg1"/>
                    </a:solidFill>
                  </a:tcPr>
                </a:tc>
                <a:tc>
                  <a:txBody>
                    <a:bodyPr/>
                    <a:lstStyle/>
                    <a:p>
                      <a:pPr algn="ctr" indent="0" marL="0">
                        <a:buNone/>
                      </a:pPr>
                      <a:r>
                        <a:rPr lang="en-US" sz="1300" b="1" dirty="0">
                          <a:solidFill>
                            <a:schemeClr val="tx1"/>
                          </a:solidFill>
                        </a:rPr>
                        <a:t>13–14</a:t>
                      </a:r>
                      <a:endParaRPr lang="en-US" sz="1300" dirty="0"/>
                    </a:p>
                  </a:txBody>
                  <a:tcPr marL="109728" marR="109728" marT="27432" marB="27432" anchor="ctr">
                    <a:lnL w="9525" cap="flat" cmpd="sng" algn="ctr">
                      <a:solidFill>
                        <a:srgbClr val="CFC688"/>
                      </a:solidFill>
                      <a:prstDash val="solid"/>
                      <a:round/>
                      <a:headEnd type="none" w="med" len="med"/>
                      <a:tailEnd type="none" w="med" len="med"/>
                    </a:lnL>
                    <a:lnR w="9525" cap="flat" cmpd="sng" algn="ctr">
                      <a:solidFill>
                        <a:srgbClr val="CFC688"/>
                      </a:solidFill>
                      <a:prstDash val="solid"/>
                      <a:round/>
                      <a:headEnd type="none" w="med" len="med"/>
                      <a:tailEnd type="none" w="med" len="med"/>
                    </a:lnR>
                    <a:lnT w="9525" cap="flat" cmpd="sng" algn="ctr">
                      <a:solidFill>
                        <a:srgbClr val="CFC688"/>
                      </a:solidFill>
                      <a:prstDash val="solid"/>
                      <a:round/>
                      <a:headEnd type="none" w="med" len="med"/>
                      <a:tailEnd type="none" w="med" len="med"/>
                    </a:lnT>
                    <a:lnB w="9525" cap="flat" cmpd="sng" algn="ctr">
                      <a:solidFill>
                        <a:srgbClr val="CFC688"/>
                      </a:solidFill>
                      <a:prstDash val="solid"/>
                      <a:round/>
                      <a:headEnd type="none" w="med" len="med"/>
                      <a:tailEnd type="none" w="med" len="med"/>
                    </a:lnB>
                    <a:solidFill>
                      <a:schemeClr val="bg1"/>
                    </a:solidFill>
                  </a:tcPr>
                </a:tc>
              </a:tr>
              <a:tr h="384048">
                <a:tc>
                  <a:txBody>
                    <a:bodyPr/>
                    <a:lstStyle/>
                    <a:p>
                      <a:pPr indent="0" marL="0">
                        <a:buNone/>
                      </a:pPr>
                      <a:r>
                        <a:rPr lang="en-US" sz="1300" b="1" dirty="0">
                          <a:solidFill>
                            <a:schemeClr val="accent1"/>
                          </a:solidFill>
                        </a:rPr>
                        <a:t>Expected Impact</a:t>
                      </a:r>
                      <a:endParaRPr lang="en-US" sz="1300" dirty="0"/>
                    </a:p>
                  </a:txBody>
                  <a:tcPr marL="109728" marR="109728" marT="27432" marB="27432" anchor="ctr">
                    <a:lnL w="9525" cap="flat" cmpd="sng" algn="ctr">
                      <a:solidFill>
                        <a:srgbClr val="CFC688"/>
                      </a:solidFill>
                      <a:prstDash val="solid"/>
                      <a:round/>
                      <a:headEnd type="none" w="med" len="med"/>
                      <a:tailEnd type="none" w="med" len="med"/>
                    </a:lnL>
                    <a:lnR w="9525" cap="flat" cmpd="sng" algn="ctr">
                      <a:solidFill>
                        <a:srgbClr val="CFC688"/>
                      </a:solidFill>
                      <a:prstDash val="solid"/>
                      <a:round/>
                      <a:headEnd type="none" w="med" len="med"/>
                      <a:tailEnd type="none" w="med" len="med"/>
                    </a:lnR>
                    <a:lnT w="9525" cap="flat" cmpd="sng" algn="ctr">
                      <a:solidFill>
                        <a:srgbClr val="CFC688"/>
                      </a:solidFill>
                      <a:prstDash val="solid"/>
                      <a:round/>
                      <a:headEnd type="none" w="med" len="med"/>
                      <a:tailEnd type="none" w="med" len="med"/>
                    </a:lnT>
                    <a:lnB w="9525" cap="flat" cmpd="sng" algn="ctr">
                      <a:solidFill>
                        <a:srgbClr val="CFC688"/>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Suspicion to statistics, complaint to case file; pilot: 2 NGOs, 50 Indian sites, about ₹22,000.</a:t>
                      </a:r>
                      <a:endParaRPr lang="en-US" sz="1300" dirty="0"/>
                    </a:p>
                  </a:txBody>
                  <a:tcPr marL="109728" marR="109728" marT="27432" marB="27432" anchor="ctr">
                    <a:lnL w="9525" cap="flat" cmpd="sng" algn="ctr">
                      <a:solidFill>
                        <a:srgbClr val="CFC688"/>
                      </a:solidFill>
                      <a:prstDash val="solid"/>
                      <a:round/>
                      <a:headEnd type="none" w="med" len="med"/>
                      <a:tailEnd type="none" w="med" len="med"/>
                    </a:lnL>
                    <a:lnR w="9525" cap="flat" cmpd="sng" algn="ctr">
                      <a:solidFill>
                        <a:srgbClr val="CFC688"/>
                      </a:solidFill>
                      <a:prstDash val="solid"/>
                      <a:round/>
                      <a:headEnd type="none" w="med" len="med"/>
                      <a:tailEnd type="none" w="med" len="med"/>
                    </a:lnR>
                    <a:lnT w="9525" cap="flat" cmpd="sng" algn="ctr">
                      <a:solidFill>
                        <a:srgbClr val="CFC688"/>
                      </a:solidFill>
                      <a:prstDash val="solid"/>
                      <a:round/>
                      <a:headEnd type="none" w="med" len="med"/>
                      <a:tailEnd type="none" w="med" len="med"/>
                    </a:lnT>
                    <a:lnB w="9525" cap="flat" cmpd="sng" algn="ctr">
                      <a:solidFill>
                        <a:srgbClr val="CFC688"/>
                      </a:solidFill>
                      <a:prstDash val="solid"/>
                      <a:round/>
                      <a:headEnd type="none" w="med" len="med"/>
                      <a:tailEnd type="none" w="med" len="med"/>
                    </a:lnB>
                    <a:solidFill>
                      <a:schemeClr val="bg1"/>
                    </a:solidFill>
                  </a:tcPr>
                </a:tc>
                <a:tc>
                  <a:txBody>
                    <a:bodyPr/>
                    <a:lstStyle/>
                    <a:p>
                      <a:pPr algn="ctr" indent="0" marL="0">
                        <a:buNone/>
                      </a:pPr>
                      <a:r>
                        <a:rPr lang="en-US" sz="1300" b="1" dirty="0">
                          <a:solidFill>
                            <a:schemeClr val="tx1"/>
                          </a:solidFill>
                        </a:rPr>
                        <a:t>15</a:t>
                      </a:r>
                      <a:endParaRPr lang="en-US" sz="1300" dirty="0"/>
                    </a:p>
                  </a:txBody>
                  <a:tcPr marL="109728" marR="109728" marT="27432" marB="27432" anchor="ctr">
                    <a:lnL w="9525" cap="flat" cmpd="sng" algn="ctr">
                      <a:solidFill>
                        <a:srgbClr val="CFC688"/>
                      </a:solidFill>
                      <a:prstDash val="solid"/>
                      <a:round/>
                      <a:headEnd type="none" w="med" len="med"/>
                      <a:tailEnd type="none" w="med" len="med"/>
                    </a:lnL>
                    <a:lnR w="9525" cap="flat" cmpd="sng" algn="ctr">
                      <a:solidFill>
                        <a:srgbClr val="CFC688"/>
                      </a:solidFill>
                      <a:prstDash val="solid"/>
                      <a:round/>
                      <a:headEnd type="none" w="med" len="med"/>
                      <a:tailEnd type="none" w="med" len="med"/>
                    </a:lnR>
                    <a:lnT w="9525" cap="flat" cmpd="sng" algn="ctr">
                      <a:solidFill>
                        <a:srgbClr val="CFC688"/>
                      </a:solidFill>
                      <a:prstDash val="solid"/>
                      <a:round/>
                      <a:headEnd type="none" w="med" len="med"/>
                      <a:tailEnd type="none" w="med" len="med"/>
                    </a:lnT>
                    <a:lnB w="9525" cap="flat" cmpd="sng" algn="ctr">
                      <a:solidFill>
                        <a:srgbClr val="CFC688"/>
                      </a:solidFill>
                      <a:prstDash val="solid"/>
                      <a:round/>
                      <a:headEnd type="none" w="med" len="med"/>
                      <a:tailEnd type="none" w="med" len="med"/>
                    </a:lnB>
                    <a:solidFill>
                      <a:schemeClr val="bg1"/>
                    </a:solidFill>
                  </a:tcPr>
                </a:tc>
              </a:tr>
              <a:tr h="384048">
                <a:tc>
                  <a:txBody>
                    <a:bodyPr/>
                    <a:lstStyle/>
                    <a:p>
                      <a:pPr indent="0" marL="0">
                        <a:buNone/>
                      </a:pPr>
                      <a:r>
                        <a:rPr lang="en-US" sz="1300" b="1" dirty="0">
                          <a:solidFill>
                            <a:schemeClr val="accent1"/>
                          </a:solidFill>
                        </a:rPr>
                        <a:t>Feasibility</a:t>
                      </a:r>
                      <a:endParaRPr lang="en-US" sz="1300" dirty="0"/>
                    </a:p>
                  </a:txBody>
                  <a:tcPr marL="109728" marR="109728" marT="27432" marB="27432" anchor="ctr">
                    <a:lnL w="9525" cap="flat" cmpd="sng" algn="ctr">
                      <a:solidFill>
                        <a:srgbClr val="CFC688"/>
                      </a:solidFill>
                      <a:prstDash val="solid"/>
                      <a:round/>
                      <a:headEnd type="none" w="med" len="med"/>
                      <a:tailEnd type="none" w="med" len="med"/>
                    </a:lnL>
                    <a:lnR w="9525" cap="flat" cmpd="sng" algn="ctr">
                      <a:solidFill>
                        <a:srgbClr val="CFC688"/>
                      </a:solidFill>
                      <a:prstDash val="solid"/>
                      <a:round/>
                      <a:headEnd type="none" w="med" len="med"/>
                      <a:tailEnd type="none" w="med" len="med"/>
                    </a:lnR>
                    <a:lnT w="9525" cap="flat" cmpd="sng" algn="ctr">
                      <a:solidFill>
                        <a:srgbClr val="CFC688"/>
                      </a:solidFill>
                      <a:prstDash val="solid"/>
                      <a:round/>
                      <a:headEnd type="none" w="med" len="med"/>
                      <a:tailEnd type="none" w="med" len="med"/>
                    </a:lnT>
                    <a:lnB w="9525" cap="flat" cmpd="sng" algn="ctr">
                      <a:solidFill>
                        <a:srgbClr val="CFC688"/>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Working today; honest risk list with a mitigation for each (bot walls reported, never bypassed).</a:t>
                      </a:r>
                      <a:endParaRPr lang="en-US" sz="1300" dirty="0"/>
                    </a:p>
                  </a:txBody>
                  <a:tcPr marL="109728" marR="109728" marT="27432" marB="27432" anchor="ctr">
                    <a:lnL w="9525" cap="flat" cmpd="sng" algn="ctr">
                      <a:solidFill>
                        <a:srgbClr val="CFC688"/>
                      </a:solidFill>
                      <a:prstDash val="solid"/>
                      <a:round/>
                      <a:headEnd type="none" w="med" len="med"/>
                      <a:tailEnd type="none" w="med" len="med"/>
                    </a:lnL>
                    <a:lnR w="9525" cap="flat" cmpd="sng" algn="ctr">
                      <a:solidFill>
                        <a:srgbClr val="CFC688"/>
                      </a:solidFill>
                      <a:prstDash val="solid"/>
                      <a:round/>
                      <a:headEnd type="none" w="med" len="med"/>
                      <a:tailEnd type="none" w="med" len="med"/>
                    </a:lnR>
                    <a:lnT w="9525" cap="flat" cmpd="sng" algn="ctr">
                      <a:solidFill>
                        <a:srgbClr val="CFC688"/>
                      </a:solidFill>
                      <a:prstDash val="solid"/>
                      <a:round/>
                      <a:headEnd type="none" w="med" len="med"/>
                      <a:tailEnd type="none" w="med" len="med"/>
                    </a:lnT>
                    <a:lnB w="9525" cap="flat" cmpd="sng" algn="ctr">
                      <a:solidFill>
                        <a:srgbClr val="CFC688"/>
                      </a:solidFill>
                      <a:prstDash val="solid"/>
                      <a:round/>
                      <a:headEnd type="none" w="med" len="med"/>
                      <a:tailEnd type="none" w="med" len="med"/>
                    </a:lnB>
                    <a:solidFill>
                      <a:schemeClr val="bg1"/>
                    </a:solidFill>
                  </a:tcPr>
                </a:tc>
                <a:tc>
                  <a:txBody>
                    <a:bodyPr/>
                    <a:lstStyle/>
                    <a:p>
                      <a:pPr algn="ctr" indent="0" marL="0">
                        <a:buNone/>
                      </a:pPr>
                      <a:r>
                        <a:rPr lang="en-US" sz="1300" b="1" dirty="0">
                          <a:solidFill>
                            <a:schemeClr val="tx1"/>
                          </a:solidFill>
                        </a:rPr>
                        <a:t>16</a:t>
                      </a:r>
                      <a:endParaRPr lang="en-US" sz="1300" dirty="0"/>
                    </a:p>
                  </a:txBody>
                  <a:tcPr marL="109728" marR="109728" marT="27432" marB="27432" anchor="ctr">
                    <a:lnL w="9525" cap="flat" cmpd="sng" algn="ctr">
                      <a:solidFill>
                        <a:srgbClr val="CFC688"/>
                      </a:solidFill>
                      <a:prstDash val="solid"/>
                      <a:round/>
                      <a:headEnd type="none" w="med" len="med"/>
                      <a:tailEnd type="none" w="med" len="med"/>
                    </a:lnL>
                    <a:lnR w="9525" cap="flat" cmpd="sng" algn="ctr">
                      <a:solidFill>
                        <a:srgbClr val="CFC688"/>
                      </a:solidFill>
                      <a:prstDash val="solid"/>
                      <a:round/>
                      <a:headEnd type="none" w="med" len="med"/>
                      <a:tailEnd type="none" w="med" len="med"/>
                    </a:lnR>
                    <a:lnT w="9525" cap="flat" cmpd="sng" algn="ctr">
                      <a:solidFill>
                        <a:srgbClr val="CFC688"/>
                      </a:solidFill>
                      <a:prstDash val="solid"/>
                      <a:round/>
                      <a:headEnd type="none" w="med" len="med"/>
                      <a:tailEnd type="none" w="med" len="med"/>
                    </a:lnT>
                    <a:lnB w="9525" cap="flat" cmpd="sng" algn="ctr">
                      <a:solidFill>
                        <a:srgbClr val="CFC688"/>
                      </a:solidFill>
                      <a:prstDash val="solid"/>
                      <a:round/>
                      <a:headEnd type="none" w="med" len="med"/>
                      <a:tailEnd type="none" w="med" len="med"/>
                    </a:lnB>
                    <a:solidFill>
                      <a:schemeClr val="bg1"/>
                    </a:solidFill>
                  </a:tcPr>
                </a:tc>
              </a:tr>
              <a:tr h="384048">
                <a:tc>
                  <a:txBody>
                    <a:bodyPr/>
                    <a:lstStyle/>
                    <a:p>
                      <a:pPr indent="0" marL="0">
                        <a:buNone/>
                      </a:pPr>
                      <a:r>
                        <a:rPr lang="en-US" sz="1300" b="1" dirty="0">
                          <a:solidFill>
                            <a:schemeClr val="accent1"/>
                          </a:solidFill>
                        </a:rPr>
                        <a:t>Future Scope</a:t>
                      </a:r>
                      <a:endParaRPr lang="en-US" sz="1300" dirty="0"/>
                    </a:p>
                  </a:txBody>
                  <a:tcPr marL="109728" marR="109728" marT="27432" marB="27432" anchor="ctr">
                    <a:lnL w="9525" cap="flat" cmpd="sng" algn="ctr">
                      <a:solidFill>
                        <a:srgbClr val="CFC688"/>
                      </a:solidFill>
                      <a:prstDash val="solid"/>
                      <a:round/>
                      <a:headEnd type="none" w="med" len="med"/>
                      <a:tailEnd type="none" w="med" len="med"/>
                    </a:lnL>
                    <a:lnR w="9525" cap="flat" cmpd="sng" algn="ctr">
                      <a:solidFill>
                        <a:srgbClr val="CFC688"/>
                      </a:solidFill>
                      <a:prstDash val="solid"/>
                      <a:round/>
                      <a:headEnd type="none" w="med" len="med"/>
                      <a:tailEnd type="none" w="med" len="med"/>
                    </a:lnR>
                    <a:lnT w="9525" cap="flat" cmpd="sng" algn="ctr">
                      <a:solidFill>
                        <a:srgbClr val="CFC688"/>
                      </a:solidFill>
                      <a:prstDash val="solid"/>
                      <a:round/>
                      <a:headEnd type="none" w="med" len="med"/>
                      <a:tailEnd type="none" w="med" len="med"/>
                    </a:lnT>
                    <a:lnB w="9525" cap="flat" cmpd="sng" algn="ctr">
                      <a:solidFill>
                        <a:srgbClr val="CFC688"/>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India exit nodes, Indic-language classifier, shopper capture extension, NCH filing.</a:t>
                      </a:r>
                      <a:endParaRPr lang="en-US" sz="1300" dirty="0"/>
                    </a:p>
                  </a:txBody>
                  <a:tcPr marL="109728" marR="109728" marT="27432" marB="27432" anchor="ctr">
                    <a:lnL w="9525" cap="flat" cmpd="sng" algn="ctr">
                      <a:solidFill>
                        <a:srgbClr val="CFC688"/>
                      </a:solidFill>
                      <a:prstDash val="solid"/>
                      <a:round/>
                      <a:headEnd type="none" w="med" len="med"/>
                      <a:tailEnd type="none" w="med" len="med"/>
                    </a:lnL>
                    <a:lnR w="9525" cap="flat" cmpd="sng" algn="ctr">
                      <a:solidFill>
                        <a:srgbClr val="CFC688"/>
                      </a:solidFill>
                      <a:prstDash val="solid"/>
                      <a:round/>
                      <a:headEnd type="none" w="med" len="med"/>
                      <a:tailEnd type="none" w="med" len="med"/>
                    </a:lnR>
                    <a:lnT w="9525" cap="flat" cmpd="sng" algn="ctr">
                      <a:solidFill>
                        <a:srgbClr val="CFC688"/>
                      </a:solidFill>
                      <a:prstDash val="solid"/>
                      <a:round/>
                      <a:headEnd type="none" w="med" len="med"/>
                      <a:tailEnd type="none" w="med" len="med"/>
                    </a:lnT>
                    <a:lnB w="9525" cap="flat" cmpd="sng" algn="ctr">
                      <a:solidFill>
                        <a:srgbClr val="CFC688"/>
                      </a:solidFill>
                      <a:prstDash val="solid"/>
                      <a:round/>
                      <a:headEnd type="none" w="med" len="med"/>
                      <a:tailEnd type="none" w="med" len="med"/>
                    </a:lnB>
                    <a:solidFill>
                      <a:schemeClr val="bg1"/>
                    </a:solidFill>
                  </a:tcPr>
                </a:tc>
                <a:tc>
                  <a:txBody>
                    <a:bodyPr/>
                    <a:lstStyle/>
                    <a:p>
                      <a:pPr algn="ctr" indent="0" marL="0">
                        <a:buNone/>
                      </a:pPr>
                      <a:r>
                        <a:rPr lang="en-US" sz="1300" b="1" dirty="0">
                          <a:solidFill>
                            <a:schemeClr val="tx1"/>
                          </a:solidFill>
                        </a:rPr>
                        <a:t>17</a:t>
                      </a:r>
                      <a:endParaRPr lang="en-US" sz="1300" dirty="0"/>
                    </a:p>
                  </a:txBody>
                  <a:tcPr marL="109728" marR="109728" marT="27432" marB="27432" anchor="ctr">
                    <a:lnL w="9525" cap="flat" cmpd="sng" algn="ctr">
                      <a:solidFill>
                        <a:srgbClr val="CFC688"/>
                      </a:solidFill>
                      <a:prstDash val="solid"/>
                      <a:round/>
                      <a:headEnd type="none" w="med" len="med"/>
                      <a:tailEnd type="none" w="med" len="med"/>
                    </a:lnL>
                    <a:lnR w="9525" cap="flat" cmpd="sng" algn="ctr">
                      <a:solidFill>
                        <a:srgbClr val="CFC688"/>
                      </a:solidFill>
                      <a:prstDash val="solid"/>
                      <a:round/>
                      <a:headEnd type="none" w="med" len="med"/>
                      <a:tailEnd type="none" w="med" len="med"/>
                    </a:lnR>
                    <a:lnT w="9525" cap="flat" cmpd="sng" algn="ctr">
                      <a:solidFill>
                        <a:srgbClr val="CFC688"/>
                      </a:solidFill>
                      <a:prstDash val="solid"/>
                      <a:round/>
                      <a:headEnd type="none" w="med" len="med"/>
                      <a:tailEnd type="none" w="med" len="med"/>
                    </a:lnT>
                    <a:lnB w="9525" cap="flat" cmpd="sng" algn="ctr">
                      <a:solidFill>
                        <a:srgbClr val="CFC688"/>
                      </a:solidFill>
                      <a:prstDash val="solid"/>
                      <a:round/>
                      <a:headEnd type="none" w="med" len="med"/>
                      <a:tailEnd type="none" w="med" len="med"/>
                    </a:lnB>
                    <a:solidFill>
                      <a:schemeClr val="bg1"/>
                    </a:solidFill>
                  </a:tcPr>
                </a:tc>
              </a:tr>
            </a:tbl>
          </a:graphicData>
        </a:graphic>
      </p:graphicFrame>
      <p:sp>
        <p:nvSpPr>
          <p:cNvPr id="7" name="links"/>
          <p:cNvSpPr txBox="1"/>
          <p:nvPr/>
        </p:nvSpPr>
        <p:spPr>
          <a:xfrm>
            <a:off x="548640" y="6035040"/>
            <a:ext cx="11064240" cy="292608"/>
          </a:xfrm>
          <a:prstGeom prst="rect">
            <a:avLst/>
          </a:prstGeom>
          <a:noFill/>
          <a:ln/>
        </p:spPr>
        <p:txBody>
          <a:bodyPr wrap="square" lIns="0" tIns="0" rIns="0" bIns="0" rtlCol="0" anchor="t"/>
          <a:lstStyle/>
          <a:p>
            <a:pPr indent="0" marL="0">
              <a:buNone/>
            </a:pPr>
            <a:r>
              <a:rPr lang="en-US" sz="1300" b="1" dirty="0">
                <a:solidFill>
                  <a:schemeClr val="tx1"/>
                </a:solidFill>
              </a:rPr>
              <a:t>Demo video  </a:t>
            </a:r>
            <a:pPr indent="0" marL="0">
              <a:buNone/>
            </a:pPr>
            <a:r>
              <a:rPr lang="en-US" sz="1300" u="sng" dirty="0">
                <a:solidFill>
                  <a:srgbClr val="5A3FB5"/>
                </a:solidFill>
                <a:hlinkClick r:id="rId1" invalidUrl="" action="" tgtFrame="" tooltip="https://youtu.be/xR9-eA1mp7o" history="1" highlightClick="0" endSnd="0">
                  <a:extLst>
                    <a:ext uri="{A12FA001-AC4F-418D-AE19-62706E023703}">
                      <ahyp:hlinkClr xmlns:ahyp="http://schemas.microsoft.com/office/drawing/2018/hyperlinkcolor" val="tx"/>
                    </a:ext>
                  </a:extLst>
                </a:hlinkClick>
              </a:rPr>
              <a:t>https://youtu.be/xR9-eA1mp7o</a:t>
            </a:r>
            <a:pPr indent="0" marL="0">
              <a:buNone/>
            </a:pPr>
            <a:r>
              <a:rPr lang="en-US" sz="1300" dirty="0">
                <a:solidFill>
                  <a:schemeClr val="tx1"/>
                </a:solidFill>
              </a:rPr>
              <a:t>     ·     </a:t>
            </a:r>
            <a:pPr indent="0" marL="0">
              <a:buNone/>
            </a:pPr>
            <a:r>
              <a:rPr lang="en-US" sz="1300" b="1" dirty="0">
                <a:solidFill>
                  <a:schemeClr val="tx1"/>
                </a:solidFill>
              </a:rPr>
              <a:t>Code  </a:t>
            </a:r>
            <a:pPr indent="0" marL="0">
              <a:buNone/>
            </a:pPr>
            <a:r>
              <a:rPr lang="en-US" sz="1300" u="sng" dirty="0">
                <a:solidFill>
                  <a:srgbClr val="5A3FB5"/>
                </a:solidFill>
                <a:hlinkClick r:id="rId2" invalidUrl="" action="" tgtFrame="" tooltip="https://github.com/mathurojus/Pardarshi" history="1" highlightClick="0" endSnd="0">
                  <a:extLst>
                    <a:ext uri="{A12FA001-AC4F-418D-AE19-62706E023703}">
                      <ahyp:hlinkClr xmlns:ahyp="http://schemas.microsoft.com/office/drawing/2018/hyperlinkcolor" val="tx"/>
                    </a:ext>
                  </a:extLst>
                </a:hlinkClick>
              </a:rPr>
              <a:t>https://github.com/mathurojus/Pardarshi</a:t>
            </a:r>
            <a:endParaRPr lang="en-US" sz="1400" dirty="0"/>
          </a:p>
        </p:txBody>
      </p:sp>
      <p:sp>
        <p:nvSpPr>
          <p:cNvPr id="25" name="Slide Number Placeholder 0"/>
          <p:cNvSpPr>
            <a:spLocks noGrp="1"/>
          </p:cNvSpPr>
          <p:nvPr>
            <p:ph type="sldNum" sz="quarter" idx="4294967295"/>
          </p:nvPr>
        </p:nvSpPr>
        <p:spPr>
          <a:xfrm>
            <a:off x="10424160" y="274320"/>
            <a:ext cx="594360" cy="365760"/>
          </a:xfrm>
          <a:prstGeom prst="rect">
            <a:avLst/>
          </a:prstGeom>
          <a:extLst>
            <a:ext uri="{C572A759-6A51-4108-AA02-DFA0A04FC94B}">
              <ma14:wrappingTextBoxFlag xmlns:ma14="http://schemas.microsoft.com/office/mac/drawingml/2011/main" val="0"/>
            </a:ext>
          </a:extLst>
        </p:spPr>
        <p:txBody>
          <a:bodyPr/>
          <a:lstStyle>
            <a:lvl1pPr>
              <a:defRPr sz="2000">
                <a:solidFill>
                  <a:schemeClr val="tx2"/>
                </a:solidFill>
                <a:latin typeface="Impact"/>
                <a:ea typeface="Impact"/>
                <a:cs typeface="Impact"/>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2"/>
          <p:cNvSpPr/>
          <p:nvPr>
            <p:ph idx="104" type="title" hasCustomPrompt="1"/>
          </p:nvPr>
        </p:nvSpPr>
        <p:spPr>
          <a:xfrm>
            <a:off x="548640" y="603504"/>
            <a:ext cx="10332720" cy="603504"/>
          </a:xfrm>
          <a:prstGeom prst="rect">
            <a:avLst/>
          </a:prstGeom>
          <a:noFill/>
          <a:ln/>
        </p:spPr>
        <p:txBody>
          <a:bodyPr wrap="square" lIns="0" tIns="0" rIns="0" bIns="0" rtlCol="0" anchor="t"/>
          <a:lstStyle/>
          <a:p>
            <a:pPr algn="l" indent="0" marL="0">
              <a:buNone/>
            </a:pPr>
            <a:r>
              <a:rPr lang="en-US" sz="3200" spc="100" kern="0" dirty="0">
                <a:solidFill>
                  <a:schemeClr val="tx2"/>
                </a:solidFill>
                <a:latin typeface="Impact" pitchFamily="34" charset="0"/>
                <a:ea typeface="Impact" pitchFamily="34" charset="-122"/>
                <a:cs typeface="Impact" pitchFamily="34" charset="-120"/>
              </a:rPr>
              <a:t>PROBLEM STATEMENT</a:t>
            </a:r>
            <a:endParaRPr lang="en-US" sz="3200" dirty="0"/>
          </a:p>
        </p:txBody>
      </p:sp>
      <p:sp>
        <p:nvSpPr>
          <p:cNvPr id="4" name="section label"/>
          <p:cNvSpPr txBox="1"/>
          <p:nvPr/>
        </p:nvSpPr>
        <p:spPr>
          <a:xfrm>
            <a:off x="548640" y="274320"/>
            <a:ext cx="6035040" cy="274320"/>
          </a:xfrm>
          <a:prstGeom prst="rect">
            <a:avLst/>
          </a:prstGeom>
          <a:noFill/>
          <a:ln/>
        </p:spPr>
        <p:txBody>
          <a:bodyPr wrap="square" lIns="0" tIns="0" rIns="0" bIns="0" rtlCol="0" anchor="t"/>
          <a:lstStyle/>
          <a:p>
            <a:pPr indent="0" marL="0">
              <a:buNone/>
            </a:pPr>
            <a:r>
              <a:rPr lang="en-US" sz="1500" spc="100" kern="0" dirty="0">
                <a:solidFill>
                  <a:schemeClr val="tx2"/>
                </a:solidFill>
                <a:latin typeface="Impact" pitchFamily="34" charset="0"/>
                <a:ea typeface="Impact" pitchFamily="34" charset="-122"/>
                <a:cs typeface="Impact" pitchFamily="34" charset="-120"/>
              </a:rPr>
              <a:t>01  ·  PROBLEM STATEMENT</a:t>
            </a:r>
            <a:endParaRPr lang="en-US" sz="1500" dirty="0"/>
          </a:p>
        </p:txBody>
      </p:sp>
      <p:sp>
        <p:nvSpPr>
          <p:cNvPr id="5" name="subtitle"/>
          <p:cNvSpPr txBox="1"/>
          <p:nvPr/>
        </p:nvSpPr>
        <p:spPr>
          <a:xfrm>
            <a:off x="548640" y="1188720"/>
            <a:ext cx="10424160" cy="384048"/>
          </a:xfrm>
          <a:prstGeom prst="rect">
            <a:avLst/>
          </a:prstGeom>
          <a:noFill/>
          <a:ln/>
        </p:spPr>
        <p:txBody>
          <a:bodyPr wrap="square" lIns="0" tIns="0" rIns="0" bIns="0" rtlCol="0" anchor="t"/>
          <a:lstStyle/>
          <a:p>
            <a:pPr indent="0" marL="0">
              <a:buNone/>
            </a:pPr>
            <a:r>
              <a:rPr lang="en-US" sz="1700" dirty="0">
                <a:solidFill>
                  <a:schemeClr val="accent6"/>
                </a:solidFill>
                <a:latin typeface="Calibri" pitchFamily="34" charset="0"/>
                <a:ea typeface="Calibri" pitchFamily="34" charset="-122"/>
                <a:cs typeface="Calibri" pitchFamily="34" charset="-120"/>
              </a:rPr>
              <a:t>Online prices change between the product page and payment, where a single shopper cannot see it</a:t>
            </a:r>
            <a:endParaRPr lang="en-US" sz="1700" dirty="0"/>
          </a:p>
        </p:txBody>
      </p:sp>
      <p:sp>
        <p:nvSpPr>
          <p:cNvPr id="6" name="card"/>
          <p:cNvSpPr/>
          <p:nvPr/>
        </p:nvSpPr>
        <p:spPr>
          <a:xfrm>
            <a:off x="548640" y="1783080"/>
            <a:ext cx="2743200" cy="1965960"/>
          </a:xfrm>
          <a:prstGeom prst="roundRect">
            <a:avLst>
              <a:gd name="adj" fmla="val 2326"/>
            </a:avLst>
          </a:prstGeom>
          <a:solidFill>
            <a:schemeClr val="bg2"/>
          </a:solidFill>
          <a:ln w="12700">
            <a:solidFill>
              <a:srgbClr val="36226B"/>
            </a:solidFill>
            <a:prstDash val="solid"/>
          </a:ln>
        </p:spPr>
      </p:sp>
      <p:sp>
        <p:nvSpPr>
          <p:cNvPr id="7" name="Text 4"/>
          <p:cNvSpPr txBox="1"/>
          <p:nvPr/>
        </p:nvSpPr>
        <p:spPr>
          <a:xfrm>
            <a:off x="777240" y="1984248"/>
            <a:ext cx="2377440" cy="685800"/>
          </a:xfrm>
          <a:prstGeom prst="rect">
            <a:avLst/>
          </a:prstGeom>
          <a:noFill/>
          <a:ln/>
        </p:spPr>
        <p:txBody>
          <a:bodyPr wrap="square" lIns="0" tIns="0" rIns="0" bIns="0" rtlCol="0" anchor="t"/>
          <a:lstStyle/>
          <a:p>
            <a:pPr indent="0" marL="0">
              <a:buNone/>
            </a:pPr>
            <a:r>
              <a:rPr lang="en-US" sz="3400" dirty="0">
                <a:solidFill>
                  <a:schemeClr val="accent3"/>
                </a:solidFill>
                <a:latin typeface="Impact" pitchFamily="34" charset="0"/>
                <a:ea typeface="Impact" pitchFamily="34" charset="-122"/>
                <a:cs typeface="Impact" pitchFamily="34" charset="-120"/>
              </a:rPr>
              <a:t>₹25–28k cr</a:t>
            </a:r>
            <a:endParaRPr lang="en-US" sz="3400" dirty="0"/>
          </a:p>
        </p:txBody>
      </p:sp>
      <p:sp>
        <p:nvSpPr>
          <p:cNvPr id="8" name="Text 5"/>
          <p:cNvSpPr txBox="1"/>
          <p:nvPr/>
        </p:nvSpPr>
        <p:spPr>
          <a:xfrm>
            <a:off x="777240" y="2743200"/>
            <a:ext cx="2331720" cy="868680"/>
          </a:xfrm>
          <a:prstGeom prst="rect">
            <a:avLst/>
          </a:prstGeom>
          <a:noFill/>
          <a:ln/>
        </p:spPr>
        <p:txBody>
          <a:bodyPr wrap="square" lIns="0" tIns="0" rIns="0" bIns="0" rtlCol="0" anchor="t"/>
          <a:lstStyle/>
          <a:p>
            <a:pPr indent="0" marL="0">
              <a:buNone/>
            </a:pPr>
            <a:r>
              <a:rPr lang="en-US" sz="1400" dirty="0">
                <a:solidFill>
                  <a:schemeClr val="tx1"/>
                </a:solidFill>
              </a:rPr>
              <a:t>lost by Indian online buyers every year to dark patterns and hidden charges</a:t>
            </a:r>
            <a:endParaRPr lang="en-US" sz="1400" dirty="0"/>
          </a:p>
        </p:txBody>
      </p:sp>
      <p:sp>
        <p:nvSpPr>
          <p:cNvPr id="9" name="card"/>
          <p:cNvSpPr/>
          <p:nvPr/>
        </p:nvSpPr>
        <p:spPr>
          <a:xfrm>
            <a:off x="3474720" y="1783080"/>
            <a:ext cx="2743200" cy="1965960"/>
          </a:xfrm>
          <a:prstGeom prst="roundRect">
            <a:avLst>
              <a:gd name="adj" fmla="val 2326"/>
            </a:avLst>
          </a:prstGeom>
          <a:solidFill>
            <a:schemeClr val="bg2"/>
          </a:solidFill>
          <a:ln w="12700">
            <a:solidFill>
              <a:srgbClr val="36226B"/>
            </a:solidFill>
            <a:prstDash val="solid"/>
          </a:ln>
        </p:spPr>
      </p:sp>
      <p:sp>
        <p:nvSpPr>
          <p:cNvPr id="10" name="Text 7"/>
          <p:cNvSpPr txBox="1"/>
          <p:nvPr/>
        </p:nvSpPr>
        <p:spPr>
          <a:xfrm>
            <a:off x="3703320" y="1984248"/>
            <a:ext cx="2377440" cy="685800"/>
          </a:xfrm>
          <a:prstGeom prst="rect">
            <a:avLst/>
          </a:prstGeom>
          <a:noFill/>
          <a:ln/>
        </p:spPr>
        <p:txBody>
          <a:bodyPr wrap="square" lIns="0" tIns="0" rIns="0" bIns="0" rtlCol="0" anchor="t"/>
          <a:lstStyle/>
          <a:p>
            <a:pPr indent="0" marL="0">
              <a:buNone/>
            </a:pPr>
            <a:r>
              <a:rPr lang="en-US" sz="3400" dirty="0">
                <a:solidFill>
                  <a:schemeClr val="accent3"/>
                </a:solidFill>
                <a:latin typeface="Impact" pitchFamily="34" charset="0"/>
                <a:ea typeface="Impact" pitchFamily="34" charset="-122"/>
                <a:cs typeface="Impact" pitchFamily="34" charset="-120"/>
              </a:rPr>
              <a:t>97%</a:t>
            </a:r>
            <a:endParaRPr lang="en-US" sz="3400" dirty="0"/>
          </a:p>
        </p:txBody>
      </p:sp>
      <p:sp>
        <p:nvSpPr>
          <p:cNvPr id="11" name="Text 8"/>
          <p:cNvSpPr txBox="1"/>
          <p:nvPr/>
        </p:nvSpPr>
        <p:spPr>
          <a:xfrm>
            <a:off x="3703320" y="2743200"/>
            <a:ext cx="2331720" cy="868680"/>
          </a:xfrm>
          <a:prstGeom prst="rect">
            <a:avLst/>
          </a:prstGeom>
          <a:noFill/>
          <a:ln/>
        </p:spPr>
        <p:txBody>
          <a:bodyPr wrap="square" lIns="0" tIns="0" rIns="0" bIns="0" rtlCol="0" anchor="t"/>
          <a:lstStyle/>
          <a:p>
            <a:pPr indent="0" marL="0">
              <a:buNone/>
            </a:pPr>
            <a:r>
              <a:rPr lang="en-US" sz="1400" dirty="0">
                <a:solidFill>
                  <a:schemeClr val="tx1"/>
                </a:solidFill>
              </a:rPr>
              <a:t>of 290 major Indian platforms use at least one dark pattern</a:t>
            </a:r>
            <a:endParaRPr lang="en-US" sz="1400" dirty="0"/>
          </a:p>
        </p:txBody>
      </p:sp>
      <p:sp>
        <p:nvSpPr>
          <p:cNvPr id="12" name="card"/>
          <p:cNvSpPr/>
          <p:nvPr/>
        </p:nvSpPr>
        <p:spPr>
          <a:xfrm>
            <a:off x="548640" y="3931920"/>
            <a:ext cx="2743200" cy="1965960"/>
          </a:xfrm>
          <a:prstGeom prst="roundRect">
            <a:avLst>
              <a:gd name="adj" fmla="val 2326"/>
            </a:avLst>
          </a:prstGeom>
          <a:solidFill>
            <a:schemeClr val="bg2"/>
          </a:solidFill>
          <a:ln w="12700">
            <a:solidFill>
              <a:srgbClr val="36226B"/>
            </a:solidFill>
            <a:prstDash val="solid"/>
          </a:ln>
        </p:spPr>
      </p:sp>
      <p:sp>
        <p:nvSpPr>
          <p:cNvPr id="13" name="Text 10"/>
          <p:cNvSpPr txBox="1"/>
          <p:nvPr/>
        </p:nvSpPr>
        <p:spPr>
          <a:xfrm>
            <a:off x="777240" y="4133088"/>
            <a:ext cx="2377440" cy="685800"/>
          </a:xfrm>
          <a:prstGeom prst="rect">
            <a:avLst/>
          </a:prstGeom>
          <a:noFill/>
          <a:ln/>
        </p:spPr>
        <p:txBody>
          <a:bodyPr wrap="square" lIns="0" tIns="0" rIns="0" bIns="0" rtlCol="0" anchor="t"/>
          <a:lstStyle/>
          <a:p>
            <a:pPr indent="0" marL="0">
              <a:buNone/>
            </a:pPr>
            <a:r>
              <a:rPr lang="en-US" sz="3400" dirty="0">
                <a:solidFill>
                  <a:schemeClr val="accent1"/>
                </a:solidFill>
                <a:latin typeface="Impact" pitchFamily="34" charset="0"/>
                <a:ea typeface="Impact" pitchFamily="34" charset="-122"/>
                <a:cs typeface="Impact" pitchFamily="34" charset="-120"/>
              </a:rPr>
              <a:t>304M</a:t>
            </a:r>
            <a:endParaRPr lang="en-US" sz="3400" dirty="0"/>
          </a:p>
        </p:txBody>
      </p:sp>
      <p:sp>
        <p:nvSpPr>
          <p:cNvPr id="14" name="Text 11"/>
          <p:cNvSpPr txBox="1"/>
          <p:nvPr/>
        </p:nvSpPr>
        <p:spPr>
          <a:xfrm>
            <a:off x="777240" y="4892040"/>
            <a:ext cx="2331720" cy="868680"/>
          </a:xfrm>
          <a:prstGeom prst="rect">
            <a:avLst/>
          </a:prstGeom>
          <a:noFill/>
          <a:ln/>
        </p:spPr>
        <p:txBody>
          <a:bodyPr wrap="square" lIns="0" tIns="0" rIns="0" bIns="0" rtlCol="0" anchor="t"/>
          <a:lstStyle/>
          <a:p>
            <a:pPr indent="0" marL="0">
              <a:buNone/>
            </a:pPr>
            <a:r>
              <a:rPr lang="en-US" sz="1400" dirty="0">
                <a:solidFill>
                  <a:schemeClr val="tx1"/>
                </a:solidFill>
              </a:rPr>
              <a:t>online buyers in India; 88% lose ₹78–87 a month to hidden charges</a:t>
            </a:r>
            <a:endParaRPr lang="en-US" sz="1400" dirty="0"/>
          </a:p>
        </p:txBody>
      </p:sp>
      <p:sp>
        <p:nvSpPr>
          <p:cNvPr id="15" name="card"/>
          <p:cNvSpPr/>
          <p:nvPr/>
        </p:nvSpPr>
        <p:spPr>
          <a:xfrm>
            <a:off x="3474720" y="3931920"/>
            <a:ext cx="2743200" cy="1965960"/>
          </a:xfrm>
          <a:prstGeom prst="roundRect">
            <a:avLst>
              <a:gd name="adj" fmla="val 2326"/>
            </a:avLst>
          </a:prstGeom>
          <a:solidFill>
            <a:schemeClr val="bg2"/>
          </a:solidFill>
          <a:ln w="12700">
            <a:solidFill>
              <a:srgbClr val="36226B"/>
            </a:solidFill>
            <a:prstDash val="solid"/>
          </a:ln>
        </p:spPr>
      </p:sp>
      <p:sp>
        <p:nvSpPr>
          <p:cNvPr id="16" name="Text 13"/>
          <p:cNvSpPr txBox="1"/>
          <p:nvPr/>
        </p:nvSpPr>
        <p:spPr>
          <a:xfrm>
            <a:off x="3703320" y="4133088"/>
            <a:ext cx="2377440" cy="685800"/>
          </a:xfrm>
          <a:prstGeom prst="rect">
            <a:avLst/>
          </a:prstGeom>
          <a:noFill/>
          <a:ln/>
        </p:spPr>
        <p:txBody>
          <a:bodyPr wrap="square" lIns="0" tIns="0" rIns="0" bIns="0" rtlCol="0" anchor="t"/>
          <a:lstStyle/>
          <a:p>
            <a:pPr indent="0" marL="0">
              <a:buNone/>
            </a:pPr>
            <a:r>
              <a:rPr lang="en-US" sz="3400" dirty="0">
                <a:solidFill>
                  <a:schemeClr val="accent1"/>
                </a:solidFill>
                <a:latin typeface="Impact" pitchFamily="34" charset="0"/>
                <a:ea typeface="Impact" pitchFamily="34" charset="-122"/>
                <a:cs typeface="Impact" pitchFamily="34" charset="-120"/>
              </a:rPr>
              <a:t>4.2 lakh</a:t>
            </a:r>
            <a:endParaRPr lang="en-US" sz="3400" dirty="0"/>
          </a:p>
        </p:txBody>
      </p:sp>
      <p:sp>
        <p:nvSpPr>
          <p:cNvPr id="17" name="Text 14"/>
          <p:cNvSpPr txBox="1"/>
          <p:nvPr/>
        </p:nvSpPr>
        <p:spPr>
          <a:xfrm>
            <a:off x="3703320" y="4892040"/>
            <a:ext cx="2331720" cy="868680"/>
          </a:xfrm>
          <a:prstGeom prst="rect">
            <a:avLst/>
          </a:prstGeom>
          <a:noFill/>
          <a:ln/>
        </p:spPr>
        <p:txBody>
          <a:bodyPr wrap="square" lIns="0" tIns="0" rIns="0" bIns="0" rtlCol="0" anchor="t"/>
          <a:lstStyle/>
          <a:p>
            <a:pPr indent="0" marL="0">
              <a:buNone/>
            </a:pPr>
            <a:r>
              <a:rPr lang="en-US" sz="1400" dirty="0">
                <a:solidFill>
                  <a:schemeClr val="tx1"/>
                </a:solidFill>
              </a:rPr>
              <a:t>e-commerce complaints a year at the National Consumer Helpline, 32% of all</a:t>
            </a:r>
            <a:endParaRPr lang="en-US" sz="1400" dirty="0"/>
          </a:p>
        </p:txBody>
      </p:sp>
      <p:sp>
        <p:nvSpPr>
          <p:cNvPr id="18" name="Text 15"/>
          <p:cNvSpPr txBox="1"/>
          <p:nvPr/>
        </p:nvSpPr>
        <p:spPr>
          <a:xfrm>
            <a:off x="6629400" y="1783080"/>
            <a:ext cx="4937760" cy="384048"/>
          </a:xfrm>
          <a:prstGeom prst="rect">
            <a:avLst/>
          </a:prstGeom>
          <a:noFill/>
          <a:ln/>
        </p:spPr>
        <p:txBody>
          <a:bodyPr wrap="square" lIns="0" tIns="0" rIns="0" bIns="0" rtlCol="0" anchor="t"/>
          <a:lstStyle/>
          <a:p>
            <a:pPr indent="0" marL="0">
              <a:buNone/>
            </a:pPr>
            <a:r>
              <a:rPr lang="en-US" sz="2000" dirty="0">
                <a:solidFill>
                  <a:schemeClr val="tx1"/>
                </a:solidFill>
                <a:latin typeface="Impact" pitchFamily="34" charset="0"/>
                <a:ea typeface="Impact" pitchFamily="34" charset="-122"/>
                <a:cs typeface="Impact" pitchFamily="34" charset="-120"/>
              </a:rPr>
              <a:t>Why it persists</a:t>
            </a:r>
            <a:endParaRPr lang="en-US" sz="2000" dirty="0"/>
          </a:p>
        </p:txBody>
      </p:sp>
      <p:sp>
        <p:nvSpPr>
          <p:cNvPr id="19" name="icon lens"/>
          <p:cNvSpPr/>
          <p:nvPr/>
        </p:nvSpPr>
        <p:spPr>
          <a:xfrm>
            <a:off x="6629400" y="2331720"/>
            <a:ext cx="603504" cy="603504"/>
          </a:xfrm>
          <a:prstGeom prst="roundRect">
            <a:avLst>
              <a:gd name="adj" fmla="val 10606"/>
            </a:avLst>
          </a:prstGeom>
          <a:solidFill>
            <a:schemeClr val="tx2"/>
          </a:solidFill>
          <a:ln w="19050">
            <a:solidFill>
              <a:schemeClr val="tx2"/>
            </a:solidFill>
            <a:prstDash val="solid"/>
          </a:ln>
        </p:spPr>
      </p:sp>
      <p:pic>
        <p:nvPicPr>
          <p:cNvPr id="20" name="icon" descr="Receipt">    </p:cNvPr>
          <p:cNvPicPr>
            <a:picLocks noChangeAspect="1"/>
          </p:cNvPicPr>
          <p:nvPr/>
        </p:nvPicPr>
        <p:blipFill>
          <a:blip r:embed="rId1"/>
          <a:stretch>
            <a:fillRect/>
          </a:stretch>
        </p:blipFill>
        <p:spPr>
          <a:xfrm>
            <a:off x="6786311" y="2488631"/>
            <a:ext cx="289682" cy="289682"/>
          </a:xfrm>
          <a:prstGeom prst="rect">
            <a:avLst/>
          </a:prstGeom>
        </p:spPr>
      </p:pic>
      <p:sp>
        <p:nvSpPr>
          <p:cNvPr id="21" name="Text 17"/>
          <p:cNvSpPr txBox="1"/>
          <p:nvPr/>
        </p:nvSpPr>
        <p:spPr>
          <a:xfrm>
            <a:off x="7452360" y="2313432"/>
            <a:ext cx="4160520" cy="329184"/>
          </a:xfrm>
          <a:prstGeom prst="rect">
            <a:avLst/>
          </a:prstGeom>
          <a:noFill/>
          <a:ln/>
        </p:spPr>
        <p:txBody>
          <a:bodyPr wrap="square" lIns="0" tIns="0" rIns="0" bIns="0" rtlCol="0" anchor="t"/>
          <a:lstStyle/>
          <a:p>
            <a:pPr indent="0" marL="0">
              <a:buNone/>
            </a:pPr>
            <a:r>
              <a:rPr lang="en-US" sz="1600" b="1" dirty="0">
                <a:solidFill>
                  <a:schemeClr val="tx1"/>
                </a:solidFill>
              </a:rPr>
              <a:t>Fees appear only at checkout</a:t>
            </a:r>
            <a:endParaRPr lang="en-US" sz="1600" dirty="0"/>
          </a:p>
        </p:txBody>
      </p:sp>
      <p:sp>
        <p:nvSpPr>
          <p:cNvPr id="22" name="Text 18"/>
          <p:cNvSpPr txBox="1"/>
          <p:nvPr/>
        </p:nvSpPr>
        <p:spPr>
          <a:xfrm>
            <a:off x="7452360" y="2679192"/>
            <a:ext cx="4160520" cy="777240"/>
          </a:xfrm>
          <a:prstGeom prst="rect">
            <a:avLst/>
          </a:prstGeom>
          <a:noFill/>
          <a:ln/>
        </p:spPr>
        <p:txBody>
          <a:bodyPr wrap="square" lIns="0" tIns="0" rIns="0" bIns="0" rtlCol="0" anchor="t"/>
          <a:lstStyle/>
          <a:p>
            <a:pPr indent="0" marL="0">
              <a:buNone/>
            </a:pPr>
            <a:r>
              <a:rPr lang="en-US" sz="1400" dirty="0">
                <a:solidFill>
                  <a:schemeClr val="accent6"/>
                </a:solidFill>
              </a:rPr>
              <a:t>Drip pricing and pre-ticked add-ons wait on the last screen, after the shopper has committed.</a:t>
            </a:r>
            <a:endParaRPr lang="en-US" sz="1400" dirty="0"/>
          </a:p>
        </p:txBody>
      </p:sp>
      <p:sp>
        <p:nvSpPr>
          <p:cNvPr id="23" name="icon lens"/>
          <p:cNvSpPr/>
          <p:nvPr/>
        </p:nvSpPr>
        <p:spPr>
          <a:xfrm>
            <a:off x="6629400" y="3593592"/>
            <a:ext cx="603504" cy="603504"/>
          </a:xfrm>
          <a:prstGeom prst="roundRect">
            <a:avLst>
              <a:gd name="adj" fmla="val 10606"/>
            </a:avLst>
          </a:prstGeom>
          <a:solidFill>
            <a:schemeClr val="tx2"/>
          </a:solidFill>
          <a:ln w="19050">
            <a:solidFill>
              <a:schemeClr val="tx2"/>
            </a:solidFill>
            <a:prstDash val="solid"/>
          </a:ln>
        </p:spPr>
      </p:sp>
      <p:pic>
        <p:nvPicPr>
          <p:cNvPr id="24" name="icon" descr="UserSecret">    </p:cNvPr>
          <p:cNvPicPr>
            <a:picLocks noChangeAspect="1"/>
          </p:cNvPicPr>
          <p:nvPr/>
        </p:nvPicPr>
        <p:blipFill>
          <a:blip r:embed="rId2"/>
          <a:stretch>
            <a:fillRect/>
          </a:stretch>
        </p:blipFill>
        <p:spPr>
          <a:xfrm>
            <a:off x="6786311" y="3750503"/>
            <a:ext cx="289682" cy="289682"/>
          </a:xfrm>
          <a:prstGeom prst="rect">
            <a:avLst/>
          </a:prstGeom>
        </p:spPr>
      </p:pic>
      <p:sp>
        <p:nvSpPr>
          <p:cNvPr id="25" name="Text 20"/>
          <p:cNvSpPr txBox="1"/>
          <p:nvPr/>
        </p:nvSpPr>
        <p:spPr>
          <a:xfrm>
            <a:off x="7452360" y="3575304"/>
            <a:ext cx="4160520" cy="329184"/>
          </a:xfrm>
          <a:prstGeom prst="rect">
            <a:avLst/>
          </a:prstGeom>
          <a:noFill/>
          <a:ln/>
        </p:spPr>
        <p:txBody>
          <a:bodyPr wrap="square" lIns="0" tIns="0" rIns="0" bIns="0" rtlCol="0" anchor="t"/>
          <a:lstStyle/>
          <a:p>
            <a:pPr indent="0" marL="0">
              <a:buNone/>
            </a:pPr>
            <a:r>
              <a:rPr lang="en-US" sz="1600" b="1" dirty="0">
                <a:solidFill>
                  <a:schemeClr val="tx1"/>
                </a:solidFill>
              </a:rPr>
              <a:t>Personalised prices are invisible</a:t>
            </a:r>
            <a:endParaRPr lang="en-US" sz="1600" dirty="0"/>
          </a:p>
        </p:txBody>
      </p:sp>
      <p:sp>
        <p:nvSpPr>
          <p:cNvPr id="26" name="Text 21"/>
          <p:cNvSpPr txBox="1"/>
          <p:nvPr/>
        </p:nvSpPr>
        <p:spPr>
          <a:xfrm>
            <a:off x="7452360" y="3941064"/>
            <a:ext cx="4160520" cy="777240"/>
          </a:xfrm>
          <a:prstGeom prst="rect">
            <a:avLst/>
          </a:prstGeom>
          <a:noFill/>
          <a:ln/>
        </p:spPr>
        <p:txBody>
          <a:bodyPr wrap="square" lIns="0" tIns="0" rIns="0" bIns="0" rtlCol="0" anchor="t"/>
          <a:lstStyle/>
          <a:p>
            <a:pPr indent="0" marL="0">
              <a:buNone/>
            </a:pPr>
            <a:r>
              <a:rPr lang="en-US" sz="1400" dirty="0">
                <a:solidFill>
                  <a:schemeClr val="accent6"/>
                </a:solidFill>
              </a:rPr>
              <a:t>One shopper only ever sees their own price, so device or location pricing goes unnoticed.</a:t>
            </a:r>
            <a:endParaRPr lang="en-US" sz="1400" dirty="0"/>
          </a:p>
        </p:txBody>
      </p:sp>
      <p:sp>
        <p:nvSpPr>
          <p:cNvPr id="27" name="icon lens"/>
          <p:cNvSpPr/>
          <p:nvPr/>
        </p:nvSpPr>
        <p:spPr>
          <a:xfrm>
            <a:off x="6629400" y="4855464"/>
            <a:ext cx="603504" cy="603504"/>
          </a:xfrm>
          <a:prstGeom prst="roundRect">
            <a:avLst>
              <a:gd name="adj" fmla="val 10606"/>
            </a:avLst>
          </a:prstGeom>
          <a:solidFill>
            <a:schemeClr val="tx2"/>
          </a:solidFill>
          <a:ln w="19050">
            <a:solidFill>
              <a:schemeClr val="tx2"/>
            </a:solidFill>
            <a:prstDash val="solid"/>
          </a:ln>
        </p:spPr>
      </p:sp>
      <p:pic>
        <p:nvPicPr>
          <p:cNvPr id="28" name="icon" descr="FileSignature">    </p:cNvPr>
          <p:cNvPicPr>
            <a:picLocks noChangeAspect="1"/>
          </p:cNvPicPr>
          <p:nvPr/>
        </p:nvPicPr>
        <p:blipFill>
          <a:blip r:embed="rId3"/>
          <a:stretch>
            <a:fillRect/>
          </a:stretch>
        </p:blipFill>
        <p:spPr>
          <a:xfrm>
            <a:off x="6786311" y="5012375"/>
            <a:ext cx="289682" cy="289682"/>
          </a:xfrm>
          <a:prstGeom prst="rect">
            <a:avLst/>
          </a:prstGeom>
        </p:spPr>
      </p:pic>
      <p:sp>
        <p:nvSpPr>
          <p:cNvPr id="29" name="Text 23"/>
          <p:cNvSpPr txBox="1"/>
          <p:nvPr/>
        </p:nvSpPr>
        <p:spPr>
          <a:xfrm>
            <a:off x="7452360" y="4837176"/>
            <a:ext cx="4160520" cy="329184"/>
          </a:xfrm>
          <a:prstGeom prst="rect">
            <a:avLst/>
          </a:prstGeom>
          <a:noFill/>
          <a:ln/>
        </p:spPr>
        <p:txBody>
          <a:bodyPr wrap="square" lIns="0" tIns="0" rIns="0" bIns="0" rtlCol="0" anchor="t"/>
          <a:lstStyle/>
          <a:p>
            <a:pPr indent="0" marL="0">
              <a:buNone/>
            </a:pPr>
            <a:r>
              <a:rPr lang="en-US" sz="1600" b="1" dirty="0">
                <a:solidFill>
                  <a:schemeClr val="tx1"/>
                </a:solidFill>
              </a:rPr>
              <a:t>Compliance is self-declared</a:t>
            </a:r>
            <a:endParaRPr lang="en-US" sz="1600" dirty="0"/>
          </a:p>
        </p:txBody>
      </p:sp>
      <p:sp>
        <p:nvSpPr>
          <p:cNvPr id="30" name="Text 24"/>
          <p:cNvSpPr txBox="1"/>
          <p:nvPr/>
        </p:nvSpPr>
        <p:spPr>
          <a:xfrm>
            <a:off x="7452360" y="5202936"/>
            <a:ext cx="4160520" cy="777240"/>
          </a:xfrm>
          <a:prstGeom prst="rect">
            <a:avLst/>
          </a:prstGeom>
          <a:noFill/>
          <a:ln/>
        </p:spPr>
        <p:txBody>
          <a:bodyPr wrap="square" lIns="0" tIns="0" rIns="0" bIns="0" rtlCol="0" anchor="t"/>
          <a:lstStyle/>
          <a:p>
            <a:pPr indent="0" marL="0">
              <a:buNone/>
            </a:pPr>
            <a:r>
              <a:rPr lang="en-US" sz="1400" dirty="0">
                <a:solidFill>
                  <a:schemeClr val="accent6"/>
                </a:solidFill>
              </a:rPr>
              <a:t>The CCPA asked 50+ platforms to self-audit in June 2025. No independent check is required.</a:t>
            </a:r>
            <a:endParaRPr lang="en-US" sz="1400" dirty="0"/>
          </a:p>
        </p:txBody>
      </p:sp>
      <p:sp>
        <p:nvSpPr>
          <p:cNvPr id="31" name="Text 25"/>
          <p:cNvSpPr txBox="1"/>
          <p:nvPr/>
        </p:nvSpPr>
        <p:spPr>
          <a:xfrm>
            <a:off x="548640" y="6053328"/>
            <a:ext cx="11064240" cy="256032"/>
          </a:xfrm>
          <a:prstGeom prst="rect">
            <a:avLst/>
          </a:prstGeom>
          <a:noFill/>
          <a:ln/>
        </p:spPr>
        <p:txBody>
          <a:bodyPr wrap="square" lIns="0" tIns="0" rIns="0" bIns="0" rtlCol="0" anchor="t"/>
          <a:lstStyle/>
          <a:p>
            <a:pPr indent="0" marL="0">
              <a:buNone/>
            </a:pPr>
            <a:r>
              <a:rPr lang="en-US" sz="1000" dirty="0">
                <a:solidFill>
                  <a:schemeClr val="accent6"/>
                </a:solidFill>
              </a:rPr>
              <a:t>Sources: ₹25–28k cr, 304M: Datum Intelligence (Jun 2026) · 97%: LocalCircles (Oct 2025) · 4.2 lakh: NCH data FY2024-25 · 50+ platforms: CCPA advisory, 5 Jun 2025 (as reported).</a:t>
            </a:r>
            <a:endParaRPr lang="en-US" sz="1000" dirty="0"/>
          </a:p>
        </p:txBody>
      </p:sp>
      <p:sp>
        <p:nvSpPr>
          <p:cNvPr id="25" name="Slide Number Placeholder 0"/>
          <p:cNvSpPr>
            <a:spLocks noGrp="1"/>
          </p:cNvSpPr>
          <p:nvPr>
            <p:ph type="sldNum" sz="quarter" idx="4294967295"/>
          </p:nvPr>
        </p:nvSpPr>
        <p:spPr>
          <a:xfrm>
            <a:off x="10424160" y="274320"/>
            <a:ext cx="594360" cy="365760"/>
          </a:xfrm>
          <a:prstGeom prst="rect">
            <a:avLst/>
          </a:prstGeom>
          <a:extLst>
            <a:ext uri="{C572A759-6A51-4108-AA02-DFA0A04FC94B}">
              <ma14:wrappingTextBoxFlag xmlns:ma14="http://schemas.microsoft.com/office/mac/drawingml/2011/main" val="0"/>
            </a:ext>
          </a:extLst>
        </p:spPr>
        <p:txBody>
          <a:bodyPr/>
          <a:lstStyle>
            <a:lvl1pPr>
              <a:defRPr sz="2000">
                <a:solidFill>
                  <a:schemeClr val="tx2"/>
                </a:solidFill>
                <a:latin typeface="Impact"/>
                <a:ea typeface="Impact"/>
                <a:cs typeface="Impact"/>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2"/>
          <p:cNvSpPr/>
          <p:nvPr>
            <p:ph idx="104" type="title" hasCustomPrompt="1"/>
          </p:nvPr>
        </p:nvSpPr>
        <p:spPr>
          <a:xfrm>
            <a:off x="548640" y="603504"/>
            <a:ext cx="10332720" cy="603504"/>
          </a:xfrm>
          <a:prstGeom prst="rect">
            <a:avLst/>
          </a:prstGeom>
          <a:noFill/>
          <a:ln/>
        </p:spPr>
        <p:txBody>
          <a:bodyPr wrap="square" lIns="0" tIns="0" rIns="0" bIns="0" rtlCol="0" anchor="t"/>
          <a:lstStyle/>
          <a:p>
            <a:pPr algn="l" indent="0" marL="0">
              <a:buNone/>
            </a:pPr>
            <a:r>
              <a:rPr lang="en-US" sz="3200" spc="100" kern="0" dirty="0">
                <a:solidFill>
                  <a:schemeClr val="accent2"/>
                </a:solidFill>
                <a:latin typeface="Impact" pitchFamily="34" charset="0"/>
                <a:ea typeface="Impact" pitchFamily="34" charset="-122"/>
                <a:cs typeface="Impact" pitchFamily="34" charset="-120"/>
              </a:rPr>
              <a:t>PROPOSED SOLUTION</a:t>
            </a:r>
            <a:endParaRPr lang="en-US" sz="3200" dirty="0"/>
          </a:p>
        </p:txBody>
      </p:sp>
      <p:sp>
        <p:nvSpPr>
          <p:cNvPr id="4" name="section label"/>
          <p:cNvSpPr txBox="1"/>
          <p:nvPr/>
        </p:nvSpPr>
        <p:spPr>
          <a:xfrm>
            <a:off x="548640" y="274320"/>
            <a:ext cx="6035040" cy="274320"/>
          </a:xfrm>
          <a:prstGeom prst="rect">
            <a:avLst/>
          </a:prstGeom>
          <a:noFill/>
          <a:ln/>
        </p:spPr>
        <p:txBody>
          <a:bodyPr wrap="square" lIns="0" tIns="0" rIns="0" bIns="0" rtlCol="0" anchor="t"/>
          <a:lstStyle/>
          <a:p>
            <a:pPr indent="0" marL="0">
              <a:buNone/>
            </a:pPr>
            <a:r>
              <a:rPr lang="en-US" sz="1500" spc="100" kern="0" dirty="0">
                <a:solidFill>
                  <a:schemeClr val="accent2"/>
                </a:solidFill>
                <a:latin typeface="Impact" pitchFamily="34" charset="0"/>
                <a:ea typeface="Impact" pitchFamily="34" charset="-122"/>
                <a:cs typeface="Impact" pitchFamily="34" charset="-120"/>
              </a:rPr>
              <a:t>02  ·  PROPOSED SOLUTION</a:t>
            </a:r>
            <a:endParaRPr lang="en-US" sz="1500" dirty="0"/>
          </a:p>
        </p:txBody>
      </p:sp>
      <p:sp>
        <p:nvSpPr>
          <p:cNvPr id="5" name="subtitle"/>
          <p:cNvSpPr txBox="1"/>
          <p:nvPr/>
        </p:nvSpPr>
        <p:spPr>
          <a:xfrm>
            <a:off x="548640" y="1188720"/>
            <a:ext cx="10424160" cy="384048"/>
          </a:xfrm>
          <a:prstGeom prst="rect">
            <a:avLst/>
          </a:prstGeom>
          <a:noFill/>
          <a:ln/>
        </p:spPr>
        <p:txBody>
          <a:bodyPr wrap="square" lIns="0" tIns="0" rIns="0" bIns="0" rtlCol="0" anchor="t"/>
          <a:lstStyle/>
          <a:p>
            <a:pPr indent="0" marL="0">
              <a:buNone/>
            </a:pPr>
            <a:r>
              <a:rPr lang="en-US" sz="1700" dirty="0">
                <a:solidFill>
                  <a:srgbClr val="E4DCFA"/>
                </a:solidFill>
                <a:latin typeface="Calibri" pitchFamily="34" charset="0"/>
                <a:ea typeface="Calibri" pitchFamily="34" charset="-122"/>
                <a:cs typeface="Calibri" pitchFamily="34" charset="-120"/>
              </a:rPr>
              <a:t>Pardarshi measures what shoppers are actually charged, and turns it into evidence</a:t>
            </a:r>
            <a:endParaRPr lang="en-US" sz="1700" dirty="0"/>
          </a:p>
        </p:txBody>
      </p:sp>
      <p:sp>
        <p:nvSpPr>
          <p:cNvPr id="6" name="flow line"/>
          <p:cNvSpPr/>
          <p:nvPr/>
        </p:nvSpPr>
        <p:spPr>
          <a:xfrm>
            <a:off x="914400" y="2176272"/>
            <a:ext cx="9052560" cy="0"/>
          </a:xfrm>
          <a:prstGeom prst="line">
            <a:avLst/>
          </a:prstGeom>
          <a:noFill/>
          <a:ln w="19050">
            <a:solidFill>
              <a:srgbClr val="E5FF5A"/>
            </a:solidFill>
            <a:prstDash val="dash"/>
          </a:ln>
        </p:spPr>
      </p:sp>
      <p:sp>
        <p:nvSpPr>
          <p:cNvPr id="7" name="icon lens"/>
          <p:cNvSpPr/>
          <p:nvPr/>
        </p:nvSpPr>
        <p:spPr>
          <a:xfrm>
            <a:off x="548640" y="1792224"/>
            <a:ext cx="768096" cy="768096"/>
          </a:xfrm>
          <a:prstGeom prst="roundRect">
            <a:avLst>
              <a:gd name="adj" fmla="val 8333"/>
            </a:avLst>
          </a:prstGeom>
          <a:solidFill>
            <a:srgbClr val="2B1A59"/>
          </a:solidFill>
          <a:ln w="19050">
            <a:solidFill>
              <a:schemeClr val="accent2"/>
            </a:solidFill>
            <a:prstDash val="solid"/>
          </a:ln>
        </p:spPr>
      </p:sp>
      <p:pic>
        <p:nvPicPr>
          <p:cNvPr id="8" name="icon" descr="Users">    </p:cNvPr>
          <p:cNvPicPr>
            <a:picLocks noChangeAspect="1"/>
          </p:cNvPicPr>
          <p:nvPr/>
        </p:nvPicPr>
        <p:blipFill>
          <a:blip r:embed="rId1"/>
          <a:stretch>
            <a:fillRect/>
          </a:stretch>
        </p:blipFill>
        <p:spPr>
          <a:xfrm>
            <a:off x="748345" y="1991929"/>
            <a:ext cx="368686" cy="368686"/>
          </a:xfrm>
          <a:prstGeom prst="rect">
            <a:avLst/>
          </a:prstGeom>
        </p:spPr>
      </p:pic>
      <p:sp>
        <p:nvSpPr>
          <p:cNvPr id="9" name="Text 5"/>
          <p:cNvSpPr txBox="1"/>
          <p:nvPr/>
        </p:nvSpPr>
        <p:spPr>
          <a:xfrm>
            <a:off x="1463040" y="1938528"/>
            <a:ext cx="731520" cy="365760"/>
          </a:xfrm>
          <a:prstGeom prst="rect">
            <a:avLst/>
          </a:prstGeom>
          <a:noFill/>
          <a:ln/>
        </p:spPr>
        <p:txBody>
          <a:bodyPr wrap="square" lIns="0" tIns="0" rIns="0" bIns="0" rtlCol="0" anchor="t"/>
          <a:lstStyle/>
          <a:p>
            <a:pPr indent="0" marL="0">
              <a:buNone/>
            </a:pPr>
            <a:r>
              <a:rPr lang="en-US" sz="1800" dirty="0">
                <a:solidFill>
                  <a:schemeClr val="accent2"/>
                </a:solidFill>
                <a:latin typeface="Impact" pitchFamily="34" charset="0"/>
                <a:ea typeface="Impact" pitchFamily="34" charset="-122"/>
                <a:cs typeface="Impact" pitchFamily="34" charset="-120"/>
              </a:rPr>
              <a:t>01</a:t>
            </a:r>
            <a:endParaRPr lang="en-US" sz="1800" dirty="0"/>
          </a:p>
        </p:txBody>
      </p:sp>
      <p:sp>
        <p:nvSpPr>
          <p:cNvPr id="10" name="Text 6"/>
          <p:cNvSpPr txBox="1"/>
          <p:nvPr/>
        </p:nvSpPr>
        <p:spPr>
          <a:xfrm>
            <a:off x="548640" y="2788920"/>
            <a:ext cx="2057400" cy="411480"/>
          </a:xfrm>
          <a:prstGeom prst="rect">
            <a:avLst/>
          </a:prstGeom>
          <a:noFill/>
          <a:ln/>
        </p:spPr>
        <p:txBody>
          <a:bodyPr wrap="square" lIns="0" tIns="0" rIns="0" bIns="0" rtlCol="0" anchor="t"/>
          <a:lstStyle/>
          <a:p>
            <a:pPr indent="0" marL="0">
              <a:buNone/>
            </a:pPr>
            <a:r>
              <a:rPr lang="en-US" sz="2200" dirty="0">
                <a:solidFill>
                  <a:schemeClr val="bg1"/>
                </a:solidFill>
                <a:latin typeface="Impact" pitchFamily="34" charset="0"/>
                <a:ea typeface="Impact" pitchFamily="34" charset="-122"/>
                <a:cs typeface="Impact" pitchFamily="34" charset="-120"/>
              </a:rPr>
              <a:t>Shop</a:t>
            </a:r>
            <a:endParaRPr lang="en-US" sz="2200" dirty="0"/>
          </a:p>
        </p:txBody>
      </p:sp>
      <p:sp>
        <p:nvSpPr>
          <p:cNvPr id="11" name="Text 7"/>
          <p:cNvSpPr txBox="1"/>
          <p:nvPr/>
        </p:nvSpPr>
        <p:spPr>
          <a:xfrm>
            <a:off x="548640" y="3246120"/>
            <a:ext cx="2011680" cy="1188720"/>
          </a:xfrm>
          <a:prstGeom prst="rect">
            <a:avLst/>
          </a:prstGeom>
          <a:noFill/>
          <a:ln/>
        </p:spPr>
        <p:txBody>
          <a:bodyPr wrap="square" lIns="0" tIns="0" rIns="0" bIns="0" rtlCol="0" anchor="t"/>
          <a:lstStyle/>
          <a:p>
            <a:pPr indent="0" marL="0">
              <a:buNone/>
            </a:pPr>
            <a:r>
              <a:rPr lang="en-US" sz="1400" dirty="0">
                <a:solidFill>
                  <a:srgbClr val="E4DCFA"/>
                </a:solidFill>
              </a:rPr>
              <a:t>6 shopper profiles × 3 runs, plus the cancellation flow</a:t>
            </a:r>
            <a:endParaRPr lang="en-US" sz="1400" dirty="0"/>
          </a:p>
        </p:txBody>
      </p:sp>
      <p:sp>
        <p:nvSpPr>
          <p:cNvPr id="12" name="icon lens"/>
          <p:cNvSpPr/>
          <p:nvPr/>
        </p:nvSpPr>
        <p:spPr>
          <a:xfrm>
            <a:off x="2807208" y="1792224"/>
            <a:ext cx="768096" cy="768096"/>
          </a:xfrm>
          <a:prstGeom prst="roundRect">
            <a:avLst>
              <a:gd name="adj" fmla="val 8333"/>
            </a:avLst>
          </a:prstGeom>
          <a:solidFill>
            <a:srgbClr val="2B1A59"/>
          </a:solidFill>
          <a:ln w="19050">
            <a:solidFill>
              <a:schemeClr val="accent2"/>
            </a:solidFill>
            <a:prstDash val="solid"/>
          </a:ln>
        </p:spPr>
      </p:sp>
      <p:pic>
        <p:nvPicPr>
          <p:cNvPr id="13" name="icon" descr="Hand">    </p:cNvPr>
          <p:cNvPicPr>
            <a:picLocks noChangeAspect="1"/>
          </p:cNvPicPr>
          <p:nvPr/>
        </p:nvPicPr>
        <p:blipFill>
          <a:blip r:embed="rId2"/>
          <a:stretch>
            <a:fillRect/>
          </a:stretch>
        </p:blipFill>
        <p:spPr>
          <a:xfrm>
            <a:off x="3006913" y="1991929"/>
            <a:ext cx="368686" cy="368686"/>
          </a:xfrm>
          <a:prstGeom prst="rect">
            <a:avLst/>
          </a:prstGeom>
        </p:spPr>
      </p:pic>
      <p:sp>
        <p:nvSpPr>
          <p:cNvPr id="14" name="Text 9"/>
          <p:cNvSpPr txBox="1"/>
          <p:nvPr/>
        </p:nvSpPr>
        <p:spPr>
          <a:xfrm>
            <a:off x="3721608" y="1938528"/>
            <a:ext cx="731520" cy="365760"/>
          </a:xfrm>
          <a:prstGeom prst="rect">
            <a:avLst/>
          </a:prstGeom>
          <a:noFill/>
          <a:ln/>
        </p:spPr>
        <p:txBody>
          <a:bodyPr wrap="square" lIns="0" tIns="0" rIns="0" bIns="0" rtlCol="0" anchor="t"/>
          <a:lstStyle/>
          <a:p>
            <a:pPr indent="0" marL="0">
              <a:buNone/>
            </a:pPr>
            <a:r>
              <a:rPr lang="en-US" sz="1800" dirty="0">
                <a:solidFill>
                  <a:schemeClr val="accent2"/>
                </a:solidFill>
                <a:latin typeface="Impact" pitchFamily="34" charset="0"/>
                <a:ea typeface="Impact" pitchFamily="34" charset="-122"/>
                <a:cs typeface="Impact" pitchFamily="34" charset="-120"/>
              </a:rPr>
              <a:t>02</a:t>
            </a:r>
            <a:endParaRPr lang="en-US" sz="1800" dirty="0"/>
          </a:p>
        </p:txBody>
      </p:sp>
      <p:sp>
        <p:nvSpPr>
          <p:cNvPr id="15" name="Text 10"/>
          <p:cNvSpPr txBox="1"/>
          <p:nvPr/>
        </p:nvSpPr>
        <p:spPr>
          <a:xfrm>
            <a:off x="2807208" y="2788920"/>
            <a:ext cx="2057400" cy="411480"/>
          </a:xfrm>
          <a:prstGeom prst="rect">
            <a:avLst/>
          </a:prstGeom>
          <a:noFill/>
          <a:ln/>
        </p:spPr>
        <p:txBody>
          <a:bodyPr wrap="square" lIns="0" tIns="0" rIns="0" bIns="0" rtlCol="0" anchor="t"/>
          <a:lstStyle/>
          <a:p>
            <a:pPr indent="0" marL="0">
              <a:buNone/>
            </a:pPr>
            <a:r>
              <a:rPr lang="en-US" sz="2200" dirty="0">
                <a:solidFill>
                  <a:schemeClr val="bg1"/>
                </a:solidFill>
                <a:latin typeface="Impact" pitchFamily="34" charset="0"/>
                <a:ea typeface="Impact" pitchFamily="34" charset="-122"/>
                <a:cs typeface="Impact" pitchFamily="34" charset="-120"/>
              </a:rPr>
              <a:t>Stop</a:t>
            </a:r>
            <a:endParaRPr lang="en-US" sz="2200" dirty="0"/>
          </a:p>
        </p:txBody>
      </p:sp>
      <p:sp>
        <p:nvSpPr>
          <p:cNvPr id="16" name="Text 11"/>
          <p:cNvSpPr txBox="1"/>
          <p:nvPr/>
        </p:nvSpPr>
        <p:spPr>
          <a:xfrm>
            <a:off x="2807208" y="3246120"/>
            <a:ext cx="2011680" cy="1188720"/>
          </a:xfrm>
          <a:prstGeom prst="rect">
            <a:avLst/>
          </a:prstGeom>
          <a:noFill/>
          <a:ln/>
        </p:spPr>
        <p:txBody>
          <a:bodyPr wrap="square" lIns="0" tIns="0" rIns="0" bIns="0" rtlCol="0" anchor="t"/>
          <a:lstStyle/>
          <a:p>
            <a:pPr indent="0" marL="0">
              <a:buNone/>
            </a:pPr>
            <a:r>
              <a:rPr lang="en-US" sz="1400" dirty="0">
                <a:solidFill>
                  <a:srgbClr val="E4DCFA"/>
                </a:solidFill>
              </a:rPr>
              <a:t>Every agent stops before payment; a code guard blocks pay buttons</a:t>
            </a:r>
            <a:endParaRPr lang="en-US" sz="1400" dirty="0"/>
          </a:p>
        </p:txBody>
      </p:sp>
      <p:sp>
        <p:nvSpPr>
          <p:cNvPr id="17" name="icon lens"/>
          <p:cNvSpPr/>
          <p:nvPr/>
        </p:nvSpPr>
        <p:spPr>
          <a:xfrm>
            <a:off x="5065776" y="1792224"/>
            <a:ext cx="768096" cy="768096"/>
          </a:xfrm>
          <a:prstGeom prst="roundRect">
            <a:avLst>
              <a:gd name="adj" fmla="val 8333"/>
            </a:avLst>
          </a:prstGeom>
          <a:solidFill>
            <a:srgbClr val="2B1A59"/>
          </a:solidFill>
          <a:ln w="19050">
            <a:solidFill>
              <a:schemeClr val="accent2"/>
            </a:solidFill>
            <a:prstDash val="solid"/>
          </a:ln>
        </p:spPr>
      </p:sp>
      <p:pic>
        <p:nvPicPr>
          <p:cNvPr id="18" name="icon" descr="Camera">    </p:cNvPr>
          <p:cNvPicPr>
            <a:picLocks noChangeAspect="1"/>
          </p:cNvPicPr>
          <p:nvPr/>
        </p:nvPicPr>
        <p:blipFill>
          <a:blip r:embed="rId3"/>
          <a:stretch>
            <a:fillRect/>
          </a:stretch>
        </p:blipFill>
        <p:spPr>
          <a:xfrm>
            <a:off x="5265481" y="1991929"/>
            <a:ext cx="368686" cy="368686"/>
          </a:xfrm>
          <a:prstGeom prst="rect">
            <a:avLst/>
          </a:prstGeom>
        </p:spPr>
      </p:pic>
      <p:sp>
        <p:nvSpPr>
          <p:cNvPr id="19" name="Text 13"/>
          <p:cNvSpPr txBox="1"/>
          <p:nvPr/>
        </p:nvSpPr>
        <p:spPr>
          <a:xfrm>
            <a:off x="5980176" y="1938528"/>
            <a:ext cx="731520" cy="365760"/>
          </a:xfrm>
          <a:prstGeom prst="rect">
            <a:avLst/>
          </a:prstGeom>
          <a:noFill/>
          <a:ln/>
        </p:spPr>
        <p:txBody>
          <a:bodyPr wrap="square" lIns="0" tIns="0" rIns="0" bIns="0" rtlCol="0" anchor="t"/>
          <a:lstStyle/>
          <a:p>
            <a:pPr indent="0" marL="0">
              <a:buNone/>
            </a:pPr>
            <a:r>
              <a:rPr lang="en-US" sz="1800" dirty="0">
                <a:solidFill>
                  <a:schemeClr val="accent2"/>
                </a:solidFill>
                <a:latin typeface="Impact" pitchFamily="34" charset="0"/>
                <a:ea typeface="Impact" pitchFamily="34" charset="-122"/>
                <a:cs typeface="Impact" pitchFamily="34" charset="-120"/>
              </a:rPr>
              <a:t>03</a:t>
            </a:r>
            <a:endParaRPr lang="en-US" sz="1800" dirty="0"/>
          </a:p>
        </p:txBody>
      </p:sp>
      <p:sp>
        <p:nvSpPr>
          <p:cNvPr id="20" name="Text 14"/>
          <p:cNvSpPr txBox="1"/>
          <p:nvPr/>
        </p:nvSpPr>
        <p:spPr>
          <a:xfrm>
            <a:off x="5065776" y="2788920"/>
            <a:ext cx="2057400" cy="411480"/>
          </a:xfrm>
          <a:prstGeom prst="rect">
            <a:avLst/>
          </a:prstGeom>
          <a:noFill/>
          <a:ln/>
        </p:spPr>
        <p:txBody>
          <a:bodyPr wrap="square" lIns="0" tIns="0" rIns="0" bIns="0" rtlCol="0" anchor="t"/>
          <a:lstStyle/>
          <a:p>
            <a:pPr indent="0" marL="0">
              <a:buNone/>
            </a:pPr>
            <a:r>
              <a:rPr lang="en-US" sz="2200" dirty="0">
                <a:solidFill>
                  <a:schemeClr val="bg1"/>
                </a:solidFill>
                <a:latin typeface="Impact" pitchFamily="34" charset="0"/>
                <a:ea typeface="Impact" pitchFamily="34" charset="-122"/>
                <a:cs typeface="Impact" pitchFamily="34" charset="-120"/>
              </a:rPr>
              <a:t>Record</a:t>
            </a:r>
            <a:endParaRPr lang="en-US" sz="2200" dirty="0"/>
          </a:p>
        </p:txBody>
      </p:sp>
      <p:sp>
        <p:nvSpPr>
          <p:cNvPr id="21" name="Text 15"/>
          <p:cNvSpPr txBox="1"/>
          <p:nvPr/>
        </p:nvSpPr>
        <p:spPr>
          <a:xfrm>
            <a:off x="5065776" y="3246120"/>
            <a:ext cx="2011680" cy="1188720"/>
          </a:xfrm>
          <a:prstGeom prst="rect">
            <a:avLst/>
          </a:prstGeom>
          <a:noFill/>
          <a:ln/>
        </p:spPr>
        <p:txBody>
          <a:bodyPr wrap="square" lIns="0" tIns="0" rIns="0" bIns="0" rtlCol="0" anchor="t"/>
          <a:lstStyle/>
          <a:p>
            <a:pPr indent="0" marL="0">
              <a:buNone/>
            </a:pPr>
            <a:r>
              <a:rPr lang="en-US" sz="1400" dirty="0">
                <a:solidFill>
                  <a:srgbClr val="E4DCFA"/>
                </a:solidFill>
              </a:rPr>
              <a:t>Every screen: price lines, pre‑ticked boxes, urgency claims, screenshots</a:t>
            </a:r>
            <a:endParaRPr lang="en-US" sz="1400" dirty="0"/>
          </a:p>
        </p:txBody>
      </p:sp>
      <p:sp>
        <p:nvSpPr>
          <p:cNvPr id="22" name="icon lens"/>
          <p:cNvSpPr/>
          <p:nvPr/>
        </p:nvSpPr>
        <p:spPr>
          <a:xfrm>
            <a:off x="7324344" y="1792224"/>
            <a:ext cx="768096" cy="768096"/>
          </a:xfrm>
          <a:prstGeom prst="roundRect">
            <a:avLst>
              <a:gd name="adj" fmla="val 8333"/>
            </a:avLst>
          </a:prstGeom>
          <a:solidFill>
            <a:srgbClr val="2B1A59"/>
          </a:solidFill>
          <a:ln w="19050">
            <a:solidFill>
              <a:schemeClr val="accent2"/>
            </a:solidFill>
            <a:prstDash val="solid"/>
          </a:ln>
        </p:spPr>
      </p:sp>
      <p:pic>
        <p:nvPicPr>
          <p:cNvPr id="23" name="icon" descr="ChartLine">    </p:cNvPr>
          <p:cNvPicPr>
            <a:picLocks noChangeAspect="1"/>
          </p:cNvPicPr>
          <p:nvPr/>
        </p:nvPicPr>
        <p:blipFill>
          <a:blip r:embed="rId4"/>
          <a:stretch>
            <a:fillRect/>
          </a:stretch>
        </p:blipFill>
        <p:spPr>
          <a:xfrm>
            <a:off x="7524049" y="1991929"/>
            <a:ext cx="368686" cy="368686"/>
          </a:xfrm>
          <a:prstGeom prst="rect">
            <a:avLst/>
          </a:prstGeom>
        </p:spPr>
      </p:pic>
      <p:sp>
        <p:nvSpPr>
          <p:cNvPr id="24" name="Text 17"/>
          <p:cNvSpPr txBox="1"/>
          <p:nvPr/>
        </p:nvSpPr>
        <p:spPr>
          <a:xfrm>
            <a:off x="8238744" y="1938528"/>
            <a:ext cx="731520" cy="365760"/>
          </a:xfrm>
          <a:prstGeom prst="rect">
            <a:avLst/>
          </a:prstGeom>
          <a:noFill/>
          <a:ln/>
        </p:spPr>
        <p:txBody>
          <a:bodyPr wrap="square" lIns="0" tIns="0" rIns="0" bIns="0" rtlCol="0" anchor="t"/>
          <a:lstStyle/>
          <a:p>
            <a:pPr indent="0" marL="0">
              <a:buNone/>
            </a:pPr>
            <a:r>
              <a:rPr lang="en-US" sz="1800" dirty="0">
                <a:solidFill>
                  <a:schemeClr val="accent2"/>
                </a:solidFill>
                <a:latin typeface="Impact" pitchFamily="34" charset="0"/>
                <a:ea typeface="Impact" pitchFamily="34" charset="-122"/>
                <a:cs typeface="Impact" pitchFamily="34" charset="-120"/>
              </a:rPr>
              <a:t>04</a:t>
            </a:r>
            <a:endParaRPr lang="en-US" sz="1800" dirty="0"/>
          </a:p>
        </p:txBody>
      </p:sp>
      <p:sp>
        <p:nvSpPr>
          <p:cNvPr id="25" name="Text 18"/>
          <p:cNvSpPr txBox="1"/>
          <p:nvPr/>
        </p:nvSpPr>
        <p:spPr>
          <a:xfrm>
            <a:off x="7324344" y="2788920"/>
            <a:ext cx="2057400" cy="411480"/>
          </a:xfrm>
          <a:prstGeom prst="rect">
            <a:avLst/>
          </a:prstGeom>
          <a:noFill/>
          <a:ln/>
        </p:spPr>
        <p:txBody>
          <a:bodyPr wrap="square" lIns="0" tIns="0" rIns="0" bIns="0" rtlCol="0" anchor="t"/>
          <a:lstStyle/>
          <a:p>
            <a:pPr indent="0" marL="0">
              <a:buNone/>
            </a:pPr>
            <a:r>
              <a:rPr lang="en-US" sz="2200" dirty="0">
                <a:solidFill>
                  <a:schemeClr val="bg1"/>
                </a:solidFill>
                <a:latin typeface="Impact" pitchFamily="34" charset="0"/>
                <a:ea typeface="Impact" pitchFamily="34" charset="-122"/>
                <a:cs typeface="Impact" pitchFamily="34" charset="-120"/>
              </a:rPr>
              <a:t>Measure</a:t>
            </a:r>
            <a:endParaRPr lang="en-US" sz="2200" dirty="0"/>
          </a:p>
        </p:txBody>
      </p:sp>
      <p:sp>
        <p:nvSpPr>
          <p:cNvPr id="26" name="Text 19"/>
          <p:cNvSpPr txBox="1"/>
          <p:nvPr/>
        </p:nvSpPr>
        <p:spPr>
          <a:xfrm>
            <a:off x="7324344" y="3246120"/>
            <a:ext cx="2011680" cy="1188720"/>
          </a:xfrm>
          <a:prstGeom prst="rect">
            <a:avLst/>
          </a:prstGeom>
          <a:noFill/>
          <a:ln/>
        </p:spPr>
        <p:txBody>
          <a:bodyPr wrap="square" lIns="0" tIns="0" rIns="0" bIns="0" rtlCol="0" anchor="t"/>
          <a:lstStyle/>
          <a:p>
            <a:pPr indent="0" marL="0">
              <a:buNone/>
            </a:pPr>
            <a:r>
              <a:rPr lang="en-US" sz="1400" dirty="0">
                <a:solidFill>
                  <a:srgbClr val="E4DCFA"/>
                </a:solidFill>
              </a:rPr>
              <a:t>ML and statistics turn captures into findings with confidence</a:t>
            </a:r>
            <a:endParaRPr lang="en-US" sz="1400" dirty="0"/>
          </a:p>
        </p:txBody>
      </p:sp>
      <p:sp>
        <p:nvSpPr>
          <p:cNvPr id="27" name="icon lens"/>
          <p:cNvSpPr/>
          <p:nvPr/>
        </p:nvSpPr>
        <p:spPr>
          <a:xfrm>
            <a:off x="9582912" y="1792224"/>
            <a:ext cx="768096" cy="768096"/>
          </a:xfrm>
          <a:prstGeom prst="roundRect">
            <a:avLst>
              <a:gd name="adj" fmla="val 8333"/>
            </a:avLst>
          </a:prstGeom>
          <a:solidFill>
            <a:srgbClr val="2B1A59"/>
          </a:solidFill>
          <a:ln w="19050">
            <a:solidFill>
              <a:schemeClr val="accent2"/>
            </a:solidFill>
            <a:prstDash val="solid"/>
          </a:ln>
        </p:spPr>
      </p:sp>
      <p:pic>
        <p:nvPicPr>
          <p:cNvPr id="28" name="icon" descr="Gavel">    </p:cNvPr>
          <p:cNvPicPr>
            <a:picLocks noChangeAspect="1"/>
          </p:cNvPicPr>
          <p:nvPr/>
        </p:nvPicPr>
        <p:blipFill>
          <a:blip r:embed="rId5"/>
          <a:stretch>
            <a:fillRect/>
          </a:stretch>
        </p:blipFill>
        <p:spPr>
          <a:xfrm>
            <a:off x="9782617" y="1991929"/>
            <a:ext cx="368686" cy="368686"/>
          </a:xfrm>
          <a:prstGeom prst="rect">
            <a:avLst/>
          </a:prstGeom>
        </p:spPr>
      </p:pic>
      <p:sp>
        <p:nvSpPr>
          <p:cNvPr id="29" name="Text 21"/>
          <p:cNvSpPr txBox="1"/>
          <p:nvPr/>
        </p:nvSpPr>
        <p:spPr>
          <a:xfrm>
            <a:off x="10497312" y="1938528"/>
            <a:ext cx="731520" cy="365760"/>
          </a:xfrm>
          <a:prstGeom prst="rect">
            <a:avLst/>
          </a:prstGeom>
          <a:noFill/>
          <a:ln/>
        </p:spPr>
        <p:txBody>
          <a:bodyPr wrap="square" lIns="0" tIns="0" rIns="0" bIns="0" rtlCol="0" anchor="t"/>
          <a:lstStyle/>
          <a:p>
            <a:pPr indent="0" marL="0">
              <a:buNone/>
            </a:pPr>
            <a:r>
              <a:rPr lang="en-US" sz="1800" dirty="0">
                <a:solidFill>
                  <a:schemeClr val="accent2"/>
                </a:solidFill>
                <a:latin typeface="Impact" pitchFamily="34" charset="0"/>
                <a:ea typeface="Impact" pitchFamily="34" charset="-122"/>
                <a:cs typeface="Impact" pitchFamily="34" charset="-120"/>
              </a:rPr>
              <a:t>05</a:t>
            </a:r>
            <a:endParaRPr lang="en-US" sz="1800" dirty="0"/>
          </a:p>
        </p:txBody>
      </p:sp>
      <p:sp>
        <p:nvSpPr>
          <p:cNvPr id="30" name="Text 22"/>
          <p:cNvSpPr txBox="1"/>
          <p:nvPr/>
        </p:nvSpPr>
        <p:spPr>
          <a:xfrm>
            <a:off x="9582912" y="2788920"/>
            <a:ext cx="2057400" cy="411480"/>
          </a:xfrm>
          <a:prstGeom prst="rect">
            <a:avLst/>
          </a:prstGeom>
          <a:noFill/>
          <a:ln/>
        </p:spPr>
        <p:txBody>
          <a:bodyPr wrap="square" lIns="0" tIns="0" rIns="0" bIns="0" rtlCol="0" anchor="t"/>
          <a:lstStyle/>
          <a:p>
            <a:pPr indent="0" marL="0">
              <a:buNone/>
            </a:pPr>
            <a:r>
              <a:rPr lang="en-US" sz="2200" dirty="0">
                <a:solidFill>
                  <a:schemeClr val="bg1"/>
                </a:solidFill>
                <a:latin typeface="Impact" pitchFamily="34" charset="0"/>
                <a:ea typeface="Impact" pitchFamily="34" charset="-122"/>
                <a:cs typeface="Impact" pitchFamily="34" charset="-120"/>
              </a:rPr>
              <a:t>Act</a:t>
            </a:r>
            <a:endParaRPr lang="en-US" sz="2200" dirty="0"/>
          </a:p>
        </p:txBody>
      </p:sp>
      <p:sp>
        <p:nvSpPr>
          <p:cNvPr id="31" name="Text 23"/>
          <p:cNvSpPr txBox="1"/>
          <p:nvPr/>
        </p:nvSpPr>
        <p:spPr>
          <a:xfrm>
            <a:off x="9582912" y="3246120"/>
            <a:ext cx="2011680" cy="1188720"/>
          </a:xfrm>
          <a:prstGeom prst="rect">
            <a:avLst/>
          </a:prstGeom>
          <a:noFill/>
          <a:ln/>
        </p:spPr>
        <p:txBody>
          <a:bodyPr wrap="square" lIns="0" tIns="0" rIns="0" bIns="0" rtlCol="0" anchor="t"/>
          <a:lstStyle/>
          <a:p>
            <a:pPr indent="0" marL="0">
              <a:buNone/>
            </a:pPr>
            <a:r>
              <a:rPr lang="en-US" sz="1400" dirty="0">
                <a:solidFill>
                  <a:srgbClr val="E4DCFA"/>
                </a:solidFill>
              </a:rPr>
              <a:t>Trust score, findings report with SHA‑256 hashes, NCH complaint</a:t>
            </a:r>
            <a:endParaRPr lang="en-US" sz="1400" dirty="0"/>
          </a:p>
        </p:txBody>
      </p:sp>
      <p:sp>
        <p:nvSpPr>
          <p:cNvPr id="32" name="callout"/>
          <p:cNvSpPr/>
          <p:nvPr/>
        </p:nvSpPr>
        <p:spPr>
          <a:xfrm>
            <a:off x="548640" y="4800600"/>
            <a:ext cx="11091672" cy="1234440"/>
          </a:xfrm>
          <a:prstGeom prst="roundRect">
            <a:avLst>
              <a:gd name="adj" fmla="val 3704"/>
            </a:avLst>
          </a:prstGeom>
          <a:solidFill>
            <a:schemeClr val="accent1"/>
          </a:solidFill>
          <a:ln w="12700">
            <a:solidFill>
              <a:schemeClr val="accent1"/>
            </a:solidFill>
            <a:prstDash val="solid"/>
          </a:ln>
        </p:spPr>
      </p:sp>
      <p:sp>
        <p:nvSpPr>
          <p:cNvPr id="33" name="Text 25"/>
          <p:cNvSpPr txBox="1"/>
          <p:nvPr/>
        </p:nvSpPr>
        <p:spPr>
          <a:xfrm>
            <a:off x="868680" y="4800600"/>
            <a:ext cx="10515600" cy="1234440"/>
          </a:xfrm>
          <a:prstGeom prst="rect">
            <a:avLst/>
          </a:prstGeom>
          <a:noFill/>
          <a:ln/>
        </p:spPr>
        <p:txBody>
          <a:bodyPr wrap="square" lIns="0" tIns="0" rIns="0" bIns="0" rtlCol="0" anchor="ctr"/>
          <a:lstStyle/>
          <a:p>
            <a:pPr indent="0" marL="0">
              <a:buNone/>
            </a:pPr>
            <a:r>
              <a:rPr lang="en-US" sz="2200" b="1" dirty="0">
                <a:solidFill>
                  <a:schemeClr val="accent2"/>
                </a:solidFill>
                <a:latin typeface="Impact" pitchFamily="34" charset="0"/>
                <a:ea typeface="Impact" pitchFamily="34" charset="-122"/>
                <a:cs typeface="Impact" pitchFamily="34" charset="-120"/>
              </a:rPr>
              <a:t>Measured, not surveyed.  </a:t>
            </a:r>
            <a:pPr indent="0" marL="0">
              <a:buNone/>
            </a:pPr>
            <a:r>
              <a:rPr lang="en-US" sz="1800" dirty="0">
                <a:solidFill>
                  <a:schemeClr val="bg1"/>
                </a:solidFill>
              </a:rPr>
              <a:t>Per-site proof with screenshots and statistics, ready to attach to a complaint.</a:t>
            </a:r>
            <a:endParaRPr lang="en-US" sz="1400" dirty="0"/>
          </a:p>
        </p:txBody>
      </p:sp>
      <p:sp>
        <p:nvSpPr>
          <p:cNvPr id="25" name="Slide Number Placeholder 0"/>
          <p:cNvSpPr>
            <a:spLocks noGrp="1"/>
          </p:cNvSpPr>
          <p:nvPr>
            <p:ph type="sldNum" sz="quarter" idx="4294967295"/>
          </p:nvPr>
        </p:nvSpPr>
        <p:spPr>
          <a:xfrm>
            <a:off x="10424160" y="274320"/>
            <a:ext cx="594360" cy="365760"/>
          </a:xfrm>
          <a:prstGeom prst="rect">
            <a:avLst/>
          </a:prstGeom>
          <a:extLst>
            <a:ext uri="{C572A759-6A51-4108-AA02-DFA0A04FC94B}">
              <ma14:wrappingTextBoxFlag xmlns:ma14="http://schemas.microsoft.com/office/mac/drawingml/2011/main" val="0"/>
            </a:ext>
          </a:extLst>
        </p:spPr>
        <p:txBody>
          <a:bodyPr/>
          <a:lstStyle>
            <a:lvl1pPr>
              <a:defRPr sz="2000">
                <a:solidFill>
                  <a:schemeClr val="accent2"/>
                </a:solidFill>
                <a:latin typeface="Impact"/>
                <a:ea typeface="Impact"/>
                <a:cs typeface="Impact"/>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2"/>
          <p:cNvSpPr/>
          <p:nvPr>
            <p:ph idx="104" type="title" hasCustomPrompt="1"/>
          </p:nvPr>
        </p:nvSpPr>
        <p:spPr>
          <a:xfrm>
            <a:off x="548640" y="603504"/>
            <a:ext cx="10332720" cy="603504"/>
          </a:xfrm>
          <a:prstGeom prst="rect">
            <a:avLst/>
          </a:prstGeom>
          <a:noFill/>
          <a:ln/>
        </p:spPr>
        <p:txBody>
          <a:bodyPr wrap="square" lIns="0" tIns="0" rIns="0" bIns="0" rtlCol="0" anchor="t"/>
          <a:lstStyle/>
          <a:p>
            <a:pPr algn="l" indent="0" marL="0">
              <a:buNone/>
            </a:pPr>
            <a:r>
              <a:rPr lang="en-US" sz="3200" spc="100" kern="0" dirty="0">
                <a:solidFill>
                  <a:schemeClr val="tx2"/>
                </a:solidFill>
                <a:latin typeface="Impact" pitchFamily="34" charset="0"/>
                <a:ea typeface="Impact" pitchFamily="34" charset="-122"/>
                <a:cs typeface="Impact" pitchFamily="34" charset="-120"/>
              </a:rPr>
              <a:t>PROPOSED SOLUTION: SEVEN CHECKS</a:t>
            </a:r>
            <a:endParaRPr lang="en-US" sz="3200" dirty="0"/>
          </a:p>
        </p:txBody>
      </p:sp>
      <p:sp>
        <p:nvSpPr>
          <p:cNvPr id="4" name="section label"/>
          <p:cNvSpPr txBox="1"/>
          <p:nvPr/>
        </p:nvSpPr>
        <p:spPr>
          <a:xfrm>
            <a:off x="548640" y="274320"/>
            <a:ext cx="6035040" cy="274320"/>
          </a:xfrm>
          <a:prstGeom prst="rect">
            <a:avLst/>
          </a:prstGeom>
          <a:noFill/>
          <a:ln/>
        </p:spPr>
        <p:txBody>
          <a:bodyPr wrap="square" lIns="0" tIns="0" rIns="0" bIns="0" rtlCol="0" anchor="t"/>
          <a:lstStyle/>
          <a:p>
            <a:pPr indent="0" marL="0">
              <a:buNone/>
            </a:pPr>
            <a:r>
              <a:rPr lang="en-US" sz="1500" spc="100" kern="0" dirty="0">
                <a:solidFill>
                  <a:schemeClr val="tx2"/>
                </a:solidFill>
                <a:latin typeface="Impact" pitchFamily="34" charset="0"/>
                <a:ea typeface="Impact" pitchFamily="34" charset="-122"/>
                <a:cs typeface="Impact" pitchFamily="34" charset="-120"/>
              </a:rPr>
              <a:t>02  ·  PROPOSED SOLUTION</a:t>
            </a:r>
            <a:endParaRPr lang="en-US" sz="1500" dirty="0"/>
          </a:p>
        </p:txBody>
      </p:sp>
      <p:sp>
        <p:nvSpPr>
          <p:cNvPr id="5" name="subtitle"/>
          <p:cNvSpPr txBox="1"/>
          <p:nvPr/>
        </p:nvSpPr>
        <p:spPr>
          <a:xfrm>
            <a:off x="548640" y="1188720"/>
            <a:ext cx="10424160" cy="384048"/>
          </a:xfrm>
          <a:prstGeom prst="rect">
            <a:avLst/>
          </a:prstGeom>
          <a:noFill/>
          <a:ln/>
        </p:spPr>
        <p:txBody>
          <a:bodyPr wrap="square" lIns="0" tIns="0" rIns="0" bIns="0" rtlCol="0" anchor="t"/>
          <a:lstStyle/>
          <a:p>
            <a:pPr indent="0" marL="0">
              <a:buNone/>
            </a:pPr>
            <a:r>
              <a:rPr lang="en-US" sz="1700" dirty="0">
                <a:solidFill>
                  <a:schemeClr val="accent6"/>
                </a:solidFill>
                <a:latin typeface="Calibri" pitchFamily="34" charset="0"/>
                <a:ea typeface="Calibri" pitchFamily="34" charset="-122"/>
                <a:cs typeface="Calibri" pitchFamily="34" charset="-120"/>
              </a:rPr>
              <a:t>Mapped to the Consumer Protection Act 2019 and the CCPA's 2023 dark-pattern guidelines</a:t>
            </a:r>
            <a:endParaRPr lang="en-US" sz="1700" dirty="0"/>
          </a:p>
        </p:txBody>
      </p:sp>
      <p:sp>
        <p:nvSpPr>
          <p:cNvPr id="6" name="card"/>
          <p:cNvSpPr/>
          <p:nvPr/>
        </p:nvSpPr>
        <p:spPr>
          <a:xfrm>
            <a:off x="548640" y="1783080"/>
            <a:ext cx="2560320" cy="2084832"/>
          </a:xfrm>
          <a:prstGeom prst="roundRect">
            <a:avLst>
              <a:gd name="adj" fmla="val 2193"/>
            </a:avLst>
          </a:prstGeom>
          <a:solidFill>
            <a:schemeClr val="bg2"/>
          </a:solidFill>
          <a:ln w="12700">
            <a:solidFill>
              <a:srgbClr val="36226B"/>
            </a:solidFill>
            <a:prstDash val="solid"/>
          </a:ln>
        </p:spPr>
      </p:sp>
      <p:sp>
        <p:nvSpPr>
          <p:cNvPr id="7" name="icon lens"/>
          <p:cNvSpPr/>
          <p:nvPr/>
        </p:nvSpPr>
        <p:spPr>
          <a:xfrm>
            <a:off x="749808" y="1984248"/>
            <a:ext cx="548640" cy="548640"/>
          </a:xfrm>
          <a:prstGeom prst="roundRect">
            <a:avLst>
              <a:gd name="adj" fmla="val 11667"/>
            </a:avLst>
          </a:prstGeom>
          <a:solidFill>
            <a:schemeClr val="tx2"/>
          </a:solidFill>
          <a:ln w="19050">
            <a:solidFill>
              <a:schemeClr val="tx2"/>
            </a:solidFill>
            <a:prstDash val="solid"/>
          </a:ln>
        </p:spPr>
      </p:sp>
      <p:pic>
        <p:nvPicPr>
          <p:cNvPr id="8" name="icon" descr="ArrowTrendUp">    </p:cNvPr>
          <p:cNvPicPr>
            <a:picLocks noChangeAspect="1"/>
          </p:cNvPicPr>
          <p:nvPr/>
        </p:nvPicPr>
        <p:blipFill>
          <a:blip r:embed="rId1"/>
          <a:stretch>
            <a:fillRect/>
          </a:stretch>
        </p:blipFill>
        <p:spPr>
          <a:xfrm>
            <a:off x="892454" y="2126894"/>
            <a:ext cx="263347" cy="263347"/>
          </a:xfrm>
          <a:prstGeom prst="rect">
            <a:avLst/>
          </a:prstGeom>
        </p:spPr>
      </p:pic>
      <p:sp>
        <p:nvSpPr>
          <p:cNvPr id="9" name="Text 5"/>
          <p:cNvSpPr txBox="1"/>
          <p:nvPr/>
        </p:nvSpPr>
        <p:spPr>
          <a:xfrm>
            <a:off x="749808" y="2651760"/>
            <a:ext cx="2194560" cy="329184"/>
          </a:xfrm>
          <a:prstGeom prst="rect">
            <a:avLst/>
          </a:prstGeom>
          <a:noFill/>
          <a:ln/>
        </p:spPr>
        <p:txBody>
          <a:bodyPr wrap="square" lIns="0" tIns="0" rIns="0" bIns="0" rtlCol="0" anchor="t"/>
          <a:lstStyle/>
          <a:p>
            <a:pPr indent="0" marL="0">
              <a:buNone/>
            </a:pPr>
            <a:r>
              <a:rPr lang="en-US" sz="1700" b="1" dirty="0">
                <a:solidFill>
                  <a:schemeClr val="tx1"/>
                </a:solidFill>
              </a:rPr>
              <a:t>Drip pricing</a:t>
            </a:r>
            <a:endParaRPr lang="en-US" sz="1700" dirty="0"/>
          </a:p>
        </p:txBody>
      </p:sp>
      <p:sp>
        <p:nvSpPr>
          <p:cNvPr id="10" name="Text 6"/>
          <p:cNvSpPr txBox="1"/>
          <p:nvPr/>
        </p:nvSpPr>
        <p:spPr>
          <a:xfrm>
            <a:off x="749808" y="2990088"/>
            <a:ext cx="2194560" cy="548640"/>
          </a:xfrm>
          <a:prstGeom prst="rect">
            <a:avLst/>
          </a:prstGeom>
          <a:noFill/>
          <a:ln/>
        </p:spPr>
        <p:txBody>
          <a:bodyPr wrap="square" lIns="0" tIns="0" rIns="0" bIns="0" rtlCol="0" anchor="t"/>
          <a:lstStyle/>
          <a:p>
            <a:pPr indent="0" marL="0">
              <a:buNone/>
            </a:pPr>
            <a:r>
              <a:rPr lang="en-US" sz="1300" dirty="0">
                <a:solidFill>
                  <a:schemeClr val="accent6"/>
                </a:solidFill>
              </a:rPr>
              <a:t>First-screen price vs payment total, median of runs</a:t>
            </a:r>
            <a:endParaRPr lang="en-US" sz="1300" dirty="0"/>
          </a:p>
        </p:txBody>
      </p:sp>
      <p:sp>
        <p:nvSpPr>
          <p:cNvPr id="11" name="Text 7"/>
          <p:cNvSpPr txBox="1"/>
          <p:nvPr/>
        </p:nvSpPr>
        <p:spPr>
          <a:xfrm>
            <a:off x="749808" y="3547872"/>
            <a:ext cx="2194560" cy="237744"/>
          </a:xfrm>
          <a:prstGeom prst="rect">
            <a:avLst/>
          </a:prstGeom>
          <a:noFill/>
          <a:ln/>
        </p:spPr>
        <p:txBody>
          <a:bodyPr wrap="square" lIns="0" tIns="0" rIns="0" bIns="0" rtlCol="0" anchor="t"/>
          <a:lstStyle/>
          <a:p>
            <a:pPr indent="0" marL="0">
              <a:buNone/>
            </a:pPr>
            <a:r>
              <a:rPr lang="en-US" sz="1100" b="1" dirty="0">
                <a:solidFill>
                  <a:schemeClr val="accent1"/>
                </a:solidFill>
              </a:rPr>
              <a:t>CCPA 2023: drip pricing</a:t>
            </a:r>
            <a:endParaRPr lang="en-US" sz="1100" dirty="0"/>
          </a:p>
        </p:txBody>
      </p:sp>
      <p:sp>
        <p:nvSpPr>
          <p:cNvPr id="12" name="card"/>
          <p:cNvSpPr/>
          <p:nvPr/>
        </p:nvSpPr>
        <p:spPr>
          <a:xfrm>
            <a:off x="3393338" y="1783080"/>
            <a:ext cx="2560320" cy="2084832"/>
          </a:xfrm>
          <a:prstGeom prst="roundRect">
            <a:avLst>
              <a:gd name="adj" fmla="val 2193"/>
            </a:avLst>
          </a:prstGeom>
          <a:solidFill>
            <a:schemeClr val="bg2"/>
          </a:solidFill>
          <a:ln w="12700">
            <a:solidFill>
              <a:srgbClr val="36226B"/>
            </a:solidFill>
            <a:prstDash val="solid"/>
          </a:ln>
        </p:spPr>
      </p:sp>
      <p:sp>
        <p:nvSpPr>
          <p:cNvPr id="13" name="icon lens"/>
          <p:cNvSpPr/>
          <p:nvPr/>
        </p:nvSpPr>
        <p:spPr>
          <a:xfrm>
            <a:off x="3594506" y="1984248"/>
            <a:ext cx="548640" cy="548640"/>
          </a:xfrm>
          <a:prstGeom prst="roundRect">
            <a:avLst>
              <a:gd name="adj" fmla="val 11667"/>
            </a:avLst>
          </a:prstGeom>
          <a:solidFill>
            <a:schemeClr val="tx2"/>
          </a:solidFill>
          <a:ln w="19050">
            <a:solidFill>
              <a:schemeClr val="tx2"/>
            </a:solidFill>
            <a:prstDash val="solid"/>
          </a:ln>
        </p:spPr>
      </p:sp>
      <p:pic>
        <p:nvPicPr>
          <p:cNvPr id="14" name="icon" descr="BasketShopping">    </p:cNvPr>
          <p:cNvPicPr>
            <a:picLocks noChangeAspect="1"/>
          </p:cNvPicPr>
          <p:nvPr/>
        </p:nvPicPr>
        <p:blipFill>
          <a:blip r:embed="rId2"/>
          <a:stretch>
            <a:fillRect/>
          </a:stretch>
        </p:blipFill>
        <p:spPr>
          <a:xfrm>
            <a:off x="3737153" y="2126894"/>
            <a:ext cx="263347" cy="263347"/>
          </a:xfrm>
          <a:prstGeom prst="rect">
            <a:avLst/>
          </a:prstGeom>
        </p:spPr>
      </p:pic>
      <p:sp>
        <p:nvSpPr>
          <p:cNvPr id="15" name="Text 10"/>
          <p:cNvSpPr txBox="1"/>
          <p:nvPr/>
        </p:nvSpPr>
        <p:spPr>
          <a:xfrm>
            <a:off x="3594506" y="2651760"/>
            <a:ext cx="2194560" cy="329184"/>
          </a:xfrm>
          <a:prstGeom prst="rect">
            <a:avLst/>
          </a:prstGeom>
          <a:noFill/>
          <a:ln/>
        </p:spPr>
        <p:txBody>
          <a:bodyPr wrap="square" lIns="0" tIns="0" rIns="0" bIns="0" rtlCol="0" anchor="t"/>
          <a:lstStyle/>
          <a:p>
            <a:pPr indent="0" marL="0">
              <a:buNone/>
            </a:pPr>
            <a:r>
              <a:rPr lang="en-US" sz="1700" b="1" dirty="0">
                <a:solidFill>
                  <a:schemeClr val="tx1"/>
                </a:solidFill>
              </a:rPr>
              <a:t>Basket sneaking</a:t>
            </a:r>
            <a:endParaRPr lang="en-US" sz="1700" dirty="0"/>
          </a:p>
        </p:txBody>
      </p:sp>
      <p:sp>
        <p:nvSpPr>
          <p:cNvPr id="16" name="Text 11"/>
          <p:cNvSpPr txBox="1"/>
          <p:nvPr/>
        </p:nvSpPr>
        <p:spPr>
          <a:xfrm>
            <a:off x="3594506" y="2990088"/>
            <a:ext cx="2194560" cy="548640"/>
          </a:xfrm>
          <a:prstGeom prst="rect">
            <a:avLst/>
          </a:prstGeom>
          <a:noFill/>
          <a:ln/>
        </p:spPr>
        <p:txBody>
          <a:bodyPr wrap="square" lIns="0" tIns="0" rIns="0" bIns="0" rtlCol="0" anchor="t"/>
          <a:lstStyle/>
          <a:p>
            <a:pPr indent="0" marL="0">
              <a:buNone/>
            </a:pPr>
            <a:r>
              <a:rPr lang="en-US" sz="1300" dirty="0">
                <a:solidFill>
                  <a:schemeClr val="accent6"/>
                </a:solidFill>
              </a:rPr>
              <a:t>Paid add-ons that arrive pre‑ticked</a:t>
            </a:r>
            <a:endParaRPr lang="en-US" sz="1300" dirty="0"/>
          </a:p>
        </p:txBody>
      </p:sp>
      <p:sp>
        <p:nvSpPr>
          <p:cNvPr id="17" name="Text 12"/>
          <p:cNvSpPr txBox="1"/>
          <p:nvPr/>
        </p:nvSpPr>
        <p:spPr>
          <a:xfrm>
            <a:off x="3594506" y="3547872"/>
            <a:ext cx="2194560" cy="237744"/>
          </a:xfrm>
          <a:prstGeom prst="rect">
            <a:avLst/>
          </a:prstGeom>
          <a:noFill/>
          <a:ln/>
        </p:spPr>
        <p:txBody>
          <a:bodyPr wrap="square" lIns="0" tIns="0" rIns="0" bIns="0" rtlCol="0" anchor="t"/>
          <a:lstStyle/>
          <a:p>
            <a:pPr indent="0" marL="0">
              <a:buNone/>
            </a:pPr>
            <a:r>
              <a:rPr lang="en-US" sz="1100" b="1" dirty="0">
                <a:solidFill>
                  <a:schemeClr val="accent1"/>
                </a:solidFill>
              </a:rPr>
              <a:t>CCPA 2023: basket sneaking</a:t>
            </a:r>
            <a:endParaRPr lang="en-US" sz="1100" dirty="0"/>
          </a:p>
        </p:txBody>
      </p:sp>
      <p:sp>
        <p:nvSpPr>
          <p:cNvPr id="18" name="card"/>
          <p:cNvSpPr/>
          <p:nvPr/>
        </p:nvSpPr>
        <p:spPr>
          <a:xfrm>
            <a:off x="6238037" y="1783080"/>
            <a:ext cx="2560320" cy="2084832"/>
          </a:xfrm>
          <a:prstGeom prst="roundRect">
            <a:avLst>
              <a:gd name="adj" fmla="val 2193"/>
            </a:avLst>
          </a:prstGeom>
          <a:solidFill>
            <a:schemeClr val="bg2"/>
          </a:solidFill>
          <a:ln w="12700">
            <a:solidFill>
              <a:srgbClr val="36226B"/>
            </a:solidFill>
            <a:prstDash val="solid"/>
          </a:ln>
        </p:spPr>
      </p:sp>
      <p:sp>
        <p:nvSpPr>
          <p:cNvPr id="19" name="icon lens"/>
          <p:cNvSpPr/>
          <p:nvPr/>
        </p:nvSpPr>
        <p:spPr>
          <a:xfrm>
            <a:off x="6439205" y="1984248"/>
            <a:ext cx="548640" cy="548640"/>
          </a:xfrm>
          <a:prstGeom prst="roundRect">
            <a:avLst>
              <a:gd name="adj" fmla="val 11667"/>
            </a:avLst>
          </a:prstGeom>
          <a:solidFill>
            <a:schemeClr val="tx2"/>
          </a:solidFill>
          <a:ln w="19050">
            <a:solidFill>
              <a:schemeClr val="tx2"/>
            </a:solidFill>
            <a:prstDash val="solid"/>
          </a:ln>
        </p:spPr>
      </p:sp>
      <p:pic>
        <p:nvPicPr>
          <p:cNvPr id="20" name="icon" descr="Stopwatch">    </p:cNvPr>
          <p:cNvPicPr>
            <a:picLocks noChangeAspect="1"/>
          </p:cNvPicPr>
          <p:nvPr/>
        </p:nvPicPr>
        <p:blipFill>
          <a:blip r:embed="rId3"/>
          <a:stretch>
            <a:fillRect/>
          </a:stretch>
        </p:blipFill>
        <p:spPr>
          <a:xfrm>
            <a:off x="6581851" y="2126894"/>
            <a:ext cx="263347" cy="263347"/>
          </a:xfrm>
          <a:prstGeom prst="rect">
            <a:avLst/>
          </a:prstGeom>
        </p:spPr>
      </p:pic>
      <p:sp>
        <p:nvSpPr>
          <p:cNvPr id="21" name="Text 15"/>
          <p:cNvSpPr txBox="1"/>
          <p:nvPr/>
        </p:nvSpPr>
        <p:spPr>
          <a:xfrm>
            <a:off x="6439205" y="2651760"/>
            <a:ext cx="2194560" cy="329184"/>
          </a:xfrm>
          <a:prstGeom prst="rect">
            <a:avLst/>
          </a:prstGeom>
          <a:noFill/>
          <a:ln/>
        </p:spPr>
        <p:txBody>
          <a:bodyPr wrap="square" lIns="0" tIns="0" rIns="0" bIns="0" rtlCol="0" anchor="t"/>
          <a:lstStyle/>
          <a:p>
            <a:pPr indent="0" marL="0">
              <a:buNone/>
            </a:pPr>
            <a:r>
              <a:rPr lang="en-US" sz="1700" b="1" dirty="0">
                <a:solidFill>
                  <a:schemeClr val="tx1"/>
                </a:solidFill>
              </a:rPr>
              <a:t>Fake urgency</a:t>
            </a:r>
            <a:endParaRPr lang="en-US" sz="1700" dirty="0"/>
          </a:p>
        </p:txBody>
      </p:sp>
      <p:sp>
        <p:nvSpPr>
          <p:cNvPr id="22" name="Text 16"/>
          <p:cNvSpPr txBox="1"/>
          <p:nvPr/>
        </p:nvSpPr>
        <p:spPr>
          <a:xfrm>
            <a:off x="6439205" y="2990088"/>
            <a:ext cx="2194560" cy="548640"/>
          </a:xfrm>
          <a:prstGeom prst="rect">
            <a:avLst/>
          </a:prstGeom>
          <a:noFill/>
          <a:ln/>
        </p:spPr>
        <p:txBody>
          <a:bodyPr wrap="square" lIns="0" tIns="0" rIns="0" bIns="0" rtlCol="0" anchor="t"/>
          <a:lstStyle/>
          <a:p>
            <a:pPr indent="0" marL="0">
              <a:buNone/>
            </a:pPr>
            <a:r>
              <a:rPr lang="en-US" sz="1300" dirty="0">
                <a:solidFill>
                  <a:schemeClr val="accent6"/>
                </a:solidFill>
              </a:rPr>
              <a:t>Timers that reset on reload, “only N left”, fake popularity</a:t>
            </a:r>
            <a:endParaRPr lang="en-US" sz="1300" dirty="0"/>
          </a:p>
        </p:txBody>
      </p:sp>
      <p:sp>
        <p:nvSpPr>
          <p:cNvPr id="23" name="Text 17"/>
          <p:cNvSpPr txBox="1"/>
          <p:nvPr/>
        </p:nvSpPr>
        <p:spPr>
          <a:xfrm>
            <a:off x="6439205" y="3547872"/>
            <a:ext cx="2194560" cy="237744"/>
          </a:xfrm>
          <a:prstGeom prst="rect">
            <a:avLst/>
          </a:prstGeom>
          <a:noFill/>
          <a:ln/>
        </p:spPr>
        <p:txBody>
          <a:bodyPr wrap="square" lIns="0" tIns="0" rIns="0" bIns="0" rtlCol="0" anchor="t"/>
          <a:lstStyle/>
          <a:p>
            <a:pPr indent="0" marL="0">
              <a:buNone/>
            </a:pPr>
            <a:r>
              <a:rPr lang="en-US" sz="1100" b="1" dirty="0">
                <a:solidFill>
                  <a:schemeClr val="accent1"/>
                </a:solidFill>
              </a:rPr>
              <a:t>CCPA 2023: false urgency</a:t>
            </a:r>
            <a:endParaRPr lang="en-US" sz="1100" dirty="0"/>
          </a:p>
        </p:txBody>
      </p:sp>
      <p:sp>
        <p:nvSpPr>
          <p:cNvPr id="24" name="card"/>
          <p:cNvSpPr/>
          <p:nvPr/>
        </p:nvSpPr>
        <p:spPr>
          <a:xfrm>
            <a:off x="9082735" y="1783080"/>
            <a:ext cx="2560320" cy="2084832"/>
          </a:xfrm>
          <a:prstGeom prst="roundRect">
            <a:avLst>
              <a:gd name="adj" fmla="val 2193"/>
            </a:avLst>
          </a:prstGeom>
          <a:solidFill>
            <a:schemeClr val="bg2"/>
          </a:solidFill>
          <a:ln w="12700">
            <a:solidFill>
              <a:srgbClr val="36226B"/>
            </a:solidFill>
            <a:prstDash val="solid"/>
          </a:ln>
        </p:spPr>
      </p:sp>
      <p:sp>
        <p:nvSpPr>
          <p:cNvPr id="25" name="icon lens"/>
          <p:cNvSpPr/>
          <p:nvPr/>
        </p:nvSpPr>
        <p:spPr>
          <a:xfrm>
            <a:off x="9283903" y="1984248"/>
            <a:ext cx="548640" cy="548640"/>
          </a:xfrm>
          <a:prstGeom prst="roundRect">
            <a:avLst>
              <a:gd name="adj" fmla="val 11667"/>
            </a:avLst>
          </a:prstGeom>
          <a:solidFill>
            <a:schemeClr val="tx2"/>
          </a:solidFill>
          <a:ln w="19050">
            <a:solidFill>
              <a:schemeClr val="tx2"/>
            </a:solidFill>
            <a:prstDash val="solid"/>
          </a:ln>
        </p:spPr>
      </p:sp>
      <p:pic>
        <p:nvPicPr>
          <p:cNvPr id="26" name="icon" descr="CommentSlash">    </p:cNvPr>
          <p:cNvPicPr>
            <a:picLocks noChangeAspect="1"/>
          </p:cNvPicPr>
          <p:nvPr/>
        </p:nvPicPr>
        <p:blipFill>
          <a:blip r:embed="rId4"/>
          <a:stretch>
            <a:fillRect/>
          </a:stretch>
        </p:blipFill>
        <p:spPr>
          <a:xfrm>
            <a:off x="9426550" y="2126894"/>
            <a:ext cx="263347" cy="263347"/>
          </a:xfrm>
          <a:prstGeom prst="rect">
            <a:avLst/>
          </a:prstGeom>
        </p:spPr>
      </p:pic>
      <p:sp>
        <p:nvSpPr>
          <p:cNvPr id="27" name="Text 20"/>
          <p:cNvSpPr txBox="1"/>
          <p:nvPr/>
        </p:nvSpPr>
        <p:spPr>
          <a:xfrm>
            <a:off x="9283903" y="2651760"/>
            <a:ext cx="2194560" cy="329184"/>
          </a:xfrm>
          <a:prstGeom prst="rect">
            <a:avLst/>
          </a:prstGeom>
          <a:noFill/>
          <a:ln/>
        </p:spPr>
        <p:txBody>
          <a:bodyPr wrap="square" lIns="0" tIns="0" rIns="0" bIns="0" rtlCol="0" anchor="t"/>
          <a:lstStyle/>
          <a:p>
            <a:pPr indent="0" marL="0">
              <a:buNone/>
            </a:pPr>
            <a:r>
              <a:rPr lang="en-US" sz="1700" b="1" dirty="0">
                <a:solidFill>
                  <a:schemeClr val="tx1"/>
                </a:solidFill>
              </a:rPr>
              <a:t>Manipulative copy</a:t>
            </a:r>
            <a:endParaRPr lang="en-US" sz="1700" dirty="0"/>
          </a:p>
        </p:txBody>
      </p:sp>
      <p:sp>
        <p:nvSpPr>
          <p:cNvPr id="28" name="Text 21"/>
          <p:cNvSpPr txBox="1"/>
          <p:nvPr/>
        </p:nvSpPr>
        <p:spPr>
          <a:xfrm>
            <a:off x="9283903" y="2990088"/>
            <a:ext cx="2194560" cy="548640"/>
          </a:xfrm>
          <a:prstGeom prst="rect">
            <a:avLst/>
          </a:prstGeom>
          <a:noFill/>
          <a:ln/>
        </p:spPr>
        <p:txBody>
          <a:bodyPr wrap="square" lIns="0" tIns="0" rIns="0" bIns="0" rtlCol="0" anchor="t"/>
          <a:lstStyle/>
          <a:p>
            <a:pPr indent="0" marL="0">
              <a:buNone/>
            </a:pPr>
            <a:r>
              <a:rPr lang="en-US" sz="1300" dirty="0">
                <a:solidFill>
                  <a:schemeClr val="accent6"/>
                </a:solidFill>
              </a:rPr>
              <a:t>Confirm-shaming and nagging copy, by the ML classifier</a:t>
            </a:r>
            <a:endParaRPr lang="en-US" sz="1300" dirty="0"/>
          </a:p>
        </p:txBody>
      </p:sp>
      <p:sp>
        <p:nvSpPr>
          <p:cNvPr id="29" name="Text 22"/>
          <p:cNvSpPr txBox="1"/>
          <p:nvPr/>
        </p:nvSpPr>
        <p:spPr>
          <a:xfrm>
            <a:off x="9283903" y="3547872"/>
            <a:ext cx="2194560" cy="237744"/>
          </a:xfrm>
          <a:prstGeom prst="rect">
            <a:avLst/>
          </a:prstGeom>
          <a:noFill/>
          <a:ln/>
        </p:spPr>
        <p:txBody>
          <a:bodyPr wrap="square" lIns="0" tIns="0" rIns="0" bIns="0" rtlCol="0" anchor="t"/>
          <a:lstStyle/>
          <a:p>
            <a:pPr indent="0" marL="0">
              <a:buNone/>
            </a:pPr>
            <a:r>
              <a:rPr lang="en-US" sz="1100" b="1" dirty="0">
                <a:solidFill>
                  <a:schemeClr val="accent1"/>
                </a:solidFill>
              </a:rPr>
              <a:t>CCPA 2023: confirm shaming, nagging</a:t>
            </a:r>
            <a:endParaRPr lang="en-US" sz="1100" dirty="0"/>
          </a:p>
        </p:txBody>
      </p:sp>
      <p:sp>
        <p:nvSpPr>
          <p:cNvPr id="30" name="card"/>
          <p:cNvSpPr/>
          <p:nvPr/>
        </p:nvSpPr>
        <p:spPr>
          <a:xfrm>
            <a:off x="548640" y="4142232"/>
            <a:ext cx="2560320" cy="2084832"/>
          </a:xfrm>
          <a:prstGeom prst="roundRect">
            <a:avLst>
              <a:gd name="adj" fmla="val 2193"/>
            </a:avLst>
          </a:prstGeom>
          <a:solidFill>
            <a:schemeClr val="bg2"/>
          </a:solidFill>
          <a:ln w="12700">
            <a:solidFill>
              <a:srgbClr val="36226B"/>
            </a:solidFill>
            <a:prstDash val="solid"/>
          </a:ln>
        </p:spPr>
      </p:sp>
      <p:sp>
        <p:nvSpPr>
          <p:cNvPr id="31" name="icon lens"/>
          <p:cNvSpPr/>
          <p:nvPr/>
        </p:nvSpPr>
        <p:spPr>
          <a:xfrm>
            <a:off x="749808" y="4343400"/>
            <a:ext cx="548640" cy="548640"/>
          </a:xfrm>
          <a:prstGeom prst="roundRect">
            <a:avLst>
              <a:gd name="adj" fmla="val 11667"/>
            </a:avLst>
          </a:prstGeom>
          <a:solidFill>
            <a:schemeClr val="tx2"/>
          </a:solidFill>
          <a:ln w="19050">
            <a:solidFill>
              <a:schemeClr val="tx2"/>
            </a:solidFill>
            <a:prstDash val="solid"/>
          </a:ln>
        </p:spPr>
      </p:sp>
      <p:pic>
        <p:nvPicPr>
          <p:cNvPr id="32" name="icon" descr="MobileScreen">    </p:cNvPr>
          <p:cNvPicPr>
            <a:picLocks noChangeAspect="1"/>
          </p:cNvPicPr>
          <p:nvPr/>
        </p:nvPicPr>
        <p:blipFill>
          <a:blip r:embed="rId5"/>
          <a:stretch>
            <a:fillRect/>
          </a:stretch>
        </p:blipFill>
        <p:spPr>
          <a:xfrm>
            <a:off x="892454" y="4486046"/>
            <a:ext cx="263347" cy="263347"/>
          </a:xfrm>
          <a:prstGeom prst="rect">
            <a:avLst/>
          </a:prstGeom>
        </p:spPr>
      </p:pic>
      <p:sp>
        <p:nvSpPr>
          <p:cNvPr id="33" name="Text 25"/>
          <p:cNvSpPr txBox="1"/>
          <p:nvPr/>
        </p:nvSpPr>
        <p:spPr>
          <a:xfrm>
            <a:off x="749808" y="5010912"/>
            <a:ext cx="2194560" cy="329184"/>
          </a:xfrm>
          <a:prstGeom prst="rect">
            <a:avLst/>
          </a:prstGeom>
          <a:noFill/>
          <a:ln/>
        </p:spPr>
        <p:txBody>
          <a:bodyPr wrap="square" lIns="0" tIns="0" rIns="0" bIns="0" rtlCol="0" anchor="t"/>
          <a:lstStyle/>
          <a:p>
            <a:pPr indent="0" marL="0">
              <a:buNone/>
            </a:pPr>
            <a:r>
              <a:rPr lang="en-US" sz="1700" b="1" dirty="0">
                <a:solidFill>
                  <a:schemeClr val="tx1"/>
                </a:solidFill>
              </a:rPr>
              <a:t>Personalised pricing</a:t>
            </a:r>
            <a:endParaRPr lang="en-US" sz="1700" dirty="0"/>
          </a:p>
        </p:txBody>
      </p:sp>
      <p:sp>
        <p:nvSpPr>
          <p:cNvPr id="34" name="Text 26"/>
          <p:cNvSpPr txBox="1"/>
          <p:nvPr/>
        </p:nvSpPr>
        <p:spPr>
          <a:xfrm>
            <a:off x="749808" y="5349240"/>
            <a:ext cx="2194560" cy="548640"/>
          </a:xfrm>
          <a:prstGeom prst="rect">
            <a:avLst/>
          </a:prstGeom>
          <a:noFill/>
          <a:ln/>
        </p:spPr>
        <p:txBody>
          <a:bodyPr wrap="square" lIns="0" tIns="0" rIns="0" bIns="0" rtlCol="0" anchor="t"/>
          <a:lstStyle/>
          <a:p>
            <a:pPr indent="0" marL="0">
              <a:buNone/>
            </a:pPr>
            <a:r>
              <a:rPr lang="en-US" sz="1300" dirty="0">
                <a:solidFill>
                  <a:schemeClr val="accent6"/>
                </a:solidFill>
              </a:rPr>
              <a:t>Same product, price by device, country or visitor</a:t>
            </a:r>
            <a:endParaRPr lang="en-US" sz="1300" dirty="0"/>
          </a:p>
        </p:txBody>
      </p:sp>
      <p:sp>
        <p:nvSpPr>
          <p:cNvPr id="35" name="Text 27"/>
          <p:cNvSpPr txBox="1"/>
          <p:nvPr/>
        </p:nvSpPr>
        <p:spPr>
          <a:xfrm>
            <a:off x="749808" y="5907024"/>
            <a:ext cx="2194560" cy="237744"/>
          </a:xfrm>
          <a:prstGeom prst="rect">
            <a:avLst/>
          </a:prstGeom>
          <a:noFill/>
          <a:ln/>
        </p:spPr>
        <p:txBody>
          <a:bodyPr wrap="square" lIns="0" tIns="0" rIns="0" bIns="0" rtlCol="0" anchor="t"/>
          <a:lstStyle/>
          <a:p>
            <a:pPr indent="0" marL="0">
              <a:buNone/>
            </a:pPr>
            <a:r>
              <a:rPr lang="en-US" sz="1100" b="1" dirty="0">
                <a:solidFill>
                  <a:schemeClr val="accent1"/>
                </a:solidFill>
              </a:rPr>
              <a:t>CPA 2019: unfair trade practice</a:t>
            </a:r>
            <a:endParaRPr lang="en-US" sz="1100" dirty="0"/>
          </a:p>
        </p:txBody>
      </p:sp>
      <p:sp>
        <p:nvSpPr>
          <p:cNvPr id="36" name="card"/>
          <p:cNvSpPr/>
          <p:nvPr/>
        </p:nvSpPr>
        <p:spPr>
          <a:xfrm>
            <a:off x="3393338" y="4142232"/>
            <a:ext cx="2560320" cy="2084832"/>
          </a:xfrm>
          <a:prstGeom prst="roundRect">
            <a:avLst>
              <a:gd name="adj" fmla="val 2193"/>
            </a:avLst>
          </a:prstGeom>
          <a:solidFill>
            <a:schemeClr val="bg2"/>
          </a:solidFill>
          <a:ln w="12700">
            <a:solidFill>
              <a:srgbClr val="36226B"/>
            </a:solidFill>
            <a:prstDash val="solid"/>
          </a:ln>
        </p:spPr>
      </p:sp>
      <p:sp>
        <p:nvSpPr>
          <p:cNvPr id="37" name="icon lens"/>
          <p:cNvSpPr/>
          <p:nvPr/>
        </p:nvSpPr>
        <p:spPr>
          <a:xfrm>
            <a:off x="3594506" y="4343400"/>
            <a:ext cx="548640" cy="548640"/>
          </a:xfrm>
          <a:prstGeom prst="roundRect">
            <a:avLst>
              <a:gd name="adj" fmla="val 11667"/>
            </a:avLst>
          </a:prstGeom>
          <a:solidFill>
            <a:schemeClr val="tx2"/>
          </a:solidFill>
          <a:ln w="19050">
            <a:solidFill>
              <a:schemeClr val="tx2"/>
            </a:solidFill>
            <a:prstDash val="solid"/>
          </a:ln>
        </p:spPr>
      </p:sp>
      <p:pic>
        <p:nvPicPr>
          <p:cNvPr id="38" name="icon" descr="DoorClosed">    </p:cNvPr>
          <p:cNvPicPr>
            <a:picLocks noChangeAspect="1"/>
          </p:cNvPicPr>
          <p:nvPr/>
        </p:nvPicPr>
        <p:blipFill>
          <a:blip r:embed="rId6"/>
          <a:stretch>
            <a:fillRect/>
          </a:stretch>
        </p:blipFill>
        <p:spPr>
          <a:xfrm>
            <a:off x="3737153" y="4486046"/>
            <a:ext cx="263347" cy="263347"/>
          </a:xfrm>
          <a:prstGeom prst="rect">
            <a:avLst/>
          </a:prstGeom>
        </p:spPr>
      </p:pic>
      <p:sp>
        <p:nvSpPr>
          <p:cNvPr id="39" name="Text 30"/>
          <p:cNvSpPr txBox="1"/>
          <p:nvPr/>
        </p:nvSpPr>
        <p:spPr>
          <a:xfrm>
            <a:off x="3594506" y="5010912"/>
            <a:ext cx="2194560" cy="329184"/>
          </a:xfrm>
          <a:prstGeom prst="rect">
            <a:avLst/>
          </a:prstGeom>
          <a:noFill/>
          <a:ln/>
        </p:spPr>
        <p:txBody>
          <a:bodyPr wrap="square" lIns="0" tIns="0" rIns="0" bIns="0" rtlCol="0" anchor="t"/>
          <a:lstStyle/>
          <a:p>
            <a:pPr indent="0" marL="0">
              <a:buNone/>
            </a:pPr>
            <a:r>
              <a:rPr lang="en-US" sz="1700" b="1" dirty="0">
                <a:solidFill>
                  <a:schemeClr val="tx1"/>
                </a:solidFill>
              </a:rPr>
              <a:t>Cancellation trap</a:t>
            </a:r>
            <a:endParaRPr lang="en-US" sz="1700" dirty="0"/>
          </a:p>
        </p:txBody>
      </p:sp>
      <p:sp>
        <p:nvSpPr>
          <p:cNvPr id="40" name="Text 31"/>
          <p:cNvSpPr txBox="1"/>
          <p:nvPr/>
        </p:nvSpPr>
        <p:spPr>
          <a:xfrm>
            <a:off x="3594506" y="5349240"/>
            <a:ext cx="2194560" cy="548640"/>
          </a:xfrm>
          <a:prstGeom prst="rect">
            <a:avLst/>
          </a:prstGeom>
          <a:noFill/>
          <a:ln/>
        </p:spPr>
        <p:txBody>
          <a:bodyPr wrap="square" lIns="0" tIns="0" rIns="0" bIns="0" rtlCol="0" anchor="t"/>
          <a:lstStyle/>
          <a:p>
            <a:pPr indent="0" marL="0">
              <a:buNone/>
            </a:pPr>
            <a:r>
              <a:rPr lang="en-US" sz="1300" dirty="0">
                <a:solidFill>
                  <a:schemeClr val="accent6"/>
                </a:solidFill>
              </a:rPr>
              <a:t>Clicks to cancel against clicks to join</a:t>
            </a:r>
            <a:endParaRPr lang="en-US" sz="1300" dirty="0"/>
          </a:p>
        </p:txBody>
      </p:sp>
      <p:sp>
        <p:nvSpPr>
          <p:cNvPr id="41" name="Text 32"/>
          <p:cNvSpPr txBox="1"/>
          <p:nvPr/>
        </p:nvSpPr>
        <p:spPr>
          <a:xfrm>
            <a:off x="3594506" y="5907024"/>
            <a:ext cx="2194560" cy="237744"/>
          </a:xfrm>
          <a:prstGeom prst="rect">
            <a:avLst/>
          </a:prstGeom>
          <a:noFill/>
          <a:ln/>
        </p:spPr>
        <p:txBody>
          <a:bodyPr wrap="square" lIns="0" tIns="0" rIns="0" bIns="0" rtlCol="0" anchor="t"/>
          <a:lstStyle/>
          <a:p>
            <a:pPr indent="0" marL="0">
              <a:buNone/>
            </a:pPr>
            <a:r>
              <a:rPr lang="en-US" sz="1100" b="1" dirty="0">
                <a:solidFill>
                  <a:schemeClr val="accent1"/>
                </a:solidFill>
              </a:rPr>
              <a:t>CCPA 2023: subscription trap</a:t>
            </a:r>
            <a:endParaRPr lang="en-US" sz="1100" dirty="0"/>
          </a:p>
        </p:txBody>
      </p:sp>
      <p:sp>
        <p:nvSpPr>
          <p:cNvPr id="42" name="card"/>
          <p:cNvSpPr/>
          <p:nvPr/>
        </p:nvSpPr>
        <p:spPr>
          <a:xfrm>
            <a:off x="6238037" y="4142232"/>
            <a:ext cx="2560320" cy="2084832"/>
          </a:xfrm>
          <a:prstGeom prst="roundRect">
            <a:avLst>
              <a:gd name="adj" fmla="val 2193"/>
            </a:avLst>
          </a:prstGeom>
          <a:solidFill>
            <a:schemeClr val="bg2"/>
          </a:solidFill>
          <a:ln w="12700">
            <a:solidFill>
              <a:srgbClr val="36226B"/>
            </a:solidFill>
            <a:prstDash val="solid"/>
          </a:ln>
        </p:spPr>
      </p:sp>
      <p:sp>
        <p:nvSpPr>
          <p:cNvPr id="43" name="icon lens"/>
          <p:cNvSpPr/>
          <p:nvPr/>
        </p:nvSpPr>
        <p:spPr>
          <a:xfrm>
            <a:off x="6439205" y="4343400"/>
            <a:ext cx="548640" cy="548640"/>
          </a:xfrm>
          <a:prstGeom prst="roundRect">
            <a:avLst>
              <a:gd name="adj" fmla="val 11667"/>
            </a:avLst>
          </a:prstGeom>
          <a:solidFill>
            <a:schemeClr val="tx2"/>
          </a:solidFill>
          <a:ln w="19050">
            <a:solidFill>
              <a:schemeClr val="tx2"/>
            </a:solidFill>
            <a:prstDash val="solid"/>
          </a:ln>
        </p:spPr>
      </p:sp>
      <p:pic>
        <p:nvPicPr>
          <p:cNvPr id="44" name="icon" descr="ScaleBalanced">    </p:cNvPr>
          <p:cNvPicPr>
            <a:picLocks noChangeAspect="1"/>
          </p:cNvPicPr>
          <p:nvPr/>
        </p:nvPicPr>
        <p:blipFill>
          <a:blip r:embed="rId7"/>
          <a:stretch>
            <a:fillRect/>
          </a:stretch>
        </p:blipFill>
        <p:spPr>
          <a:xfrm>
            <a:off x="6581851" y="4486046"/>
            <a:ext cx="263347" cy="263347"/>
          </a:xfrm>
          <a:prstGeom prst="rect">
            <a:avLst/>
          </a:prstGeom>
        </p:spPr>
      </p:pic>
      <p:sp>
        <p:nvSpPr>
          <p:cNvPr id="45" name="Text 35"/>
          <p:cNvSpPr txBox="1"/>
          <p:nvPr/>
        </p:nvSpPr>
        <p:spPr>
          <a:xfrm>
            <a:off x="6439205" y="5010912"/>
            <a:ext cx="2194560" cy="329184"/>
          </a:xfrm>
          <a:prstGeom prst="rect">
            <a:avLst/>
          </a:prstGeom>
          <a:noFill/>
          <a:ln/>
        </p:spPr>
        <p:txBody>
          <a:bodyPr wrap="square" lIns="0" tIns="0" rIns="0" bIns="0" rtlCol="0" anchor="t"/>
          <a:lstStyle/>
          <a:p>
            <a:pPr indent="0" marL="0">
              <a:buNone/>
            </a:pPr>
            <a:r>
              <a:rPr lang="en-US" sz="1700" b="1" dirty="0">
                <a:solidFill>
                  <a:schemeClr val="tx1"/>
                </a:solidFill>
              </a:rPr>
              <a:t>Policy vs reality</a:t>
            </a:r>
            <a:endParaRPr lang="en-US" sz="1700" dirty="0"/>
          </a:p>
        </p:txBody>
      </p:sp>
      <p:sp>
        <p:nvSpPr>
          <p:cNvPr id="46" name="Text 36"/>
          <p:cNvSpPr txBox="1"/>
          <p:nvPr/>
        </p:nvSpPr>
        <p:spPr>
          <a:xfrm>
            <a:off x="6439205" y="5349240"/>
            <a:ext cx="2194560" cy="548640"/>
          </a:xfrm>
          <a:prstGeom prst="rect">
            <a:avLst/>
          </a:prstGeom>
          <a:noFill/>
          <a:ln/>
        </p:spPr>
        <p:txBody>
          <a:bodyPr wrap="square" lIns="0" tIns="0" rIns="0" bIns="0" rtlCol="0" anchor="t"/>
          <a:lstStyle/>
          <a:p>
            <a:pPr indent="0" marL="0">
              <a:buNone/>
            </a:pPr>
            <a:r>
              <a:rPr lang="en-US" sz="1300" dirty="0">
                <a:solidFill>
                  <a:schemeClr val="accent6"/>
                </a:solidFill>
              </a:rPr>
              <a:t>Written promises the measurements disprove</a:t>
            </a:r>
            <a:endParaRPr lang="en-US" sz="1300" dirty="0"/>
          </a:p>
        </p:txBody>
      </p:sp>
      <p:sp>
        <p:nvSpPr>
          <p:cNvPr id="47" name="Text 37"/>
          <p:cNvSpPr txBox="1"/>
          <p:nvPr/>
        </p:nvSpPr>
        <p:spPr>
          <a:xfrm>
            <a:off x="6439205" y="5907024"/>
            <a:ext cx="2194560" cy="237744"/>
          </a:xfrm>
          <a:prstGeom prst="rect">
            <a:avLst/>
          </a:prstGeom>
          <a:noFill/>
          <a:ln/>
        </p:spPr>
        <p:txBody>
          <a:bodyPr wrap="square" lIns="0" tIns="0" rIns="0" bIns="0" rtlCol="0" anchor="t"/>
          <a:lstStyle/>
          <a:p>
            <a:pPr indent="0" marL="0">
              <a:buNone/>
            </a:pPr>
            <a:r>
              <a:rPr lang="en-US" sz="1100" b="1" dirty="0">
                <a:solidFill>
                  <a:schemeClr val="accent1"/>
                </a:solidFill>
              </a:rPr>
              <a:t>CPA 2019: misleading advertisement</a:t>
            </a:r>
            <a:endParaRPr lang="en-US" sz="1100" dirty="0"/>
          </a:p>
        </p:txBody>
      </p:sp>
      <p:sp>
        <p:nvSpPr>
          <p:cNvPr id="48" name="summary card"/>
          <p:cNvSpPr/>
          <p:nvPr/>
        </p:nvSpPr>
        <p:spPr>
          <a:xfrm>
            <a:off x="9082735" y="4142232"/>
            <a:ext cx="2560320" cy="2084832"/>
          </a:xfrm>
          <a:prstGeom prst="roundRect">
            <a:avLst>
              <a:gd name="adj" fmla="val 2193"/>
            </a:avLst>
          </a:prstGeom>
          <a:solidFill>
            <a:schemeClr val="tx2"/>
          </a:solidFill>
          <a:ln w="12700">
            <a:solidFill>
              <a:schemeClr val="tx2"/>
            </a:solidFill>
            <a:prstDash val="solid"/>
          </a:ln>
        </p:spPr>
      </p:sp>
      <p:sp>
        <p:nvSpPr>
          <p:cNvPr id="49" name="Text 39"/>
          <p:cNvSpPr txBox="1"/>
          <p:nvPr/>
        </p:nvSpPr>
        <p:spPr>
          <a:xfrm>
            <a:off x="9311335" y="4370832"/>
            <a:ext cx="2103120" cy="365760"/>
          </a:xfrm>
          <a:prstGeom prst="rect">
            <a:avLst/>
          </a:prstGeom>
          <a:noFill/>
          <a:ln/>
        </p:spPr>
        <p:txBody>
          <a:bodyPr wrap="square" lIns="0" tIns="0" rIns="0" bIns="0" rtlCol="0" anchor="t"/>
          <a:lstStyle/>
          <a:p>
            <a:pPr indent="0" marL="0">
              <a:buNone/>
            </a:pPr>
            <a:r>
              <a:rPr lang="en-US" sz="1700" b="1" dirty="0">
                <a:solidFill>
                  <a:schemeClr val="accent2"/>
                </a:solidFill>
              </a:rPr>
              <a:t>Every finding carries</a:t>
            </a:r>
            <a:endParaRPr lang="en-US" sz="1700" dirty="0"/>
          </a:p>
        </p:txBody>
      </p:sp>
      <p:sp>
        <p:nvSpPr>
          <p:cNvPr id="50" name="Text 40"/>
          <p:cNvSpPr txBox="1"/>
          <p:nvPr/>
        </p:nvSpPr>
        <p:spPr>
          <a:xfrm>
            <a:off x="9311335" y="4800600"/>
            <a:ext cx="2103120" cy="1280160"/>
          </a:xfrm>
          <a:prstGeom prst="rect">
            <a:avLst/>
          </a:prstGeom>
          <a:noFill/>
          <a:ln/>
        </p:spPr>
        <p:txBody>
          <a:bodyPr wrap="square" lIns="0" tIns="0" rIns="0" bIns="0" rtlCol="0" anchor="t"/>
          <a:lstStyle/>
          <a:p>
            <a:pPr indent="0" marL="0">
              <a:buNone/>
            </a:pPr>
            <a:r>
              <a:rPr lang="en-US" sz="1400" dirty="0">
                <a:solidFill>
                  <a:schemeClr val="bg1"/>
                </a:solidFill>
              </a:rPr>
              <a:t>its legal category, severity, penalty points, the run it came from and its screenshots.</a:t>
            </a:r>
            <a:endParaRPr lang="en-US" sz="1400" dirty="0"/>
          </a:p>
        </p:txBody>
      </p:sp>
      <p:sp>
        <p:nvSpPr>
          <p:cNvPr id="25" name="Slide Number Placeholder 0"/>
          <p:cNvSpPr>
            <a:spLocks noGrp="1"/>
          </p:cNvSpPr>
          <p:nvPr>
            <p:ph type="sldNum" sz="quarter" idx="4294967295"/>
          </p:nvPr>
        </p:nvSpPr>
        <p:spPr>
          <a:xfrm>
            <a:off x="10424160" y="274320"/>
            <a:ext cx="594360" cy="365760"/>
          </a:xfrm>
          <a:prstGeom prst="rect">
            <a:avLst/>
          </a:prstGeom>
          <a:extLst>
            <a:ext uri="{C572A759-6A51-4108-AA02-DFA0A04FC94B}">
              <ma14:wrappingTextBoxFlag xmlns:ma14="http://schemas.microsoft.com/office/mac/drawingml/2011/main" val="0"/>
            </a:ext>
          </a:extLst>
        </p:spPr>
        <p:txBody>
          <a:bodyPr/>
          <a:lstStyle>
            <a:lvl1pPr>
              <a:defRPr sz="2000">
                <a:solidFill>
                  <a:schemeClr val="tx2"/>
                </a:solidFill>
                <a:latin typeface="Impact"/>
                <a:ea typeface="Impact"/>
                <a:cs typeface="Impact"/>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2"/>
          <p:cNvSpPr/>
          <p:nvPr>
            <p:ph idx="104" type="title" hasCustomPrompt="1"/>
          </p:nvPr>
        </p:nvSpPr>
        <p:spPr>
          <a:xfrm>
            <a:off x="548640" y="603504"/>
            <a:ext cx="10332720" cy="603504"/>
          </a:xfrm>
          <a:prstGeom prst="rect">
            <a:avLst/>
          </a:prstGeom>
          <a:noFill/>
          <a:ln/>
        </p:spPr>
        <p:txBody>
          <a:bodyPr wrap="square" lIns="0" tIns="0" rIns="0" bIns="0" rtlCol="0" anchor="t"/>
          <a:lstStyle/>
          <a:p>
            <a:pPr algn="l" indent="0" marL="0">
              <a:buNone/>
            </a:pPr>
            <a:r>
              <a:rPr lang="en-US" sz="3200" spc="100" kern="0" dirty="0">
                <a:solidFill>
                  <a:schemeClr val="tx2"/>
                </a:solidFill>
                <a:latin typeface="Impact" pitchFamily="34" charset="0"/>
                <a:ea typeface="Impact" pitchFamily="34" charset="-122"/>
                <a:cs typeface="Impact" pitchFamily="34" charset="-120"/>
              </a:rPr>
              <a:t>PROPOSED SOLUTION: WHAT IS NEW</a:t>
            </a:r>
            <a:endParaRPr lang="en-US" sz="3200" dirty="0"/>
          </a:p>
        </p:txBody>
      </p:sp>
      <p:sp>
        <p:nvSpPr>
          <p:cNvPr id="4" name="section label"/>
          <p:cNvSpPr txBox="1"/>
          <p:nvPr/>
        </p:nvSpPr>
        <p:spPr>
          <a:xfrm>
            <a:off x="548640" y="274320"/>
            <a:ext cx="6035040" cy="274320"/>
          </a:xfrm>
          <a:prstGeom prst="rect">
            <a:avLst/>
          </a:prstGeom>
          <a:noFill/>
          <a:ln/>
        </p:spPr>
        <p:txBody>
          <a:bodyPr wrap="square" lIns="0" tIns="0" rIns="0" bIns="0" rtlCol="0" anchor="t"/>
          <a:lstStyle/>
          <a:p>
            <a:pPr indent="0" marL="0">
              <a:buNone/>
            </a:pPr>
            <a:r>
              <a:rPr lang="en-US" sz="1500" spc="100" kern="0" dirty="0">
                <a:solidFill>
                  <a:schemeClr val="tx2"/>
                </a:solidFill>
                <a:latin typeface="Impact" pitchFamily="34" charset="0"/>
                <a:ea typeface="Impact" pitchFamily="34" charset="-122"/>
                <a:cs typeface="Impact" pitchFamily="34" charset="-120"/>
              </a:rPr>
              <a:t>02  ·  PROPOSED SOLUTION</a:t>
            </a:r>
            <a:endParaRPr lang="en-US" sz="1500" dirty="0"/>
          </a:p>
        </p:txBody>
      </p:sp>
      <p:sp>
        <p:nvSpPr>
          <p:cNvPr id="5" name="subtitle"/>
          <p:cNvSpPr txBox="1"/>
          <p:nvPr/>
        </p:nvSpPr>
        <p:spPr>
          <a:xfrm>
            <a:off x="548640" y="1188720"/>
            <a:ext cx="10424160" cy="384048"/>
          </a:xfrm>
          <a:prstGeom prst="rect">
            <a:avLst/>
          </a:prstGeom>
          <a:noFill/>
          <a:ln/>
        </p:spPr>
        <p:txBody>
          <a:bodyPr wrap="square" lIns="0" tIns="0" rIns="0" bIns="0" rtlCol="0" anchor="t"/>
          <a:lstStyle/>
          <a:p>
            <a:pPr indent="0" marL="0">
              <a:buNone/>
            </a:pPr>
            <a:r>
              <a:rPr lang="en-US" sz="1700" dirty="0">
                <a:solidFill>
                  <a:schemeClr val="accent6"/>
                </a:solidFill>
                <a:latin typeface="Calibri" pitchFamily="34" charset="0"/>
                <a:ea typeface="Calibri" pitchFamily="34" charset="-122"/>
                <a:cs typeface="Calibri" pitchFamily="34" charset="-120"/>
              </a:rPr>
              <a:t>Research proved it can be measured; Pardarshi makes it a repeatable, complaint-ready audit for India</a:t>
            </a:r>
            <a:endParaRPr lang="en-US" sz="1700" dirty="0"/>
          </a:p>
        </p:txBody>
      </p:sp>
      <p:graphicFrame>
        <p:nvGraphicFramePr>
          <p:cNvPr id="7" name="comparison table"/>
          <p:cNvGraphicFramePr>
            <a:graphicFrameLocks noGrp="1"/>
          </p:cNvGraphicFramePr>
          <p:nvPr>
            <p:extLst>
              <p:ext uri="{D42A27DB-BD31-4B8C-83A1-F6EECF244321}">
                <p14:modId xmlns:p14="http://schemas.microsoft.com/office/powerpoint/2010/main" val="1579011935"/>
              </p:ext>
            </p:extLst>
          </p:nvPr>
        </p:nvGraphicFramePr>
        <p:xfrm>
          <a:off x="548640" y="1783080"/>
          <a:ext cx="11091672" cy="914400"/>
        </p:xfrm>
        <a:graphic>
          <a:graphicData uri="http://schemas.openxmlformats.org/drawingml/2006/table">
            <a:tbl>
              <a:tblPr/>
              <a:tblGrid>
                <a:gridCol w="3566160"/>
                <a:gridCol w="1965960"/>
                <a:gridCol w="1965960"/>
                <a:gridCol w="2130552"/>
                <a:gridCol w="1463040"/>
              </a:tblGrid>
              <a:tr h="457200">
                <a:tc>
                  <a:txBody>
                    <a:bodyPr/>
                    <a:lstStyle/>
                    <a:p>
                      <a:pPr indent="0" marL="0">
                        <a:buNone/>
                      </a:pPr>
                      <a:r>
                        <a:rPr lang="en-US" sz="1300" b="1" dirty="0">
                          <a:solidFill>
                            <a:schemeClr val="bg1"/>
                          </a:solidFill>
                        </a:rPr>
                        <a:t>Approach</a:t>
                      </a:r>
                      <a:endParaRPr lang="en-US" sz="1300" dirty="0"/>
                    </a:p>
                  </a:txBody>
                  <a:tcPr marL="128016" marR="128016" marT="36576" marB="36576" anchor="ctr">
                    <a:lnL w="9525" cap="flat" cmpd="sng" algn="ctr">
                      <a:solidFill>
                        <a:srgbClr val="CFC688"/>
                      </a:solidFill>
                      <a:prstDash val="solid"/>
                      <a:round/>
                      <a:headEnd type="none" w="med" len="med"/>
                      <a:tailEnd type="none" w="med" len="med"/>
                    </a:lnL>
                    <a:lnR w="9525" cap="flat" cmpd="sng" algn="ctr">
                      <a:solidFill>
                        <a:srgbClr val="CFC688"/>
                      </a:solidFill>
                      <a:prstDash val="solid"/>
                      <a:round/>
                      <a:headEnd type="none" w="med" len="med"/>
                      <a:tailEnd type="none" w="med" len="med"/>
                    </a:lnR>
                    <a:lnT w="9525" cap="flat" cmpd="sng" algn="ctr">
                      <a:solidFill>
                        <a:srgbClr val="CFC688"/>
                      </a:solidFill>
                      <a:prstDash val="solid"/>
                      <a:round/>
                      <a:headEnd type="none" w="med" len="med"/>
                      <a:tailEnd type="none" w="med" len="med"/>
                    </a:lnT>
                    <a:lnB w="9525" cap="flat" cmpd="sng" algn="ctr">
                      <a:solidFill>
                        <a:srgbClr val="CFC688"/>
                      </a:solidFill>
                      <a:prstDash val="solid"/>
                      <a:round/>
                      <a:headEnd type="none" w="med" len="med"/>
                      <a:tailEnd type="none" w="med" len="med"/>
                    </a:lnB>
                    <a:solidFill>
                      <a:schemeClr val="tx2"/>
                    </a:solidFill>
                  </a:tcPr>
                </a:tc>
                <a:tc>
                  <a:txBody>
                    <a:bodyPr/>
                    <a:lstStyle/>
                    <a:p>
                      <a:pPr indent="0" marL="0">
                        <a:buNone/>
                      </a:pPr>
                      <a:r>
                        <a:rPr lang="en-US" sz="1300" b="1" dirty="0">
                          <a:solidFill>
                            <a:schemeClr val="bg1"/>
                          </a:solidFill>
                        </a:rPr>
                        <a:t>Real charge</a:t>
                      </a:r>
                      <a:endParaRPr lang="en-US" sz="1300" dirty="0"/>
                    </a:p>
                  </a:txBody>
                  <a:tcPr marL="128016" marR="128016" marT="36576" marB="36576" anchor="ctr">
                    <a:lnL w="9525" cap="flat" cmpd="sng" algn="ctr">
                      <a:solidFill>
                        <a:srgbClr val="CFC688"/>
                      </a:solidFill>
                      <a:prstDash val="solid"/>
                      <a:round/>
                      <a:headEnd type="none" w="med" len="med"/>
                      <a:tailEnd type="none" w="med" len="med"/>
                    </a:lnL>
                    <a:lnR w="9525" cap="flat" cmpd="sng" algn="ctr">
                      <a:solidFill>
                        <a:srgbClr val="CFC688"/>
                      </a:solidFill>
                      <a:prstDash val="solid"/>
                      <a:round/>
                      <a:headEnd type="none" w="med" len="med"/>
                      <a:tailEnd type="none" w="med" len="med"/>
                    </a:lnR>
                    <a:lnT w="9525" cap="flat" cmpd="sng" algn="ctr">
                      <a:solidFill>
                        <a:srgbClr val="CFC688"/>
                      </a:solidFill>
                      <a:prstDash val="solid"/>
                      <a:round/>
                      <a:headEnd type="none" w="med" len="med"/>
                      <a:tailEnd type="none" w="med" len="med"/>
                    </a:lnT>
                    <a:lnB w="9525" cap="flat" cmpd="sng" algn="ctr">
                      <a:solidFill>
                        <a:srgbClr val="CFC688"/>
                      </a:solidFill>
                      <a:prstDash val="solid"/>
                      <a:round/>
                      <a:headEnd type="none" w="med" len="med"/>
                      <a:tailEnd type="none" w="med" len="med"/>
                    </a:lnB>
                    <a:solidFill>
                      <a:schemeClr val="tx2"/>
                    </a:solidFill>
                  </a:tcPr>
                </a:tc>
                <a:tc>
                  <a:txBody>
                    <a:bodyPr/>
                    <a:lstStyle/>
                    <a:p>
                      <a:pPr indent="0" marL="0">
                        <a:buNone/>
                      </a:pPr>
                      <a:r>
                        <a:rPr lang="en-US" sz="1300" b="1" dirty="0">
                          <a:solidFill>
                            <a:schemeClr val="bg1"/>
                          </a:solidFill>
                        </a:rPr>
                        <a:t>Compares profiles</a:t>
                      </a:r>
                      <a:endParaRPr lang="en-US" sz="1300" dirty="0"/>
                    </a:p>
                  </a:txBody>
                  <a:tcPr marL="128016" marR="128016" marT="36576" marB="36576" anchor="ctr">
                    <a:lnL w="9525" cap="flat" cmpd="sng" algn="ctr">
                      <a:solidFill>
                        <a:srgbClr val="CFC688"/>
                      </a:solidFill>
                      <a:prstDash val="solid"/>
                      <a:round/>
                      <a:headEnd type="none" w="med" len="med"/>
                      <a:tailEnd type="none" w="med" len="med"/>
                    </a:lnL>
                    <a:lnR w="9525" cap="flat" cmpd="sng" algn="ctr">
                      <a:solidFill>
                        <a:srgbClr val="CFC688"/>
                      </a:solidFill>
                      <a:prstDash val="solid"/>
                      <a:round/>
                      <a:headEnd type="none" w="med" len="med"/>
                      <a:tailEnd type="none" w="med" len="med"/>
                    </a:lnR>
                    <a:lnT w="9525" cap="flat" cmpd="sng" algn="ctr">
                      <a:solidFill>
                        <a:srgbClr val="CFC688"/>
                      </a:solidFill>
                      <a:prstDash val="solid"/>
                      <a:round/>
                      <a:headEnd type="none" w="med" len="med"/>
                      <a:tailEnd type="none" w="med" len="med"/>
                    </a:lnT>
                    <a:lnB w="9525" cap="flat" cmpd="sng" algn="ctr">
                      <a:solidFill>
                        <a:srgbClr val="CFC688"/>
                      </a:solidFill>
                      <a:prstDash val="solid"/>
                      <a:round/>
                      <a:headEnd type="none" w="med" len="med"/>
                      <a:tailEnd type="none" w="med" len="med"/>
                    </a:lnB>
                    <a:solidFill>
                      <a:schemeClr val="tx2"/>
                    </a:solidFill>
                  </a:tcPr>
                </a:tc>
                <a:tc>
                  <a:txBody>
                    <a:bodyPr/>
                    <a:lstStyle/>
                    <a:p>
                      <a:pPr indent="0" marL="0">
                        <a:buNone/>
                      </a:pPr>
                      <a:r>
                        <a:rPr lang="en-US" sz="1300" b="1" dirty="0">
                          <a:solidFill>
                            <a:schemeClr val="bg1"/>
                          </a:solidFill>
                        </a:rPr>
                        <a:t>Repeatable + stats</a:t>
                      </a:r>
                      <a:endParaRPr lang="en-US" sz="1300" dirty="0"/>
                    </a:p>
                  </a:txBody>
                  <a:tcPr marL="128016" marR="128016" marT="36576" marB="36576" anchor="ctr">
                    <a:lnL w="9525" cap="flat" cmpd="sng" algn="ctr">
                      <a:solidFill>
                        <a:srgbClr val="CFC688"/>
                      </a:solidFill>
                      <a:prstDash val="solid"/>
                      <a:round/>
                      <a:headEnd type="none" w="med" len="med"/>
                      <a:tailEnd type="none" w="med" len="med"/>
                    </a:lnL>
                    <a:lnR w="9525" cap="flat" cmpd="sng" algn="ctr">
                      <a:solidFill>
                        <a:srgbClr val="CFC688"/>
                      </a:solidFill>
                      <a:prstDash val="solid"/>
                      <a:round/>
                      <a:headEnd type="none" w="med" len="med"/>
                      <a:tailEnd type="none" w="med" len="med"/>
                    </a:lnR>
                    <a:lnT w="9525" cap="flat" cmpd="sng" algn="ctr">
                      <a:solidFill>
                        <a:srgbClr val="CFC688"/>
                      </a:solidFill>
                      <a:prstDash val="solid"/>
                      <a:round/>
                      <a:headEnd type="none" w="med" len="med"/>
                      <a:tailEnd type="none" w="med" len="med"/>
                    </a:lnT>
                    <a:lnB w="9525" cap="flat" cmpd="sng" algn="ctr">
                      <a:solidFill>
                        <a:srgbClr val="CFC688"/>
                      </a:solidFill>
                      <a:prstDash val="solid"/>
                      <a:round/>
                      <a:headEnd type="none" w="med" len="med"/>
                      <a:tailEnd type="none" w="med" len="med"/>
                    </a:lnB>
                    <a:solidFill>
                      <a:schemeClr val="tx2"/>
                    </a:solidFill>
                  </a:tcPr>
                </a:tc>
                <a:tc>
                  <a:txBody>
                    <a:bodyPr/>
                    <a:lstStyle/>
                    <a:p>
                      <a:pPr indent="0" marL="0">
                        <a:buNone/>
                      </a:pPr>
                      <a:r>
                        <a:rPr lang="en-US" sz="1300" b="1" dirty="0">
                          <a:solidFill>
                            <a:schemeClr val="bg1"/>
                          </a:solidFill>
                        </a:rPr>
                        <a:t>Independent</a:t>
                      </a:r>
                      <a:endParaRPr lang="en-US" sz="1300" dirty="0"/>
                    </a:p>
                  </a:txBody>
                  <a:tcPr marL="128016" marR="128016" marT="36576" marB="36576" anchor="ctr">
                    <a:lnL w="9525" cap="flat" cmpd="sng" algn="ctr">
                      <a:solidFill>
                        <a:srgbClr val="CFC688"/>
                      </a:solidFill>
                      <a:prstDash val="solid"/>
                      <a:round/>
                      <a:headEnd type="none" w="med" len="med"/>
                      <a:tailEnd type="none" w="med" len="med"/>
                    </a:lnL>
                    <a:lnR w="9525" cap="flat" cmpd="sng" algn="ctr">
                      <a:solidFill>
                        <a:srgbClr val="CFC688"/>
                      </a:solidFill>
                      <a:prstDash val="solid"/>
                      <a:round/>
                      <a:headEnd type="none" w="med" len="med"/>
                      <a:tailEnd type="none" w="med" len="med"/>
                    </a:lnR>
                    <a:lnT w="9525" cap="flat" cmpd="sng" algn="ctr">
                      <a:solidFill>
                        <a:srgbClr val="CFC688"/>
                      </a:solidFill>
                      <a:prstDash val="solid"/>
                      <a:round/>
                      <a:headEnd type="none" w="med" len="med"/>
                      <a:tailEnd type="none" w="med" len="med"/>
                    </a:lnT>
                    <a:lnB w="9525" cap="flat" cmpd="sng" algn="ctr">
                      <a:solidFill>
                        <a:srgbClr val="CFC688"/>
                      </a:solidFill>
                      <a:prstDash val="solid"/>
                      <a:round/>
                      <a:headEnd type="none" w="med" len="med"/>
                      <a:tailEnd type="none" w="med" len="med"/>
                    </a:lnB>
                    <a:solidFill>
                      <a:schemeClr val="tx2"/>
                    </a:solidFill>
                  </a:tcPr>
                </a:tc>
              </a:tr>
              <a:tr h="457200">
                <a:tc>
                  <a:txBody>
                    <a:bodyPr/>
                    <a:lstStyle/>
                    <a:p>
                      <a:pPr indent="0" marL="0">
                        <a:buNone/>
                      </a:pPr>
                      <a:r>
                        <a:rPr lang="en-US" sz="1400" b="1" dirty="0">
                          <a:solidFill>
                            <a:schemeClr val="tx1"/>
                          </a:solidFill>
                        </a:rPr>
                        <a:t>Consumer surveys (e.g. LocalCircles)</a:t>
                      </a:r>
                      <a:endParaRPr lang="en-US" sz="1400" dirty="0"/>
                    </a:p>
                  </a:txBody>
                  <a:tcPr marL="128016" marR="128016" marT="36576" marB="36576" anchor="ctr">
                    <a:lnL w="9525" cap="flat" cmpd="sng" algn="ctr">
                      <a:solidFill>
                        <a:srgbClr val="CFC688"/>
                      </a:solidFill>
                      <a:prstDash val="solid"/>
                      <a:round/>
                      <a:headEnd type="none" w="med" len="med"/>
                      <a:tailEnd type="none" w="med" len="med"/>
                    </a:lnL>
                    <a:lnR w="9525" cap="flat" cmpd="sng" algn="ctr">
                      <a:solidFill>
                        <a:srgbClr val="CFC688"/>
                      </a:solidFill>
                      <a:prstDash val="solid"/>
                      <a:round/>
                      <a:headEnd type="none" w="med" len="med"/>
                      <a:tailEnd type="none" w="med" len="med"/>
                    </a:lnR>
                    <a:lnT w="9525" cap="flat" cmpd="sng" algn="ctr">
                      <a:solidFill>
                        <a:srgbClr val="CFC688"/>
                      </a:solidFill>
                      <a:prstDash val="solid"/>
                      <a:round/>
                      <a:headEnd type="none" w="med" len="med"/>
                      <a:tailEnd type="none" w="med" len="med"/>
                    </a:lnT>
                    <a:lnB w="9525" cap="flat" cmpd="sng" algn="ctr">
                      <a:solidFill>
                        <a:srgbClr val="CFC688"/>
                      </a:solidFill>
                      <a:prstDash val="solid"/>
                      <a:round/>
                      <a:headEnd type="none" w="med" len="med"/>
                      <a:tailEnd type="none" w="med" len="med"/>
                    </a:lnB>
                    <a:solidFill>
                      <a:schemeClr val="bg1"/>
                    </a:solidFill>
                  </a:tcPr>
                </a:tc>
                <a:tc>
                  <a:txBody>
                    <a:bodyPr/>
                    <a:lstStyle/>
                    <a:p>
                      <a:pPr indent="0" marL="0">
                        <a:buNone/>
                      </a:pPr>
                      <a:r>
                        <a:rPr lang="en-US" sz="1400" dirty="0">
                          <a:solidFill>
                            <a:schemeClr val="accent6"/>
                          </a:solidFill>
                        </a:rPr>
                        <a:t>Self-reported</a:t>
                      </a:r>
                      <a:endParaRPr lang="en-US" sz="1400" dirty="0"/>
                    </a:p>
                  </a:txBody>
                  <a:tcPr marL="128016" marR="128016" marT="36576" marB="36576" anchor="ctr">
                    <a:lnL w="9525" cap="flat" cmpd="sng" algn="ctr">
                      <a:solidFill>
                        <a:srgbClr val="CFC688"/>
                      </a:solidFill>
                      <a:prstDash val="solid"/>
                      <a:round/>
                      <a:headEnd type="none" w="med" len="med"/>
                      <a:tailEnd type="none" w="med" len="med"/>
                    </a:lnL>
                    <a:lnR w="9525" cap="flat" cmpd="sng" algn="ctr">
                      <a:solidFill>
                        <a:srgbClr val="CFC688"/>
                      </a:solidFill>
                      <a:prstDash val="solid"/>
                      <a:round/>
                      <a:headEnd type="none" w="med" len="med"/>
                      <a:tailEnd type="none" w="med" len="med"/>
                    </a:lnR>
                    <a:lnT w="9525" cap="flat" cmpd="sng" algn="ctr">
                      <a:solidFill>
                        <a:srgbClr val="CFC688"/>
                      </a:solidFill>
                      <a:prstDash val="solid"/>
                      <a:round/>
                      <a:headEnd type="none" w="med" len="med"/>
                      <a:tailEnd type="none" w="med" len="med"/>
                    </a:lnT>
                    <a:lnB w="9525" cap="flat" cmpd="sng" algn="ctr">
                      <a:solidFill>
                        <a:srgbClr val="CFC688"/>
                      </a:solidFill>
                      <a:prstDash val="solid"/>
                      <a:round/>
                      <a:headEnd type="none" w="med" len="med"/>
                      <a:tailEnd type="none" w="med" len="med"/>
                    </a:lnB>
                    <a:solidFill>
                      <a:schemeClr val="bg1"/>
                    </a:solidFill>
                  </a:tcPr>
                </a:tc>
                <a:tc>
                  <a:txBody>
                    <a:bodyPr/>
                    <a:lstStyle/>
                    <a:p>
                      <a:pPr indent="0" marL="0">
                        <a:buNone/>
                      </a:pPr>
                      <a:r>
                        <a:rPr lang="en-US" sz="1400" b="1" dirty="0">
                          <a:solidFill>
                            <a:schemeClr val="accent3"/>
                          </a:solidFill>
                        </a:rPr>
                        <a:t>No</a:t>
                      </a:r>
                      <a:endParaRPr lang="en-US" sz="1400" dirty="0"/>
                    </a:p>
                  </a:txBody>
                  <a:tcPr marL="128016" marR="128016" marT="36576" marB="36576" anchor="ctr">
                    <a:lnL w="9525" cap="flat" cmpd="sng" algn="ctr">
                      <a:solidFill>
                        <a:srgbClr val="CFC688"/>
                      </a:solidFill>
                      <a:prstDash val="solid"/>
                      <a:round/>
                      <a:headEnd type="none" w="med" len="med"/>
                      <a:tailEnd type="none" w="med" len="med"/>
                    </a:lnL>
                    <a:lnR w="9525" cap="flat" cmpd="sng" algn="ctr">
                      <a:solidFill>
                        <a:srgbClr val="CFC688"/>
                      </a:solidFill>
                      <a:prstDash val="solid"/>
                      <a:round/>
                      <a:headEnd type="none" w="med" len="med"/>
                      <a:tailEnd type="none" w="med" len="med"/>
                    </a:lnR>
                    <a:lnT w="9525" cap="flat" cmpd="sng" algn="ctr">
                      <a:solidFill>
                        <a:srgbClr val="CFC688"/>
                      </a:solidFill>
                      <a:prstDash val="solid"/>
                      <a:round/>
                      <a:headEnd type="none" w="med" len="med"/>
                      <a:tailEnd type="none" w="med" len="med"/>
                    </a:lnT>
                    <a:lnB w="9525" cap="flat" cmpd="sng" algn="ctr">
                      <a:solidFill>
                        <a:srgbClr val="CFC688"/>
                      </a:solidFill>
                      <a:prstDash val="solid"/>
                      <a:round/>
                      <a:headEnd type="none" w="med" len="med"/>
                      <a:tailEnd type="none" w="med" len="med"/>
                    </a:lnB>
                    <a:solidFill>
                      <a:schemeClr val="bg1"/>
                    </a:solidFill>
                  </a:tcPr>
                </a:tc>
                <a:tc>
                  <a:txBody>
                    <a:bodyPr/>
                    <a:lstStyle/>
                    <a:p>
                      <a:pPr indent="0" marL="0">
                        <a:buNone/>
                      </a:pPr>
                      <a:r>
                        <a:rPr lang="en-US" sz="1400" b="1" dirty="0">
                          <a:solidFill>
                            <a:schemeClr val="accent3"/>
                          </a:solidFill>
                        </a:rPr>
                        <a:t>No</a:t>
                      </a:r>
                      <a:endParaRPr lang="en-US" sz="1400" dirty="0"/>
                    </a:p>
                  </a:txBody>
                  <a:tcPr marL="128016" marR="128016" marT="36576" marB="36576" anchor="ctr">
                    <a:lnL w="9525" cap="flat" cmpd="sng" algn="ctr">
                      <a:solidFill>
                        <a:srgbClr val="CFC688"/>
                      </a:solidFill>
                      <a:prstDash val="solid"/>
                      <a:round/>
                      <a:headEnd type="none" w="med" len="med"/>
                      <a:tailEnd type="none" w="med" len="med"/>
                    </a:lnL>
                    <a:lnR w="9525" cap="flat" cmpd="sng" algn="ctr">
                      <a:solidFill>
                        <a:srgbClr val="CFC688"/>
                      </a:solidFill>
                      <a:prstDash val="solid"/>
                      <a:round/>
                      <a:headEnd type="none" w="med" len="med"/>
                      <a:tailEnd type="none" w="med" len="med"/>
                    </a:lnR>
                    <a:lnT w="9525" cap="flat" cmpd="sng" algn="ctr">
                      <a:solidFill>
                        <a:srgbClr val="CFC688"/>
                      </a:solidFill>
                      <a:prstDash val="solid"/>
                      <a:round/>
                      <a:headEnd type="none" w="med" len="med"/>
                      <a:tailEnd type="none" w="med" len="med"/>
                    </a:lnT>
                    <a:lnB w="9525" cap="flat" cmpd="sng" algn="ctr">
                      <a:solidFill>
                        <a:srgbClr val="CFC688"/>
                      </a:solidFill>
                      <a:prstDash val="solid"/>
                      <a:round/>
                      <a:headEnd type="none" w="med" len="med"/>
                      <a:tailEnd type="none" w="med" len="med"/>
                    </a:lnB>
                    <a:solidFill>
                      <a:schemeClr val="bg1"/>
                    </a:solidFill>
                  </a:tcPr>
                </a:tc>
                <a:tc>
                  <a:txBody>
                    <a:bodyPr/>
                    <a:lstStyle/>
                    <a:p>
                      <a:pPr indent="0" marL="0">
                        <a:buNone/>
                      </a:pPr>
                      <a:r>
                        <a:rPr lang="en-US" sz="1400" b="1" dirty="0">
                          <a:solidFill>
                            <a:schemeClr val="accent4"/>
                          </a:solidFill>
                        </a:rPr>
                        <a:t>Yes</a:t>
                      </a:r>
                      <a:endParaRPr lang="en-US" sz="1400" dirty="0"/>
                    </a:p>
                  </a:txBody>
                  <a:tcPr marL="128016" marR="128016" marT="36576" marB="36576" anchor="ctr">
                    <a:lnL w="9525" cap="flat" cmpd="sng" algn="ctr">
                      <a:solidFill>
                        <a:srgbClr val="CFC688"/>
                      </a:solidFill>
                      <a:prstDash val="solid"/>
                      <a:round/>
                      <a:headEnd type="none" w="med" len="med"/>
                      <a:tailEnd type="none" w="med" len="med"/>
                    </a:lnL>
                    <a:lnR w="9525" cap="flat" cmpd="sng" algn="ctr">
                      <a:solidFill>
                        <a:srgbClr val="CFC688"/>
                      </a:solidFill>
                      <a:prstDash val="solid"/>
                      <a:round/>
                      <a:headEnd type="none" w="med" len="med"/>
                      <a:tailEnd type="none" w="med" len="med"/>
                    </a:lnR>
                    <a:lnT w="9525" cap="flat" cmpd="sng" algn="ctr">
                      <a:solidFill>
                        <a:srgbClr val="CFC688"/>
                      </a:solidFill>
                      <a:prstDash val="solid"/>
                      <a:round/>
                      <a:headEnd type="none" w="med" len="med"/>
                      <a:tailEnd type="none" w="med" len="med"/>
                    </a:lnT>
                    <a:lnB w="9525" cap="flat" cmpd="sng" algn="ctr">
                      <a:solidFill>
                        <a:srgbClr val="CFC688"/>
                      </a:solidFill>
                      <a:prstDash val="solid"/>
                      <a:round/>
                      <a:headEnd type="none" w="med" len="med"/>
                      <a:tailEnd type="none" w="med" len="med"/>
                    </a:lnB>
                    <a:solidFill>
                      <a:schemeClr val="bg1"/>
                    </a:solidFill>
                  </a:tcPr>
                </a:tc>
              </a:tr>
              <a:tr h="457200">
                <a:tc>
                  <a:txBody>
                    <a:bodyPr/>
                    <a:lstStyle/>
                    <a:p>
                      <a:pPr indent="0" marL="0">
                        <a:buNone/>
                      </a:pPr>
                      <a:r>
                        <a:rPr lang="en-US" sz="1400" b="1" dirty="0">
                          <a:solidFill>
                            <a:schemeClr val="tx1"/>
                          </a:solidFill>
                        </a:rPr>
                        <a:t>Studies (Hannak '14, Mathur '19)</a:t>
                      </a:r>
                      <a:endParaRPr lang="en-US" sz="1400" dirty="0"/>
                    </a:p>
                  </a:txBody>
                  <a:tcPr marL="128016" marR="128016" marT="36576" marB="36576" anchor="ctr">
                    <a:lnL w="9525" cap="flat" cmpd="sng" algn="ctr">
                      <a:solidFill>
                        <a:srgbClr val="CFC688"/>
                      </a:solidFill>
                      <a:prstDash val="solid"/>
                      <a:round/>
                      <a:headEnd type="none" w="med" len="med"/>
                      <a:tailEnd type="none" w="med" len="med"/>
                    </a:lnL>
                    <a:lnR w="9525" cap="flat" cmpd="sng" algn="ctr">
                      <a:solidFill>
                        <a:srgbClr val="CFC688"/>
                      </a:solidFill>
                      <a:prstDash val="solid"/>
                      <a:round/>
                      <a:headEnd type="none" w="med" len="med"/>
                      <a:tailEnd type="none" w="med" len="med"/>
                    </a:lnR>
                    <a:lnT w="9525" cap="flat" cmpd="sng" algn="ctr">
                      <a:solidFill>
                        <a:srgbClr val="CFC688"/>
                      </a:solidFill>
                      <a:prstDash val="solid"/>
                      <a:round/>
                      <a:headEnd type="none" w="med" len="med"/>
                      <a:tailEnd type="none" w="med" len="med"/>
                    </a:lnT>
                    <a:lnB w="9525" cap="flat" cmpd="sng" algn="ctr">
                      <a:solidFill>
                        <a:srgbClr val="CFC688"/>
                      </a:solidFill>
                      <a:prstDash val="solid"/>
                      <a:round/>
                      <a:headEnd type="none" w="med" len="med"/>
                      <a:tailEnd type="none" w="med" len="med"/>
                    </a:lnB>
                    <a:solidFill>
                      <a:schemeClr val="bg1"/>
                    </a:solidFill>
                  </a:tcPr>
                </a:tc>
                <a:tc>
                  <a:txBody>
                    <a:bodyPr/>
                    <a:lstStyle/>
                    <a:p>
                      <a:pPr indent="0" marL="0">
                        <a:buNone/>
                      </a:pPr>
                      <a:r>
                        <a:rPr lang="en-US" sz="1400" b="1" dirty="0">
                          <a:solidFill>
                            <a:schemeClr val="accent4"/>
                          </a:solidFill>
                        </a:rPr>
                        <a:t>Yes</a:t>
                      </a:r>
                      <a:endParaRPr lang="en-US" sz="1400" dirty="0"/>
                    </a:p>
                  </a:txBody>
                  <a:tcPr marL="128016" marR="128016" marT="36576" marB="36576" anchor="ctr">
                    <a:lnL w="9525" cap="flat" cmpd="sng" algn="ctr">
                      <a:solidFill>
                        <a:srgbClr val="CFC688"/>
                      </a:solidFill>
                      <a:prstDash val="solid"/>
                      <a:round/>
                      <a:headEnd type="none" w="med" len="med"/>
                      <a:tailEnd type="none" w="med" len="med"/>
                    </a:lnL>
                    <a:lnR w="9525" cap="flat" cmpd="sng" algn="ctr">
                      <a:solidFill>
                        <a:srgbClr val="CFC688"/>
                      </a:solidFill>
                      <a:prstDash val="solid"/>
                      <a:round/>
                      <a:headEnd type="none" w="med" len="med"/>
                      <a:tailEnd type="none" w="med" len="med"/>
                    </a:lnR>
                    <a:lnT w="9525" cap="flat" cmpd="sng" algn="ctr">
                      <a:solidFill>
                        <a:srgbClr val="CFC688"/>
                      </a:solidFill>
                      <a:prstDash val="solid"/>
                      <a:round/>
                      <a:headEnd type="none" w="med" len="med"/>
                      <a:tailEnd type="none" w="med" len="med"/>
                    </a:lnT>
                    <a:lnB w="9525" cap="flat" cmpd="sng" algn="ctr">
                      <a:solidFill>
                        <a:srgbClr val="CFC688"/>
                      </a:solidFill>
                      <a:prstDash val="solid"/>
                      <a:round/>
                      <a:headEnd type="none" w="med" len="med"/>
                      <a:tailEnd type="none" w="med" len="med"/>
                    </a:lnB>
                    <a:solidFill>
                      <a:schemeClr val="bg1"/>
                    </a:solidFill>
                  </a:tcPr>
                </a:tc>
                <a:tc>
                  <a:txBody>
                    <a:bodyPr/>
                    <a:lstStyle/>
                    <a:p>
                      <a:pPr indent="0" marL="0">
                        <a:buNone/>
                      </a:pPr>
                      <a:r>
                        <a:rPr lang="en-US" sz="1400" b="1" dirty="0">
                          <a:solidFill>
                            <a:schemeClr val="accent4"/>
                          </a:solidFill>
                        </a:rPr>
                        <a:t>Yes</a:t>
                      </a:r>
                      <a:endParaRPr lang="en-US" sz="1400" dirty="0"/>
                    </a:p>
                  </a:txBody>
                  <a:tcPr marL="128016" marR="128016" marT="36576" marB="36576" anchor="ctr">
                    <a:lnL w="9525" cap="flat" cmpd="sng" algn="ctr">
                      <a:solidFill>
                        <a:srgbClr val="CFC688"/>
                      </a:solidFill>
                      <a:prstDash val="solid"/>
                      <a:round/>
                      <a:headEnd type="none" w="med" len="med"/>
                      <a:tailEnd type="none" w="med" len="med"/>
                    </a:lnL>
                    <a:lnR w="9525" cap="flat" cmpd="sng" algn="ctr">
                      <a:solidFill>
                        <a:srgbClr val="CFC688"/>
                      </a:solidFill>
                      <a:prstDash val="solid"/>
                      <a:round/>
                      <a:headEnd type="none" w="med" len="med"/>
                      <a:tailEnd type="none" w="med" len="med"/>
                    </a:lnR>
                    <a:lnT w="9525" cap="flat" cmpd="sng" algn="ctr">
                      <a:solidFill>
                        <a:srgbClr val="CFC688"/>
                      </a:solidFill>
                      <a:prstDash val="solid"/>
                      <a:round/>
                      <a:headEnd type="none" w="med" len="med"/>
                      <a:tailEnd type="none" w="med" len="med"/>
                    </a:lnT>
                    <a:lnB w="9525" cap="flat" cmpd="sng" algn="ctr">
                      <a:solidFill>
                        <a:srgbClr val="CFC688"/>
                      </a:solidFill>
                      <a:prstDash val="solid"/>
                      <a:round/>
                      <a:headEnd type="none" w="med" len="med"/>
                      <a:tailEnd type="none" w="med" len="med"/>
                    </a:lnB>
                    <a:solidFill>
                      <a:schemeClr val="bg1"/>
                    </a:solidFill>
                  </a:tcPr>
                </a:tc>
                <a:tc>
                  <a:txBody>
                    <a:bodyPr/>
                    <a:lstStyle/>
                    <a:p>
                      <a:pPr indent="0" marL="0">
                        <a:buNone/>
                      </a:pPr>
                      <a:r>
                        <a:rPr lang="en-US" sz="1400" dirty="0">
                          <a:solidFill>
                            <a:schemeClr val="accent6"/>
                          </a:solidFill>
                        </a:rPr>
                        <a:t>One-off studies</a:t>
                      </a:r>
                      <a:endParaRPr lang="en-US" sz="1400" dirty="0"/>
                    </a:p>
                  </a:txBody>
                  <a:tcPr marL="128016" marR="128016" marT="36576" marB="36576" anchor="ctr">
                    <a:lnL w="9525" cap="flat" cmpd="sng" algn="ctr">
                      <a:solidFill>
                        <a:srgbClr val="CFC688"/>
                      </a:solidFill>
                      <a:prstDash val="solid"/>
                      <a:round/>
                      <a:headEnd type="none" w="med" len="med"/>
                      <a:tailEnd type="none" w="med" len="med"/>
                    </a:lnL>
                    <a:lnR w="9525" cap="flat" cmpd="sng" algn="ctr">
                      <a:solidFill>
                        <a:srgbClr val="CFC688"/>
                      </a:solidFill>
                      <a:prstDash val="solid"/>
                      <a:round/>
                      <a:headEnd type="none" w="med" len="med"/>
                      <a:tailEnd type="none" w="med" len="med"/>
                    </a:lnR>
                    <a:lnT w="9525" cap="flat" cmpd="sng" algn="ctr">
                      <a:solidFill>
                        <a:srgbClr val="CFC688"/>
                      </a:solidFill>
                      <a:prstDash val="solid"/>
                      <a:round/>
                      <a:headEnd type="none" w="med" len="med"/>
                      <a:tailEnd type="none" w="med" len="med"/>
                    </a:lnT>
                    <a:lnB w="9525" cap="flat" cmpd="sng" algn="ctr">
                      <a:solidFill>
                        <a:srgbClr val="CFC688"/>
                      </a:solidFill>
                      <a:prstDash val="solid"/>
                      <a:round/>
                      <a:headEnd type="none" w="med" len="med"/>
                      <a:tailEnd type="none" w="med" len="med"/>
                    </a:lnB>
                    <a:solidFill>
                      <a:schemeClr val="bg1"/>
                    </a:solidFill>
                  </a:tcPr>
                </a:tc>
                <a:tc>
                  <a:txBody>
                    <a:bodyPr/>
                    <a:lstStyle/>
                    <a:p>
                      <a:pPr indent="0" marL="0">
                        <a:buNone/>
                      </a:pPr>
                      <a:r>
                        <a:rPr lang="en-US" sz="1400" b="1" dirty="0">
                          <a:solidFill>
                            <a:schemeClr val="accent4"/>
                          </a:solidFill>
                        </a:rPr>
                        <a:t>Yes</a:t>
                      </a:r>
                      <a:endParaRPr lang="en-US" sz="1400" dirty="0"/>
                    </a:p>
                  </a:txBody>
                  <a:tcPr marL="128016" marR="128016" marT="36576" marB="36576" anchor="ctr">
                    <a:lnL w="9525" cap="flat" cmpd="sng" algn="ctr">
                      <a:solidFill>
                        <a:srgbClr val="CFC688"/>
                      </a:solidFill>
                      <a:prstDash val="solid"/>
                      <a:round/>
                      <a:headEnd type="none" w="med" len="med"/>
                      <a:tailEnd type="none" w="med" len="med"/>
                    </a:lnL>
                    <a:lnR w="9525" cap="flat" cmpd="sng" algn="ctr">
                      <a:solidFill>
                        <a:srgbClr val="CFC688"/>
                      </a:solidFill>
                      <a:prstDash val="solid"/>
                      <a:round/>
                      <a:headEnd type="none" w="med" len="med"/>
                      <a:tailEnd type="none" w="med" len="med"/>
                    </a:lnR>
                    <a:lnT w="9525" cap="flat" cmpd="sng" algn="ctr">
                      <a:solidFill>
                        <a:srgbClr val="CFC688"/>
                      </a:solidFill>
                      <a:prstDash val="solid"/>
                      <a:round/>
                      <a:headEnd type="none" w="med" len="med"/>
                      <a:tailEnd type="none" w="med" len="med"/>
                    </a:lnT>
                    <a:lnB w="9525" cap="flat" cmpd="sng" algn="ctr">
                      <a:solidFill>
                        <a:srgbClr val="CFC688"/>
                      </a:solidFill>
                      <a:prstDash val="solid"/>
                      <a:round/>
                      <a:headEnd type="none" w="med" len="med"/>
                      <a:tailEnd type="none" w="med" len="med"/>
                    </a:lnB>
                    <a:solidFill>
                      <a:schemeClr val="bg1"/>
                    </a:solidFill>
                  </a:tcPr>
                </a:tc>
              </a:tr>
              <a:tr h="457200">
                <a:tc>
                  <a:txBody>
                    <a:bodyPr/>
                    <a:lstStyle/>
                    <a:p>
                      <a:pPr indent="0" marL="0">
                        <a:buNone/>
                      </a:pPr>
                      <a:r>
                        <a:rPr lang="en-US" sz="1400" b="1" dirty="0">
                          <a:solidFill>
                            <a:schemeClr val="tx1"/>
                          </a:solidFill>
                        </a:rPr>
                        <a:t>Detectors and browser extensions</a:t>
                      </a:r>
                      <a:endParaRPr lang="en-US" sz="1400" dirty="0"/>
                    </a:p>
                  </a:txBody>
                  <a:tcPr marL="128016" marR="128016" marT="36576" marB="36576" anchor="ctr">
                    <a:lnL w="9525" cap="flat" cmpd="sng" algn="ctr">
                      <a:solidFill>
                        <a:srgbClr val="CFC688"/>
                      </a:solidFill>
                      <a:prstDash val="solid"/>
                      <a:round/>
                      <a:headEnd type="none" w="med" len="med"/>
                      <a:tailEnd type="none" w="med" len="med"/>
                    </a:lnL>
                    <a:lnR w="9525" cap="flat" cmpd="sng" algn="ctr">
                      <a:solidFill>
                        <a:srgbClr val="CFC688"/>
                      </a:solidFill>
                      <a:prstDash val="solid"/>
                      <a:round/>
                      <a:headEnd type="none" w="med" len="med"/>
                      <a:tailEnd type="none" w="med" len="med"/>
                    </a:lnR>
                    <a:lnT w="9525" cap="flat" cmpd="sng" algn="ctr">
                      <a:solidFill>
                        <a:srgbClr val="CFC688"/>
                      </a:solidFill>
                      <a:prstDash val="solid"/>
                      <a:round/>
                      <a:headEnd type="none" w="med" len="med"/>
                      <a:tailEnd type="none" w="med" len="med"/>
                    </a:lnT>
                    <a:lnB w="9525" cap="flat" cmpd="sng" algn="ctr">
                      <a:solidFill>
                        <a:srgbClr val="CFC688"/>
                      </a:solidFill>
                      <a:prstDash val="solid"/>
                      <a:round/>
                      <a:headEnd type="none" w="med" len="med"/>
                      <a:tailEnd type="none" w="med" len="med"/>
                    </a:lnB>
                    <a:solidFill>
                      <a:schemeClr val="bg1"/>
                    </a:solidFill>
                  </a:tcPr>
                </a:tc>
                <a:tc>
                  <a:txBody>
                    <a:bodyPr/>
                    <a:lstStyle/>
                    <a:p>
                      <a:pPr indent="0" marL="0">
                        <a:buNone/>
                      </a:pPr>
                      <a:r>
                        <a:rPr lang="en-US" sz="1400" dirty="0">
                          <a:solidFill>
                            <a:schemeClr val="accent6"/>
                          </a:solidFill>
                        </a:rPr>
                        <a:t>One page, one shopper</a:t>
                      </a:r>
                      <a:endParaRPr lang="en-US" sz="1400" dirty="0"/>
                    </a:p>
                  </a:txBody>
                  <a:tcPr marL="128016" marR="128016" marT="36576" marB="36576" anchor="ctr">
                    <a:lnL w="9525" cap="flat" cmpd="sng" algn="ctr">
                      <a:solidFill>
                        <a:srgbClr val="CFC688"/>
                      </a:solidFill>
                      <a:prstDash val="solid"/>
                      <a:round/>
                      <a:headEnd type="none" w="med" len="med"/>
                      <a:tailEnd type="none" w="med" len="med"/>
                    </a:lnL>
                    <a:lnR w="9525" cap="flat" cmpd="sng" algn="ctr">
                      <a:solidFill>
                        <a:srgbClr val="CFC688"/>
                      </a:solidFill>
                      <a:prstDash val="solid"/>
                      <a:round/>
                      <a:headEnd type="none" w="med" len="med"/>
                      <a:tailEnd type="none" w="med" len="med"/>
                    </a:lnR>
                    <a:lnT w="9525" cap="flat" cmpd="sng" algn="ctr">
                      <a:solidFill>
                        <a:srgbClr val="CFC688"/>
                      </a:solidFill>
                      <a:prstDash val="solid"/>
                      <a:round/>
                      <a:headEnd type="none" w="med" len="med"/>
                      <a:tailEnd type="none" w="med" len="med"/>
                    </a:lnT>
                    <a:lnB w="9525" cap="flat" cmpd="sng" algn="ctr">
                      <a:solidFill>
                        <a:srgbClr val="CFC688"/>
                      </a:solidFill>
                      <a:prstDash val="solid"/>
                      <a:round/>
                      <a:headEnd type="none" w="med" len="med"/>
                      <a:tailEnd type="none" w="med" len="med"/>
                    </a:lnB>
                    <a:solidFill>
                      <a:schemeClr val="bg1"/>
                    </a:solidFill>
                  </a:tcPr>
                </a:tc>
                <a:tc>
                  <a:txBody>
                    <a:bodyPr/>
                    <a:lstStyle/>
                    <a:p>
                      <a:pPr indent="0" marL="0">
                        <a:buNone/>
                      </a:pPr>
                      <a:r>
                        <a:rPr lang="en-US" sz="1400" b="1" dirty="0">
                          <a:solidFill>
                            <a:schemeClr val="accent3"/>
                          </a:solidFill>
                        </a:rPr>
                        <a:t>No</a:t>
                      </a:r>
                      <a:endParaRPr lang="en-US" sz="1400" dirty="0"/>
                    </a:p>
                  </a:txBody>
                  <a:tcPr marL="128016" marR="128016" marT="36576" marB="36576" anchor="ctr">
                    <a:lnL w="9525" cap="flat" cmpd="sng" algn="ctr">
                      <a:solidFill>
                        <a:srgbClr val="CFC688"/>
                      </a:solidFill>
                      <a:prstDash val="solid"/>
                      <a:round/>
                      <a:headEnd type="none" w="med" len="med"/>
                      <a:tailEnd type="none" w="med" len="med"/>
                    </a:lnL>
                    <a:lnR w="9525" cap="flat" cmpd="sng" algn="ctr">
                      <a:solidFill>
                        <a:srgbClr val="CFC688"/>
                      </a:solidFill>
                      <a:prstDash val="solid"/>
                      <a:round/>
                      <a:headEnd type="none" w="med" len="med"/>
                      <a:tailEnd type="none" w="med" len="med"/>
                    </a:lnR>
                    <a:lnT w="9525" cap="flat" cmpd="sng" algn="ctr">
                      <a:solidFill>
                        <a:srgbClr val="CFC688"/>
                      </a:solidFill>
                      <a:prstDash val="solid"/>
                      <a:round/>
                      <a:headEnd type="none" w="med" len="med"/>
                      <a:tailEnd type="none" w="med" len="med"/>
                    </a:lnT>
                    <a:lnB w="9525" cap="flat" cmpd="sng" algn="ctr">
                      <a:solidFill>
                        <a:srgbClr val="CFC688"/>
                      </a:solidFill>
                      <a:prstDash val="solid"/>
                      <a:round/>
                      <a:headEnd type="none" w="med" len="med"/>
                      <a:tailEnd type="none" w="med" len="med"/>
                    </a:lnB>
                    <a:solidFill>
                      <a:schemeClr val="bg1"/>
                    </a:solidFill>
                  </a:tcPr>
                </a:tc>
                <a:tc>
                  <a:txBody>
                    <a:bodyPr/>
                    <a:lstStyle/>
                    <a:p>
                      <a:pPr indent="0" marL="0">
                        <a:buNone/>
                      </a:pPr>
                      <a:r>
                        <a:rPr lang="en-US" sz="1400" b="1" dirty="0">
                          <a:solidFill>
                            <a:schemeClr val="accent3"/>
                          </a:solidFill>
                        </a:rPr>
                        <a:t>No</a:t>
                      </a:r>
                      <a:endParaRPr lang="en-US" sz="1400" dirty="0"/>
                    </a:p>
                  </a:txBody>
                  <a:tcPr marL="128016" marR="128016" marT="36576" marB="36576" anchor="ctr">
                    <a:lnL w="9525" cap="flat" cmpd="sng" algn="ctr">
                      <a:solidFill>
                        <a:srgbClr val="CFC688"/>
                      </a:solidFill>
                      <a:prstDash val="solid"/>
                      <a:round/>
                      <a:headEnd type="none" w="med" len="med"/>
                      <a:tailEnd type="none" w="med" len="med"/>
                    </a:lnL>
                    <a:lnR w="9525" cap="flat" cmpd="sng" algn="ctr">
                      <a:solidFill>
                        <a:srgbClr val="CFC688"/>
                      </a:solidFill>
                      <a:prstDash val="solid"/>
                      <a:round/>
                      <a:headEnd type="none" w="med" len="med"/>
                      <a:tailEnd type="none" w="med" len="med"/>
                    </a:lnR>
                    <a:lnT w="9525" cap="flat" cmpd="sng" algn="ctr">
                      <a:solidFill>
                        <a:srgbClr val="CFC688"/>
                      </a:solidFill>
                      <a:prstDash val="solid"/>
                      <a:round/>
                      <a:headEnd type="none" w="med" len="med"/>
                      <a:tailEnd type="none" w="med" len="med"/>
                    </a:lnT>
                    <a:lnB w="9525" cap="flat" cmpd="sng" algn="ctr">
                      <a:solidFill>
                        <a:srgbClr val="CFC688"/>
                      </a:solidFill>
                      <a:prstDash val="solid"/>
                      <a:round/>
                      <a:headEnd type="none" w="med" len="med"/>
                      <a:tailEnd type="none" w="med" len="med"/>
                    </a:lnB>
                    <a:solidFill>
                      <a:schemeClr val="bg1"/>
                    </a:solidFill>
                  </a:tcPr>
                </a:tc>
                <a:tc>
                  <a:txBody>
                    <a:bodyPr/>
                    <a:lstStyle/>
                    <a:p>
                      <a:pPr indent="0" marL="0">
                        <a:buNone/>
                      </a:pPr>
                      <a:r>
                        <a:rPr lang="en-US" sz="1400" b="1" dirty="0">
                          <a:solidFill>
                            <a:schemeClr val="accent4"/>
                          </a:solidFill>
                        </a:rPr>
                        <a:t>Yes</a:t>
                      </a:r>
                      <a:endParaRPr lang="en-US" sz="1400" dirty="0"/>
                    </a:p>
                  </a:txBody>
                  <a:tcPr marL="128016" marR="128016" marT="36576" marB="36576" anchor="ctr">
                    <a:lnL w="9525" cap="flat" cmpd="sng" algn="ctr">
                      <a:solidFill>
                        <a:srgbClr val="CFC688"/>
                      </a:solidFill>
                      <a:prstDash val="solid"/>
                      <a:round/>
                      <a:headEnd type="none" w="med" len="med"/>
                      <a:tailEnd type="none" w="med" len="med"/>
                    </a:lnL>
                    <a:lnR w="9525" cap="flat" cmpd="sng" algn="ctr">
                      <a:solidFill>
                        <a:srgbClr val="CFC688"/>
                      </a:solidFill>
                      <a:prstDash val="solid"/>
                      <a:round/>
                      <a:headEnd type="none" w="med" len="med"/>
                      <a:tailEnd type="none" w="med" len="med"/>
                    </a:lnR>
                    <a:lnT w="9525" cap="flat" cmpd="sng" algn="ctr">
                      <a:solidFill>
                        <a:srgbClr val="CFC688"/>
                      </a:solidFill>
                      <a:prstDash val="solid"/>
                      <a:round/>
                      <a:headEnd type="none" w="med" len="med"/>
                      <a:tailEnd type="none" w="med" len="med"/>
                    </a:lnT>
                    <a:lnB w="9525" cap="flat" cmpd="sng" algn="ctr">
                      <a:solidFill>
                        <a:srgbClr val="CFC688"/>
                      </a:solidFill>
                      <a:prstDash val="solid"/>
                      <a:round/>
                      <a:headEnd type="none" w="med" len="med"/>
                      <a:tailEnd type="none" w="med" len="med"/>
                    </a:lnB>
                    <a:solidFill>
                      <a:schemeClr val="bg1"/>
                    </a:solidFill>
                  </a:tcPr>
                </a:tc>
              </a:tr>
              <a:tr h="457200">
                <a:tc>
                  <a:txBody>
                    <a:bodyPr/>
                    <a:lstStyle/>
                    <a:p>
                      <a:pPr indent="0" marL="0">
                        <a:buNone/>
                      </a:pPr>
                      <a:r>
                        <a:rPr lang="en-US" sz="1400" b="1" dirty="0">
                          <a:solidFill>
                            <a:schemeClr val="tx1"/>
                          </a:solidFill>
                        </a:rPr>
                        <a:t>Manual investigation</a:t>
                      </a:r>
                      <a:endParaRPr lang="en-US" sz="1400" dirty="0"/>
                    </a:p>
                  </a:txBody>
                  <a:tcPr marL="128016" marR="128016" marT="36576" marB="36576" anchor="ctr">
                    <a:lnL w="9525" cap="flat" cmpd="sng" algn="ctr">
                      <a:solidFill>
                        <a:srgbClr val="CFC688"/>
                      </a:solidFill>
                      <a:prstDash val="solid"/>
                      <a:round/>
                      <a:headEnd type="none" w="med" len="med"/>
                      <a:tailEnd type="none" w="med" len="med"/>
                    </a:lnL>
                    <a:lnR w="9525" cap="flat" cmpd="sng" algn="ctr">
                      <a:solidFill>
                        <a:srgbClr val="CFC688"/>
                      </a:solidFill>
                      <a:prstDash val="solid"/>
                      <a:round/>
                      <a:headEnd type="none" w="med" len="med"/>
                      <a:tailEnd type="none" w="med" len="med"/>
                    </a:lnR>
                    <a:lnT w="9525" cap="flat" cmpd="sng" algn="ctr">
                      <a:solidFill>
                        <a:srgbClr val="CFC688"/>
                      </a:solidFill>
                      <a:prstDash val="solid"/>
                      <a:round/>
                      <a:headEnd type="none" w="med" len="med"/>
                      <a:tailEnd type="none" w="med" len="med"/>
                    </a:lnT>
                    <a:lnB w="9525" cap="flat" cmpd="sng" algn="ctr">
                      <a:solidFill>
                        <a:srgbClr val="CFC688"/>
                      </a:solidFill>
                      <a:prstDash val="solid"/>
                      <a:round/>
                      <a:headEnd type="none" w="med" len="med"/>
                      <a:tailEnd type="none" w="med" len="med"/>
                    </a:lnB>
                    <a:solidFill>
                      <a:schemeClr val="bg1"/>
                    </a:solidFill>
                  </a:tcPr>
                </a:tc>
                <a:tc>
                  <a:txBody>
                    <a:bodyPr/>
                    <a:lstStyle/>
                    <a:p>
                      <a:pPr indent="0" marL="0">
                        <a:buNone/>
                      </a:pPr>
                      <a:r>
                        <a:rPr lang="en-US" sz="1400" b="1" dirty="0">
                          <a:solidFill>
                            <a:schemeClr val="accent4"/>
                          </a:solidFill>
                        </a:rPr>
                        <a:t>Yes</a:t>
                      </a:r>
                      <a:endParaRPr lang="en-US" sz="1400" dirty="0"/>
                    </a:p>
                  </a:txBody>
                  <a:tcPr marL="128016" marR="128016" marT="36576" marB="36576" anchor="ctr">
                    <a:lnL w="9525" cap="flat" cmpd="sng" algn="ctr">
                      <a:solidFill>
                        <a:srgbClr val="CFC688"/>
                      </a:solidFill>
                      <a:prstDash val="solid"/>
                      <a:round/>
                      <a:headEnd type="none" w="med" len="med"/>
                      <a:tailEnd type="none" w="med" len="med"/>
                    </a:lnL>
                    <a:lnR w="9525" cap="flat" cmpd="sng" algn="ctr">
                      <a:solidFill>
                        <a:srgbClr val="CFC688"/>
                      </a:solidFill>
                      <a:prstDash val="solid"/>
                      <a:round/>
                      <a:headEnd type="none" w="med" len="med"/>
                      <a:tailEnd type="none" w="med" len="med"/>
                    </a:lnR>
                    <a:lnT w="9525" cap="flat" cmpd="sng" algn="ctr">
                      <a:solidFill>
                        <a:srgbClr val="CFC688"/>
                      </a:solidFill>
                      <a:prstDash val="solid"/>
                      <a:round/>
                      <a:headEnd type="none" w="med" len="med"/>
                      <a:tailEnd type="none" w="med" len="med"/>
                    </a:lnT>
                    <a:lnB w="9525" cap="flat" cmpd="sng" algn="ctr">
                      <a:solidFill>
                        <a:srgbClr val="CFC688"/>
                      </a:solidFill>
                      <a:prstDash val="solid"/>
                      <a:round/>
                      <a:headEnd type="none" w="med" len="med"/>
                      <a:tailEnd type="none" w="med" len="med"/>
                    </a:lnB>
                    <a:solidFill>
                      <a:schemeClr val="bg1"/>
                    </a:solidFill>
                  </a:tcPr>
                </a:tc>
                <a:tc>
                  <a:txBody>
                    <a:bodyPr/>
                    <a:lstStyle/>
                    <a:p>
                      <a:pPr indent="0" marL="0">
                        <a:buNone/>
                      </a:pPr>
                      <a:r>
                        <a:rPr lang="en-US" sz="1400" dirty="0">
                          <a:solidFill>
                            <a:schemeClr val="accent6"/>
                          </a:solidFill>
                        </a:rPr>
                        <a:t>Rarely</a:t>
                      </a:r>
                      <a:endParaRPr lang="en-US" sz="1400" dirty="0"/>
                    </a:p>
                  </a:txBody>
                  <a:tcPr marL="128016" marR="128016" marT="36576" marB="36576" anchor="ctr">
                    <a:lnL w="9525" cap="flat" cmpd="sng" algn="ctr">
                      <a:solidFill>
                        <a:srgbClr val="CFC688"/>
                      </a:solidFill>
                      <a:prstDash val="solid"/>
                      <a:round/>
                      <a:headEnd type="none" w="med" len="med"/>
                      <a:tailEnd type="none" w="med" len="med"/>
                    </a:lnL>
                    <a:lnR w="9525" cap="flat" cmpd="sng" algn="ctr">
                      <a:solidFill>
                        <a:srgbClr val="CFC688"/>
                      </a:solidFill>
                      <a:prstDash val="solid"/>
                      <a:round/>
                      <a:headEnd type="none" w="med" len="med"/>
                      <a:tailEnd type="none" w="med" len="med"/>
                    </a:lnR>
                    <a:lnT w="9525" cap="flat" cmpd="sng" algn="ctr">
                      <a:solidFill>
                        <a:srgbClr val="CFC688"/>
                      </a:solidFill>
                      <a:prstDash val="solid"/>
                      <a:round/>
                      <a:headEnd type="none" w="med" len="med"/>
                      <a:tailEnd type="none" w="med" len="med"/>
                    </a:lnT>
                    <a:lnB w="9525" cap="flat" cmpd="sng" algn="ctr">
                      <a:solidFill>
                        <a:srgbClr val="CFC688"/>
                      </a:solidFill>
                      <a:prstDash val="solid"/>
                      <a:round/>
                      <a:headEnd type="none" w="med" len="med"/>
                      <a:tailEnd type="none" w="med" len="med"/>
                    </a:lnB>
                    <a:solidFill>
                      <a:schemeClr val="bg1"/>
                    </a:solidFill>
                  </a:tcPr>
                </a:tc>
                <a:tc>
                  <a:txBody>
                    <a:bodyPr/>
                    <a:lstStyle/>
                    <a:p>
                      <a:pPr indent="0" marL="0">
                        <a:buNone/>
                      </a:pPr>
                      <a:r>
                        <a:rPr lang="en-US" sz="1400" b="1" dirty="0">
                          <a:solidFill>
                            <a:schemeClr val="accent3"/>
                          </a:solidFill>
                        </a:rPr>
                        <a:t>No</a:t>
                      </a:r>
                      <a:endParaRPr lang="en-US" sz="1400" dirty="0"/>
                    </a:p>
                  </a:txBody>
                  <a:tcPr marL="128016" marR="128016" marT="36576" marB="36576" anchor="ctr">
                    <a:lnL w="9525" cap="flat" cmpd="sng" algn="ctr">
                      <a:solidFill>
                        <a:srgbClr val="CFC688"/>
                      </a:solidFill>
                      <a:prstDash val="solid"/>
                      <a:round/>
                      <a:headEnd type="none" w="med" len="med"/>
                      <a:tailEnd type="none" w="med" len="med"/>
                    </a:lnL>
                    <a:lnR w="9525" cap="flat" cmpd="sng" algn="ctr">
                      <a:solidFill>
                        <a:srgbClr val="CFC688"/>
                      </a:solidFill>
                      <a:prstDash val="solid"/>
                      <a:round/>
                      <a:headEnd type="none" w="med" len="med"/>
                      <a:tailEnd type="none" w="med" len="med"/>
                    </a:lnR>
                    <a:lnT w="9525" cap="flat" cmpd="sng" algn="ctr">
                      <a:solidFill>
                        <a:srgbClr val="CFC688"/>
                      </a:solidFill>
                      <a:prstDash val="solid"/>
                      <a:round/>
                      <a:headEnd type="none" w="med" len="med"/>
                      <a:tailEnd type="none" w="med" len="med"/>
                    </a:lnT>
                    <a:lnB w="9525" cap="flat" cmpd="sng" algn="ctr">
                      <a:solidFill>
                        <a:srgbClr val="CFC688"/>
                      </a:solidFill>
                      <a:prstDash val="solid"/>
                      <a:round/>
                      <a:headEnd type="none" w="med" len="med"/>
                      <a:tailEnd type="none" w="med" len="med"/>
                    </a:lnB>
                    <a:solidFill>
                      <a:schemeClr val="bg1"/>
                    </a:solidFill>
                  </a:tcPr>
                </a:tc>
                <a:tc>
                  <a:txBody>
                    <a:bodyPr/>
                    <a:lstStyle/>
                    <a:p>
                      <a:pPr indent="0" marL="0">
                        <a:buNone/>
                      </a:pPr>
                      <a:r>
                        <a:rPr lang="en-US" sz="1400" b="1" dirty="0">
                          <a:solidFill>
                            <a:schemeClr val="accent4"/>
                          </a:solidFill>
                        </a:rPr>
                        <a:t>Yes</a:t>
                      </a:r>
                      <a:endParaRPr lang="en-US" sz="1400" dirty="0"/>
                    </a:p>
                  </a:txBody>
                  <a:tcPr marL="128016" marR="128016" marT="36576" marB="36576" anchor="ctr">
                    <a:lnL w="9525" cap="flat" cmpd="sng" algn="ctr">
                      <a:solidFill>
                        <a:srgbClr val="CFC688"/>
                      </a:solidFill>
                      <a:prstDash val="solid"/>
                      <a:round/>
                      <a:headEnd type="none" w="med" len="med"/>
                      <a:tailEnd type="none" w="med" len="med"/>
                    </a:lnL>
                    <a:lnR w="9525" cap="flat" cmpd="sng" algn="ctr">
                      <a:solidFill>
                        <a:srgbClr val="CFC688"/>
                      </a:solidFill>
                      <a:prstDash val="solid"/>
                      <a:round/>
                      <a:headEnd type="none" w="med" len="med"/>
                      <a:tailEnd type="none" w="med" len="med"/>
                    </a:lnR>
                    <a:lnT w="9525" cap="flat" cmpd="sng" algn="ctr">
                      <a:solidFill>
                        <a:srgbClr val="CFC688"/>
                      </a:solidFill>
                      <a:prstDash val="solid"/>
                      <a:round/>
                      <a:headEnd type="none" w="med" len="med"/>
                      <a:tailEnd type="none" w="med" len="med"/>
                    </a:lnT>
                    <a:lnB w="9525" cap="flat" cmpd="sng" algn="ctr">
                      <a:solidFill>
                        <a:srgbClr val="CFC688"/>
                      </a:solidFill>
                      <a:prstDash val="solid"/>
                      <a:round/>
                      <a:headEnd type="none" w="med" len="med"/>
                      <a:tailEnd type="none" w="med" len="med"/>
                    </a:lnB>
                    <a:solidFill>
                      <a:schemeClr val="bg1"/>
                    </a:solidFill>
                  </a:tcPr>
                </a:tc>
              </a:tr>
              <a:tr h="457200">
                <a:tc>
                  <a:txBody>
                    <a:bodyPr/>
                    <a:lstStyle/>
                    <a:p>
                      <a:pPr indent="0" marL="0">
                        <a:buNone/>
                      </a:pPr>
                      <a:r>
                        <a:rPr lang="en-US" sz="1400" b="1" dirty="0">
                          <a:solidFill>
                            <a:schemeClr val="tx1"/>
                          </a:solidFill>
                        </a:rPr>
                        <a:t>Platform self-audit (CCPA, 2025)</a:t>
                      </a:r>
                      <a:endParaRPr lang="en-US" sz="1400" dirty="0"/>
                    </a:p>
                  </a:txBody>
                  <a:tcPr marL="128016" marR="128016" marT="36576" marB="36576" anchor="ctr">
                    <a:lnL w="9525" cap="flat" cmpd="sng" algn="ctr">
                      <a:solidFill>
                        <a:srgbClr val="CFC688"/>
                      </a:solidFill>
                      <a:prstDash val="solid"/>
                      <a:round/>
                      <a:headEnd type="none" w="med" len="med"/>
                      <a:tailEnd type="none" w="med" len="med"/>
                    </a:lnL>
                    <a:lnR w="9525" cap="flat" cmpd="sng" algn="ctr">
                      <a:solidFill>
                        <a:srgbClr val="CFC688"/>
                      </a:solidFill>
                      <a:prstDash val="solid"/>
                      <a:round/>
                      <a:headEnd type="none" w="med" len="med"/>
                      <a:tailEnd type="none" w="med" len="med"/>
                    </a:lnR>
                    <a:lnT w="9525" cap="flat" cmpd="sng" algn="ctr">
                      <a:solidFill>
                        <a:srgbClr val="CFC688"/>
                      </a:solidFill>
                      <a:prstDash val="solid"/>
                      <a:round/>
                      <a:headEnd type="none" w="med" len="med"/>
                      <a:tailEnd type="none" w="med" len="med"/>
                    </a:lnT>
                    <a:lnB w="9525" cap="flat" cmpd="sng" algn="ctr">
                      <a:solidFill>
                        <a:srgbClr val="CFC688"/>
                      </a:solidFill>
                      <a:prstDash val="solid"/>
                      <a:round/>
                      <a:headEnd type="none" w="med" len="med"/>
                      <a:tailEnd type="none" w="med" len="med"/>
                    </a:lnB>
                    <a:solidFill>
                      <a:schemeClr val="bg1"/>
                    </a:solidFill>
                  </a:tcPr>
                </a:tc>
                <a:tc>
                  <a:txBody>
                    <a:bodyPr/>
                    <a:lstStyle/>
                    <a:p>
                      <a:pPr indent="0" marL="0">
                        <a:buNone/>
                      </a:pPr>
                      <a:r>
                        <a:rPr lang="en-US" sz="1400" dirty="0">
                          <a:solidFill>
                            <a:schemeClr val="accent6"/>
                          </a:solidFill>
                        </a:rPr>
                        <a:t>Not disclosed</a:t>
                      </a:r>
                      <a:endParaRPr lang="en-US" sz="1400" dirty="0"/>
                    </a:p>
                  </a:txBody>
                  <a:tcPr marL="128016" marR="128016" marT="36576" marB="36576" anchor="ctr">
                    <a:lnL w="9525" cap="flat" cmpd="sng" algn="ctr">
                      <a:solidFill>
                        <a:srgbClr val="CFC688"/>
                      </a:solidFill>
                      <a:prstDash val="solid"/>
                      <a:round/>
                      <a:headEnd type="none" w="med" len="med"/>
                      <a:tailEnd type="none" w="med" len="med"/>
                    </a:lnL>
                    <a:lnR w="9525" cap="flat" cmpd="sng" algn="ctr">
                      <a:solidFill>
                        <a:srgbClr val="CFC688"/>
                      </a:solidFill>
                      <a:prstDash val="solid"/>
                      <a:round/>
                      <a:headEnd type="none" w="med" len="med"/>
                      <a:tailEnd type="none" w="med" len="med"/>
                    </a:lnR>
                    <a:lnT w="9525" cap="flat" cmpd="sng" algn="ctr">
                      <a:solidFill>
                        <a:srgbClr val="CFC688"/>
                      </a:solidFill>
                      <a:prstDash val="solid"/>
                      <a:round/>
                      <a:headEnd type="none" w="med" len="med"/>
                      <a:tailEnd type="none" w="med" len="med"/>
                    </a:lnT>
                    <a:lnB w="9525" cap="flat" cmpd="sng" algn="ctr">
                      <a:solidFill>
                        <a:srgbClr val="CFC688"/>
                      </a:solidFill>
                      <a:prstDash val="solid"/>
                      <a:round/>
                      <a:headEnd type="none" w="med" len="med"/>
                      <a:tailEnd type="none" w="med" len="med"/>
                    </a:lnB>
                    <a:solidFill>
                      <a:schemeClr val="bg1"/>
                    </a:solidFill>
                  </a:tcPr>
                </a:tc>
                <a:tc>
                  <a:txBody>
                    <a:bodyPr/>
                    <a:lstStyle/>
                    <a:p>
                      <a:pPr indent="0" marL="0">
                        <a:buNone/>
                      </a:pPr>
                      <a:r>
                        <a:rPr lang="en-US" sz="1400" dirty="0">
                          <a:solidFill>
                            <a:schemeClr val="accent6"/>
                          </a:solidFill>
                        </a:rPr>
                        <a:t>Not disclosed</a:t>
                      </a:r>
                      <a:endParaRPr lang="en-US" sz="1400" dirty="0"/>
                    </a:p>
                  </a:txBody>
                  <a:tcPr marL="128016" marR="128016" marT="36576" marB="36576" anchor="ctr">
                    <a:lnL w="9525" cap="flat" cmpd="sng" algn="ctr">
                      <a:solidFill>
                        <a:srgbClr val="CFC688"/>
                      </a:solidFill>
                      <a:prstDash val="solid"/>
                      <a:round/>
                      <a:headEnd type="none" w="med" len="med"/>
                      <a:tailEnd type="none" w="med" len="med"/>
                    </a:lnL>
                    <a:lnR w="9525" cap="flat" cmpd="sng" algn="ctr">
                      <a:solidFill>
                        <a:srgbClr val="CFC688"/>
                      </a:solidFill>
                      <a:prstDash val="solid"/>
                      <a:round/>
                      <a:headEnd type="none" w="med" len="med"/>
                      <a:tailEnd type="none" w="med" len="med"/>
                    </a:lnR>
                    <a:lnT w="9525" cap="flat" cmpd="sng" algn="ctr">
                      <a:solidFill>
                        <a:srgbClr val="CFC688"/>
                      </a:solidFill>
                      <a:prstDash val="solid"/>
                      <a:round/>
                      <a:headEnd type="none" w="med" len="med"/>
                      <a:tailEnd type="none" w="med" len="med"/>
                    </a:lnT>
                    <a:lnB w="9525" cap="flat" cmpd="sng" algn="ctr">
                      <a:solidFill>
                        <a:srgbClr val="CFC688"/>
                      </a:solidFill>
                      <a:prstDash val="solid"/>
                      <a:round/>
                      <a:headEnd type="none" w="med" len="med"/>
                      <a:tailEnd type="none" w="med" len="med"/>
                    </a:lnB>
                    <a:solidFill>
                      <a:schemeClr val="bg1"/>
                    </a:solidFill>
                  </a:tcPr>
                </a:tc>
                <a:tc>
                  <a:txBody>
                    <a:bodyPr/>
                    <a:lstStyle/>
                    <a:p>
                      <a:pPr indent="0" marL="0">
                        <a:buNone/>
                      </a:pPr>
                      <a:r>
                        <a:rPr lang="en-US" sz="1400" dirty="0">
                          <a:solidFill>
                            <a:schemeClr val="accent6"/>
                          </a:solidFill>
                        </a:rPr>
                        <a:t>Not disclosed</a:t>
                      </a:r>
                      <a:endParaRPr lang="en-US" sz="1400" dirty="0"/>
                    </a:p>
                  </a:txBody>
                  <a:tcPr marL="128016" marR="128016" marT="36576" marB="36576" anchor="ctr">
                    <a:lnL w="9525" cap="flat" cmpd="sng" algn="ctr">
                      <a:solidFill>
                        <a:srgbClr val="CFC688"/>
                      </a:solidFill>
                      <a:prstDash val="solid"/>
                      <a:round/>
                      <a:headEnd type="none" w="med" len="med"/>
                      <a:tailEnd type="none" w="med" len="med"/>
                    </a:lnL>
                    <a:lnR w="9525" cap="flat" cmpd="sng" algn="ctr">
                      <a:solidFill>
                        <a:srgbClr val="CFC688"/>
                      </a:solidFill>
                      <a:prstDash val="solid"/>
                      <a:round/>
                      <a:headEnd type="none" w="med" len="med"/>
                      <a:tailEnd type="none" w="med" len="med"/>
                    </a:lnR>
                    <a:lnT w="9525" cap="flat" cmpd="sng" algn="ctr">
                      <a:solidFill>
                        <a:srgbClr val="CFC688"/>
                      </a:solidFill>
                      <a:prstDash val="solid"/>
                      <a:round/>
                      <a:headEnd type="none" w="med" len="med"/>
                      <a:tailEnd type="none" w="med" len="med"/>
                    </a:lnT>
                    <a:lnB w="9525" cap="flat" cmpd="sng" algn="ctr">
                      <a:solidFill>
                        <a:srgbClr val="CFC688"/>
                      </a:solidFill>
                      <a:prstDash val="solid"/>
                      <a:round/>
                      <a:headEnd type="none" w="med" len="med"/>
                      <a:tailEnd type="none" w="med" len="med"/>
                    </a:lnB>
                    <a:solidFill>
                      <a:schemeClr val="bg1"/>
                    </a:solidFill>
                  </a:tcPr>
                </a:tc>
                <a:tc>
                  <a:txBody>
                    <a:bodyPr/>
                    <a:lstStyle/>
                    <a:p>
                      <a:pPr indent="0" marL="0">
                        <a:buNone/>
                      </a:pPr>
                      <a:r>
                        <a:rPr lang="en-US" sz="1400" b="1" dirty="0">
                          <a:solidFill>
                            <a:schemeClr val="accent3"/>
                          </a:solidFill>
                        </a:rPr>
                        <a:t>No</a:t>
                      </a:r>
                      <a:endParaRPr lang="en-US" sz="1400" dirty="0"/>
                    </a:p>
                  </a:txBody>
                  <a:tcPr marL="128016" marR="128016" marT="36576" marB="36576" anchor="ctr">
                    <a:lnL w="9525" cap="flat" cmpd="sng" algn="ctr">
                      <a:solidFill>
                        <a:srgbClr val="CFC688"/>
                      </a:solidFill>
                      <a:prstDash val="solid"/>
                      <a:round/>
                      <a:headEnd type="none" w="med" len="med"/>
                      <a:tailEnd type="none" w="med" len="med"/>
                    </a:lnL>
                    <a:lnR w="9525" cap="flat" cmpd="sng" algn="ctr">
                      <a:solidFill>
                        <a:srgbClr val="CFC688"/>
                      </a:solidFill>
                      <a:prstDash val="solid"/>
                      <a:round/>
                      <a:headEnd type="none" w="med" len="med"/>
                      <a:tailEnd type="none" w="med" len="med"/>
                    </a:lnR>
                    <a:lnT w="9525" cap="flat" cmpd="sng" algn="ctr">
                      <a:solidFill>
                        <a:srgbClr val="CFC688"/>
                      </a:solidFill>
                      <a:prstDash val="solid"/>
                      <a:round/>
                      <a:headEnd type="none" w="med" len="med"/>
                      <a:tailEnd type="none" w="med" len="med"/>
                    </a:lnT>
                    <a:lnB w="9525" cap="flat" cmpd="sng" algn="ctr">
                      <a:solidFill>
                        <a:srgbClr val="CFC688"/>
                      </a:solidFill>
                      <a:prstDash val="solid"/>
                      <a:round/>
                      <a:headEnd type="none" w="med" len="med"/>
                      <a:tailEnd type="none" w="med" len="med"/>
                    </a:lnB>
                    <a:solidFill>
                      <a:schemeClr val="bg1"/>
                    </a:solidFill>
                  </a:tcPr>
                </a:tc>
              </a:tr>
              <a:tr h="457200">
                <a:tc>
                  <a:txBody>
                    <a:bodyPr/>
                    <a:lstStyle/>
                    <a:p>
                      <a:pPr indent="0" marL="0">
                        <a:buNone/>
                      </a:pPr>
                      <a:r>
                        <a:rPr lang="en-US" sz="1500" b="1" dirty="0">
                          <a:solidFill>
                            <a:schemeClr val="accent1"/>
                          </a:solidFill>
                        </a:rPr>
                        <a:t>Pardarshi</a:t>
                      </a:r>
                      <a:endParaRPr lang="en-US" sz="1500" dirty="0"/>
                    </a:p>
                  </a:txBody>
                  <a:tcPr marL="128016" marR="128016" marT="36576" marB="36576" anchor="ctr">
                    <a:lnL w="9525" cap="flat" cmpd="sng" algn="ctr">
                      <a:solidFill>
                        <a:srgbClr val="CFC688"/>
                      </a:solidFill>
                      <a:prstDash val="solid"/>
                      <a:round/>
                      <a:headEnd type="none" w="med" len="med"/>
                      <a:tailEnd type="none" w="med" len="med"/>
                    </a:lnL>
                    <a:lnR w="9525" cap="flat" cmpd="sng" algn="ctr">
                      <a:solidFill>
                        <a:srgbClr val="CFC688"/>
                      </a:solidFill>
                      <a:prstDash val="solid"/>
                      <a:round/>
                      <a:headEnd type="none" w="med" len="med"/>
                      <a:tailEnd type="none" w="med" len="med"/>
                    </a:lnR>
                    <a:lnT w="9525" cap="flat" cmpd="sng" algn="ctr">
                      <a:solidFill>
                        <a:srgbClr val="CFC688"/>
                      </a:solidFill>
                      <a:prstDash val="solid"/>
                      <a:round/>
                      <a:headEnd type="none" w="med" len="med"/>
                      <a:tailEnd type="none" w="med" len="med"/>
                    </a:lnT>
                    <a:lnB w="9525" cap="flat" cmpd="sng" algn="ctr">
                      <a:solidFill>
                        <a:srgbClr val="CFC688"/>
                      </a:solidFill>
                      <a:prstDash val="solid"/>
                      <a:round/>
                      <a:headEnd type="none" w="med" len="med"/>
                      <a:tailEnd type="none" w="med" len="med"/>
                    </a:lnB>
                    <a:solidFill>
                      <a:schemeClr val="bg1"/>
                    </a:solidFill>
                  </a:tcPr>
                </a:tc>
                <a:tc>
                  <a:txBody>
                    <a:bodyPr/>
                    <a:lstStyle/>
                    <a:p>
                      <a:pPr indent="0" marL="0">
                        <a:buNone/>
                      </a:pPr>
                      <a:r>
                        <a:rPr lang="en-US" sz="1400" b="1" dirty="0">
                          <a:solidFill>
                            <a:schemeClr val="accent4"/>
                          </a:solidFill>
                        </a:rPr>
                        <a:t>Yes, at checkout</a:t>
                      </a:r>
                      <a:endParaRPr lang="en-US" sz="1400" dirty="0"/>
                    </a:p>
                  </a:txBody>
                  <a:tcPr marL="128016" marR="128016" marT="36576" marB="36576" anchor="ctr">
                    <a:lnL w="9525" cap="flat" cmpd="sng" algn="ctr">
                      <a:solidFill>
                        <a:srgbClr val="CFC688"/>
                      </a:solidFill>
                      <a:prstDash val="solid"/>
                      <a:round/>
                      <a:headEnd type="none" w="med" len="med"/>
                      <a:tailEnd type="none" w="med" len="med"/>
                    </a:lnL>
                    <a:lnR w="9525" cap="flat" cmpd="sng" algn="ctr">
                      <a:solidFill>
                        <a:srgbClr val="CFC688"/>
                      </a:solidFill>
                      <a:prstDash val="solid"/>
                      <a:round/>
                      <a:headEnd type="none" w="med" len="med"/>
                      <a:tailEnd type="none" w="med" len="med"/>
                    </a:lnR>
                    <a:lnT w="9525" cap="flat" cmpd="sng" algn="ctr">
                      <a:solidFill>
                        <a:srgbClr val="CFC688"/>
                      </a:solidFill>
                      <a:prstDash val="solid"/>
                      <a:round/>
                      <a:headEnd type="none" w="med" len="med"/>
                      <a:tailEnd type="none" w="med" len="med"/>
                    </a:lnT>
                    <a:lnB w="9525" cap="flat" cmpd="sng" algn="ctr">
                      <a:solidFill>
                        <a:srgbClr val="CFC688"/>
                      </a:solidFill>
                      <a:prstDash val="solid"/>
                      <a:round/>
                      <a:headEnd type="none" w="med" len="med"/>
                      <a:tailEnd type="none" w="med" len="med"/>
                    </a:lnB>
                    <a:solidFill>
                      <a:schemeClr val="bg1"/>
                    </a:solidFill>
                  </a:tcPr>
                </a:tc>
                <a:tc>
                  <a:txBody>
                    <a:bodyPr/>
                    <a:lstStyle/>
                    <a:p>
                      <a:pPr indent="0" marL="0">
                        <a:buNone/>
                      </a:pPr>
                      <a:r>
                        <a:rPr lang="en-US" sz="1400" b="1" dirty="0">
                          <a:solidFill>
                            <a:schemeClr val="accent4"/>
                          </a:solidFill>
                        </a:rPr>
                        <a:t>Yes, 6 profiles</a:t>
                      </a:r>
                      <a:endParaRPr lang="en-US" sz="1400" dirty="0"/>
                    </a:p>
                  </a:txBody>
                  <a:tcPr marL="128016" marR="128016" marT="36576" marB="36576" anchor="ctr">
                    <a:lnL w="9525" cap="flat" cmpd="sng" algn="ctr">
                      <a:solidFill>
                        <a:srgbClr val="CFC688"/>
                      </a:solidFill>
                      <a:prstDash val="solid"/>
                      <a:round/>
                      <a:headEnd type="none" w="med" len="med"/>
                      <a:tailEnd type="none" w="med" len="med"/>
                    </a:lnL>
                    <a:lnR w="9525" cap="flat" cmpd="sng" algn="ctr">
                      <a:solidFill>
                        <a:srgbClr val="CFC688"/>
                      </a:solidFill>
                      <a:prstDash val="solid"/>
                      <a:round/>
                      <a:headEnd type="none" w="med" len="med"/>
                      <a:tailEnd type="none" w="med" len="med"/>
                    </a:lnR>
                    <a:lnT w="9525" cap="flat" cmpd="sng" algn="ctr">
                      <a:solidFill>
                        <a:srgbClr val="CFC688"/>
                      </a:solidFill>
                      <a:prstDash val="solid"/>
                      <a:round/>
                      <a:headEnd type="none" w="med" len="med"/>
                      <a:tailEnd type="none" w="med" len="med"/>
                    </a:lnT>
                    <a:lnB w="9525" cap="flat" cmpd="sng" algn="ctr">
                      <a:solidFill>
                        <a:srgbClr val="CFC688"/>
                      </a:solidFill>
                      <a:prstDash val="solid"/>
                      <a:round/>
                      <a:headEnd type="none" w="med" len="med"/>
                      <a:tailEnd type="none" w="med" len="med"/>
                    </a:lnB>
                    <a:solidFill>
                      <a:schemeClr val="bg1"/>
                    </a:solidFill>
                  </a:tcPr>
                </a:tc>
                <a:tc>
                  <a:txBody>
                    <a:bodyPr/>
                    <a:lstStyle/>
                    <a:p>
                      <a:pPr indent="0" marL="0">
                        <a:buNone/>
                      </a:pPr>
                      <a:r>
                        <a:rPr lang="en-US" sz="1400" b="1" dirty="0">
                          <a:solidFill>
                            <a:schemeClr val="accent4"/>
                          </a:solidFill>
                        </a:rPr>
                        <a:t>Per site, on demand</a:t>
                      </a:r>
                      <a:endParaRPr lang="en-US" sz="1400" dirty="0"/>
                    </a:p>
                  </a:txBody>
                  <a:tcPr marL="128016" marR="128016" marT="36576" marB="36576" anchor="ctr">
                    <a:lnL w="9525" cap="flat" cmpd="sng" algn="ctr">
                      <a:solidFill>
                        <a:srgbClr val="CFC688"/>
                      </a:solidFill>
                      <a:prstDash val="solid"/>
                      <a:round/>
                      <a:headEnd type="none" w="med" len="med"/>
                      <a:tailEnd type="none" w="med" len="med"/>
                    </a:lnL>
                    <a:lnR w="9525" cap="flat" cmpd="sng" algn="ctr">
                      <a:solidFill>
                        <a:srgbClr val="CFC688"/>
                      </a:solidFill>
                      <a:prstDash val="solid"/>
                      <a:round/>
                      <a:headEnd type="none" w="med" len="med"/>
                      <a:tailEnd type="none" w="med" len="med"/>
                    </a:lnR>
                    <a:lnT w="9525" cap="flat" cmpd="sng" algn="ctr">
                      <a:solidFill>
                        <a:srgbClr val="CFC688"/>
                      </a:solidFill>
                      <a:prstDash val="solid"/>
                      <a:round/>
                      <a:headEnd type="none" w="med" len="med"/>
                      <a:tailEnd type="none" w="med" len="med"/>
                    </a:lnT>
                    <a:lnB w="9525" cap="flat" cmpd="sng" algn="ctr">
                      <a:solidFill>
                        <a:srgbClr val="CFC688"/>
                      </a:solidFill>
                      <a:prstDash val="solid"/>
                      <a:round/>
                      <a:headEnd type="none" w="med" len="med"/>
                      <a:tailEnd type="none" w="med" len="med"/>
                    </a:lnB>
                    <a:solidFill>
                      <a:schemeClr val="bg1"/>
                    </a:solidFill>
                  </a:tcPr>
                </a:tc>
                <a:tc>
                  <a:txBody>
                    <a:bodyPr/>
                    <a:lstStyle/>
                    <a:p>
                      <a:pPr indent="0" marL="0">
                        <a:buNone/>
                      </a:pPr>
                      <a:r>
                        <a:rPr lang="en-US" sz="1400" b="1" dirty="0">
                          <a:solidFill>
                            <a:schemeClr val="accent4"/>
                          </a:solidFill>
                        </a:rPr>
                        <a:t>Yes</a:t>
                      </a:r>
                      <a:endParaRPr lang="en-US" sz="1400" dirty="0"/>
                    </a:p>
                  </a:txBody>
                  <a:tcPr marL="128016" marR="128016" marT="36576" marB="36576" anchor="ctr">
                    <a:lnL w="9525" cap="flat" cmpd="sng" algn="ctr">
                      <a:solidFill>
                        <a:srgbClr val="CFC688"/>
                      </a:solidFill>
                      <a:prstDash val="solid"/>
                      <a:round/>
                      <a:headEnd type="none" w="med" len="med"/>
                      <a:tailEnd type="none" w="med" len="med"/>
                    </a:lnL>
                    <a:lnR w="9525" cap="flat" cmpd="sng" algn="ctr">
                      <a:solidFill>
                        <a:srgbClr val="CFC688"/>
                      </a:solidFill>
                      <a:prstDash val="solid"/>
                      <a:round/>
                      <a:headEnd type="none" w="med" len="med"/>
                      <a:tailEnd type="none" w="med" len="med"/>
                    </a:lnR>
                    <a:lnT w="9525" cap="flat" cmpd="sng" algn="ctr">
                      <a:solidFill>
                        <a:srgbClr val="CFC688"/>
                      </a:solidFill>
                      <a:prstDash val="solid"/>
                      <a:round/>
                      <a:headEnd type="none" w="med" len="med"/>
                      <a:tailEnd type="none" w="med" len="med"/>
                    </a:lnT>
                    <a:lnB w="9525" cap="flat" cmpd="sng" algn="ctr">
                      <a:solidFill>
                        <a:srgbClr val="CFC688"/>
                      </a:solidFill>
                      <a:prstDash val="solid"/>
                      <a:round/>
                      <a:headEnd type="none" w="med" len="med"/>
                      <a:tailEnd type="none" w="med" len="med"/>
                    </a:lnB>
                    <a:solidFill>
                      <a:schemeClr val="bg1"/>
                    </a:solidFill>
                  </a:tcPr>
                </a:tc>
              </a:tr>
            </a:tbl>
          </a:graphicData>
        </a:graphic>
      </p:graphicFrame>
      <p:sp>
        <p:nvSpPr>
          <p:cNvPr id="7" name="Pardarshi row highlight"/>
          <p:cNvSpPr/>
          <p:nvPr/>
        </p:nvSpPr>
        <p:spPr>
          <a:xfrm>
            <a:off x="548640" y="4526280"/>
            <a:ext cx="11091672" cy="457200"/>
          </a:xfrm>
          <a:prstGeom prst="roundRect">
            <a:avLst>
              <a:gd name="adj" fmla="val 8000"/>
            </a:avLst>
          </a:prstGeom>
          <a:solidFill>
            <a:schemeClr val="accent2">
              <a:alpha val="0"/>
            </a:schemeClr>
          </a:solidFill>
          <a:ln w="31750">
            <a:solidFill>
              <a:schemeClr val="tx2"/>
            </a:solidFill>
            <a:prstDash val="solid"/>
          </a:ln>
        </p:spPr>
      </p:sp>
      <p:sp>
        <p:nvSpPr>
          <p:cNvPr id="8" name="icon lens"/>
          <p:cNvSpPr/>
          <p:nvPr/>
        </p:nvSpPr>
        <p:spPr>
          <a:xfrm>
            <a:off x="548640" y="5321808"/>
            <a:ext cx="548640" cy="548640"/>
          </a:xfrm>
          <a:prstGeom prst="roundRect">
            <a:avLst>
              <a:gd name="adj" fmla="val 11667"/>
            </a:avLst>
          </a:prstGeom>
          <a:solidFill>
            <a:schemeClr val="tx2"/>
          </a:solidFill>
          <a:ln w="19050">
            <a:solidFill>
              <a:schemeClr val="tx2"/>
            </a:solidFill>
            <a:prstDash val="solid"/>
          </a:ln>
        </p:spPr>
      </p:sp>
      <p:pic>
        <p:nvPicPr>
          <p:cNvPr id="9" name="icon" descr="ScaleBalanced">    </p:cNvPr>
          <p:cNvPicPr>
            <a:picLocks noChangeAspect="1"/>
          </p:cNvPicPr>
          <p:nvPr/>
        </p:nvPicPr>
        <p:blipFill>
          <a:blip r:embed="rId1"/>
          <a:stretch>
            <a:fillRect/>
          </a:stretch>
        </p:blipFill>
        <p:spPr>
          <a:xfrm>
            <a:off x="691286" y="5464454"/>
            <a:ext cx="263347" cy="263347"/>
          </a:xfrm>
          <a:prstGeom prst="rect">
            <a:avLst/>
          </a:prstGeom>
        </p:spPr>
      </p:pic>
      <p:sp>
        <p:nvSpPr>
          <p:cNvPr id="10" name="Text 5"/>
          <p:cNvSpPr txBox="1"/>
          <p:nvPr/>
        </p:nvSpPr>
        <p:spPr>
          <a:xfrm>
            <a:off x="1261872" y="5303520"/>
            <a:ext cx="2926080" cy="292608"/>
          </a:xfrm>
          <a:prstGeom prst="rect">
            <a:avLst/>
          </a:prstGeom>
          <a:noFill/>
          <a:ln/>
        </p:spPr>
        <p:txBody>
          <a:bodyPr wrap="square" lIns="0" tIns="0" rIns="0" bIns="0" rtlCol="0" anchor="t"/>
          <a:lstStyle/>
          <a:p>
            <a:pPr indent="0" marL="0">
              <a:buNone/>
            </a:pPr>
            <a:r>
              <a:rPr lang="en-US" sz="1500" b="1" dirty="0">
                <a:solidFill>
                  <a:schemeClr val="tx1"/>
                </a:solidFill>
              </a:rPr>
              <a:t>Evidence, not opinion</a:t>
            </a:r>
            <a:endParaRPr lang="en-US" sz="1500" dirty="0"/>
          </a:p>
        </p:txBody>
      </p:sp>
      <p:sp>
        <p:nvSpPr>
          <p:cNvPr id="11" name="Text 6"/>
          <p:cNvSpPr txBox="1"/>
          <p:nvPr/>
        </p:nvSpPr>
        <p:spPr>
          <a:xfrm>
            <a:off x="1261872" y="5596128"/>
            <a:ext cx="2926080" cy="548640"/>
          </a:xfrm>
          <a:prstGeom prst="rect">
            <a:avLst/>
          </a:prstGeom>
          <a:noFill/>
          <a:ln/>
        </p:spPr>
        <p:txBody>
          <a:bodyPr wrap="square" lIns="0" tIns="0" rIns="0" bIns="0" rtlCol="0" anchor="t"/>
          <a:lstStyle/>
          <a:p>
            <a:pPr indent="0" marL="0">
              <a:buNone/>
            </a:pPr>
            <a:r>
              <a:rPr lang="en-US" sz="1300" dirty="0">
                <a:solidFill>
                  <a:schemeClr val="accent6"/>
                </a:solidFill>
              </a:rPr>
              <a:t>Screenshots, price lines and SHA‑256 hashes behind every finding.</a:t>
            </a:r>
            <a:endParaRPr lang="en-US" sz="1300" dirty="0"/>
          </a:p>
        </p:txBody>
      </p:sp>
      <p:sp>
        <p:nvSpPr>
          <p:cNvPr id="12" name="icon lens"/>
          <p:cNvSpPr/>
          <p:nvPr/>
        </p:nvSpPr>
        <p:spPr>
          <a:xfrm>
            <a:off x="4306824" y="5321808"/>
            <a:ext cx="548640" cy="548640"/>
          </a:xfrm>
          <a:prstGeom prst="roundRect">
            <a:avLst>
              <a:gd name="adj" fmla="val 11667"/>
            </a:avLst>
          </a:prstGeom>
          <a:solidFill>
            <a:schemeClr val="tx2"/>
          </a:solidFill>
          <a:ln w="19050">
            <a:solidFill>
              <a:schemeClr val="tx2"/>
            </a:solidFill>
            <a:prstDash val="solid"/>
          </a:ln>
        </p:spPr>
      </p:sp>
      <p:pic>
        <p:nvPicPr>
          <p:cNvPr id="13" name="icon" descr="Users">    </p:cNvPr>
          <p:cNvPicPr>
            <a:picLocks noChangeAspect="1"/>
          </p:cNvPicPr>
          <p:nvPr/>
        </p:nvPicPr>
        <p:blipFill>
          <a:blip r:embed="rId2"/>
          <a:stretch>
            <a:fillRect/>
          </a:stretch>
        </p:blipFill>
        <p:spPr>
          <a:xfrm>
            <a:off x="4449470" y="5464454"/>
            <a:ext cx="263347" cy="263347"/>
          </a:xfrm>
          <a:prstGeom prst="rect">
            <a:avLst/>
          </a:prstGeom>
        </p:spPr>
      </p:pic>
      <p:sp>
        <p:nvSpPr>
          <p:cNvPr id="14" name="Text 8"/>
          <p:cNvSpPr txBox="1"/>
          <p:nvPr/>
        </p:nvSpPr>
        <p:spPr>
          <a:xfrm>
            <a:off x="5020056" y="5303520"/>
            <a:ext cx="2926080" cy="292608"/>
          </a:xfrm>
          <a:prstGeom prst="rect">
            <a:avLst/>
          </a:prstGeom>
          <a:noFill/>
          <a:ln/>
        </p:spPr>
        <p:txBody>
          <a:bodyPr wrap="square" lIns="0" tIns="0" rIns="0" bIns="0" rtlCol="0" anchor="t"/>
          <a:lstStyle/>
          <a:p>
            <a:pPr indent="0" marL="0">
              <a:buNone/>
            </a:pPr>
            <a:r>
              <a:rPr lang="en-US" sz="1500" b="1" dirty="0">
                <a:solidFill>
                  <a:schemeClr val="tx1"/>
                </a:solidFill>
              </a:rPr>
              <a:t>Several shopper profiles</a:t>
            </a:r>
            <a:endParaRPr lang="en-US" sz="1500" dirty="0"/>
          </a:p>
        </p:txBody>
      </p:sp>
      <p:sp>
        <p:nvSpPr>
          <p:cNvPr id="15" name="Text 9"/>
          <p:cNvSpPr txBox="1"/>
          <p:nvPr/>
        </p:nvSpPr>
        <p:spPr>
          <a:xfrm>
            <a:off x="5020056" y="5596128"/>
            <a:ext cx="2926080" cy="548640"/>
          </a:xfrm>
          <a:prstGeom prst="rect">
            <a:avLst/>
          </a:prstGeom>
          <a:noFill/>
          <a:ln/>
        </p:spPr>
        <p:txBody>
          <a:bodyPr wrap="square" lIns="0" tIns="0" rIns="0" bIns="0" rtlCol="0" anchor="t"/>
          <a:lstStyle/>
          <a:p>
            <a:pPr indent="0" marL="0">
              <a:buNone/>
            </a:pPr>
            <a:r>
              <a:rPr lang="en-US" sz="1300" dirty="0">
                <a:solidFill>
                  <a:schemeClr val="accent6"/>
                </a:solidFill>
              </a:rPr>
              <a:t>Personalised pricing only shows when profiles are compared.</a:t>
            </a:r>
            <a:endParaRPr lang="en-US" sz="1300" dirty="0"/>
          </a:p>
        </p:txBody>
      </p:sp>
      <p:sp>
        <p:nvSpPr>
          <p:cNvPr id="16" name="icon lens"/>
          <p:cNvSpPr/>
          <p:nvPr/>
        </p:nvSpPr>
        <p:spPr>
          <a:xfrm>
            <a:off x="8065008" y="5321808"/>
            <a:ext cx="548640" cy="548640"/>
          </a:xfrm>
          <a:prstGeom prst="roundRect">
            <a:avLst>
              <a:gd name="adj" fmla="val 11667"/>
            </a:avLst>
          </a:prstGeom>
          <a:solidFill>
            <a:schemeClr val="tx2"/>
          </a:solidFill>
          <a:ln w="19050">
            <a:solidFill>
              <a:schemeClr val="tx2"/>
            </a:solidFill>
            <a:prstDash val="solid"/>
          </a:ln>
        </p:spPr>
      </p:sp>
      <p:pic>
        <p:nvPicPr>
          <p:cNvPr id="17" name="icon" descr="Gavel">    </p:cNvPr>
          <p:cNvPicPr>
            <a:picLocks noChangeAspect="1"/>
          </p:cNvPicPr>
          <p:nvPr/>
        </p:nvPicPr>
        <p:blipFill>
          <a:blip r:embed="rId3"/>
          <a:stretch>
            <a:fillRect/>
          </a:stretch>
        </p:blipFill>
        <p:spPr>
          <a:xfrm>
            <a:off x="8207654" y="5464454"/>
            <a:ext cx="263347" cy="263347"/>
          </a:xfrm>
          <a:prstGeom prst="rect">
            <a:avLst/>
          </a:prstGeom>
        </p:spPr>
      </p:pic>
      <p:sp>
        <p:nvSpPr>
          <p:cNvPr id="18" name="Text 11"/>
          <p:cNvSpPr txBox="1"/>
          <p:nvPr/>
        </p:nvSpPr>
        <p:spPr>
          <a:xfrm>
            <a:off x="8778240" y="5303520"/>
            <a:ext cx="2926080" cy="292608"/>
          </a:xfrm>
          <a:prstGeom prst="rect">
            <a:avLst/>
          </a:prstGeom>
          <a:noFill/>
          <a:ln/>
        </p:spPr>
        <p:txBody>
          <a:bodyPr wrap="square" lIns="0" tIns="0" rIns="0" bIns="0" rtlCol="0" anchor="t"/>
          <a:lstStyle/>
          <a:p>
            <a:pPr indent="0" marL="0">
              <a:buNone/>
            </a:pPr>
            <a:r>
              <a:rPr lang="en-US" sz="1500" b="1" dirty="0">
                <a:solidFill>
                  <a:schemeClr val="tx1"/>
                </a:solidFill>
              </a:rPr>
              <a:t>Ready to act on</a:t>
            </a:r>
            <a:endParaRPr lang="en-US" sz="1500" dirty="0"/>
          </a:p>
        </p:txBody>
      </p:sp>
      <p:sp>
        <p:nvSpPr>
          <p:cNvPr id="19" name="Text 12"/>
          <p:cNvSpPr txBox="1"/>
          <p:nvPr/>
        </p:nvSpPr>
        <p:spPr>
          <a:xfrm>
            <a:off x="8778240" y="5596128"/>
            <a:ext cx="2926080" cy="548640"/>
          </a:xfrm>
          <a:prstGeom prst="rect">
            <a:avLst/>
          </a:prstGeom>
          <a:noFill/>
          <a:ln/>
        </p:spPr>
        <p:txBody>
          <a:bodyPr wrap="square" lIns="0" tIns="0" rIns="0" bIns="0" rtlCol="0" anchor="t"/>
          <a:lstStyle/>
          <a:p>
            <a:pPr indent="0" marL="0">
              <a:buNone/>
            </a:pPr>
            <a:r>
              <a:rPr lang="en-US" sz="1300" dirty="0">
                <a:solidFill>
                  <a:schemeClr val="accent6"/>
                </a:solidFill>
              </a:rPr>
              <a:t>Findings map to Indian law and become an NCH complaint.</a:t>
            </a:r>
            <a:endParaRPr lang="en-US" sz="1300" dirty="0"/>
          </a:p>
        </p:txBody>
      </p:sp>
      <p:sp>
        <p:nvSpPr>
          <p:cNvPr id="25" name="Slide Number Placeholder 0"/>
          <p:cNvSpPr>
            <a:spLocks noGrp="1"/>
          </p:cNvSpPr>
          <p:nvPr>
            <p:ph type="sldNum" sz="quarter" idx="4294967295"/>
          </p:nvPr>
        </p:nvSpPr>
        <p:spPr>
          <a:xfrm>
            <a:off x="10424160" y="274320"/>
            <a:ext cx="594360" cy="365760"/>
          </a:xfrm>
          <a:prstGeom prst="rect">
            <a:avLst/>
          </a:prstGeom>
          <a:extLst>
            <a:ext uri="{C572A759-6A51-4108-AA02-DFA0A04FC94B}">
              <ma14:wrappingTextBoxFlag xmlns:ma14="http://schemas.microsoft.com/office/mac/drawingml/2011/main" val="0"/>
            </a:ext>
          </a:extLst>
        </p:spPr>
        <p:txBody>
          <a:bodyPr/>
          <a:lstStyle>
            <a:lvl1pPr>
              <a:defRPr sz="2000">
                <a:solidFill>
                  <a:schemeClr val="tx2"/>
                </a:solidFill>
                <a:latin typeface="Impact"/>
                <a:ea typeface="Impact"/>
                <a:cs typeface="Impact"/>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2"/>
          <p:cNvSpPr/>
          <p:nvPr>
            <p:ph idx="104" type="title" hasCustomPrompt="1"/>
          </p:nvPr>
        </p:nvSpPr>
        <p:spPr>
          <a:xfrm>
            <a:off x="548640" y="603504"/>
            <a:ext cx="10332720" cy="603504"/>
          </a:xfrm>
          <a:prstGeom prst="rect">
            <a:avLst/>
          </a:prstGeom>
          <a:noFill/>
          <a:ln/>
        </p:spPr>
        <p:txBody>
          <a:bodyPr wrap="square" lIns="0" tIns="0" rIns="0" bIns="0" rtlCol="0" anchor="t"/>
          <a:lstStyle/>
          <a:p>
            <a:pPr algn="l" indent="0" marL="0">
              <a:buNone/>
            </a:pPr>
            <a:r>
              <a:rPr lang="en-US" sz="3200" spc="100" kern="0" dirty="0">
                <a:solidFill>
                  <a:schemeClr val="tx2"/>
                </a:solidFill>
                <a:latin typeface="Impact" pitchFamily="34" charset="0"/>
                <a:ea typeface="Impact" pitchFamily="34" charset="-122"/>
                <a:cs typeface="Impact" pitchFamily="34" charset="-120"/>
              </a:rPr>
              <a:t>TARGET USERS AND USE CASE</a:t>
            </a:r>
            <a:endParaRPr lang="en-US" sz="3200" dirty="0"/>
          </a:p>
        </p:txBody>
      </p:sp>
      <p:sp>
        <p:nvSpPr>
          <p:cNvPr id="4" name="section label"/>
          <p:cNvSpPr txBox="1"/>
          <p:nvPr/>
        </p:nvSpPr>
        <p:spPr>
          <a:xfrm>
            <a:off x="548640" y="274320"/>
            <a:ext cx="6035040" cy="274320"/>
          </a:xfrm>
          <a:prstGeom prst="rect">
            <a:avLst/>
          </a:prstGeom>
          <a:noFill/>
          <a:ln/>
        </p:spPr>
        <p:txBody>
          <a:bodyPr wrap="square" lIns="0" tIns="0" rIns="0" bIns="0" rtlCol="0" anchor="t"/>
          <a:lstStyle/>
          <a:p>
            <a:pPr indent="0" marL="0">
              <a:buNone/>
            </a:pPr>
            <a:r>
              <a:rPr lang="en-US" sz="1500" spc="100" kern="0" dirty="0">
                <a:solidFill>
                  <a:schemeClr val="tx2"/>
                </a:solidFill>
                <a:latin typeface="Impact" pitchFamily="34" charset="0"/>
                <a:ea typeface="Impact" pitchFamily="34" charset="-122"/>
                <a:cs typeface="Impact" pitchFamily="34" charset="-120"/>
              </a:rPr>
              <a:t>03  ·  TARGET USERS AND USE CASE</a:t>
            </a:r>
            <a:endParaRPr lang="en-US" sz="1500" dirty="0"/>
          </a:p>
        </p:txBody>
      </p:sp>
      <p:sp>
        <p:nvSpPr>
          <p:cNvPr id="5" name="subtitle"/>
          <p:cNvSpPr txBox="1"/>
          <p:nvPr/>
        </p:nvSpPr>
        <p:spPr>
          <a:xfrm>
            <a:off x="548640" y="1188720"/>
            <a:ext cx="10424160" cy="384048"/>
          </a:xfrm>
          <a:prstGeom prst="rect">
            <a:avLst/>
          </a:prstGeom>
          <a:noFill/>
          <a:ln/>
        </p:spPr>
        <p:txBody>
          <a:bodyPr wrap="square" lIns="0" tIns="0" rIns="0" bIns="0" rtlCol="0" anchor="t"/>
          <a:lstStyle/>
          <a:p>
            <a:pPr indent="0" marL="0">
              <a:buNone/>
            </a:pPr>
            <a:r>
              <a:rPr lang="en-US" sz="1700" dirty="0">
                <a:solidFill>
                  <a:schemeClr val="accent6"/>
                </a:solidFill>
                <a:latin typeface="Calibri" pitchFamily="34" charset="0"/>
                <a:ea typeface="Calibri" pitchFamily="34" charset="-122"/>
                <a:cs typeface="Calibri" pitchFamily="34" charset="-120"/>
              </a:rPr>
              <a:t>Built for people who need proof, not opinions</a:t>
            </a:r>
            <a:endParaRPr lang="en-US" sz="1700" dirty="0"/>
          </a:p>
        </p:txBody>
      </p:sp>
      <p:sp>
        <p:nvSpPr>
          <p:cNvPr id="6" name="card"/>
          <p:cNvSpPr/>
          <p:nvPr/>
        </p:nvSpPr>
        <p:spPr>
          <a:xfrm>
            <a:off x="548640" y="1783080"/>
            <a:ext cx="3575304" cy="3200400"/>
          </a:xfrm>
          <a:prstGeom prst="roundRect">
            <a:avLst>
              <a:gd name="adj" fmla="val 1429"/>
            </a:avLst>
          </a:prstGeom>
          <a:solidFill>
            <a:schemeClr val="bg2"/>
          </a:solidFill>
          <a:ln w="12700">
            <a:solidFill>
              <a:srgbClr val="36226B"/>
            </a:solidFill>
            <a:prstDash val="solid"/>
          </a:ln>
        </p:spPr>
      </p:sp>
      <p:sp>
        <p:nvSpPr>
          <p:cNvPr id="7" name="icon lens"/>
          <p:cNvSpPr/>
          <p:nvPr/>
        </p:nvSpPr>
        <p:spPr>
          <a:xfrm>
            <a:off x="777240" y="2011680"/>
            <a:ext cx="603504" cy="603504"/>
          </a:xfrm>
          <a:prstGeom prst="roundRect">
            <a:avLst>
              <a:gd name="adj" fmla="val 10606"/>
            </a:avLst>
          </a:prstGeom>
          <a:solidFill>
            <a:schemeClr val="tx2"/>
          </a:solidFill>
          <a:ln w="19050">
            <a:solidFill>
              <a:schemeClr val="tx2"/>
            </a:solidFill>
            <a:prstDash val="solid"/>
          </a:ln>
        </p:spPr>
      </p:sp>
      <p:pic>
        <p:nvPicPr>
          <p:cNvPr id="8" name="icon" descr="MagnifyingGlass">    </p:cNvPr>
          <p:cNvPicPr>
            <a:picLocks noChangeAspect="1"/>
          </p:cNvPicPr>
          <p:nvPr/>
        </p:nvPicPr>
        <p:blipFill>
          <a:blip r:embed="rId1"/>
          <a:stretch>
            <a:fillRect/>
          </a:stretch>
        </p:blipFill>
        <p:spPr>
          <a:xfrm>
            <a:off x="934151" y="2168591"/>
            <a:ext cx="289682" cy="289682"/>
          </a:xfrm>
          <a:prstGeom prst="rect">
            <a:avLst/>
          </a:prstGeom>
        </p:spPr>
      </p:pic>
      <p:sp>
        <p:nvSpPr>
          <p:cNvPr id="9" name="Text 5"/>
          <p:cNvSpPr txBox="1"/>
          <p:nvPr/>
        </p:nvSpPr>
        <p:spPr>
          <a:xfrm>
            <a:off x="1536192" y="2194560"/>
            <a:ext cx="2377440" cy="256032"/>
          </a:xfrm>
          <a:prstGeom prst="rect">
            <a:avLst/>
          </a:prstGeom>
          <a:noFill/>
          <a:ln/>
        </p:spPr>
        <p:txBody>
          <a:bodyPr wrap="square" lIns="0" tIns="0" rIns="0" bIns="0" rtlCol="0" anchor="t"/>
          <a:lstStyle/>
          <a:p>
            <a:pPr indent="0" marL="0">
              <a:buNone/>
            </a:pPr>
            <a:r>
              <a:rPr lang="en-US" sz="1100" b="1" spc="300" kern="0" dirty="0">
                <a:solidFill>
                  <a:schemeClr val="accent1"/>
                </a:solidFill>
              </a:rPr>
              <a:t>PRIMARY</a:t>
            </a:r>
            <a:endParaRPr lang="en-US" sz="1100" dirty="0"/>
          </a:p>
        </p:txBody>
      </p:sp>
      <p:sp>
        <p:nvSpPr>
          <p:cNvPr id="10" name="Text 6"/>
          <p:cNvSpPr txBox="1"/>
          <p:nvPr/>
        </p:nvSpPr>
        <p:spPr>
          <a:xfrm>
            <a:off x="777240" y="2770632"/>
            <a:ext cx="3118104" cy="658368"/>
          </a:xfrm>
          <a:prstGeom prst="rect">
            <a:avLst/>
          </a:prstGeom>
          <a:noFill/>
          <a:ln/>
        </p:spPr>
        <p:txBody>
          <a:bodyPr wrap="square" lIns="0" tIns="0" rIns="0" bIns="0" rtlCol="0" anchor="t"/>
          <a:lstStyle/>
          <a:p>
            <a:pPr indent="0" marL="0">
              <a:buNone/>
            </a:pPr>
            <a:r>
              <a:rPr lang="en-US" sz="1800" dirty="0">
                <a:solidFill>
                  <a:schemeClr val="tx1"/>
                </a:solidFill>
                <a:latin typeface="Impact" pitchFamily="34" charset="0"/>
                <a:ea typeface="Impact" pitchFamily="34" charset="-122"/>
                <a:cs typeface="Impact" pitchFamily="34" charset="-120"/>
              </a:rPr>
              <a:t>Consumer-rights investigators and journalists</a:t>
            </a:r>
            <a:endParaRPr lang="en-US" sz="1800" dirty="0"/>
          </a:p>
        </p:txBody>
      </p:sp>
      <p:sp>
        <p:nvSpPr>
          <p:cNvPr id="11" name="Text 7"/>
          <p:cNvSpPr txBox="1"/>
          <p:nvPr/>
        </p:nvSpPr>
        <p:spPr>
          <a:xfrm>
            <a:off x="777240" y="3474720"/>
            <a:ext cx="3118104" cy="658368"/>
          </a:xfrm>
          <a:prstGeom prst="rect">
            <a:avLst/>
          </a:prstGeom>
          <a:noFill/>
          <a:ln/>
        </p:spPr>
        <p:txBody>
          <a:bodyPr wrap="square" lIns="0" tIns="0" rIns="0" bIns="0" rtlCol="0" anchor="t"/>
          <a:lstStyle/>
          <a:p>
            <a:pPr indent="0" marL="0">
              <a:buNone/>
            </a:pPr>
            <a:r>
              <a:rPr lang="en-US" sz="1400" dirty="0">
                <a:solidFill>
                  <a:schemeClr val="accent6"/>
                </a:solidFill>
              </a:rPr>
              <a:t>Today: burner accounts, manual screenshots, a single shopper's view.</a:t>
            </a:r>
            <a:endParaRPr lang="en-US" sz="1400" dirty="0"/>
          </a:p>
        </p:txBody>
      </p:sp>
      <p:sp>
        <p:nvSpPr>
          <p:cNvPr id="12" name="Text 8"/>
          <p:cNvSpPr txBox="1"/>
          <p:nvPr/>
        </p:nvSpPr>
        <p:spPr>
          <a:xfrm>
            <a:off x="777240" y="4178808"/>
            <a:ext cx="3118104" cy="685800"/>
          </a:xfrm>
          <a:prstGeom prst="rect">
            <a:avLst/>
          </a:prstGeom>
          <a:noFill/>
          <a:ln/>
        </p:spPr>
        <p:txBody>
          <a:bodyPr wrap="square" lIns="0" tIns="0" rIns="0" bIns="0" rtlCol="0" anchor="t"/>
          <a:lstStyle/>
          <a:p>
            <a:pPr indent="0" marL="0">
              <a:buNone/>
            </a:pPr>
            <a:r>
              <a:rPr lang="en-US" sz="1400" b="1" dirty="0">
                <a:solidFill>
                  <a:schemeClr val="tx1"/>
                </a:solidFill>
              </a:rPr>
              <a:t>With Pardarshi: many shopper runs, statistics and a ready case file.</a:t>
            </a:r>
            <a:endParaRPr lang="en-US" sz="1400" dirty="0"/>
          </a:p>
        </p:txBody>
      </p:sp>
      <p:sp>
        <p:nvSpPr>
          <p:cNvPr id="13" name="card"/>
          <p:cNvSpPr/>
          <p:nvPr/>
        </p:nvSpPr>
        <p:spPr>
          <a:xfrm>
            <a:off x="4306824" y="1783080"/>
            <a:ext cx="3575304" cy="3200400"/>
          </a:xfrm>
          <a:prstGeom prst="roundRect">
            <a:avLst>
              <a:gd name="adj" fmla="val 1429"/>
            </a:avLst>
          </a:prstGeom>
          <a:solidFill>
            <a:schemeClr val="bg2"/>
          </a:solidFill>
          <a:ln w="12700">
            <a:solidFill>
              <a:srgbClr val="36226B"/>
            </a:solidFill>
            <a:prstDash val="solid"/>
          </a:ln>
        </p:spPr>
      </p:sp>
      <p:sp>
        <p:nvSpPr>
          <p:cNvPr id="14" name="icon lens"/>
          <p:cNvSpPr/>
          <p:nvPr/>
        </p:nvSpPr>
        <p:spPr>
          <a:xfrm>
            <a:off x="4535424" y="2011680"/>
            <a:ext cx="603504" cy="603504"/>
          </a:xfrm>
          <a:prstGeom prst="roundRect">
            <a:avLst>
              <a:gd name="adj" fmla="val 10606"/>
            </a:avLst>
          </a:prstGeom>
          <a:solidFill>
            <a:schemeClr val="tx2"/>
          </a:solidFill>
          <a:ln w="19050">
            <a:solidFill>
              <a:schemeClr val="tx2"/>
            </a:solidFill>
            <a:prstDash val="solid"/>
          </a:ln>
        </p:spPr>
      </p:sp>
      <p:pic>
        <p:nvPicPr>
          <p:cNvPr id="15" name="icon" descr="BuildingShield">    </p:cNvPr>
          <p:cNvPicPr>
            <a:picLocks noChangeAspect="1"/>
          </p:cNvPicPr>
          <p:nvPr/>
        </p:nvPicPr>
        <p:blipFill>
          <a:blip r:embed="rId2"/>
          <a:stretch>
            <a:fillRect/>
          </a:stretch>
        </p:blipFill>
        <p:spPr>
          <a:xfrm>
            <a:off x="4692335" y="2168591"/>
            <a:ext cx="289682" cy="289682"/>
          </a:xfrm>
          <a:prstGeom prst="rect">
            <a:avLst/>
          </a:prstGeom>
        </p:spPr>
      </p:pic>
      <p:sp>
        <p:nvSpPr>
          <p:cNvPr id="16" name="Text 11"/>
          <p:cNvSpPr txBox="1"/>
          <p:nvPr/>
        </p:nvSpPr>
        <p:spPr>
          <a:xfrm>
            <a:off x="5294376" y="2194560"/>
            <a:ext cx="2377440" cy="256032"/>
          </a:xfrm>
          <a:prstGeom prst="rect">
            <a:avLst/>
          </a:prstGeom>
          <a:noFill/>
          <a:ln/>
        </p:spPr>
        <p:txBody>
          <a:bodyPr wrap="square" lIns="0" tIns="0" rIns="0" bIns="0" rtlCol="0" anchor="t"/>
          <a:lstStyle/>
          <a:p>
            <a:pPr indent="0" marL="0">
              <a:buNone/>
            </a:pPr>
            <a:r>
              <a:rPr lang="en-US" sz="1100" b="1" spc="300" kern="0" dirty="0">
                <a:solidFill>
                  <a:schemeClr val="accent1"/>
                </a:solidFill>
              </a:rPr>
              <a:t>SECONDARY</a:t>
            </a:r>
            <a:endParaRPr lang="en-US" sz="1100" dirty="0"/>
          </a:p>
        </p:txBody>
      </p:sp>
      <p:sp>
        <p:nvSpPr>
          <p:cNvPr id="17" name="Text 12"/>
          <p:cNvSpPr txBox="1"/>
          <p:nvPr/>
        </p:nvSpPr>
        <p:spPr>
          <a:xfrm>
            <a:off x="4535424" y="2770632"/>
            <a:ext cx="3118104" cy="658368"/>
          </a:xfrm>
          <a:prstGeom prst="rect">
            <a:avLst/>
          </a:prstGeom>
          <a:noFill/>
          <a:ln/>
        </p:spPr>
        <p:txBody>
          <a:bodyPr wrap="square" lIns="0" tIns="0" rIns="0" bIns="0" rtlCol="0" anchor="t"/>
          <a:lstStyle/>
          <a:p>
            <a:pPr indent="0" marL="0">
              <a:buNone/>
            </a:pPr>
            <a:r>
              <a:rPr lang="en-US" sz="1800" dirty="0">
                <a:solidFill>
                  <a:schemeClr val="tx1"/>
                </a:solidFill>
                <a:latin typeface="Impact" pitchFamily="34" charset="0"/>
                <a:ea typeface="Impact" pitchFamily="34" charset="-122"/>
                <a:cs typeface="Impact" pitchFamily="34" charset="-120"/>
              </a:rPr>
              <a:t>Platform compliance teams</a:t>
            </a:r>
            <a:endParaRPr lang="en-US" sz="1800" dirty="0"/>
          </a:p>
        </p:txBody>
      </p:sp>
      <p:sp>
        <p:nvSpPr>
          <p:cNvPr id="18" name="Text 13"/>
          <p:cNvSpPr txBox="1"/>
          <p:nvPr/>
        </p:nvSpPr>
        <p:spPr>
          <a:xfrm>
            <a:off x="4535424" y="3474720"/>
            <a:ext cx="3118104" cy="658368"/>
          </a:xfrm>
          <a:prstGeom prst="rect">
            <a:avLst/>
          </a:prstGeom>
          <a:noFill/>
          <a:ln/>
        </p:spPr>
        <p:txBody>
          <a:bodyPr wrap="square" lIns="0" tIns="0" rIns="0" bIns="0" rtlCol="0" anchor="t"/>
          <a:lstStyle/>
          <a:p>
            <a:pPr indent="0" marL="0">
              <a:buNone/>
            </a:pPr>
            <a:r>
              <a:rPr lang="en-US" sz="1400" dirty="0">
                <a:solidFill>
                  <a:schemeClr val="accent6"/>
                </a:solidFill>
              </a:rPr>
              <a:t>Today: the CCPA's 2025 advisory asks for a self-audit and a self-declaration.</a:t>
            </a:r>
            <a:endParaRPr lang="en-US" sz="1400" dirty="0"/>
          </a:p>
        </p:txBody>
      </p:sp>
      <p:sp>
        <p:nvSpPr>
          <p:cNvPr id="19" name="Text 14"/>
          <p:cNvSpPr txBox="1"/>
          <p:nvPr/>
        </p:nvSpPr>
        <p:spPr>
          <a:xfrm>
            <a:off x="4535424" y="4178808"/>
            <a:ext cx="3118104" cy="685800"/>
          </a:xfrm>
          <a:prstGeom prst="rect">
            <a:avLst/>
          </a:prstGeom>
          <a:noFill/>
          <a:ln/>
        </p:spPr>
        <p:txBody>
          <a:bodyPr wrap="square" lIns="0" tIns="0" rIns="0" bIns="0" rtlCol="0" anchor="t"/>
          <a:lstStyle/>
          <a:p>
            <a:pPr indent="0" marL="0">
              <a:buNone/>
            </a:pPr>
            <a:r>
              <a:rPr lang="en-US" sz="1400" b="1" dirty="0">
                <a:solidFill>
                  <a:schemeClr val="tx1"/>
                </a:solidFill>
              </a:rPr>
              <a:t>With Pardarshi: an independent, repeatable check of their own site, with consent.</a:t>
            </a:r>
            <a:endParaRPr lang="en-US" sz="1400" dirty="0"/>
          </a:p>
        </p:txBody>
      </p:sp>
      <p:sp>
        <p:nvSpPr>
          <p:cNvPr id="20" name="card"/>
          <p:cNvSpPr/>
          <p:nvPr/>
        </p:nvSpPr>
        <p:spPr>
          <a:xfrm>
            <a:off x="8065008" y="1783080"/>
            <a:ext cx="3575304" cy="3200400"/>
          </a:xfrm>
          <a:prstGeom prst="roundRect">
            <a:avLst>
              <a:gd name="adj" fmla="val 1429"/>
            </a:avLst>
          </a:prstGeom>
          <a:solidFill>
            <a:schemeClr val="bg2"/>
          </a:solidFill>
          <a:ln w="12700">
            <a:solidFill>
              <a:srgbClr val="36226B"/>
            </a:solidFill>
            <a:prstDash val="solid"/>
          </a:ln>
        </p:spPr>
      </p:sp>
      <p:sp>
        <p:nvSpPr>
          <p:cNvPr id="21" name="icon lens"/>
          <p:cNvSpPr/>
          <p:nvPr/>
        </p:nvSpPr>
        <p:spPr>
          <a:xfrm>
            <a:off x="8293608" y="2011680"/>
            <a:ext cx="603504" cy="603504"/>
          </a:xfrm>
          <a:prstGeom prst="roundRect">
            <a:avLst>
              <a:gd name="adj" fmla="val 10606"/>
            </a:avLst>
          </a:prstGeom>
          <a:solidFill>
            <a:schemeClr val="tx2"/>
          </a:solidFill>
          <a:ln w="19050">
            <a:solidFill>
              <a:schemeClr val="tx2"/>
            </a:solidFill>
            <a:prstDash val="solid"/>
          </a:ln>
        </p:spPr>
      </p:sp>
      <p:pic>
        <p:nvPicPr>
          <p:cNvPr id="22" name="icon" descr="PeopleGroup">    </p:cNvPr>
          <p:cNvPicPr>
            <a:picLocks noChangeAspect="1"/>
          </p:cNvPicPr>
          <p:nvPr/>
        </p:nvPicPr>
        <p:blipFill>
          <a:blip r:embed="rId3"/>
          <a:stretch>
            <a:fillRect/>
          </a:stretch>
        </p:blipFill>
        <p:spPr>
          <a:xfrm>
            <a:off x="8450519" y="2168591"/>
            <a:ext cx="289682" cy="289682"/>
          </a:xfrm>
          <a:prstGeom prst="rect">
            <a:avLst/>
          </a:prstGeom>
        </p:spPr>
      </p:pic>
      <p:sp>
        <p:nvSpPr>
          <p:cNvPr id="23" name="Text 17"/>
          <p:cNvSpPr txBox="1"/>
          <p:nvPr/>
        </p:nvSpPr>
        <p:spPr>
          <a:xfrm>
            <a:off x="9052560" y="2194560"/>
            <a:ext cx="2377440" cy="256032"/>
          </a:xfrm>
          <a:prstGeom prst="rect">
            <a:avLst/>
          </a:prstGeom>
          <a:noFill/>
          <a:ln/>
        </p:spPr>
        <p:txBody>
          <a:bodyPr wrap="square" lIns="0" tIns="0" rIns="0" bIns="0" rtlCol="0" anchor="t"/>
          <a:lstStyle/>
          <a:p>
            <a:pPr indent="0" marL="0">
              <a:buNone/>
            </a:pPr>
            <a:r>
              <a:rPr lang="en-US" sz="1100" b="1" spc="300" kern="0" dirty="0">
                <a:solidFill>
                  <a:schemeClr val="accent1"/>
                </a:solidFill>
              </a:rPr>
              <a:t>BENEFICIARY</a:t>
            </a:r>
            <a:endParaRPr lang="en-US" sz="1100" dirty="0"/>
          </a:p>
        </p:txBody>
      </p:sp>
      <p:sp>
        <p:nvSpPr>
          <p:cNvPr id="24" name="Text 18"/>
          <p:cNvSpPr txBox="1"/>
          <p:nvPr/>
        </p:nvSpPr>
        <p:spPr>
          <a:xfrm>
            <a:off x="8293608" y="2770632"/>
            <a:ext cx="3118104" cy="658368"/>
          </a:xfrm>
          <a:prstGeom prst="rect">
            <a:avLst/>
          </a:prstGeom>
          <a:noFill/>
          <a:ln/>
        </p:spPr>
        <p:txBody>
          <a:bodyPr wrap="square" lIns="0" tIns="0" rIns="0" bIns="0" rtlCol="0" anchor="t"/>
          <a:lstStyle/>
          <a:p>
            <a:pPr indent="0" marL="0">
              <a:buNone/>
            </a:pPr>
            <a:r>
              <a:rPr lang="en-US" sz="1800" dirty="0">
                <a:solidFill>
                  <a:schemeClr val="tx1"/>
                </a:solidFill>
                <a:latin typeface="Impact" pitchFamily="34" charset="0"/>
                <a:ea typeface="Impact" pitchFamily="34" charset="-122"/>
                <a:cs typeface="Impact" pitchFamily="34" charset="-120"/>
              </a:rPr>
              <a:t>Shoppers and regulators</a:t>
            </a:r>
            <a:endParaRPr lang="en-US" sz="1800" dirty="0"/>
          </a:p>
        </p:txBody>
      </p:sp>
      <p:sp>
        <p:nvSpPr>
          <p:cNvPr id="25" name="Text 19"/>
          <p:cNvSpPr txBox="1"/>
          <p:nvPr/>
        </p:nvSpPr>
        <p:spPr>
          <a:xfrm>
            <a:off x="8293608" y="3474720"/>
            <a:ext cx="3118104" cy="658368"/>
          </a:xfrm>
          <a:prstGeom prst="rect">
            <a:avLst/>
          </a:prstGeom>
          <a:noFill/>
          <a:ln/>
        </p:spPr>
        <p:txBody>
          <a:bodyPr wrap="square" lIns="0" tIns="0" rIns="0" bIns="0" rtlCol="0" anchor="t"/>
          <a:lstStyle/>
          <a:p>
            <a:pPr indent="0" marL="0">
              <a:buNone/>
            </a:pPr>
            <a:r>
              <a:rPr lang="en-US" sz="1400" dirty="0">
                <a:solidFill>
                  <a:schemeClr val="accent6"/>
                </a:solidFill>
              </a:rPr>
              <a:t>Today: vague complaints (“they overcharged me”) that are hard to act on.</a:t>
            </a:r>
            <a:endParaRPr lang="en-US" sz="1400" dirty="0"/>
          </a:p>
        </p:txBody>
      </p:sp>
      <p:sp>
        <p:nvSpPr>
          <p:cNvPr id="26" name="Text 20"/>
          <p:cNvSpPr txBox="1"/>
          <p:nvPr/>
        </p:nvSpPr>
        <p:spPr>
          <a:xfrm>
            <a:off x="8293608" y="4178808"/>
            <a:ext cx="3118104" cy="685800"/>
          </a:xfrm>
          <a:prstGeom prst="rect">
            <a:avLst/>
          </a:prstGeom>
          <a:noFill/>
          <a:ln/>
        </p:spPr>
        <p:txBody>
          <a:bodyPr wrap="square" lIns="0" tIns="0" rIns="0" bIns="0" rtlCol="0" anchor="t"/>
          <a:lstStyle/>
          <a:p>
            <a:pPr indent="0" marL="0">
              <a:buNone/>
            </a:pPr>
            <a:r>
              <a:rPr lang="en-US" sz="1400" b="1" dirty="0">
                <a:solidFill>
                  <a:schemeClr val="tx1"/>
                </a:solidFill>
              </a:rPr>
              <a:t>With Pardarshi: complaints that name the category, the figures and the exhibits.</a:t>
            </a:r>
            <a:endParaRPr lang="en-US" sz="1400" dirty="0"/>
          </a:p>
        </p:txBody>
      </p:sp>
      <p:sp>
        <p:nvSpPr>
          <p:cNvPr id="27" name="use case"/>
          <p:cNvSpPr/>
          <p:nvPr/>
        </p:nvSpPr>
        <p:spPr>
          <a:xfrm>
            <a:off x="548640" y="5193792"/>
            <a:ext cx="11091672" cy="1024128"/>
          </a:xfrm>
          <a:prstGeom prst="roundRect">
            <a:avLst>
              <a:gd name="adj" fmla="val 4464"/>
            </a:avLst>
          </a:prstGeom>
          <a:solidFill>
            <a:schemeClr val="tx2"/>
          </a:solidFill>
          <a:ln w="12700">
            <a:solidFill>
              <a:schemeClr val="tx2"/>
            </a:solidFill>
            <a:prstDash val="solid"/>
          </a:ln>
        </p:spPr>
      </p:sp>
      <p:sp>
        <p:nvSpPr>
          <p:cNvPr id="28" name="Text 22"/>
          <p:cNvSpPr txBox="1"/>
          <p:nvPr/>
        </p:nvSpPr>
        <p:spPr>
          <a:xfrm>
            <a:off x="822960" y="5193792"/>
            <a:ext cx="10561320" cy="1024128"/>
          </a:xfrm>
          <a:prstGeom prst="rect">
            <a:avLst/>
          </a:prstGeom>
          <a:noFill/>
          <a:ln/>
        </p:spPr>
        <p:txBody>
          <a:bodyPr wrap="square" lIns="0" tIns="0" rIns="0" bIns="0" rtlCol="0" anchor="ctr"/>
          <a:lstStyle/>
          <a:p>
            <a:pPr indent="0" marL="0">
              <a:buNone/>
            </a:pPr>
            <a:r>
              <a:rPr lang="en-US" sz="1500" b="1" dirty="0">
                <a:solidFill>
                  <a:schemeClr val="accent2"/>
                </a:solidFill>
              </a:rPr>
              <a:t>Use case, measured  </a:t>
            </a:r>
            <a:pPr indent="0" marL="0">
              <a:buNone/>
            </a:pPr>
            <a:r>
              <a:rPr lang="en-US" sz="1500" dirty="0">
                <a:solidFill>
                  <a:schemeClr val="bg1"/>
                </a:solidFill>
              </a:rPr>
              <a:t>Demo shop: ₹1,006 became ₹1,324 at payment (+32%), iPhone shoppers were quoted 9.6% more, cancelling took 8 clicks against 1. Live: an investigator reaches the payment page of an Indian shop in about 2 minutes.</a:t>
            </a:r>
            <a:endParaRPr lang="en-US" sz="1400" dirty="0"/>
          </a:p>
        </p:txBody>
      </p:sp>
      <p:sp>
        <p:nvSpPr>
          <p:cNvPr id="25" name="Slide Number Placeholder 0"/>
          <p:cNvSpPr>
            <a:spLocks noGrp="1"/>
          </p:cNvSpPr>
          <p:nvPr>
            <p:ph type="sldNum" sz="quarter" idx="4294967295"/>
          </p:nvPr>
        </p:nvSpPr>
        <p:spPr>
          <a:xfrm>
            <a:off x="10424160" y="274320"/>
            <a:ext cx="594360" cy="365760"/>
          </a:xfrm>
          <a:prstGeom prst="rect">
            <a:avLst/>
          </a:prstGeom>
          <a:extLst>
            <a:ext uri="{C572A759-6A51-4108-AA02-DFA0A04FC94B}">
              <ma14:wrappingTextBoxFlag xmlns:ma14="http://schemas.microsoft.com/office/mac/drawingml/2011/main" val="0"/>
            </a:ext>
          </a:extLst>
        </p:spPr>
        <p:txBody>
          <a:bodyPr/>
          <a:lstStyle>
            <a:lvl1pPr>
              <a:defRPr sz="2000">
                <a:solidFill>
                  <a:schemeClr val="tx2"/>
                </a:solidFill>
                <a:latin typeface="Impact"/>
                <a:ea typeface="Impact"/>
                <a:cs typeface="Impact"/>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2"/>
          <p:cNvSpPr/>
          <p:nvPr>
            <p:ph idx="104" type="title" hasCustomPrompt="1"/>
          </p:nvPr>
        </p:nvSpPr>
        <p:spPr>
          <a:xfrm>
            <a:off x="548640" y="603504"/>
            <a:ext cx="10332720" cy="603504"/>
          </a:xfrm>
          <a:prstGeom prst="rect">
            <a:avLst/>
          </a:prstGeom>
          <a:noFill/>
          <a:ln/>
        </p:spPr>
        <p:txBody>
          <a:bodyPr wrap="square" lIns="0" tIns="0" rIns="0" bIns="0" rtlCol="0" anchor="t"/>
          <a:lstStyle/>
          <a:p>
            <a:pPr algn="l" indent="0" marL="0">
              <a:buNone/>
            </a:pPr>
            <a:r>
              <a:rPr lang="en-US" sz="3200" spc="100" kern="0" dirty="0">
                <a:solidFill>
                  <a:schemeClr val="tx2"/>
                </a:solidFill>
                <a:latin typeface="Impact" pitchFamily="34" charset="0"/>
                <a:ea typeface="Impact" pitchFamily="34" charset="-122"/>
                <a:cs typeface="Impact" pitchFamily="34" charset="-120"/>
              </a:rPr>
              <a:t>ROLE OF MACHINE LEARNING</a:t>
            </a:r>
            <a:endParaRPr lang="en-US" sz="3200" dirty="0"/>
          </a:p>
        </p:txBody>
      </p:sp>
      <p:sp>
        <p:nvSpPr>
          <p:cNvPr id="4" name="section label"/>
          <p:cNvSpPr txBox="1"/>
          <p:nvPr/>
        </p:nvSpPr>
        <p:spPr>
          <a:xfrm>
            <a:off x="548640" y="274320"/>
            <a:ext cx="6035040" cy="274320"/>
          </a:xfrm>
          <a:prstGeom prst="rect">
            <a:avLst/>
          </a:prstGeom>
          <a:noFill/>
          <a:ln/>
        </p:spPr>
        <p:txBody>
          <a:bodyPr wrap="square" lIns="0" tIns="0" rIns="0" bIns="0" rtlCol="0" anchor="t"/>
          <a:lstStyle/>
          <a:p>
            <a:pPr indent="0" marL="0">
              <a:buNone/>
            </a:pPr>
            <a:r>
              <a:rPr lang="en-US" sz="1500" spc="100" kern="0" dirty="0">
                <a:solidFill>
                  <a:schemeClr val="tx2"/>
                </a:solidFill>
                <a:latin typeface="Impact" pitchFamily="34" charset="0"/>
                <a:ea typeface="Impact" pitchFamily="34" charset="-122"/>
                <a:cs typeface="Impact" pitchFamily="34" charset="-120"/>
              </a:rPr>
              <a:t>04  ·  ROLE OF MACHINE LEARNING AND AI</a:t>
            </a:r>
            <a:endParaRPr lang="en-US" sz="1500" dirty="0"/>
          </a:p>
        </p:txBody>
      </p:sp>
      <p:sp>
        <p:nvSpPr>
          <p:cNvPr id="5" name="subtitle"/>
          <p:cNvSpPr txBox="1"/>
          <p:nvPr/>
        </p:nvSpPr>
        <p:spPr>
          <a:xfrm>
            <a:off x="548640" y="1188720"/>
            <a:ext cx="10424160" cy="384048"/>
          </a:xfrm>
          <a:prstGeom prst="rect">
            <a:avLst/>
          </a:prstGeom>
          <a:noFill/>
          <a:ln/>
        </p:spPr>
        <p:txBody>
          <a:bodyPr wrap="square" lIns="0" tIns="0" rIns="0" bIns="0" rtlCol="0" anchor="t"/>
          <a:lstStyle/>
          <a:p>
            <a:pPr indent="0" marL="0">
              <a:buNone/>
            </a:pPr>
            <a:r>
              <a:rPr lang="en-US" sz="1700" dirty="0">
                <a:solidFill>
                  <a:schemeClr val="accent6"/>
                </a:solidFill>
                <a:latin typeface="Calibri" pitchFamily="34" charset="0"/>
                <a:ea typeface="Calibri" pitchFamily="34" charset="-122"/>
                <a:cs typeface="Calibri" pitchFamily="34" charset="-120"/>
              </a:rPr>
              <a:t>A trained classifier, statistics and rules turn captures into findings, measured on unseen data</a:t>
            </a:r>
            <a:endParaRPr lang="en-US" sz="1700" dirty="0"/>
          </a:p>
        </p:txBody>
      </p:sp>
      <p:sp>
        <p:nvSpPr>
          <p:cNvPr id="6" name="icon lens"/>
          <p:cNvSpPr/>
          <p:nvPr/>
        </p:nvSpPr>
        <p:spPr>
          <a:xfrm>
            <a:off x="548640" y="1783080"/>
            <a:ext cx="603504" cy="603504"/>
          </a:xfrm>
          <a:prstGeom prst="roundRect">
            <a:avLst>
              <a:gd name="adj" fmla="val 10606"/>
            </a:avLst>
          </a:prstGeom>
          <a:solidFill>
            <a:schemeClr val="tx2"/>
          </a:solidFill>
          <a:ln w="19050">
            <a:solidFill>
              <a:schemeClr val="tx2"/>
            </a:solidFill>
            <a:prstDash val="solid"/>
          </a:ln>
        </p:spPr>
      </p:sp>
      <p:pic>
        <p:nvPicPr>
          <p:cNvPr id="7" name="icon" descr="Font">    </p:cNvPr>
          <p:cNvPicPr>
            <a:picLocks noChangeAspect="1"/>
          </p:cNvPicPr>
          <p:nvPr/>
        </p:nvPicPr>
        <p:blipFill>
          <a:blip r:embed="rId1"/>
          <a:stretch>
            <a:fillRect/>
          </a:stretch>
        </p:blipFill>
        <p:spPr>
          <a:xfrm>
            <a:off x="705551" y="1939991"/>
            <a:ext cx="289682" cy="289682"/>
          </a:xfrm>
          <a:prstGeom prst="rect">
            <a:avLst/>
          </a:prstGeom>
        </p:spPr>
      </p:pic>
      <p:sp>
        <p:nvSpPr>
          <p:cNvPr id="8" name="Text 4"/>
          <p:cNvSpPr txBox="1"/>
          <p:nvPr/>
        </p:nvSpPr>
        <p:spPr>
          <a:xfrm>
            <a:off x="1371600" y="1764792"/>
            <a:ext cx="4846320" cy="329184"/>
          </a:xfrm>
          <a:prstGeom prst="rect">
            <a:avLst/>
          </a:prstGeom>
          <a:noFill/>
          <a:ln/>
        </p:spPr>
        <p:txBody>
          <a:bodyPr wrap="square" lIns="0" tIns="0" rIns="0" bIns="0" rtlCol="0" anchor="t"/>
          <a:lstStyle/>
          <a:p>
            <a:pPr indent="0" marL="0">
              <a:buNone/>
            </a:pPr>
            <a:r>
              <a:rPr lang="en-US" sz="1700" b="1" dirty="0">
                <a:solidFill>
                  <a:schemeClr val="tx1"/>
                </a:solidFill>
              </a:rPr>
              <a:t>Dark-pattern copy classifier (trained)</a:t>
            </a:r>
            <a:endParaRPr lang="en-US" sz="1700" dirty="0"/>
          </a:p>
        </p:txBody>
      </p:sp>
      <p:sp>
        <p:nvSpPr>
          <p:cNvPr id="9" name="Text 5"/>
          <p:cNvSpPr txBox="1"/>
          <p:nvPr/>
        </p:nvSpPr>
        <p:spPr>
          <a:xfrm>
            <a:off x="1371600" y="2130552"/>
            <a:ext cx="4800600" cy="960120"/>
          </a:xfrm>
          <a:prstGeom prst="rect">
            <a:avLst/>
          </a:prstGeom>
          <a:noFill/>
          <a:ln/>
        </p:spPr>
        <p:txBody>
          <a:bodyPr wrap="square" lIns="0" tIns="0" rIns="0" bIns="0" rtlCol="0" anchor="t"/>
          <a:lstStyle/>
          <a:p>
            <a:pPr indent="0" marL="0">
              <a:buNone/>
            </a:pPr>
            <a:r>
              <a:rPr lang="en-US" sz="1400" dirty="0">
                <a:solidFill>
                  <a:schemeClr val="accent6"/>
                </a:solidFill>
              </a:rPr>
              <a:t>TF‑IDF word and character n‑grams into logistic regression; 9 classes, 725 labelled UI strings. Tested on strings never seen in training.</a:t>
            </a:r>
            <a:endParaRPr lang="en-US" sz="1400" dirty="0"/>
          </a:p>
        </p:txBody>
      </p:sp>
      <p:sp>
        <p:nvSpPr>
          <p:cNvPr id="10" name="icon lens"/>
          <p:cNvSpPr/>
          <p:nvPr/>
        </p:nvSpPr>
        <p:spPr>
          <a:xfrm>
            <a:off x="548640" y="3200400"/>
            <a:ext cx="603504" cy="603504"/>
          </a:xfrm>
          <a:prstGeom prst="roundRect">
            <a:avLst>
              <a:gd name="adj" fmla="val 10606"/>
            </a:avLst>
          </a:prstGeom>
          <a:solidFill>
            <a:schemeClr val="tx2"/>
          </a:solidFill>
          <a:ln w="19050">
            <a:solidFill>
              <a:schemeClr val="tx2"/>
            </a:solidFill>
            <a:prstDash val="solid"/>
          </a:ln>
        </p:spPr>
      </p:sp>
      <p:pic>
        <p:nvPicPr>
          <p:cNvPr id="11" name="icon" descr="ChartColumn">    </p:cNvPr>
          <p:cNvPicPr>
            <a:picLocks noChangeAspect="1"/>
          </p:cNvPicPr>
          <p:nvPr/>
        </p:nvPicPr>
        <p:blipFill>
          <a:blip r:embed="rId2"/>
          <a:stretch>
            <a:fillRect/>
          </a:stretch>
        </p:blipFill>
        <p:spPr>
          <a:xfrm>
            <a:off x="705551" y="3357311"/>
            <a:ext cx="289682" cy="289682"/>
          </a:xfrm>
          <a:prstGeom prst="rect">
            <a:avLst/>
          </a:prstGeom>
        </p:spPr>
      </p:pic>
      <p:sp>
        <p:nvSpPr>
          <p:cNvPr id="12" name="Text 7"/>
          <p:cNvSpPr txBox="1"/>
          <p:nvPr/>
        </p:nvSpPr>
        <p:spPr>
          <a:xfrm>
            <a:off x="1371600" y="3182112"/>
            <a:ext cx="4846320" cy="329184"/>
          </a:xfrm>
          <a:prstGeom prst="rect">
            <a:avLst/>
          </a:prstGeom>
          <a:noFill/>
          <a:ln/>
        </p:spPr>
        <p:txBody>
          <a:bodyPr wrap="square" lIns="0" tIns="0" rIns="0" bIns="0" rtlCol="0" anchor="t"/>
          <a:lstStyle/>
          <a:p>
            <a:pPr indent="0" marL="0">
              <a:buNone/>
            </a:pPr>
            <a:r>
              <a:rPr lang="en-US" sz="1700" b="1" dirty="0">
                <a:solidFill>
                  <a:schemeClr val="tx1"/>
                </a:solidFill>
              </a:rPr>
              <a:t>Personalised-pricing statistics</a:t>
            </a:r>
            <a:endParaRPr lang="en-US" sz="1700" dirty="0"/>
          </a:p>
        </p:txBody>
      </p:sp>
      <p:sp>
        <p:nvSpPr>
          <p:cNvPr id="13" name="Text 8"/>
          <p:cNvSpPr txBox="1"/>
          <p:nvPr/>
        </p:nvSpPr>
        <p:spPr>
          <a:xfrm>
            <a:off x="1371600" y="3547872"/>
            <a:ext cx="4800600" cy="960120"/>
          </a:xfrm>
          <a:prstGeom prst="rect">
            <a:avLst/>
          </a:prstGeom>
          <a:noFill/>
          <a:ln/>
        </p:spPr>
        <p:txBody>
          <a:bodyPr wrap="square" lIns="0" tIns="0" rIns="0" bIns="0" rtlCol="0" anchor="t"/>
          <a:lstStyle/>
          <a:p>
            <a:pPr indent="0" marL="0">
              <a:buNone/>
            </a:pPr>
            <a:r>
              <a:rPr lang="en-US" sz="1400" dirty="0">
                <a:solidFill>
                  <a:schemeClr val="accent6"/>
                </a:solidFill>
              </a:rPr>
              <a:t>Regression on log price by device, country and visitor, 95% confidence intervals, Benjamini–Hochberg correction, 2% minimum gap.</a:t>
            </a:r>
            <a:endParaRPr lang="en-US" sz="1400" dirty="0"/>
          </a:p>
        </p:txBody>
      </p:sp>
      <p:sp>
        <p:nvSpPr>
          <p:cNvPr id="14" name="icon lens"/>
          <p:cNvSpPr/>
          <p:nvPr/>
        </p:nvSpPr>
        <p:spPr>
          <a:xfrm>
            <a:off x="548640" y="4617720"/>
            <a:ext cx="603504" cy="603504"/>
          </a:xfrm>
          <a:prstGeom prst="roundRect">
            <a:avLst>
              <a:gd name="adj" fmla="val 10606"/>
            </a:avLst>
          </a:prstGeom>
          <a:solidFill>
            <a:schemeClr val="tx2"/>
          </a:solidFill>
          <a:ln w="19050">
            <a:solidFill>
              <a:schemeClr val="tx2"/>
            </a:solidFill>
            <a:prstDash val="solid"/>
          </a:ln>
        </p:spPr>
      </p:sp>
      <p:pic>
        <p:nvPicPr>
          <p:cNvPr id="15" name="icon" descr="Calculator">    </p:cNvPr>
          <p:cNvPicPr>
            <a:picLocks noChangeAspect="1"/>
          </p:cNvPicPr>
          <p:nvPr/>
        </p:nvPicPr>
        <p:blipFill>
          <a:blip r:embed="rId3"/>
          <a:stretch>
            <a:fillRect/>
          </a:stretch>
        </p:blipFill>
        <p:spPr>
          <a:xfrm>
            <a:off x="705551" y="4774631"/>
            <a:ext cx="289682" cy="289682"/>
          </a:xfrm>
          <a:prstGeom prst="rect">
            <a:avLst/>
          </a:prstGeom>
        </p:spPr>
      </p:pic>
      <p:sp>
        <p:nvSpPr>
          <p:cNvPr id="16" name="Text 10"/>
          <p:cNvSpPr txBox="1"/>
          <p:nvPr/>
        </p:nvSpPr>
        <p:spPr>
          <a:xfrm>
            <a:off x="1371600" y="4599432"/>
            <a:ext cx="4846320" cy="329184"/>
          </a:xfrm>
          <a:prstGeom prst="rect">
            <a:avLst/>
          </a:prstGeom>
          <a:noFill/>
          <a:ln/>
        </p:spPr>
        <p:txBody>
          <a:bodyPr wrap="square" lIns="0" tIns="0" rIns="0" bIns="0" rtlCol="0" anchor="t"/>
          <a:lstStyle/>
          <a:p>
            <a:pPr indent="0" marL="0">
              <a:buNone/>
            </a:pPr>
            <a:r>
              <a:rPr lang="en-US" sz="1700" b="1" dirty="0">
                <a:solidFill>
                  <a:schemeClr val="tx1"/>
                </a:solidFill>
              </a:rPr>
              <a:t>Price extraction and trust score</a:t>
            </a:r>
            <a:endParaRPr lang="en-US" sz="1700" dirty="0"/>
          </a:p>
        </p:txBody>
      </p:sp>
      <p:sp>
        <p:nvSpPr>
          <p:cNvPr id="17" name="Text 11"/>
          <p:cNvSpPr txBox="1"/>
          <p:nvPr/>
        </p:nvSpPr>
        <p:spPr>
          <a:xfrm>
            <a:off x="1371600" y="4965192"/>
            <a:ext cx="4800600" cy="960120"/>
          </a:xfrm>
          <a:prstGeom prst="rect">
            <a:avLst/>
          </a:prstGeom>
          <a:noFill/>
          <a:ln/>
        </p:spPr>
        <p:txBody>
          <a:bodyPr wrap="square" lIns="0" tIns="0" rIns="0" bIns="0" rtlCol="0" anchor="t"/>
          <a:lstStyle/>
          <a:p>
            <a:pPr indent="0" marL="0">
              <a:buNone/>
            </a:pPr>
            <a:r>
              <a:rPr lang="en-US" sz="1400" dirty="0">
                <a:solidFill>
                  <a:schemeClr val="accent6"/>
                </a:solidFill>
              </a:rPr>
              <a:t>Page text into labelled lines: item, fee, tax, add-on, discount, total. Score = 100 × e^(−points / 70), each point traced to a finding.</a:t>
            </a:r>
            <a:endParaRPr lang="en-US" sz="1400" dirty="0"/>
          </a:p>
        </p:txBody>
      </p:sp>
      <p:sp>
        <p:nvSpPr>
          <p:cNvPr id="18" name="chart card"/>
          <p:cNvSpPr/>
          <p:nvPr/>
        </p:nvSpPr>
        <p:spPr>
          <a:xfrm>
            <a:off x="6492240" y="1755648"/>
            <a:ext cx="5148072" cy="3246120"/>
          </a:xfrm>
          <a:prstGeom prst="roundRect">
            <a:avLst>
              <a:gd name="adj" fmla="val 1408"/>
            </a:avLst>
          </a:prstGeom>
          <a:solidFill>
            <a:schemeClr val="bg1"/>
          </a:solidFill>
          <a:ln w="12700">
            <a:solidFill>
              <a:srgbClr val="36226B"/>
            </a:solidFill>
            <a:prstDash val="solid"/>
          </a:ln>
        </p:spPr>
      </p:sp>
      <p:graphicFrame>
        <p:nvGraphicFramePr>
          <p:cNvPr id="19" name="F1 chart" descr=""/>
          <p:cNvGraphicFramePr/>
          <p:nvPr/>
        </p:nvGraphicFramePr>
        <p:xfrm>
          <a:off x="6583680" y="1828800"/>
          <a:ext cx="4965192" cy="3108960"/>
        </p:xfrm>
        <a:graphic xmlns:a="http://schemas.openxmlformats.org/drawingml/2006/main">
          <a:graphicData uri="http://schemas.openxmlformats.org/drawingml/2006/chart">
            <c:chart xmlns:c="http://schemas.openxmlformats.org/drawingml/2006/chart" r:id="rId4"/>
          </a:graphicData>
        </a:graphic>
      </p:graphicFrame>
      <p:sp>
        <p:nvSpPr>
          <p:cNvPr id="20" name="card"/>
          <p:cNvSpPr/>
          <p:nvPr/>
        </p:nvSpPr>
        <p:spPr>
          <a:xfrm>
            <a:off x="6492240" y="5138928"/>
            <a:ext cx="1618488" cy="1078992"/>
          </a:xfrm>
          <a:prstGeom prst="roundRect">
            <a:avLst>
              <a:gd name="adj" fmla="val 4237"/>
            </a:avLst>
          </a:prstGeom>
          <a:solidFill>
            <a:schemeClr val="bg2"/>
          </a:solidFill>
          <a:ln w="12700">
            <a:solidFill>
              <a:srgbClr val="36226B"/>
            </a:solidFill>
            <a:prstDash val="solid"/>
          </a:ln>
        </p:spPr>
      </p:sp>
      <p:sp>
        <p:nvSpPr>
          <p:cNvPr id="21" name="Text 14"/>
          <p:cNvSpPr txBox="1"/>
          <p:nvPr/>
        </p:nvSpPr>
        <p:spPr>
          <a:xfrm>
            <a:off x="6629400" y="5212080"/>
            <a:ext cx="1371600" cy="457200"/>
          </a:xfrm>
          <a:prstGeom prst="rect">
            <a:avLst/>
          </a:prstGeom>
          <a:noFill/>
          <a:ln/>
        </p:spPr>
        <p:txBody>
          <a:bodyPr wrap="square" lIns="0" tIns="0" rIns="0" bIns="0" rtlCol="0" anchor="t"/>
          <a:lstStyle/>
          <a:p>
            <a:pPr indent="0" marL="0">
              <a:buNone/>
            </a:pPr>
            <a:r>
              <a:rPr lang="en-US" sz="2600" dirty="0">
                <a:solidFill>
                  <a:schemeClr val="accent1"/>
                </a:solidFill>
                <a:latin typeface="Impact" pitchFamily="34" charset="0"/>
                <a:ea typeface="Impact" pitchFamily="34" charset="-122"/>
                <a:cs typeface="Impact" pitchFamily="34" charset="-120"/>
              </a:rPr>
              <a:t>0.89</a:t>
            </a:r>
            <a:endParaRPr lang="en-US" sz="2600" dirty="0"/>
          </a:p>
        </p:txBody>
      </p:sp>
      <p:sp>
        <p:nvSpPr>
          <p:cNvPr id="22" name="Text 15"/>
          <p:cNvSpPr txBox="1"/>
          <p:nvPr/>
        </p:nvSpPr>
        <p:spPr>
          <a:xfrm>
            <a:off x="6629400" y="5687568"/>
            <a:ext cx="1389888" cy="475488"/>
          </a:xfrm>
          <a:prstGeom prst="rect">
            <a:avLst/>
          </a:prstGeom>
          <a:noFill/>
          <a:ln/>
        </p:spPr>
        <p:txBody>
          <a:bodyPr wrap="square" lIns="0" tIns="0" rIns="0" bIns="0" rtlCol="0" anchor="t"/>
          <a:lstStyle/>
          <a:p>
            <a:pPr indent="0" marL="0">
              <a:buNone/>
            </a:pPr>
            <a:r>
              <a:rPr lang="en-US" sz="1100" dirty="0">
                <a:solidFill>
                  <a:schemeClr val="accent6"/>
                </a:solidFill>
              </a:rPr>
              <a:t>macro-F1, unseen strings</a:t>
            </a:r>
            <a:endParaRPr lang="en-US" sz="1100" dirty="0"/>
          </a:p>
        </p:txBody>
      </p:sp>
      <p:sp>
        <p:nvSpPr>
          <p:cNvPr id="23" name="card"/>
          <p:cNvSpPr/>
          <p:nvPr/>
        </p:nvSpPr>
        <p:spPr>
          <a:xfrm>
            <a:off x="8257032" y="5138928"/>
            <a:ext cx="1618488" cy="1078992"/>
          </a:xfrm>
          <a:prstGeom prst="roundRect">
            <a:avLst>
              <a:gd name="adj" fmla="val 4237"/>
            </a:avLst>
          </a:prstGeom>
          <a:solidFill>
            <a:schemeClr val="bg2"/>
          </a:solidFill>
          <a:ln w="12700">
            <a:solidFill>
              <a:srgbClr val="36226B"/>
            </a:solidFill>
            <a:prstDash val="solid"/>
          </a:ln>
        </p:spPr>
      </p:sp>
      <p:sp>
        <p:nvSpPr>
          <p:cNvPr id="24" name="Text 17"/>
          <p:cNvSpPr txBox="1"/>
          <p:nvPr/>
        </p:nvSpPr>
        <p:spPr>
          <a:xfrm>
            <a:off x="8394192" y="5212080"/>
            <a:ext cx="1371600" cy="457200"/>
          </a:xfrm>
          <a:prstGeom prst="rect">
            <a:avLst/>
          </a:prstGeom>
          <a:noFill/>
          <a:ln/>
        </p:spPr>
        <p:txBody>
          <a:bodyPr wrap="square" lIns="0" tIns="0" rIns="0" bIns="0" rtlCol="0" anchor="t"/>
          <a:lstStyle/>
          <a:p>
            <a:pPr indent="0" marL="0">
              <a:buNone/>
            </a:pPr>
            <a:r>
              <a:rPr lang="en-US" sz="2600" dirty="0">
                <a:solidFill>
                  <a:schemeClr val="accent1"/>
                </a:solidFill>
                <a:latin typeface="Impact" pitchFamily="34" charset="0"/>
                <a:ea typeface="Impact" pitchFamily="34" charset="-122"/>
                <a:cs typeface="Impact" pitchFamily="34" charset="-120"/>
              </a:rPr>
              <a:t>1.00</a:t>
            </a:r>
            <a:endParaRPr lang="en-US" sz="2600" dirty="0"/>
          </a:p>
        </p:txBody>
      </p:sp>
      <p:sp>
        <p:nvSpPr>
          <p:cNvPr id="25" name="Text 18"/>
          <p:cNvSpPr txBox="1"/>
          <p:nvPr/>
        </p:nvSpPr>
        <p:spPr>
          <a:xfrm>
            <a:off x="8394192" y="5687568"/>
            <a:ext cx="1389888" cy="475488"/>
          </a:xfrm>
          <a:prstGeom prst="rect">
            <a:avLst/>
          </a:prstGeom>
          <a:noFill/>
          <a:ln/>
        </p:spPr>
        <p:txBody>
          <a:bodyPr wrap="square" lIns="0" tIns="0" rIns="0" bIns="0" rtlCol="0" anchor="t"/>
          <a:lstStyle/>
          <a:p>
            <a:pPr indent="0" marL="0">
              <a:buNone/>
            </a:pPr>
            <a:r>
              <a:rPr lang="en-US" sz="1100" dirty="0">
                <a:solidFill>
                  <a:schemeClr val="accent6"/>
                </a:solidFill>
              </a:rPr>
              <a:t>precision, dark vs none (recall 0.87)</a:t>
            </a:r>
            <a:endParaRPr lang="en-US" sz="1100" dirty="0"/>
          </a:p>
        </p:txBody>
      </p:sp>
      <p:sp>
        <p:nvSpPr>
          <p:cNvPr id="26" name="card"/>
          <p:cNvSpPr/>
          <p:nvPr/>
        </p:nvSpPr>
        <p:spPr>
          <a:xfrm>
            <a:off x="10021824" y="5138928"/>
            <a:ext cx="1618488" cy="1078992"/>
          </a:xfrm>
          <a:prstGeom prst="roundRect">
            <a:avLst>
              <a:gd name="adj" fmla="val 4237"/>
            </a:avLst>
          </a:prstGeom>
          <a:solidFill>
            <a:schemeClr val="bg2"/>
          </a:solidFill>
          <a:ln w="12700">
            <a:solidFill>
              <a:srgbClr val="36226B"/>
            </a:solidFill>
            <a:prstDash val="solid"/>
          </a:ln>
        </p:spPr>
      </p:sp>
      <p:sp>
        <p:nvSpPr>
          <p:cNvPr id="27" name="Text 20"/>
          <p:cNvSpPr txBox="1"/>
          <p:nvPr/>
        </p:nvSpPr>
        <p:spPr>
          <a:xfrm>
            <a:off x="10158984" y="5212080"/>
            <a:ext cx="1371600" cy="457200"/>
          </a:xfrm>
          <a:prstGeom prst="rect">
            <a:avLst/>
          </a:prstGeom>
          <a:noFill/>
          <a:ln/>
        </p:spPr>
        <p:txBody>
          <a:bodyPr wrap="square" lIns="0" tIns="0" rIns="0" bIns="0" rtlCol="0" anchor="t"/>
          <a:lstStyle/>
          <a:p>
            <a:pPr indent="0" marL="0">
              <a:buNone/>
            </a:pPr>
            <a:r>
              <a:rPr lang="en-US" sz="2600" dirty="0">
                <a:solidFill>
                  <a:schemeClr val="accent1"/>
                </a:solidFill>
                <a:latin typeface="Impact" pitchFamily="34" charset="0"/>
                <a:ea typeface="Impact" pitchFamily="34" charset="-122"/>
                <a:cs typeface="Impact" pitchFamily="34" charset="-120"/>
              </a:rPr>
              <a:t>12/12</a:t>
            </a:r>
            <a:endParaRPr lang="en-US" sz="2600" dirty="0"/>
          </a:p>
        </p:txBody>
      </p:sp>
      <p:sp>
        <p:nvSpPr>
          <p:cNvPr id="28" name="Text 21"/>
          <p:cNvSpPr txBox="1"/>
          <p:nvPr/>
        </p:nvSpPr>
        <p:spPr>
          <a:xfrm>
            <a:off x="10158984" y="5687568"/>
            <a:ext cx="1389888" cy="475488"/>
          </a:xfrm>
          <a:prstGeom prst="rect">
            <a:avLst/>
          </a:prstGeom>
          <a:noFill/>
          <a:ln/>
        </p:spPr>
        <p:txBody>
          <a:bodyPr wrap="square" lIns="0" tIns="0" rIns="0" bIns="0" rtlCol="0" anchor="t"/>
          <a:lstStyle/>
          <a:p>
            <a:pPr indent="0" marL="0">
              <a:buNone/>
            </a:pPr>
            <a:r>
              <a:rPr lang="en-US" sz="1100" dirty="0">
                <a:solidFill>
                  <a:schemeClr val="accent6"/>
                </a:solidFill>
              </a:rPr>
              <a:t>planted tricks found (demo shop)</a:t>
            </a:r>
            <a:endParaRPr lang="en-US" sz="1100" dirty="0"/>
          </a:p>
        </p:txBody>
      </p:sp>
      <p:sp>
        <p:nvSpPr>
          <p:cNvPr id="29" name="Text 22"/>
          <p:cNvSpPr txBox="1"/>
          <p:nvPr/>
        </p:nvSpPr>
        <p:spPr>
          <a:xfrm>
            <a:off x="548640" y="6035040"/>
            <a:ext cx="5669280" cy="384048"/>
          </a:xfrm>
          <a:prstGeom prst="rect">
            <a:avLst/>
          </a:prstGeom>
          <a:noFill/>
          <a:ln/>
        </p:spPr>
        <p:txBody>
          <a:bodyPr wrap="square" lIns="0" tIns="0" rIns="0" bIns="0" rtlCol="0" anchor="t"/>
          <a:lstStyle/>
          <a:p>
            <a:pPr indent="0" marL="0">
              <a:buNone/>
            </a:pPr>
            <a:r>
              <a:rPr lang="en-US" sz="1100" dirty="0">
                <a:solidFill>
                  <a:schemeClr val="accent6"/>
                </a:solidFill>
              </a:rPr>
              <a:t>Per-class n is small (6–12), so these are early numbers. On real Indian sites the price extractor was hardened on live checkouts.</a:t>
            </a:r>
            <a:endParaRPr lang="en-US" sz="1100" dirty="0"/>
          </a:p>
        </p:txBody>
      </p:sp>
      <p:sp>
        <p:nvSpPr>
          <p:cNvPr id="25" name="Slide Number Placeholder 0"/>
          <p:cNvSpPr>
            <a:spLocks noGrp="1"/>
          </p:cNvSpPr>
          <p:nvPr>
            <p:ph type="sldNum" sz="quarter" idx="4294967295"/>
          </p:nvPr>
        </p:nvSpPr>
        <p:spPr>
          <a:xfrm>
            <a:off x="10424160" y="274320"/>
            <a:ext cx="594360" cy="365760"/>
          </a:xfrm>
          <a:prstGeom prst="rect">
            <a:avLst/>
          </a:prstGeom>
          <a:extLst>
            <a:ext uri="{C572A759-6A51-4108-AA02-DFA0A04FC94B}">
              <ma14:wrappingTextBoxFlag xmlns:ma14="http://schemas.microsoft.com/office/mac/drawingml/2011/main" val="0"/>
            </a:ext>
          </a:extLst>
        </p:spPr>
        <p:txBody>
          <a:bodyPr/>
          <a:lstStyle>
            <a:lvl1pPr>
              <a:defRPr sz="2000">
                <a:solidFill>
                  <a:schemeClr val="tx2"/>
                </a:solidFill>
                <a:latin typeface="Impact"/>
                <a:ea typeface="Impact"/>
                <a:cs typeface="Impact"/>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2"/>
          <p:cNvSpPr/>
          <p:nvPr>
            <p:ph idx="104" type="title" hasCustomPrompt="1"/>
          </p:nvPr>
        </p:nvSpPr>
        <p:spPr>
          <a:xfrm>
            <a:off x="548640" y="603504"/>
            <a:ext cx="10332720" cy="603504"/>
          </a:xfrm>
          <a:prstGeom prst="rect">
            <a:avLst/>
          </a:prstGeom>
          <a:noFill/>
          <a:ln/>
        </p:spPr>
        <p:txBody>
          <a:bodyPr wrap="square" lIns="0" tIns="0" rIns="0" bIns="0" rtlCol="0" anchor="t"/>
          <a:lstStyle/>
          <a:p>
            <a:pPr algn="l" indent="0" marL="0">
              <a:buNone/>
            </a:pPr>
            <a:r>
              <a:rPr lang="en-US" sz="3200" spc="100" kern="0" dirty="0">
                <a:solidFill>
                  <a:schemeClr val="accent2"/>
                </a:solidFill>
                <a:latin typeface="Impact" pitchFamily="34" charset="0"/>
                <a:ea typeface="Impact" pitchFamily="34" charset="-122"/>
                <a:cs typeface="Impact" pitchFamily="34" charset="-120"/>
              </a:rPr>
              <a:t>ROLE OF AI</a:t>
            </a:r>
            <a:endParaRPr lang="en-US" sz="3200" dirty="0"/>
          </a:p>
        </p:txBody>
      </p:sp>
      <p:sp>
        <p:nvSpPr>
          <p:cNvPr id="4" name="section label"/>
          <p:cNvSpPr txBox="1"/>
          <p:nvPr/>
        </p:nvSpPr>
        <p:spPr>
          <a:xfrm>
            <a:off x="548640" y="274320"/>
            <a:ext cx="6035040" cy="274320"/>
          </a:xfrm>
          <a:prstGeom prst="rect">
            <a:avLst/>
          </a:prstGeom>
          <a:noFill/>
          <a:ln/>
        </p:spPr>
        <p:txBody>
          <a:bodyPr wrap="square" lIns="0" tIns="0" rIns="0" bIns="0" rtlCol="0" anchor="t"/>
          <a:lstStyle/>
          <a:p>
            <a:pPr indent="0" marL="0">
              <a:buNone/>
            </a:pPr>
            <a:r>
              <a:rPr lang="en-US" sz="1500" spc="100" kern="0" dirty="0">
                <a:solidFill>
                  <a:schemeClr val="accent2"/>
                </a:solidFill>
                <a:latin typeface="Impact" pitchFamily="34" charset="0"/>
                <a:ea typeface="Impact" pitchFamily="34" charset="-122"/>
                <a:cs typeface="Impact" pitchFamily="34" charset="-120"/>
              </a:rPr>
              <a:t>04  ·  ROLE OF MACHINE LEARNING AND AI</a:t>
            </a:r>
            <a:endParaRPr lang="en-US" sz="1500" dirty="0"/>
          </a:p>
        </p:txBody>
      </p:sp>
      <p:sp>
        <p:nvSpPr>
          <p:cNvPr id="5" name="subtitle"/>
          <p:cNvSpPr txBox="1"/>
          <p:nvPr/>
        </p:nvSpPr>
        <p:spPr>
          <a:xfrm>
            <a:off x="548640" y="1188720"/>
            <a:ext cx="10424160" cy="384048"/>
          </a:xfrm>
          <a:prstGeom prst="rect">
            <a:avLst/>
          </a:prstGeom>
          <a:noFill/>
          <a:ln/>
        </p:spPr>
        <p:txBody>
          <a:bodyPr wrap="square" lIns="0" tIns="0" rIns="0" bIns="0" rtlCol="0" anchor="t"/>
          <a:lstStyle/>
          <a:p>
            <a:pPr indent="0" marL="0">
              <a:buNone/>
            </a:pPr>
            <a:r>
              <a:rPr lang="en-US" sz="1700" dirty="0">
                <a:solidFill>
                  <a:srgbClr val="E4DCFA"/>
                </a:solidFill>
                <a:latin typeface="Calibri" pitchFamily="34" charset="0"/>
                <a:ea typeface="Calibri" pitchFamily="34" charset="-122"/>
                <a:cs typeface="Calibri" pitchFamily="34" charset="-120"/>
              </a:rPr>
              <a:t>Gemini and Google ADK do the reasoning; guards keep the agents from ever paying</a:t>
            </a:r>
            <a:endParaRPr lang="en-US" sz="1700" dirty="0"/>
          </a:p>
        </p:txBody>
      </p:sp>
      <p:sp>
        <p:nvSpPr>
          <p:cNvPr id="6" name="agent card"/>
          <p:cNvSpPr/>
          <p:nvPr/>
        </p:nvSpPr>
        <p:spPr>
          <a:xfrm>
            <a:off x="548640" y="1783080"/>
            <a:ext cx="3575304" cy="2084832"/>
          </a:xfrm>
          <a:prstGeom prst="roundRect">
            <a:avLst>
              <a:gd name="adj" fmla="val 2193"/>
            </a:avLst>
          </a:prstGeom>
          <a:solidFill>
            <a:srgbClr val="2B1A59"/>
          </a:solidFill>
          <a:ln w="12700">
            <a:solidFill>
              <a:srgbClr val="6B55B5"/>
            </a:solidFill>
            <a:prstDash val="solid"/>
          </a:ln>
        </p:spPr>
      </p:sp>
      <p:sp>
        <p:nvSpPr>
          <p:cNvPr id="7" name="icon lens"/>
          <p:cNvSpPr/>
          <p:nvPr/>
        </p:nvSpPr>
        <p:spPr>
          <a:xfrm>
            <a:off x="777240" y="2011680"/>
            <a:ext cx="566928" cy="566928"/>
          </a:xfrm>
          <a:prstGeom prst="roundRect">
            <a:avLst>
              <a:gd name="adj" fmla="val 11290"/>
            </a:avLst>
          </a:prstGeom>
          <a:solidFill>
            <a:srgbClr val="2B1A59"/>
          </a:solidFill>
          <a:ln w="19050">
            <a:solidFill>
              <a:schemeClr val="accent2"/>
            </a:solidFill>
            <a:prstDash val="solid"/>
          </a:ln>
        </p:spPr>
      </p:sp>
      <p:pic>
        <p:nvPicPr>
          <p:cNvPr id="8" name="icon" descr="Robot">    </p:cNvPr>
          <p:cNvPicPr>
            <a:picLocks noChangeAspect="1"/>
          </p:cNvPicPr>
          <p:nvPr/>
        </p:nvPicPr>
        <p:blipFill>
          <a:blip r:embed="rId1"/>
          <a:stretch>
            <a:fillRect/>
          </a:stretch>
        </p:blipFill>
        <p:spPr>
          <a:xfrm>
            <a:off x="924641" y="2159081"/>
            <a:ext cx="272125" cy="272125"/>
          </a:xfrm>
          <a:prstGeom prst="rect">
            <a:avLst/>
          </a:prstGeom>
        </p:spPr>
      </p:pic>
      <p:sp>
        <p:nvSpPr>
          <p:cNvPr id="9" name="Text 5"/>
          <p:cNvSpPr txBox="1"/>
          <p:nvPr/>
        </p:nvSpPr>
        <p:spPr>
          <a:xfrm>
            <a:off x="1508760" y="2029968"/>
            <a:ext cx="2432304" cy="530352"/>
          </a:xfrm>
          <a:prstGeom prst="rect">
            <a:avLst/>
          </a:prstGeom>
          <a:noFill/>
          <a:ln/>
        </p:spPr>
        <p:txBody>
          <a:bodyPr wrap="square" lIns="0" tIns="0" rIns="0" bIns="0" rtlCol="0" anchor="ctr"/>
          <a:lstStyle/>
          <a:p>
            <a:pPr indent="0" marL="0">
              <a:buNone/>
            </a:pPr>
            <a:r>
              <a:rPr lang="en-US" sz="1600" b="1" dirty="0">
                <a:solidFill>
                  <a:schemeClr val="bg1"/>
                </a:solidFill>
              </a:rPr>
              <a:t>Shopper agent (Gemini)</a:t>
            </a:r>
            <a:endParaRPr lang="en-US" sz="1600" dirty="0"/>
          </a:p>
        </p:txBody>
      </p:sp>
      <p:sp>
        <p:nvSpPr>
          <p:cNvPr id="10" name="Text 6"/>
          <p:cNvSpPr txBox="1"/>
          <p:nvPr/>
        </p:nvSpPr>
        <p:spPr>
          <a:xfrm>
            <a:off x="777240" y="2715768"/>
            <a:ext cx="3118104" cy="1078992"/>
          </a:xfrm>
          <a:prstGeom prst="rect">
            <a:avLst/>
          </a:prstGeom>
          <a:noFill/>
          <a:ln/>
        </p:spPr>
        <p:txBody>
          <a:bodyPr wrap="square" lIns="0" tIns="0" rIns="0" bIns="0" rtlCol="0" anchor="t"/>
          <a:lstStyle/>
          <a:p>
            <a:pPr indent="0" marL="0">
              <a:buNone/>
            </a:pPr>
            <a:r>
              <a:rPr lang="en-US" sz="1300" dirty="0">
                <a:solidFill>
                  <a:srgbClr val="E4DCFA"/>
                </a:solidFill>
              </a:rPr>
              <a:t>Reads each page and picks one action at a time towards checkout, on sites nobody scripted. Recovers from pop-ups, redirects and busy models.</a:t>
            </a:r>
            <a:endParaRPr lang="en-US" sz="1300" dirty="0"/>
          </a:p>
        </p:txBody>
      </p:sp>
      <p:sp>
        <p:nvSpPr>
          <p:cNvPr id="11" name="agent card"/>
          <p:cNvSpPr/>
          <p:nvPr/>
        </p:nvSpPr>
        <p:spPr>
          <a:xfrm>
            <a:off x="4306824" y="1783080"/>
            <a:ext cx="3575304" cy="2084832"/>
          </a:xfrm>
          <a:prstGeom prst="roundRect">
            <a:avLst>
              <a:gd name="adj" fmla="val 2193"/>
            </a:avLst>
          </a:prstGeom>
          <a:solidFill>
            <a:srgbClr val="2B1A59"/>
          </a:solidFill>
          <a:ln w="12700">
            <a:solidFill>
              <a:srgbClr val="6B55B5"/>
            </a:solidFill>
            <a:prstDash val="solid"/>
          </a:ln>
        </p:spPr>
      </p:sp>
      <p:sp>
        <p:nvSpPr>
          <p:cNvPr id="12" name="icon lens"/>
          <p:cNvSpPr/>
          <p:nvPr/>
        </p:nvSpPr>
        <p:spPr>
          <a:xfrm>
            <a:off x="4535424" y="2011680"/>
            <a:ext cx="566928" cy="566928"/>
          </a:xfrm>
          <a:prstGeom prst="roundRect">
            <a:avLst>
              <a:gd name="adj" fmla="val 11290"/>
            </a:avLst>
          </a:prstGeom>
          <a:solidFill>
            <a:srgbClr val="2B1A59"/>
          </a:solidFill>
          <a:ln w="19050">
            <a:solidFill>
              <a:schemeClr val="accent2"/>
            </a:solidFill>
            <a:prstDash val="solid"/>
          </a:ln>
        </p:spPr>
      </p:sp>
      <p:pic>
        <p:nvPicPr>
          <p:cNvPr id="13" name="icon" descr="ShieldHalved">    </p:cNvPr>
          <p:cNvPicPr>
            <a:picLocks noChangeAspect="1"/>
          </p:cNvPicPr>
          <p:nvPr/>
        </p:nvPicPr>
        <p:blipFill>
          <a:blip r:embed="rId2"/>
          <a:stretch>
            <a:fillRect/>
          </a:stretch>
        </p:blipFill>
        <p:spPr>
          <a:xfrm>
            <a:off x="4682825" y="2159081"/>
            <a:ext cx="272125" cy="272125"/>
          </a:xfrm>
          <a:prstGeom prst="rect">
            <a:avLst/>
          </a:prstGeom>
        </p:spPr>
      </p:pic>
      <p:sp>
        <p:nvSpPr>
          <p:cNvPr id="14" name="Text 9"/>
          <p:cNvSpPr txBox="1"/>
          <p:nvPr/>
        </p:nvSpPr>
        <p:spPr>
          <a:xfrm>
            <a:off x="5266944" y="2029968"/>
            <a:ext cx="2432304" cy="530352"/>
          </a:xfrm>
          <a:prstGeom prst="rect">
            <a:avLst/>
          </a:prstGeom>
          <a:noFill/>
          <a:ln/>
        </p:spPr>
        <p:txBody>
          <a:bodyPr wrap="square" lIns="0" tIns="0" rIns="0" bIns="0" rtlCol="0" anchor="ctr"/>
          <a:lstStyle/>
          <a:p>
            <a:pPr indent="0" marL="0">
              <a:buNone/>
            </a:pPr>
            <a:r>
              <a:rPr lang="en-US" sz="1600" b="1" dirty="0">
                <a:solidFill>
                  <a:schemeClr val="bg1"/>
                </a:solidFill>
              </a:rPr>
              <a:t>Guards that stop payment</a:t>
            </a:r>
            <a:endParaRPr lang="en-US" sz="1600" dirty="0"/>
          </a:p>
        </p:txBody>
      </p:sp>
      <p:sp>
        <p:nvSpPr>
          <p:cNvPr id="15" name="Text 10"/>
          <p:cNvSpPr txBox="1"/>
          <p:nvPr/>
        </p:nvSpPr>
        <p:spPr>
          <a:xfrm>
            <a:off x="4535424" y="2715768"/>
            <a:ext cx="3118104" cy="1078992"/>
          </a:xfrm>
          <a:prstGeom prst="rect">
            <a:avLst/>
          </a:prstGeom>
          <a:noFill/>
          <a:ln/>
        </p:spPr>
        <p:txBody>
          <a:bodyPr wrap="square" lIns="0" tIns="0" rIns="0" bIns="0" rtlCol="0" anchor="t"/>
          <a:lstStyle/>
          <a:p>
            <a:pPr indent="0" marL="0">
              <a:buNone/>
            </a:pPr>
            <a:r>
              <a:rPr lang="en-US" sz="1300" dirty="0">
                <a:solidFill>
                  <a:srgbClr val="E4DCFA"/>
                </a:solidFill>
              </a:rPr>
              <a:t>Code blocks Pay, Confirm order and Subscribe, and never types card, OTP or personal data. Proven live: it refused boAt's “Pay Now”.</a:t>
            </a:r>
            <a:endParaRPr lang="en-US" sz="1300" dirty="0"/>
          </a:p>
        </p:txBody>
      </p:sp>
      <p:sp>
        <p:nvSpPr>
          <p:cNvPr id="16" name="agent card"/>
          <p:cNvSpPr/>
          <p:nvPr/>
        </p:nvSpPr>
        <p:spPr>
          <a:xfrm>
            <a:off x="8065008" y="1783080"/>
            <a:ext cx="3575304" cy="2084832"/>
          </a:xfrm>
          <a:prstGeom prst="roundRect">
            <a:avLst>
              <a:gd name="adj" fmla="val 2193"/>
            </a:avLst>
          </a:prstGeom>
          <a:solidFill>
            <a:srgbClr val="2B1A59"/>
          </a:solidFill>
          <a:ln w="12700">
            <a:solidFill>
              <a:srgbClr val="6B55B5"/>
            </a:solidFill>
            <a:prstDash val="solid"/>
          </a:ln>
        </p:spPr>
      </p:sp>
      <p:sp>
        <p:nvSpPr>
          <p:cNvPr id="17" name="icon lens"/>
          <p:cNvSpPr/>
          <p:nvPr/>
        </p:nvSpPr>
        <p:spPr>
          <a:xfrm>
            <a:off x="8293608" y="2011680"/>
            <a:ext cx="566928" cy="566928"/>
          </a:xfrm>
          <a:prstGeom prst="roundRect">
            <a:avLst>
              <a:gd name="adj" fmla="val 11290"/>
            </a:avLst>
          </a:prstGeom>
          <a:solidFill>
            <a:srgbClr val="2B1A59"/>
          </a:solidFill>
          <a:ln w="19050">
            <a:solidFill>
              <a:schemeClr val="accent2"/>
            </a:solidFill>
            <a:prstDash val="solid"/>
          </a:ln>
        </p:spPr>
      </p:sp>
      <p:pic>
        <p:nvPicPr>
          <p:cNvPr id="18" name="icon" descr="FileContract">    </p:cNvPr>
          <p:cNvPicPr>
            <a:picLocks noChangeAspect="1"/>
          </p:cNvPicPr>
          <p:nvPr/>
        </p:nvPicPr>
        <p:blipFill>
          <a:blip r:embed="rId3"/>
          <a:stretch>
            <a:fillRect/>
          </a:stretch>
        </p:blipFill>
        <p:spPr>
          <a:xfrm>
            <a:off x="8441009" y="2159081"/>
            <a:ext cx="272125" cy="272125"/>
          </a:xfrm>
          <a:prstGeom prst="rect">
            <a:avLst/>
          </a:prstGeom>
        </p:spPr>
      </p:pic>
      <p:sp>
        <p:nvSpPr>
          <p:cNvPr id="19" name="Text 13"/>
          <p:cNvSpPr txBox="1"/>
          <p:nvPr/>
        </p:nvSpPr>
        <p:spPr>
          <a:xfrm>
            <a:off x="9025128" y="2029968"/>
            <a:ext cx="2432304" cy="530352"/>
          </a:xfrm>
          <a:prstGeom prst="rect">
            <a:avLst/>
          </a:prstGeom>
          <a:noFill/>
          <a:ln/>
        </p:spPr>
        <p:txBody>
          <a:bodyPr wrap="square" lIns="0" tIns="0" rIns="0" bIns="0" rtlCol="0" anchor="ctr"/>
          <a:lstStyle/>
          <a:p>
            <a:pPr indent="0" marL="0">
              <a:buNone/>
            </a:pPr>
            <a:r>
              <a:rPr lang="en-US" sz="1600" b="1" dirty="0">
                <a:solidFill>
                  <a:schemeClr val="bg1"/>
                </a:solidFill>
              </a:rPr>
              <a:t>Policy vs reality (Gemini)</a:t>
            </a:r>
            <a:endParaRPr lang="en-US" sz="1600" dirty="0"/>
          </a:p>
        </p:txBody>
      </p:sp>
      <p:sp>
        <p:nvSpPr>
          <p:cNvPr id="20" name="Text 14"/>
          <p:cNvSpPr txBox="1"/>
          <p:nvPr/>
        </p:nvSpPr>
        <p:spPr>
          <a:xfrm>
            <a:off x="8293608" y="2715768"/>
            <a:ext cx="3118104" cy="1078992"/>
          </a:xfrm>
          <a:prstGeom prst="rect">
            <a:avLst/>
          </a:prstGeom>
          <a:noFill/>
          <a:ln/>
        </p:spPr>
        <p:txBody>
          <a:bodyPr wrap="square" lIns="0" tIns="0" rIns="0" bIns="0" rtlCol="0" anchor="t"/>
          <a:lstStyle/>
          <a:p>
            <a:pPr indent="0" marL="0">
              <a:buNone/>
            </a:pPr>
            <a:r>
              <a:rPr lang="en-US" sz="1300" dirty="0">
                <a:solidFill>
                  <a:srgbClr val="E4DCFA"/>
                </a:solidFill>
              </a:rPr>
              <a:t>Reads the site's terms and refund pages and flags written promises that the measured runs disprove.</a:t>
            </a:r>
            <a:endParaRPr lang="en-US" sz="1300" dirty="0"/>
          </a:p>
        </p:txBody>
      </p:sp>
      <p:sp>
        <p:nvSpPr>
          <p:cNvPr id="21" name="agent card"/>
          <p:cNvSpPr/>
          <p:nvPr/>
        </p:nvSpPr>
        <p:spPr>
          <a:xfrm>
            <a:off x="548640" y="4069080"/>
            <a:ext cx="3575304" cy="2084832"/>
          </a:xfrm>
          <a:prstGeom prst="roundRect">
            <a:avLst>
              <a:gd name="adj" fmla="val 2193"/>
            </a:avLst>
          </a:prstGeom>
          <a:solidFill>
            <a:srgbClr val="2B1A59"/>
          </a:solidFill>
          <a:ln w="12700">
            <a:solidFill>
              <a:srgbClr val="6B55B5"/>
            </a:solidFill>
            <a:prstDash val="solid"/>
          </a:ln>
        </p:spPr>
      </p:sp>
      <p:sp>
        <p:nvSpPr>
          <p:cNvPr id="22" name="icon lens"/>
          <p:cNvSpPr/>
          <p:nvPr/>
        </p:nvSpPr>
        <p:spPr>
          <a:xfrm>
            <a:off x="777240" y="4297680"/>
            <a:ext cx="566928" cy="566928"/>
          </a:xfrm>
          <a:prstGeom prst="roundRect">
            <a:avLst>
              <a:gd name="adj" fmla="val 11290"/>
            </a:avLst>
          </a:prstGeom>
          <a:solidFill>
            <a:srgbClr val="2B1A59"/>
          </a:solidFill>
          <a:ln w="19050">
            <a:solidFill>
              <a:schemeClr val="accent2"/>
            </a:solidFill>
            <a:prstDash val="solid"/>
          </a:ln>
        </p:spPr>
      </p:sp>
      <p:pic>
        <p:nvPicPr>
          <p:cNvPr id="23" name="icon" descr="DiagramProject">    </p:cNvPr>
          <p:cNvPicPr>
            <a:picLocks noChangeAspect="1"/>
          </p:cNvPicPr>
          <p:nvPr/>
        </p:nvPicPr>
        <p:blipFill>
          <a:blip r:embed="rId4"/>
          <a:stretch>
            <a:fillRect/>
          </a:stretch>
        </p:blipFill>
        <p:spPr>
          <a:xfrm>
            <a:off x="924641" y="4445081"/>
            <a:ext cx="272125" cy="272125"/>
          </a:xfrm>
          <a:prstGeom prst="rect">
            <a:avLst/>
          </a:prstGeom>
        </p:spPr>
      </p:pic>
      <p:sp>
        <p:nvSpPr>
          <p:cNvPr id="24" name="Text 17"/>
          <p:cNvSpPr txBox="1"/>
          <p:nvPr/>
        </p:nvSpPr>
        <p:spPr>
          <a:xfrm>
            <a:off x="1508760" y="4315968"/>
            <a:ext cx="2432304" cy="530352"/>
          </a:xfrm>
          <a:prstGeom prst="rect">
            <a:avLst/>
          </a:prstGeom>
          <a:noFill/>
          <a:ln/>
        </p:spPr>
        <p:txBody>
          <a:bodyPr wrap="square" lIns="0" tIns="0" rIns="0" bIns="0" rtlCol="0" anchor="ctr"/>
          <a:lstStyle/>
          <a:p>
            <a:pPr indent="0" marL="0">
              <a:buNone/>
            </a:pPr>
            <a:r>
              <a:rPr lang="en-US" sz="1600" b="1" dirty="0">
                <a:solidFill>
                  <a:schemeClr val="bg1"/>
                </a:solidFill>
              </a:rPr>
              <a:t>Google ADK orchestrator</a:t>
            </a:r>
            <a:endParaRPr lang="en-US" sz="1600" dirty="0"/>
          </a:p>
        </p:txBody>
      </p:sp>
      <p:sp>
        <p:nvSpPr>
          <p:cNvPr id="25" name="Text 18"/>
          <p:cNvSpPr txBox="1"/>
          <p:nvPr/>
        </p:nvSpPr>
        <p:spPr>
          <a:xfrm>
            <a:off x="777240" y="5001768"/>
            <a:ext cx="3118104" cy="1078992"/>
          </a:xfrm>
          <a:prstGeom prst="rect">
            <a:avLst/>
          </a:prstGeom>
          <a:noFill/>
          <a:ln/>
        </p:spPr>
        <p:txBody>
          <a:bodyPr wrap="square" lIns="0" tIns="0" rIns="0" bIns="0" rtlCol="0" anchor="t"/>
          <a:lstStyle/>
          <a:p>
            <a:pPr indent="0" marL="0">
              <a:buNone/>
            </a:pPr>
            <a:r>
              <a:rPr lang="en-US" sz="1300" dirty="0">
                <a:solidFill>
                  <a:srgbClr val="E4DCFA"/>
                </a:solidFill>
              </a:rPr>
              <a:t>A tool-using agent that runs audits, finds peer sites (TinyFish Search), reads policies (Fetch) and drafts complaints.</a:t>
            </a:r>
            <a:endParaRPr lang="en-US" sz="1300" dirty="0"/>
          </a:p>
        </p:txBody>
      </p:sp>
      <p:sp>
        <p:nvSpPr>
          <p:cNvPr id="26" name="agent card"/>
          <p:cNvSpPr/>
          <p:nvPr/>
        </p:nvSpPr>
        <p:spPr>
          <a:xfrm>
            <a:off x="4306824" y="4069080"/>
            <a:ext cx="3575304" cy="2084832"/>
          </a:xfrm>
          <a:prstGeom prst="roundRect">
            <a:avLst>
              <a:gd name="adj" fmla="val 2193"/>
            </a:avLst>
          </a:prstGeom>
          <a:solidFill>
            <a:srgbClr val="2B1A59"/>
          </a:solidFill>
          <a:ln w="12700">
            <a:solidFill>
              <a:srgbClr val="6B55B5"/>
            </a:solidFill>
            <a:prstDash val="solid"/>
          </a:ln>
        </p:spPr>
      </p:sp>
      <p:sp>
        <p:nvSpPr>
          <p:cNvPr id="27" name="icon lens"/>
          <p:cNvSpPr/>
          <p:nvPr/>
        </p:nvSpPr>
        <p:spPr>
          <a:xfrm>
            <a:off x="4535424" y="4297680"/>
            <a:ext cx="566928" cy="566928"/>
          </a:xfrm>
          <a:prstGeom prst="roundRect">
            <a:avLst>
              <a:gd name="adj" fmla="val 11290"/>
            </a:avLst>
          </a:prstGeom>
          <a:solidFill>
            <a:srgbClr val="2B1A59"/>
          </a:solidFill>
          <a:ln w="19050">
            <a:solidFill>
              <a:schemeClr val="accent2"/>
            </a:solidFill>
            <a:prstDash val="solid"/>
          </a:ln>
        </p:spPr>
      </p:sp>
      <p:pic>
        <p:nvPicPr>
          <p:cNvPr id="28" name="icon" descr="MicrophoneLines">    </p:cNvPr>
          <p:cNvPicPr>
            <a:picLocks noChangeAspect="1"/>
          </p:cNvPicPr>
          <p:nvPr/>
        </p:nvPicPr>
        <p:blipFill>
          <a:blip r:embed="rId5"/>
          <a:stretch>
            <a:fillRect/>
          </a:stretch>
        </p:blipFill>
        <p:spPr>
          <a:xfrm>
            <a:off x="4682825" y="4445081"/>
            <a:ext cx="272125" cy="272125"/>
          </a:xfrm>
          <a:prstGeom prst="rect">
            <a:avLst/>
          </a:prstGeom>
        </p:spPr>
      </p:pic>
      <p:sp>
        <p:nvSpPr>
          <p:cNvPr id="29" name="Text 21"/>
          <p:cNvSpPr txBox="1"/>
          <p:nvPr/>
        </p:nvSpPr>
        <p:spPr>
          <a:xfrm>
            <a:off x="5266944" y="4315968"/>
            <a:ext cx="2432304" cy="530352"/>
          </a:xfrm>
          <a:prstGeom prst="rect">
            <a:avLst/>
          </a:prstGeom>
          <a:noFill/>
          <a:ln/>
        </p:spPr>
        <p:txBody>
          <a:bodyPr wrap="square" lIns="0" tIns="0" rIns="0" bIns="0" rtlCol="0" anchor="ctr"/>
          <a:lstStyle/>
          <a:p>
            <a:pPr indent="0" marL="0">
              <a:buNone/>
            </a:pPr>
            <a:r>
              <a:rPr lang="en-US" sz="1600" b="1" dirty="0">
                <a:solidFill>
                  <a:schemeClr val="bg1"/>
                </a:solidFill>
              </a:rPr>
              <a:t>Voice and text assistant</a:t>
            </a:r>
            <a:endParaRPr lang="en-US" sz="1600" dirty="0"/>
          </a:p>
        </p:txBody>
      </p:sp>
      <p:sp>
        <p:nvSpPr>
          <p:cNvPr id="30" name="Text 22"/>
          <p:cNvSpPr txBox="1"/>
          <p:nvPr/>
        </p:nvSpPr>
        <p:spPr>
          <a:xfrm>
            <a:off x="4535424" y="5001768"/>
            <a:ext cx="3118104" cy="1078992"/>
          </a:xfrm>
          <a:prstGeom prst="rect">
            <a:avLst/>
          </a:prstGeom>
          <a:noFill/>
          <a:ln/>
        </p:spPr>
        <p:txBody>
          <a:bodyPr wrap="square" lIns="0" tIns="0" rIns="0" bIns="0" rtlCol="0" anchor="t"/>
          <a:lstStyle/>
          <a:p>
            <a:pPr indent="0" marL="0">
              <a:buNone/>
            </a:pPr>
            <a:r>
              <a:rPr lang="en-US" sz="1300" dirty="0">
                <a:solidFill>
                  <a:srgbClr val="E4DCFA"/>
                </a:solidFill>
              </a:rPr>
              <a:t>Exact answers from the audit's own numbers; open questions go to Gemini with the whole audit as context.</a:t>
            </a:r>
            <a:endParaRPr lang="en-US" sz="1300" dirty="0"/>
          </a:p>
        </p:txBody>
      </p:sp>
      <p:sp>
        <p:nvSpPr>
          <p:cNvPr id="31" name="agent card"/>
          <p:cNvSpPr/>
          <p:nvPr/>
        </p:nvSpPr>
        <p:spPr>
          <a:xfrm>
            <a:off x="8065008" y="4069080"/>
            <a:ext cx="3575304" cy="2084832"/>
          </a:xfrm>
          <a:prstGeom prst="roundRect">
            <a:avLst>
              <a:gd name="adj" fmla="val 2193"/>
            </a:avLst>
          </a:prstGeom>
          <a:solidFill>
            <a:srgbClr val="2B1A59"/>
          </a:solidFill>
          <a:ln w="12700">
            <a:solidFill>
              <a:srgbClr val="6B55B5"/>
            </a:solidFill>
            <a:prstDash val="solid"/>
          </a:ln>
        </p:spPr>
      </p:sp>
      <p:sp>
        <p:nvSpPr>
          <p:cNvPr id="32" name="icon lens"/>
          <p:cNvSpPr/>
          <p:nvPr/>
        </p:nvSpPr>
        <p:spPr>
          <a:xfrm>
            <a:off x="8293608" y="4297680"/>
            <a:ext cx="566928" cy="566928"/>
          </a:xfrm>
          <a:prstGeom prst="roundRect">
            <a:avLst>
              <a:gd name="adj" fmla="val 11290"/>
            </a:avLst>
          </a:prstGeom>
          <a:solidFill>
            <a:srgbClr val="2B1A59"/>
          </a:solidFill>
          <a:ln w="19050">
            <a:solidFill>
              <a:schemeClr val="accent2"/>
            </a:solidFill>
            <a:prstDash val="solid"/>
          </a:ln>
        </p:spPr>
      </p:sp>
      <p:pic>
        <p:nvPicPr>
          <p:cNvPr id="33" name="icon" descr="EnvelopeOpenText">    </p:cNvPr>
          <p:cNvPicPr>
            <a:picLocks noChangeAspect="1"/>
          </p:cNvPicPr>
          <p:nvPr/>
        </p:nvPicPr>
        <p:blipFill>
          <a:blip r:embed="rId6"/>
          <a:stretch>
            <a:fillRect/>
          </a:stretch>
        </p:blipFill>
        <p:spPr>
          <a:xfrm>
            <a:off x="8441009" y="4445081"/>
            <a:ext cx="272125" cy="272125"/>
          </a:xfrm>
          <a:prstGeom prst="rect">
            <a:avLst/>
          </a:prstGeom>
        </p:spPr>
      </p:pic>
      <p:sp>
        <p:nvSpPr>
          <p:cNvPr id="34" name="Text 25"/>
          <p:cNvSpPr txBox="1"/>
          <p:nvPr/>
        </p:nvSpPr>
        <p:spPr>
          <a:xfrm>
            <a:off x="9025128" y="4315968"/>
            <a:ext cx="2432304" cy="530352"/>
          </a:xfrm>
          <a:prstGeom prst="rect">
            <a:avLst/>
          </a:prstGeom>
          <a:noFill/>
          <a:ln/>
        </p:spPr>
        <p:txBody>
          <a:bodyPr wrap="square" lIns="0" tIns="0" rIns="0" bIns="0" rtlCol="0" anchor="ctr"/>
          <a:lstStyle/>
          <a:p>
            <a:pPr indent="0" marL="0">
              <a:buNone/>
            </a:pPr>
            <a:r>
              <a:rPr lang="en-US" sz="1600" b="1" dirty="0">
                <a:solidFill>
                  <a:schemeClr val="bg1"/>
                </a:solidFill>
              </a:rPr>
              <a:t>Complaint writer</a:t>
            </a:r>
            <a:endParaRPr lang="en-US" sz="1600" dirty="0"/>
          </a:p>
        </p:txBody>
      </p:sp>
      <p:sp>
        <p:nvSpPr>
          <p:cNvPr id="35" name="Text 26"/>
          <p:cNvSpPr txBox="1"/>
          <p:nvPr/>
        </p:nvSpPr>
        <p:spPr>
          <a:xfrm>
            <a:off x="8293608" y="5001768"/>
            <a:ext cx="3118104" cy="1078992"/>
          </a:xfrm>
          <a:prstGeom prst="rect">
            <a:avLst/>
          </a:prstGeom>
          <a:noFill/>
          <a:ln/>
        </p:spPr>
        <p:txBody>
          <a:bodyPr wrap="square" lIns="0" tIns="0" rIns="0" bIns="0" rtlCol="0" anchor="t"/>
          <a:lstStyle/>
          <a:p>
            <a:pPr indent="0" marL="0">
              <a:buNone/>
            </a:pPr>
            <a:r>
              <a:rPr lang="en-US" sz="1300" dirty="0">
                <a:solidFill>
                  <a:srgbClr val="E4DCFA"/>
                </a:solidFill>
              </a:rPr>
              <a:t>Drafts a National Consumer Helpline complaint that cites only measured findings, with exhibits.</a:t>
            </a:r>
            <a:endParaRPr lang="en-US" sz="1300" dirty="0"/>
          </a:p>
        </p:txBody>
      </p:sp>
      <p:sp>
        <p:nvSpPr>
          <p:cNvPr id="25" name="Slide Number Placeholder 0"/>
          <p:cNvSpPr>
            <a:spLocks noGrp="1"/>
          </p:cNvSpPr>
          <p:nvPr>
            <p:ph type="sldNum" sz="quarter" idx="4294967295"/>
          </p:nvPr>
        </p:nvSpPr>
        <p:spPr>
          <a:xfrm>
            <a:off x="10424160" y="274320"/>
            <a:ext cx="594360" cy="365760"/>
          </a:xfrm>
          <a:prstGeom prst="rect">
            <a:avLst/>
          </a:prstGeom>
          <a:extLst>
            <a:ext uri="{C572A759-6A51-4108-AA02-DFA0A04FC94B}">
              <ma14:wrappingTextBoxFlag xmlns:ma14="http://schemas.microsoft.com/office/mac/drawingml/2011/main" val="0"/>
            </a:ext>
          </a:extLst>
        </p:spPr>
        <p:txBody>
          <a:bodyPr/>
          <a:lstStyle>
            <a:lvl1pPr>
              <a:defRPr sz="2000">
                <a:solidFill>
                  <a:schemeClr val="accent2"/>
                </a:solidFill>
                <a:latin typeface="Impact"/>
                <a:ea typeface="Impact"/>
                <a:cs typeface="Impact"/>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2"/>
          <p:cNvSpPr/>
          <p:nvPr>
            <p:ph idx="104" type="title" hasCustomPrompt="1"/>
          </p:nvPr>
        </p:nvSpPr>
        <p:spPr>
          <a:xfrm>
            <a:off x="548640" y="603504"/>
            <a:ext cx="10332720" cy="603504"/>
          </a:xfrm>
          <a:prstGeom prst="rect">
            <a:avLst/>
          </a:prstGeom>
          <a:noFill/>
          <a:ln/>
        </p:spPr>
        <p:txBody>
          <a:bodyPr wrap="square" lIns="0" tIns="0" rIns="0" bIns="0" rtlCol="0" anchor="t"/>
          <a:lstStyle/>
          <a:p>
            <a:pPr algn="l" indent="0" marL="0">
              <a:buNone/>
            </a:pPr>
            <a:r>
              <a:rPr lang="en-US" sz="3200" spc="100" kern="0" dirty="0">
                <a:solidFill>
                  <a:schemeClr val="tx2"/>
                </a:solidFill>
                <a:latin typeface="Impact" pitchFamily="34" charset="0"/>
                <a:ea typeface="Impact" pitchFamily="34" charset="-122"/>
                <a:cs typeface="Impact" pitchFamily="34" charset="-120"/>
              </a:rPr>
              <a:t>PROPOSED TECHNICAL APPROACH</a:t>
            </a:r>
            <a:endParaRPr lang="en-US" sz="3200" dirty="0"/>
          </a:p>
        </p:txBody>
      </p:sp>
      <p:sp>
        <p:nvSpPr>
          <p:cNvPr id="4" name="section label"/>
          <p:cNvSpPr txBox="1"/>
          <p:nvPr/>
        </p:nvSpPr>
        <p:spPr>
          <a:xfrm>
            <a:off x="548640" y="274320"/>
            <a:ext cx="6035040" cy="274320"/>
          </a:xfrm>
          <a:prstGeom prst="rect">
            <a:avLst/>
          </a:prstGeom>
          <a:noFill/>
          <a:ln/>
        </p:spPr>
        <p:txBody>
          <a:bodyPr wrap="square" lIns="0" tIns="0" rIns="0" bIns="0" rtlCol="0" anchor="t"/>
          <a:lstStyle/>
          <a:p>
            <a:pPr indent="0" marL="0">
              <a:buNone/>
            </a:pPr>
            <a:r>
              <a:rPr lang="en-US" sz="1500" spc="100" kern="0" dirty="0">
                <a:solidFill>
                  <a:schemeClr val="tx2"/>
                </a:solidFill>
                <a:latin typeface="Impact" pitchFamily="34" charset="0"/>
                <a:ea typeface="Impact" pitchFamily="34" charset="-122"/>
                <a:cs typeface="Impact" pitchFamily="34" charset="-120"/>
              </a:rPr>
              <a:t>05  ·  PROPOSED TECHNICAL APPROACH</a:t>
            </a:r>
            <a:endParaRPr lang="en-US" sz="1500" dirty="0"/>
          </a:p>
        </p:txBody>
      </p:sp>
      <p:sp>
        <p:nvSpPr>
          <p:cNvPr id="5" name="subtitle"/>
          <p:cNvSpPr txBox="1"/>
          <p:nvPr/>
        </p:nvSpPr>
        <p:spPr>
          <a:xfrm>
            <a:off x="548640" y="1188720"/>
            <a:ext cx="10424160" cy="384048"/>
          </a:xfrm>
          <a:prstGeom prst="rect">
            <a:avLst/>
          </a:prstGeom>
          <a:noFill/>
          <a:ln/>
        </p:spPr>
        <p:txBody>
          <a:bodyPr wrap="square" lIns="0" tIns="0" rIns="0" bIns="0" rtlCol="0" anchor="t"/>
          <a:lstStyle/>
          <a:p>
            <a:pPr indent="0" marL="0">
              <a:buNone/>
            </a:pPr>
            <a:r>
              <a:rPr lang="en-US" sz="1700" dirty="0">
                <a:solidFill>
                  <a:schemeClr val="accent6"/>
                </a:solidFill>
                <a:latin typeface="Calibri" pitchFamily="34" charset="0"/>
                <a:ea typeface="Calibri" pitchFamily="34" charset="-122"/>
                <a:cs typeface="Calibri" pitchFamily="34" charset="-120"/>
              </a:rPr>
              <a:t>One pipeline, two browser providers, evidence captured at every step</a:t>
            </a:r>
            <a:endParaRPr lang="en-US" sz="1700" dirty="0"/>
          </a:p>
        </p:txBody>
      </p:sp>
      <p:sp>
        <p:nvSpPr>
          <p:cNvPr id="6" name="pipeline stage"/>
          <p:cNvSpPr/>
          <p:nvPr/>
        </p:nvSpPr>
        <p:spPr>
          <a:xfrm>
            <a:off x="548640" y="1783080"/>
            <a:ext cx="1645920" cy="2286000"/>
          </a:xfrm>
          <a:prstGeom prst="roundRect">
            <a:avLst>
              <a:gd name="adj" fmla="val 2778"/>
            </a:avLst>
          </a:prstGeom>
          <a:solidFill>
            <a:schemeClr val="bg2"/>
          </a:solidFill>
          <a:ln w="12700">
            <a:solidFill>
              <a:srgbClr val="CFC688"/>
            </a:solidFill>
            <a:prstDash val="solid"/>
          </a:ln>
        </p:spPr>
      </p:sp>
      <p:sp>
        <p:nvSpPr>
          <p:cNvPr id="7" name="icon lens"/>
          <p:cNvSpPr/>
          <p:nvPr/>
        </p:nvSpPr>
        <p:spPr>
          <a:xfrm>
            <a:off x="731520" y="1965960"/>
            <a:ext cx="548640" cy="548640"/>
          </a:xfrm>
          <a:prstGeom prst="roundRect">
            <a:avLst>
              <a:gd name="adj" fmla="val 11667"/>
            </a:avLst>
          </a:prstGeom>
          <a:solidFill>
            <a:schemeClr val="tx2"/>
          </a:solidFill>
          <a:ln w="19050">
            <a:solidFill>
              <a:schemeClr val="tx2"/>
            </a:solidFill>
            <a:prstDash val="solid"/>
          </a:ln>
        </p:spPr>
      </p:sp>
      <p:pic>
        <p:nvPicPr>
          <p:cNvPr id="8" name="icon" descr="Desktop">    </p:cNvPr>
          <p:cNvPicPr>
            <a:picLocks noChangeAspect="1"/>
          </p:cNvPicPr>
          <p:nvPr/>
        </p:nvPicPr>
        <p:blipFill>
          <a:blip r:embed="rId1"/>
          <a:stretch>
            <a:fillRect/>
          </a:stretch>
        </p:blipFill>
        <p:spPr>
          <a:xfrm>
            <a:off x="874166" y="2108606"/>
            <a:ext cx="263347" cy="263347"/>
          </a:xfrm>
          <a:prstGeom prst="rect">
            <a:avLst/>
          </a:prstGeom>
        </p:spPr>
      </p:pic>
      <p:sp>
        <p:nvSpPr>
          <p:cNvPr id="9" name="Text 5"/>
          <p:cNvSpPr txBox="1"/>
          <p:nvPr/>
        </p:nvSpPr>
        <p:spPr>
          <a:xfrm>
            <a:off x="731520" y="2624328"/>
            <a:ext cx="1371600" cy="329184"/>
          </a:xfrm>
          <a:prstGeom prst="rect">
            <a:avLst/>
          </a:prstGeom>
          <a:noFill/>
          <a:ln/>
        </p:spPr>
        <p:txBody>
          <a:bodyPr wrap="square" lIns="0" tIns="0" rIns="0" bIns="0" rtlCol="0" anchor="t"/>
          <a:lstStyle/>
          <a:p>
            <a:pPr indent="0" marL="0">
              <a:buNone/>
            </a:pPr>
            <a:r>
              <a:rPr lang="en-US" sz="1600" b="1" dirty="0">
                <a:solidFill>
                  <a:schemeClr val="tx1"/>
                </a:solidFill>
              </a:rPr>
              <a:t>Console</a:t>
            </a:r>
            <a:endParaRPr lang="en-US" sz="1600" dirty="0"/>
          </a:p>
        </p:txBody>
      </p:sp>
      <p:sp>
        <p:nvSpPr>
          <p:cNvPr id="10" name="Text 6"/>
          <p:cNvSpPr txBox="1"/>
          <p:nvPr/>
        </p:nvSpPr>
        <p:spPr>
          <a:xfrm>
            <a:off x="731520" y="2990088"/>
            <a:ext cx="1353312" cy="1005840"/>
          </a:xfrm>
          <a:prstGeom prst="rect">
            <a:avLst/>
          </a:prstGeom>
          <a:noFill/>
          <a:ln/>
        </p:spPr>
        <p:txBody>
          <a:bodyPr wrap="square" lIns="0" tIns="0" rIns="0" bIns="0" rtlCol="0" anchor="t"/>
          <a:lstStyle/>
          <a:p>
            <a:pPr indent="0" marL="0">
              <a:buNone/>
            </a:pPr>
            <a:r>
              <a:rPr lang="en-US" sz="1300" dirty="0">
                <a:solidFill>
                  <a:schemeClr val="accent6"/>
                </a:solidFill>
              </a:rPr>
              <a:t>FastAPI, live agent view, voice and text assistant</a:t>
            </a:r>
            <a:endParaRPr lang="en-US" sz="1300" dirty="0"/>
          </a:p>
        </p:txBody>
      </p:sp>
      <p:sp>
        <p:nvSpPr>
          <p:cNvPr id="11" name="flow arrow"/>
          <p:cNvSpPr/>
          <p:nvPr/>
        </p:nvSpPr>
        <p:spPr>
          <a:xfrm>
            <a:off x="2235708" y="2788920"/>
            <a:ext cx="155448" cy="274320"/>
          </a:xfrm>
          <a:prstGeom prst="chevron">
            <a:avLst/>
          </a:prstGeom>
          <a:solidFill>
            <a:schemeClr val="accent1"/>
          </a:solidFill>
          <a:ln w="12700">
            <a:solidFill>
              <a:schemeClr val="accent1"/>
            </a:solidFill>
            <a:prstDash val="solid"/>
          </a:ln>
        </p:spPr>
      </p:sp>
      <p:sp>
        <p:nvSpPr>
          <p:cNvPr id="12" name="pipeline stage"/>
          <p:cNvSpPr/>
          <p:nvPr/>
        </p:nvSpPr>
        <p:spPr>
          <a:xfrm>
            <a:off x="2437790" y="1783080"/>
            <a:ext cx="1645920" cy="2286000"/>
          </a:xfrm>
          <a:prstGeom prst="roundRect">
            <a:avLst>
              <a:gd name="adj" fmla="val 2778"/>
            </a:avLst>
          </a:prstGeom>
          <a:solidFill>
            <a:schemeClr val="bg2"/>
          </a:solidFill>
          <a:ln w="12700">
            <a:solidFill>
              <a:srgbClr val="CFC688"/>
            </a:solidFill>
            <a:prstDash val="solid"/>
          </a:ln>
        </p:spPr>
      </p:sp>
      <p:sp>
        <p:nvSpPr>
          <p:cNvPr id="13" name="icon lens"/>
          <p:cNvSpPr/>
          <p:nvPr/>
        </p:nvSpPr>
        <p:spPr>
          <a:xfrm>
            <a:off x="2620670" y="1965960"/>
            <a:ext cx="548640" cy="548640"/>
          </a:xfrm>
          <a:prstGeom prst="roundRect">
            <a:avLst>
              <a:gd name="adj" fmla="val 11667"/>
            </a:avLst>
          </a:prstGeom>
          <a:solidFill>
            <a:schemeClr val="tx2"/>
          </a:solidFill>
          <a:ln w="19050">
            <a:solidFill>
              <a:schemeClr val="tx2"/>
            </a:solidFill>
            <a:prstDash val="solid"/>
          </a:ln>
        </p:spPr>
      </p:sp>
      <p:pic>
        <p:nvPicPr>
          <p:cNvPr id="14" name="icon" descr="Sitemap">    </p:cNvPr>
          <p:cNvPicPr>
            <a:picLocks noChangeAspect="1"/>
          </p:cNvPicPr>
          <p:nvPr/>
        </p:nvPicPr>
        <p:blipFill>
          <a:blip r:embed="rId2"/>
          <a:stretch>
            <a:fillRect/>
          </a:stretch>
        </p:blipFill>
        <p:spPr>
          <a:xfrm>
            <a:off x="2763317" y="2108606"/>
            <a:ext cx="263347" cy="263347"/>
          </a:xfrm>
          <a:prstGeom prst="rect">
            <a:avLst/>
          </a:prstGeom>
        </p:spPr>
      </p:pic>
      <p:sp>
        <p:nvSpPr>
          <p:cNvPr id="15" name="Text 10"/>
          <p:cNvSpPr txBox="1"/>
          <p:nvPr/>
        </p:nvSpPr>
        <p:spPr>
          <a:xfrm>
            <a:off x="2620670" y="2624328"/>
            <a:ext cx="1371600" cy="329184"/>
          </a:xfrm>
          <a:prstGeom prst="rect">
            <a:avLst/>
          </a:prstGeom>
          <a:noFill/>
          <a:ln/>
        </p:spPr>
        <p:txBody>
          <a:bodyPr wrap="square" lIns="0" tIns="0" rIns="0" bIns="0" rtlCol="0" anchor="t"/>
          <a:lstStyle/>
          <a:p>
            <a:pPr indent="0" marL="0">
              <a:buNone/>
            </a:pPr>
            <a:r>
              <a:rPr lang="en-US" sz="1600" b="1" dirty="0">
                <a:solidFill>
                  <a:schemeClr val="tx1"/>
                </a:solidFill>
              </a:rPr>
              <a:t>Orchestrator</a:t>
            </a:r>
            <a:endParaRPr lang="en-US" sz="1600" dirty="0"/>
          </a:p>
        </p:txBody>
      </p:sp>
      <p:sp>
        <p:nvSpPr>
          <p:cNvPr id="16" name="Text 11"/>
          <p:cNvSpPr txBox="1"/>
          <p:nvPr/>
        </p:nvSpPr>
        <p:spPr>
          <a:xfrm>
            <a:off x="2620670" y="2990088"/>
            <a:ext cx="1353312" cy="1005840"/>
          </a:xfrm>
          <a:prstGeom prst="rect">
            <a:avLst/>
          </a:prstGeom>
          <a:noFill/>
          <a:ln/>
        </p:spPr>
        <p:txBody>
          <a:bodyPr wrap="square" lIns="0" tIns="0" rIns="0" bIns="0" rtlCol="0" anchor="t"/>
          <a:lstStyle/>
          <a:p>
            <a:pPr indent="0" marL="0">
              <a:buNone/>
            </a:pPr>
            <a:r>
              <a:rPr lang="en-US" sz="1300" dirty="0">
                <a:solidFill>
                  <a:schemeClr val="accent6"/>
                </a:solidFill>
              </a:rPr>
              <a:t>Google ADK + pipeline: shopper profiles in random rounds, one pinned product</a:t>
            </a:r>
            <a:endParaRPr lang="en-US" sz="1300" dirty="0"/>
          </a:p>
        </p:txBody>
      </p:sp>
      <p:sp>
        <p:nvSpPr>
          <p:cNvPr id="17" name="flow arrow"/>
          <p:cNvSpPr/>
          <p:nvPr/>
        </p:nvSpPr>
        <p:spPr>
          <a:xfrm>
            <a:off x="4124858" y="2788920"/>
            <a:ext cx="155448" cy="274320"/>
          </a:xfrm>
          <a:prstGeom prst="chevron">
            <a:avLst/>
          </a:prstGeom>
          <a:solidFill>
            <a:schemeClr val="accent1"/>
          </a:solidFill>
          <a:ln w="12700">
            <a:solidFill>
              <a:schemeClr val="accent1"/>
            </a:solidFill>
            <a:prstDash val="solid"/>
          </a:ln>
        </p:spPr>
      </p:sp>
      <p:sp>
        <p:nvSpPr>
          <p:cNvPr id="18" name="pipeline stage"/>
          <p:cNvSpPr/>
          <p:nvPr/>
        </p:nvSpPr>
        <p:spPr>
          <a:xfrm>
            <a:off x="4326941" y="1783080"/>
            <a:ext cx="1645920" cy="2286000"/>
          </a:xfrm>
          <a:prstGeom prst="roundRect">
            <a:avLst>
              <a:gd name="adj" fmla="val 2778"/>
            </a:avLst>
          </a:prstGeom>
          <a:solidFill>
            <a:schemeClr val="tx2"/>
          </a:solidFill>
          <a:ln w="12700">
            <a:solidFill>
              <a:schemeClr val="tx2"/>
            </a:solidFill>
            <a:prstDash val="solid"/>
          </a:ln>
        </p:spPr>
      </p:sp>
      <p:sp>
        <p:nvSpPr>
          <p:cNvPr id="19" name="icon lens"/>
          <p:cNvSpPr/>
          <p:nvPr/>
        </p:nvSpPr>
        <p:spPr>
          <a:xfrm>
            <a:off x="4509821" y="1965960"/>
            <a:ext cx="548640" cy="548640"/>
          </a:xfrm>
          <a:prstGeom prst="roundRect">
            <a:avLst>
              <a:gd name="adj" fmla="val 11667"/>
            </a:avLst>
          </a:prstGeom>
          <a:solidFill>
            <a:srgbClr val="2B1A59"/>
          </a:solidFill>
          <a:ln w="19050">
            <a:solidFill>
              <a:schemeClr val="accent2"/>
            </a:solidFill>
            <a:prstDash val="solid"/>
          </a:ln>
        </p:spPr>
      </p:sp>
      <p:pic>
        <p:nvPicPr>
          <p:cNvPr id="20" name="icon" descr="Globe">    </p:cNvPr>
          <p:cNvPicPr>
            <a:picLocks noChangeAspect="1"/>
          </p:cNvPicPr>
          <p:nvPr/>
        </p:nvPicPr>
        <p:blipFill>
          <a:blip r:embed="rId3"/>
          <a:stretch>
            <a:fillRect/>
          </a:stretch>
        </p:blipFill>
        <p:spPr>
          <a:xfrm>
            <a:off x="4652467" y="2108606"/>
            <a:ext cx="263347" cy="263347"/>
          </a:xfrm>
          <a:prstGeom prst="rect">
            <a:avLst/>
          </a:prstGeom>
        </p:spPr>
      </p:pic>
      <p:sp>
        <p:nvSpPr>
          <p:cNvPr id="21" name="Text 15"/>
          <p:cNvSpPr txBox="1"/>
          <p:nvPr/>
        </p:nvSpPr>
        <p:spPr>
          <a:xfrm>
            <a:off x="4509821" y="2624328"/>
            <a:ext cx="1371600" cy="329184"/>
          </a:xfrm>
          <a:prstGeom prst="rect">
            <a:avLst/>
          </a:prstGeom>
          <a:noFill/>
          <a:ln/>
        </p:spPr>
        <p:txBody>
          <a:bodyPr wrap="square" lIns="0" tIns="0" rIns="0" bIns="0" rtlCol="0" anchor="t"/>
          <a:lstStyle/>
          <a:p>
            <a:pPr indent="0" marL="0">
              <a:buNone/>
            </a:pPr>
            <a:r>
              <a:rPr lang="en-US" sz="1600" b="1" dirty="0">
                <a:solidFill>
                  <a:schemeClr val="bg1"/>
                </a:solidFill>
              </a:rPr>
              <a:t>Browsers</a:t>
            </a:r>
            <a:endParaRPr lang="en-US" sz="1600" dirty="0"/>
          </a:p>
        </p:txBody>
      </p:sp>
      <p:sp>
        <p:nvSpPr>
          <p:cNvPr id="22" name="Text 16"/>
          <p:cNvSpPr txBox="1"/>
          <p:nvPr/>
        </p:nvSpPr>
        <p:spPr>
          <a:xfrm>
            <a:off x="4509821" y="2990088"/>
            <a:ext cx="1353312" cy="1005840"/>
          </a:xfrm>
          <a:prstGeom prst="rect">
            <a:avLst/>
          </a:prstGeom>
          <a:noFill/>
          <a:ln/>
        </p:spPr>
        <p:txBody>
          <a:bodyPr wrap="square" lIns="0" tIns="0" rIns="0" bIns="0" rtlCol="0" anchor="t"/>
          <a:lstStyle/>
          <a:p>
            <a:pPr indent="0" marL="0">
              <a:buNone/>
            </a:pPr>
            <a:r>
              <a:rPr lang="en-US" sz="1300" dirty="0">
                <a:solidFill>
                  <a:srgbClr val="E4DCFA"/>
                </a:solidFill>
              </a:rPr>
              <a:t>TinyFish Browser and Agent API, or Playwright (open source)</a:t>
            </a:r>
            <a:endParaRPr lang="en-US" sz="1300" dirty="0"/>
          </a:p>
        </p:txBody>
      </p:sp>
      <p:sp>
        <p:nvSpPr>
          <p:cNvPr id="23" name="flow arrow"/>
          <p:cNvSpPr/>
          <p:nvPr/>
        </p:nvSpPr>
        <p:spPr>
          <a:xfrm>
            <a:off x="6014009" y="2788920"/>
            <a:ext cx="155448" cy="274320"/>
          </a:xfrm>
          <a:prstGeom prst="chevron">
            <a:avLst/>
          </a:prstGeom>
          <a:solidFill>
            <a:schemeClr val="accent1"/>
          </a:solidFill>
          <a:ln w="12700">
            <a:solidFill>
              <a:schemeClr val="accent1"/>
            </a:solidFill>
            <a:prstDash val="solid"/>
          </a:ln>
        </p:spPr>
      </p:sp>
      <p:sp>
        <p:nvSpPr>
          <p:cNvPr id="24" name="pipeline stage"/>
          <p:cNvSpPr/>
          <p:nvPr/>
        </p:nvSpPr>
        <p:spPr>
          <a:xfrm>
            <a:off x="6216091" y="1783080"/>
            <a:ext cx="1645920" cy="2286000"/>
          </a:xfrm>
          <a:prstGeom prst="roundRect">
            <a:avLst>
              <a:gd name="adj" fmla="val 2778"/>
            </a:avLst>
          </a:prstGeom>
          <a:solidFill>
            <a:schemeClr val="bg2"/>
          </a:solidFill>
          <a:ln w="12700">
            <a:solidFill>
              <a:srgbClr val="CFC688"/>
            </a:solidFill>
            <a:prstDash val="solid"/>
          </a:ln>
        </p:spPr>
      </p:sp>
      <p:sp>
        <p:nvSpPr>
          <p:cNvPr id="25" name="icon lens"/>
          <p:cNvSpPr/>
          <p:nvPr/>
        </p:nvSpPr>
        <p:spPr>
          <a:xfrm>
            <a:off x="6398971" y="1965960"/>
            <a:ext cx="548640" cy="548640"/>
          </a:xfrm>
          <a:prstGeom prst="roundRect">
            <a:avLst>
              <a:gd name="adj" fmla="val 11667"/>
            </a:avLst>
          </a:prstGeom>
          <a:solidFill>
            <a:schemeClr val="tx2"/>
          </a:solidFill>
          <a:ln w="19050">
            <a:solidFill>
              <a:schemeClr val="tx2"/>
            </a:solidFill>
            <a:prstDash val="solid"/>
          </a:ln>
        </p:spPr>
      </p:sp>
      <p:pic>
        <p:nvPicPr>
          <p:cNvPr id="26" name="icon" descr="Camera">    </p:cNvPr>
          <p:cNvPicPr>
            <a:picLocks noChangeAspect="1"/>
          </p:cNvPicPr>
          <p:nvPr/>
        </p:nvPicPr>
        <p:blipFill>
          <a:blip r:embed="rId4"/>
          <a:stretch>
            <a:fillRect/>
          </a:stretch>
        </p:blipFill>
        <p:spPr>
          <a:xfrm>
            <a:off x="6541618" y="2108606"/>
            <a:ext cx="263347" cy="263347"/>
          </a:xfrm>
          <a:prstGeom prst="rect">
            <a:avLst/>
          </a:prstGeom>
        </p:spPr>
      </p:pic>
      <p:sp>
        <p:nvSpPr>
          <p:cNvPr id="27" name="Text 20"/>
          <p:cNvSpPr txBox="1"/>
          <p:nvPr/>
        </p:nvSpPr>
        <p:spPr>
          <a:xfrm>
            <a:off x="6398971" y="2624328"/>
            <a:ext cx="1371600" cy="329184"/>
          </a:xfrm>
          <a:prstGeom prst="rect">
            <a:avLst/>
          </a:prstGeom>
          <a:noFill/>
          <a:ln/>
        </p:spPr>
        <p:txBody>
          <a:bodyPr wrap="square" lIns="0" tIns="0" rIns="0" bIns="0" rtlCol="0" anchor="t"/>
          <a:lstStyle/>
          <a:p>
            <a:pPr indent="0" marL="0">
              <a:buNone/>
            </a:pPr>
            <a:r>
              <a:rPr lang="en-US" sz="1600" b="1" dirty="0">
                <a:solidFill>
                  <a:schemeClr val="tx1"/>
                </a:solidFill>
              </a:rPr>
              <a:t>Capture</a:t>
            </a:r>
            <a:endParaRPr lang="en-US" sz="1600" dirty="0"/>
          </a:p>
        </p:txBody>
      </p:sp>
      <p:sp>
        <p:nvSpPr>
          <p:cNvPr id="28" name="Text 21"/>
          <p:cNvSpPr txBox="1"/>
          <p:nvPr/>
        </p:nvSpPr>
        <p:spPr>
          <a:xfrm>
            <a:off x="6398971" y="2990088"/>
            <a:ext cx="1353312" cy="1005840"/>
          </a:xfrm>
          <a:prstGeom prst="rect">
            <a:avLst/>
          </a:prstGeom>
          <a:noFill/>
          <a:ln/>
        </p:spPr>
        <p:txBody>
          <a:bodyPr wrap="square" lIns="0" tIns="0" rIns="0" bIns="0" rtlCol="0" anchor="t"/>
          <a:lstStyle/>
          <a:p>
            <a:pPr indent="0" marL="0">
              <a:buNone/>
            </a:pPr>
            <a:r>
              <a:rPr lang="en-US" sz="1300" dirty="0">
                <a:solidFill>
                  <a:schemeClr val="accent6"/>
                </a:solidFill>
              </a:rPr>
              <a:t>Every screen: prices, copy, checkboxes, screenshots</a:t>
            </a:r>
            <a:endParaRPr lang="en-US" sz="1300" dirty="0"/>
          </a:p>
        </p:txBody>
      </p:sp>
      <p:sp>
        <p:nvSpPr>
          <p:cNvPr id="29" name="flow arrow"/>
          <p:cNvSpPr/>
          <p:nvPr/>
        </p:nvSpPr>
        <p:spPr>
          <a:xfrm>
            <a:off x="7903159" y="2788920"/>
            <a:ext cx="155448" cy="274320"/>
          </a:xfrm>
          <a:prstGeom prst="chevron">
            <a:avLst/>
          </a:prstGeom>
          <a:solidFill>
            <a:schemeClr val="accent1"/>
          </a:solidFill>
          <a:ln w="12700">
            <a:solidFill>
              <a:schemeClr val="accent1"/>
            </a:solidFill>
            <a:prstDash val="solid"/>
          </a:ln>
        </p:spPr>
      </p:sp>
      <p:sp>
        <p:nvSpPr>
          <p:cNvPr id="30" name="pipeline stage"/>
          <p:cNvSpPr/>
          <p:nvPr/>
        </p:nvSpPr>
        <p:spPr>
          <a:xfrm>
            <a:off x="8105242" y="1783080"/>
            <a:ext cx="1645920" cy="2286000"/>
          </a:xfrm>
          <a:prstGeom prst="roundRect">
            <a:avLst>
              <a:gd name="adj" fmla="val 2778"/>
            </a:avLst>
          </a:prstGeom>
          <a:solidFill>
            <a:schemeClr val="bg2"/>
          </a:solidFill>
          <a:ln w="12700">
            <a:solidFill>
              <a:srgbClr val="CFC688"/>
            </a:solidFill>
            <a:prstDash val="solid"/>
          </a:ln>
        </p:spPr>
      </p:sp>
      <p:sp>
        <p:nvSpPr>
          <p:cNvPr id="31" name="icon lens"/>
          <p:cNvSpPr/>
          <p:nvPr/>
        </p:nvSpPr>
        <p:spPr>
          <a:xfrm>
            <a:off x="8288122" y="1965960"/>
            <a:ext cx="548640" cy="548640"/>
          </a:xfrm>
          <a:prstGeom prst="roundRect">
            <a:avLst>
              <a:gd name="adj" fmla="val 11667"/>
            </a:avLst>
          </a:prstGeom>
          <a:solidFill>
            <a:schemeClr val="tx2"/>
          </a:solidFill>
          <a:ln w="19050">
            <a:solidFill>
              <a:schemeClr val="tx2"/>
            </a:solidFill>
            <a:prstDash val="solid"/>
          </a:ln>
        </p:spPr>
      </p:sp>
      <p:pic>
        <p:nvPicPr>
          <p:cNvPr id="32" name="icon" descr="Brain">    </p:cNvPr>
          <p:cNvPicPr>
            <a:picLocks noChangeAspect="1"/>
          </p:cNvPicPr>
          <p:nvPr/>
        </p:nvPicPr>
        <p:blipFill>
          <a:blip r:embed="rId5"/>
          <a:stretch>
            <a:fillRect/>
          </a:stretch>
        </p:blipFill>
        <p:spPr>
          <a:xfrm>
            <a:off x="8430768" y="2108606"/>
            <a:ext cx="263347" cy="263347"/>
          </a:xfrm>
          <a:prstGeom prst="rect">
            <a:avLst/>
          </a:prstGeom>
        </p:spPr>
      </p:pic>
      <p:sp>
        <p:nvSpPr>
          <p:cNvPr id="33" name="Text 25"/>
          <p:cNvSpPr txBox="1"/>
          <p:nvPr/>
        </p:nvSpPr>
        <p:spPr>
          <a:xfrm>
            <a:off x="8288122" y="2624328"/>
            <a:ext cx="1371600" cy="329184"/>
          </a:xfrm>
          <a:prstGeom prst="rect">
            <a:avLst/>
          </a:prstGeom>
          <a:noFill/>
          <a:ln/>
        </p:spPr>
        <p:txBody>
          <a:bodyPr wrap="square" lIns="0" tIns="0" rIns="0" bIns="0" rtlCol="0" anchor="t"/>
          <a:lstStyle/>
          <a:p>
            <a:pPr indent="0" marL="0">
              <a:buNone/>
            </a:pPr>
            <a:r>
              <a:rPr lang="en-US" sz="1600" b="1" dirty="0">
                <a:solidFill>
                  <a:schemeClr val="tx1"/>
                </a:solidFill>
              </a:rPr>
              <a:t>Analysis</a:t>
            </a:r>
            <a:endParaRPr lang="en-US" sz="1600" dirty="0"/>
          </a:p>
        </p:txBody>
      </p:sp>
      <p:sp>
        <p:nvSpPr>
          <p:cNvPr id="34" name="Text 26"/>
          <p:cNvSpPr txBox="1"/>
          <p:nvPr/>
        </p:nvSpPr>
        <p:spPr>
          <a:xfrm>
            <a:off x="8288122" y="2990088"/>
            <a:ext cx="1353312" cy="1005840"/>
          </a:xfrm>
          <a:prstGeom prst="rect">
            <a:avLst/>
          </a:prstGeom>
          <a:noFill/>
          <a:ln/>
        </p:spPr>
        <p:txBody>
          <a:bodyPr wrap="square" lIns="0" tIns="0" rIns="0" bIns="0" rtlCol="0" anchor="t"/>
          <a:lstStyle/>
          <a:p>
            <a:pPr indent="0" marL="0">
              <a:buNone/>
            </a:pPr>
            <a:r>
              <a:rPr lang="en-US" sz="1300" dirty="0">
                <a:solidFill>
                  <a:schemeClr val="accent6"/>
                </a:solidFill>
              </a:rPr>
              <a:t>Classifier, price statistics, Gemini policy check</a:t>
            </a:r>
            <a:endParaRPr lang="en-US" sz="1300" dirty="0"/>
          </a:p>
        </p:txBody>
      </p:sp>
      <p:sp>
        <p:nvSpPr>
          <p:cNvPr id="35" name="flow arrow"/>
          <p:cNvSpPr/>
          <p:nvPr/>
        </p:nvSpPr>
        <p:spPr>
          <a:xfrm>
            <a:off x="9792310" y="2788920"/>
            <a:ext cx="155448" cy="274320"/>
          </a:xfrm>
          <a:prstGeom prst="chevron">
            <a:avLst/>
          </a:prstGeom>
          <a:solidFill>
            <a:schemeClr val="accent1"/>
          </a:solidFill>
          <a:ln w="12700">
            <a:solidFill>
              <a:schemeClr val="accent1"/>
            </a:solidFill>
            <a:prstDash val="solid"/>
          </a:ln>
        </p:spPr>
      </p:sp>
      <p:sp>
        <p:nvSpPr>
          <p:cNvPr id="36" name="pipeline stage"/>
          <p:cNvSpPr/>
          <p:nvPr/>
        </p:nvSpPr>
        <p:spPr>
          <a:xfrm>
            <a:off x="9994392" y="1783080"/>
            <a:ext cx="1645920" cy="2286000"/>
          </a:xfrm>
          <a:prstGeom prst="roundRect">
            <a:avLst>
              <a:gd name="adj" fmla="val 2778"/>
            </a:avLst>
          </a:prstGeom>
          <a:solidFill>
            <a:schemeClr val="bg2"/>
          </a:solidFill>
          <a:ln w="12700">
            <a:solidFill>
              <a:srgbClr val="CFC688"/>
            </a:solidFill>
            <a:prstDash val="solid"/>
          </a:ln>
        </p:spPr>
      </p:sp>
      <p:sp>
        <p:nvSpPr>
          <p:cNvPr id="37" name="icon lens"/>
          <p:cNvSpPr/>
          <p:nvPr/>
        </p:nvSpPr>
        <p:spPr>
          <a:xfrm>
            <a:off x="10177272" y="1965960"/>
            <a:ext cx="548640" cy="548640"/>
          </a:xfrm>
          <a:prstGeom prst="roundRect">
            <a:avLst>
              <a:gd name="adj" fmla="val 11667"/>
            </a:avLst>
          </a:prstGeom>
          <a:solidFill>
            <a:schemeClr val="tx2"/>
          </a:solidFill>
          <a:ln w="19050">
            <a:solidFill>
              <a:schemeClr val="tx2"/>
            </a:solidFill>
            <a:prstDash val="solid"/>
          </a:ln>
        </p:spPr>
      </p:sp>
      <p:pic>
        <p:nvPicPr>
          <p:cNvPr id="38" name="icon" descr="FilePdf">    </p:cNvPr>
          <p:cNvPicPr>
            <a:picLocks noChangeAspect="1"/>
          </p:cNvPicPr>
          <p:nvPr/>
        </p:nvPicPr>
        <p:blipFill>
          <a:blip r:embed="rId6"/>
          <a:stretch>
            <a:fillRect/>
          </a:stretch>
        </p:blipFill>
        <p:spPr>
          <a:xfrm>
            <a:off x="10319918" y="2108606"/>
            <a:ext cx="263347" cy="263347"/>
          </a:xfrm>
          <a:prstGeom prst="rect">
            <a:avLst/>
          </a:prstGeom>
        </p:spPr>
      </p:pic>
      <p:sp>
        <p:nvSpPr>
          <p:cNvPr id="39" name="Text 30"/>
          <p:cNvSpPr txBox="1"/>
          <p:nvPr/>
        </p:nvSpPr>
        <p:spPr>
          <a:xfrm>
            <a:off x="10177272" y="2624328"/>
            <a:ext cx="1371600" cy="329184"/>
          </a:xfrm>
          <a:prstGeom prst="rect">
            <a:avLst/>
          </a:prstGeom>
          <a:noFill/>
          <a:ln/>
        </p:spPr>
        <p:txBody>
          <a:bodyPr wrap="square" lIns="0" tIns="0" rIns="0" bIns="0" rtlCol="0" anchor="t"/>
          <a:lstStyle/>
          <a:p>
            <a:pPr indent="0" marL="0">
              <a:buNone/>
            </a:pPr>
            <a:r>
              <a:rPr lang="en-US" sz="1600" b="1" dirty="0">
                <a:solidFill>
                  <a:schemeClr val="tx1"/>
                </a:solidFill>
              </a:rPr>
              <a:t>Outputs</a:t>
            </a:r>
            <a:endParaRPr lang="en-US" sz="1600" dirty="0"/>
          </a:p>
        </p:txBody>
      </p:sp>
      <p:sp>
        <p:nvSpPr>
          <p:cNvPr id="40" name="Text 31"/>
          <p:cNvSpPr txBox="1"/>
          <p:nvPr/>
        </p:nvSpPr>
        <p:spPr>
          <a:xfrm>
            <a:off x="10177272" y="2990088"/>
            <a:ext cx="1353312" cy="1005840"/>
          </a:xfrm>
          <a:prstGeom prst="rect">
            <a:avLst/>
          </a:prstGeom>
          <a:noFill/>
          <a:ln/>
        </p:spPr>
        <p:txBody>
          <a:bodyPr wrap="square" lIns="0" tIns="0" rIns="0" bIns="0" rtlCol="0" anchor="t"/>
          <a:lstStyle/>
          <a:p>
            <a:pPr indent="0" marL="0">
              <a:buNone/>
            </a:pPr>
            <a:r>
              <a:rPr lang="en-US" sz="1300" dirty="0">
                <a:solidFill>
                  <a:schemeClr val="accent6"/>
                </a:solidFill>
              </a:rPr>
              <a:t>Score, findings report, SHA‑256 hashes, NCH complaint</a:t>
            </a:r>
            <a:endParaRPr lang="en-US" sz="1300" dirty="0"/>
          </a:p>
        </p:txBody>
      </p:sp>
      <p:sp>
        <p:nvSpPr>
          <p:cNvPr id="41" name="Text 32"/>
          <p:cNvSpPr txBox="1"/>
          <p:nvPr/>
        </p:nvSpPr>
        <p:spPr>
          <a:xfrm>
            <a:off x="548640" y="4343400"/>
            <a:ext cx="5029200" cy="347472"/>
          </a:xfrm>
          <a:prstGeom prst="rect">
            <a:avLst/>
          </a:prstGeom>
          <a:noFill/>
          <a:ln/>
        </p:spPr>
        <p:txBody>
          <a:bodyPr wrap="square" lIns="0" tIns="0" rIns="0" bIns="0" rtlCol="0" anchor="t"/>
          <a:lstStyle/>
          <a:p>
            <a:pPr indent="0" marL="0">
              <a:buNone/>
            </a:pPr>
            <a:r>
              <a:rPr lang="en-US" sz="1800" dirty="0">
                <a:solidFill>
                  <a:schemeClr val="tx1"/>
                </a:solidFill>
                <a:latin typeface="Impact" pitchFamily="34" charset="0"/>
                <a:ea typeface="Impact" pitchFamily="34" charset="-122"/>
                <a:cs typeface="Impact" pitchFamily="34" charset="-120"/>
              </a:rPr>
              <a:t>Stack</a:t>
            </a:r>
            <a:endParaRPr lang="en-US" sz="1800" dirty="0"/>
          </a:p>
        </p:txBody>
      </p:sp>
      <p:sp>
        <p:nvSpPr>
          <p:cNvPr id="42" name="chip"/>
          <p:cNvSpPr/>
          <p:nvPr/>
        </p:nvSpPr>
        <p:spPr>
          <a:xfrm>
            <a:off x="548640" y="4800600"/>
            <a:ext cx="830275" cy="347472"/>
          </a:xfrm>
          <a:prstGeom prst="roundRect">
            <a:avLst>
              <a:gd name="adj" fmla="val 50000"/>
            </a:avLst>
          </a:prstGeom>
          <a:solidFill>
            <a:schemeClr val="bg1"/>
          </a:solidFill>
          <a:ln w="9525">
            <a:solidFill>
              <a:schemeClr val="accent1"/>
            </a:solidFill>
            <a:prstDash val="solid"/>
          </a:ln>
        </p:spPr>
      </p:sp>
      <p:sp>
        <p:nvSpPr>
          <p:cNvPr id="43" name="Text 34"/>
          <p:cNvSpPr txBox="1"/>
          <p:nvPr/>
        </p:nvSpPr>
        <p:spPr>
          <a:xfrm>
            <a:off x="548640" y="4800600"/>
            <a:ext cx="830275" cy="347472"/>
          </a:xfrm>
          <a:prstGeom prst="rect">
            <a:avLst/>
          </a:prstGeom>
          <a:noFill/>
          <a:ln/>
        </p:spPr>
        <p:txBody>
          <a:bodyPr wrap="square" lIns="0" tIns="0" rIns="0" bIns="0" rtlCol="0" anchor="ctr"/>
          <a:lstStyle/>
          <a:p>
            <a:pPr algn="ctr" indent="0" marL="0">
              <a:buNone/>
            </a:pPr>
            <a:r>
              <a:rPr lang="en-US" sz="1200" b="1" dirty="0">
                <a:solidFill>
                  <a:schemeClr val="accent1"/>
                </a:solidFill>
              </a:rPr>
              <a:t>Python</a:t>
            </a:r>
            <a:endParaRPr lang="en-US" sz="1200" dirty="0"/>
          </a:p>
        </p:txBody>
      </p:sp>
      <p:sp>
        <p:nvSpPr>
          <p:cNvPr id="44" name="chip"/>
          <p:cNvSpPr/>
          <p:nvPr/>
        </p:nvSpPr>
        <p:spPr>
          <a:xfrm>
            <a:off x="1488643" y="4800600"/>
            <a:ext cx="919886" cy="347472"/>
          </a:xfrm>
          <a:prstGeom prst="roundRect">
            <a:avLst>
              <a:gd name="adj" fmla="val 50000"/>
            </a:avLst>
          </a:prstGeom>
          <a:solidFill>
            <a:schemeClr val="bg1"/>
          </a:solidFill>
          <a:ln w="9525">
            <a:solidFill>
              <a:schemeClr val="accent1"/>
            </a:solidFill>
            <a:prstDash val="solid"/>
          </a:ln>
        </p:spPr>
      </p:sp>
      <p:sp>
        <p:nvSpPr>
          <p:cNvPr id="45" name="Text 36"/>
          <p:cNvSpPr txBox="1"/>
          <p:nvPr/>
        </p:nvSpPr>
        <p:spPr>
          <a:xfrm>
            <a:off x="1488643" y="4800600"/>
            <a:ext cx="919886" cy="347472"/>
          </a:xfrm>
          <a:prstGeom prst="rect">
            <a:avLst/>
          </a:prstGeom>
          <a:noFill/>
          <a:ln/>
        </p:spPr>
        <p:txBody>
          <a:bodyPr wrap="square" lIns="0" tIns="0" rIns="0" bIns="0" rtlCol="0" anchor="ctr"/>
          <a:lstStyle/>
          <a:p>
            <a:pPr algn="ctr" indent="0" marL="0">
              <a:buNone/>
            </a:pPr>
            <a:r>
              <a:rPr lang="en-US" sz="1200" b="1" dirty="0">
                <a:solidFill>
                  <a:schemeClr val="accent1"/>
                </a:solidFill>
              </a:rPr>
              <a:t>FastAPI</a:t>
            </a:r>
            <a:endParaRPr lang="en-US" sz="1200" dirty="0"/>
          </a:p>
        </p:txBody>
      </p:sp>
      <p:sp>
        <p:nvSpPr>
          <p:cNvPr id="46" name="chip"/>
          <p:cNvSpPr/>
          <p:nvPr/>
        </p:nvSpPr>
        <p:spPr>
          <a:xfrm>
            <a:off x="2518258" y="4800600"/>
            <a:ext cx="1367942" cy="347472"/>
          </a:xfrm>
          <a:prstGeom prst="roundRect">
            <a:avLst>
              <a:gd name="adj" fmla="val 50000"/>
            </a:avLst>
          </a:prstGeom>
          <a:solidFill>
            <a:schemeClr val="bg1"/>
          </a:solidFill>
          <a:ln w="9525">
            <a:solidFill>
              <a:schemeClr val="accent1"/>
            </a:solidFill>
            <a:prstDash val="solid"/>
          </a:ln>
        </p:spPr>
      </p:sp>
      <p:sp>
        <p:nvSpPr>
          <p:cNvPr id="47" name="Text 38"/>
          <p:cNvSpPr txBox="1"/>
          <p:nvPr/>
        </p:nvSpPr>
        <p:spPr>
          <a:xfrm>
            <a:off x="2518258" y="4800600"/>
            <a:ext cx="1367942" cy="347472"/>
          </a:xfrm>
          <a:prstGeom prst="rect">
            <a:avLst/>
          </a:prstGeom>
          <a:noFill/>
          <a:ln/>
        </p:spPr>
        <p:txBody>
          <a:bodyPr wrap="square" lIns="0" tIns="0" rIns="0" bIns="0" rtlCol="0" anchor="ctr"/>
          <a:lstStyle/>
          <a:p>
            <a:pPr algn="ctr" indent="0" marL="0">
              <a:buNone/>
            </a:pPr>
            <a:r>
              <a:rPr lang="en-US" sz="1200" b="1" dirty="0">
                <a:solidFill>
                  <a:schemeClr val="accent1"/>
                </a:solidFill>
              </a:rPr>
              <a:t>TinyFish SDK</a:t>
            </a:r>
            <a:endParaRPr lang="en-US" sz="1200" dirty="0"/>
          </a:p>
        </p:txBody>
      </p:sp>
      <p:sp>
        <p:nvSpPr>
          <p:cNvPr id="48" name="chip"/>
          <p:cNvSpPr/>
          <p:nvPr/>
        </p:nvSpPr>
        <p:spPr>
          <a:xfrm>
            <a:off x="3995928" y="4800600"/>
            <a:ext cx="1188720" cy="347472"/>
          </a:xfrm>
          <a:prstGeom prst="roundRect">
            <a:avLst>
              <a:gd name="adj" fmla="val 50000"/>
            </a:avLst>
          </a:prstGeom>
          <a:solidFill>
            <a:schemeClr val="bg1"/>
          </a:solidFill>
          <a:ln w="9525">
            <a:solidFill>
              <a:schemeClr val="accent1"/>
            </a:solidFill>
            <a:prstDash val="solid"/>
          </a:ln>
        </p:spPr>
      </p:sp>
      <p:sp>
        <p:nvSpPr>
          <p:cNvPr id="49" name="Text 40"/>
          <p:cNvSpPr txBox="1"/>
          <p:nvPr/>
        </p:nvSpPr>
        <p:spPr>
          <a:xfrm>
            <a:off x="3995928" y="4800600"/>
            <a:ext cx="1188720" cy="347472"/>
          </a:xfrm>
          <a:prstGeom prst="rect">
            <a:avLst/>
          </a:prstGeom>
          <a:noFill/>
          <a:ln/>
        </p:spPr>
        <p:txBody>
          <a:bodyPr wrap="square" lIns="0" tIns="0" rIns="0" bIns="0" rtlCol="0" anchor="ctr"/>
          <a:lstStyle/>
          <a:p>
            <a:pPr algn="ctr" indent="0" marL="0">
              <a:buNone/>
            </a:pPr>
            <a:r>
              <a:rPr lang="en-US" sz="1200" b="1" dirty="0">
                <a:solidFill>
                  <a:schemeClr val="accent1"/>
                </a:solidFill>
              </a:rPr>
              <a:t>Playwright</a:t>
            </a:r>
            <a:endParaRPr lang="en-US" sz="1200" dirty="0"/>
          </a:p>
        </p:txBody>
      </p:sp>
      <p:sp>
        <p:nvSpPr>
          <p:cNvPr id="50" name="chip"/>
          <p:cNvSpPr/>
          <p:nvPr/>
        </p:nvSpPr>
        <p:spPr>
          <a:xfrm>
            <a:off x="548640" y="5257800"/>
            <a:ext cx="1188720" cy="347472"/>
          </a:xfrm>
          <a:prstGeom prst="roundRect">
            <a:avLst>
              <a:gd name="adj" fmla="val 50000"/>
            </a:avLst>
          </a:prstGeom>
          <a:solidFill>
            <a:schemeClr val="bg1"/>
          </a:solidFill>
          <a:ln w="9525">
            <a:solidFill>
              <a:schemeClr val="accent1"/>
            </a:solidFill>
            <a:prstDash val="solid"/>
          </a:ln>
        </p:spPr>
      </p:sp>
      <p:sp>
        <p:nvSpPr>
          <p:cNvPr id="51" name="Text 42"/>
          <p:cNvSpPr txBox="1"/>
          <p:nvPr/>
        </p:nvSpPr>
        <p:spPr>
          <a:xfrm>
            <a:off x="548640" y="5257800"/>
            <a:ext cx="1188720" cy="347472"/>
          </a:xfrm>
          <a:prstGeom prst="rect">
            <a:avLst/>
          </a:prstGeom>
          <a:noFill/>
          <a:ln/>
        </p:spPr>
        <p:txBody>
          <a:bodyPr wrap="square" lIns="0" tIns="0" rIns="0" bIns="0" rtlCol="0" anchor="ctr"/>
          <a:lstStyle/>
          <a:p>
            <a:pPr algn="ctr" indent="0" marL="0">
              <a:buNone/>
            </a:pPr>
            <a:r>
              <a:rPr lang="en-US" sz="1200" b="1" dirty="0">
                <a:solidFill>
                  <a:schemeClr val="accent1"/>
                </a:solidFill>
              </a:rPr>
              <a:t>Google ADK</a:t>
            </a:r>
            <a:endParaRPr lang="en-US" sz="1200" dirty="0"/>
          </a:p>
        </p:txBody>
      </p:sp>
      <p:sp>
        <p:nvSpPr>
          <p:cNvPr id="52" name="chip"/>
          <p:cNvSpPr/>
          <p:nvPr/>
        </p:nvSpPr>
        <p:spPr>
          <a:xfrm>
            <a:off x="1847088" y="5257800"/>
            <a:ext cx="830275" cy="347472"/>
          </a:xfrm>
          <a:prstGeom prst="roundRect">
            <a:avLst>
              <a:gd name="adj" fmla="val 50000"/>
            </a:avLst>
          </a:prstGeom>
          <a:solidFill>
            <a:schemeClr val="bg1"/>
          </a:solidFill>
          <a:ln w="9525">
            <a:solidFill>
              <a:schemeClr val="accent1"/>
            </a:solidFill>
            <a:prstDash val="solid"/>
          </a:ln>
        </p:spPr>
      </p:sp>
      <p:sp>
        <p:nvSpPr>
          <p:cNvPr id="53" name="Text 44"/>
          <p:cNvSpPr txBox="1"/>
          <p:nvPr/>
        </p:nvSpPr>
        <p:spPr>
          <a:xfrm>
            <a:off x="1847088" y="5257800"/>
            <a:ext cx="830275" cy="347472"/>
          </a:xfrm>
          <a:prstGeom prst="rect">
            <a:avLst/>
          </a:prstGeom>
          <a:noFill/>
          <a:ln/>
        </p:spPr>
        <p:txBody>
          <a:bodyPr wrap="square" lIns="0" tIns="0" rIns="0" bIns="0" rtlCol="0" anchor="ctr"/>
          <a:lstStyle/>
          <a:p>
            <a:pPr algn="ctr" indent="0" marL="0">
              <a:buNone/>
            </a:pPr>
            <a:r>
              <a:rPr lang="en-US" sz="1200" b="1" dirty="0">
                <a:solidFill>
                  <a:schemeClr val="accent1"/>
                </a:solidFill>
              </a:rPr>
              <a:t>Gemini</a:t>
            </a:r>
            <a:endParaRPr lang="en-US" sz="1200" dirty="0"/>
          </a:p>
        </p:txBody>
      </p:sp>
      <p:sp>
        <p:nvSpPr>
          <p:cNvPr id="54" name="chip"/>
          <p:cNvSpPr/>
          <p:nvPr/>
        </p:nvSpPr>
        <p:spPr>
          <a:xfrm>
            <a:off x="2787091" y="5257800"/>
            <a:ext cx="1367942" cy="347472"/>
          </a:xfrm>
          <a:prstGeom prst="roundRect">
            <a:avLst>
              <a:gd name="adj" fmla="val 50000"/>
            </a:avLst>
          </a:prstGeom>
          <a:solidFill>
            <a:schemeClr val="bg1"/>
          </a:solidFill>
          <a:ln w="9525">
            <a:solidFill>
              <a:schemeClr val="accent1"/>
            </a:solidFill>
            <a:prstDash val="solid"/>
          </a:ln>
        </p:spPr>
      </p:sp>
      <p:sp>
        <p:nvSpPr>
          <p:cNvPr id="55" name="Text 46"/>
          <p:cNvSpPr txBox="1"/>
          <p:nvPr/>
        </p:nvSpPr>
        <p:spPr>
          <a:xfrm>
            <a:off x="2787091" y="5257800"/>
            <a:ext cx="1367942" cy="347472"/>
          </a:xfrm>
          <a:prstGeom prst="rect">
            <a:avLst/>
          </a:prstGeom>
          <a:noFill/>
          <a:ln/>
        </p:spPr>
        <p:txBody>
          <a:bodyPr wrap="square" lIns="0" tIns="0" rIns="0" bIns="0" rtlCol="0" anchor="ctr"/>
          <a:lstStyle/>
          <a:p>
            <a:pPr algn="ctr" indent="0" marL="0">
              <a:buNone/>
            </a:pPr>
            <a:r>
              <a:rPr lang="en-US" sz="1200" b="1" dirty="0">
                <a:solidFill>
                  <a:schemeClr val="accent1"/>
                </a:solidFill>
              </a:rPr>
              <a:t>scikit-learn</a:t>
            </a:r>
            <a:endParaRPr lang="en-US" sz="1200" dirty="0"/>
          </a:p>
        </p:txBody>
      </p:sp>
      <p:sp>
        <p:nvSpPr>
          <p:cNvPr id="56" name="chip"/>
          <p:cNvSpPr/>
          <p:nvPr/>
        </p:nvSpPr>
        <p:spPr>
          <a:xfrm>
            <a:off x="4264762" y="5257800"/>
            <a:ext cx="740664" cy="347472"/>
          </a:xfrm>
          <a:prstGeom prst="roundRect">
            <a:avLst>
              <a:gd name="adj" fmla="val 50000"/>
            </a:avLst>
          </a:prstGeom>
          <a:solidFill>
            <a:schemeClr val="bg1"/>
          </a:solidFill>
          <a:ln w="9525">
            <a:solidFill>
              <a:schemeClr val="accent1"/>
            </a:solidFill>
            <a:prstDash val="solid"/>
          </a:ln>
        </p:spPr>
      </p:sp>
      <p:sp>
        <p:nvSpPr>
          <p:cNvPr id="57" name="Text 48"/>
          <p:cNvSpPr txBox="1"/>
          <p:nvPr/>
        </p:nvSpPr>
        <p:spPr>
          <a:xfrm>
            <a:off x="4264762" y="5257800"/>
            <a:ext cx="740664" cy="347472"/>
          </a:xfrm>
          <a:prstGeom prst="rect">
            <a:avLst/>
          </a:prstGeom>
          <a:noFill/>
          <a:ln/>
        </p:spPr>
        <p:txBody>
          <a:bodyPr wrap="square" lIns="0" tIns="0" rIns="0" bIns="0" rtlCol="0" anchor="ctr"/>
          <a:lstStyle/>
          <a:p>
            <a:pPr algn="ctr" indent="0" marL="0">
              <a:buNone/>
            </a:pPr>
            <a:r>
              <a:rPr lang="en-US" sz="1200" b="1" dirty="0">
                <a:solidFill>
                  <a:schemeClr val="accent1"/>
                </a:solidFill>
              </a:rPr>
              <a:t>SciPy</a:t>
            </a:r>
            <a:endParaRPr lang="en-US" sz="1200" dirty="0"/>
          </a:p>
        </p:txBody>
      </p:sp>
      <p:sp>
        <p:nvSpPr>
          <p:cNvPr id="58" name="chip"/>
          <p:cNvSpPr/>
          <p:nvPr/>
        </p:nvSpPr>
        <p:spPr>
          <a:xfrm>
            <a:off x="548640" y="5715000"/>
            <a:ext cx="830275" cy="347472"/>
          </a:xfrm>
          <a:prstGeom prst="roundRect">
            <a:avLst>
              <a:gd name="adj" fmla="val 50000"/>
            </a:avLst>
          </a:prstGeom>
          <a:solidFill>
            <a:schemeClr val="bg1"/>
          </a:solidFill>
          <a:ln w="9525">
            <a:solidFill>
              <a:schemeClr val="accent1"/>
            </a:solidFill>
            <a:prstDash val="solid"/>
          </a:ln>
        </p:spPr>
      </p:sp>
      <p:sp>
        <p:nvSpPr>
          <p:cNvPr id="59" name="Text 50"/>
          <p:cNvSpPr txBox="1"/>
          <p:nvPr/>
        </p:nvSpPr>
        <p:spPr>
          <a:xfrm>
            <a:off x="548640" y="5715000"/>
            <a:ext cx="830275" cy="347472"/>
          </a:xfrm>
          <a:prstGeom prst="rect">
            <a:avLst/>
          </a:prstGeom>
          <a:noFill/>
          <a:ln/>
        </p:spPr>
        <p:txBody>
          <a:bodyPr wrap="square" lIns="0" tIns="0" rIns="0" bIns="0" rtlCol="0" anchor="ctr"/>
          <a:lstStyle/>
          <a:p>
            <a:pPr algn="ctr" indent="0" marL="0">
              <a:buNone/>
            </a:pPr>
            <a:r>
              <a:rPr lang="en-US" sz="1200" b="1" dirty="0">
                <a:solidFill>
                  <a:schemeClr val="accent1"/>
                </a:solidFill>
              </a:rPr>
              <a:t>SQLite</a:t>
            </a:r>
            <a:endParaRPr lang="en-US" sz="1200" dirty="0"/>
          </a:p>
        </p:txBody>
      </p:sp>
      <p:sp>
        <p:nvSpPr>
          <p:cNvPr id="60" name="safety panel"/>
          <p:cNvSpPr/>
          <p:nvPr/>
        </p:nvSpPr>
        <p:spPr>
          <a:xfrm>
            <a:off x="6263640" y="4343400"/>
            <a:ext cx="5376672" cy="1874520"/>
          </a:xfrm>
          <a:prstGeom prst="roundRect">
            <a:avLst>
              <a:gd name="adj" fmla="val 2439"/>
            </a:avLst>
          </a:prstGeom>
          <a:solidFill>
            <a:schemeClr val="tx2"/>
          </a:solidFill>
          <a:ln w="12700">
            <a:solidFill>
              <a:schemeClr val="tx2"/>
            </a:solidFill>
            <a:prstDash val="solid"/>
          </a:ln>
        </p:spPr>
      </p:sp>
      <p:sp>
        <p:nvSpPr>
          <p:cNvPr id="61" name="Text 52"/>
          <p:cNvSpPr txBox="1"/>
          <p:nvPr/>
        </p:nvSpPr>
        <p:spPr>
          <a:xfrm>
            <a:off x="6537960" y="4498848"/>
            <a:ext cx="4846320" cy="347472"/>
          </a:xfrm>
          <a:prstGeom prst="rect">
            <a:avLst/>
          </a:prstGeom>
          <a:noFill/>
          <a:ln/>
        </p:spPr>
        <p:txBody>
          <a:bodyPr wrap="square" lIns="0" tIns="0" rIns="0" bIns="0" rtlCol="0" anchor="t"/>
          <a:lstStyle/>
          <a:p>
            <a:pPr indent="0" marL="0">
              <a:buNone/>
            </a:pPr>
            <a:r>
              <a:rPr lang="en-US" sz="1800" dirty="0">
                <a:solidFill>
                  <a:schemeClr val="accent2"/>
                </a:solidFill>
                <a:latin typeface="Impact" pitchFamily="34" charset="0"/>
                <a:ea typeface="Impact" pitchFamily="34" charset="-122"/>
                <a:cs typeface="Impact" pitchFamily="34" charset="-120"/>
              </a:rPr>
              <a:t>Safety by design</a:t>
            </a:r>
            <a:endParaRPr lang="en-US" sz="1800" dirty="0"/>
          </a:p>
        </p:txBody>
      </p:sp>
      <p:sp>
        <p:nvSpPr>
          <p:cNvPr id="62" name="Text 53"/>
          <p:cNvSpPr txBox="1"/>
          <p:nvPr/>
        </p:nvSpPr>
        <p:spPr>
          <a:xfrm>
            <a:off x="6537960" y="4919472"/>
            <a:ext cx="2514600" cy="1188720"/>
          </a:xfrm>
          <a:prstGeom prst="rect">
            <a:avLst/>
          </a:prstGeom>
          <a:noFill/>
          <a:ln/>
        </p:spPr>
        <p:txBody>
          <a:bodyPr wrap="square" lIns="0" tIns="0" rIns="0" bIns="0" rtlCol="0" anchor="t"/>
          <a:lstStyle/>
          <a:p>
            <a:pPr marL="342900" indent="-342900">
              <a:spcAft>
                <a:spcPts val="500"/>
              </a:spcAft>
              <a:buSzPct val="100000"/>
              <a:buChar char="•"/>
            </a:pPr>
            <a:r>
              <a:rPr lang="en-US" sz="1400" dirty="0">
                <a:solidFill>
                  <a:schemeClr val="bg1"/>
                </a:solidFill>
              </a:rPr>
              <a:t>Allowlisted sites only</a:t>
            </a:r>
            <a:endParaRPr lang="en-US" sz="1400" dirty="0"/>
          </a:p>
          <a:p>
            <a:pPr marL="342900" indent="-342900">
              <a:spcAft>
                <a:spcPts val="500"/>
              </a:spcAft>
              <a:buSzPct val="100000"/>
              <a:buChar char="•"/>
            </a:pPr>
            <a:r>
              <a:rPr lang="en-US" sz="1400" dirty="0">
                <a:solidFill>
                  <a:schemeClr val="bg1"/>
                </a:solidFill>
              </a:rPr>
              <a:t>Stops before payment</a:t>
            </a:r>
            <a:endParaRPr lang="en-US" sz="1400" dirty="0"/>
          </a:p>
          <a:p>
            <a:pPr marL="342900" indent="-342900">
              <a:spcAft>
                <a:spcPts val="500"/>
              </a:spcAft>
              <a:buSzPct val="100000"/>
              <a:buChar char="•"/>
            </a:pPr>
            <a:r>
              <a:rPr lang="en-US" sz="1400" dirty="0">
                <a:solidFill>
                  <a:schemeClr val="bg1"/>
                </a:solidFill>
              </a:rPr>
              <a:t>Pay-button guard in code</a:t>
            </a:r>
            <a:endParaRPr lang="en-US" sz="1400" dirty="0"/>
          </a:p>
        </p:txBody>
      </p:sp>
      <p:sp>
        <p:nvSpPr>
          <p:cNvPr id="63" name="Text 54"/>
          <p:cNvSpPr txBox="1"/>
          <p:nvPr/>
        </p:nvSpPr>
        <p:spPr>
          <a:xfrm>
            <a:off x="9098280" y="4919472"/>
            <a:ext cx="2468880" cy="1188720"/>
          </a:xfrm>
          <a:prstGeom prst="rect">
            <a:avLst/>
          </a:prstGeom>
          <a:noFill/>
          <a:ln/>
        </p:spPr>
        <p:txBody>
          <a:bodyPr wrap="square" lIns="0" tIns="0" rIns="0" bIns="0" rtlCol="0" anchor="t"/>
          <a:lstStyle/>
          <a:p>
            <a:pPr marL="342900" indent="-342900">
              <a:spcAft>
                <a:spcPts val="500"/>
              </a:spcAft>
              <a:buSzPct val="100000"/>
              <a:buChar char="•"/>
            </a:pPr>
            <a:r>
              <a:rPr lang="en-US" sz="1400" dirty="0">
                <a:solidFill>
                  <a:schemeClr val="bg1"/>
                </a:solidFill>
              </a:rPr>
              <a:t>One shopper at a time</a:t>
            </a:r>
            <a:endParaRPr lang="en-US" sz="1400" dirty="0"/>
          </a:p>
          <a:p>
            <a:pPr marL="342900" indent="-342900">
              <a:spcAft>
                <a:spcPts val="500"/>
              </a:spcAft>
              <a:buSzPct val="100000"/>
              <a:buChar char="•"/>
            </a:pPr>
            <a:r>
              <a:rPr lang="en-US" sz="1400" dirty="0">
                <a:solidFill>
                  <a:schemeClr val="bg1"/>
                </a:solidFill>
              </a:rPr>
              <a:t>Blocks reported, not bypassed</a:t>
            </a:r>
            <a:endParaRPr lang="en-US" sz="1400" dirty="0"/>
          </a:p>
          <a:p>
            <a:pPr marL="342900" indent="-342900">
              <a:spcAft>
                <a:spcPts val="500"/>
              </a:spcAft>
              <a:buSzPct val="100000"/>
              <a:buChar char="•"/>
            </a:pPr>
            <a:r>
              <a:rPr lang="en-US" sz="1400" dirty="0">
                <a:solidFill>
                  <a:schemeClr val="bg1"/>
                </a:solidFill>
              </a:rPr>
              <a:t>Private, per-user audits</a:t>
            </a:r>
            <a:endParaRPr lang="en-US" sz="1400" dirty="0"/>
          </a:p>
        </p:txBody>
      </p:sp>
      <p:sp>
        <p:nvSpPr>
          <p:cNvPr id="25" name="Slide Number Placeholder 0"/>
          <p:cNvSpPr>
            <a:spLocks noGrp="1"/>
          </p:cNvSpPr>
          <p:nvPr>
            <p:ph type="sldNum" sz="quarter" idx="4294967295"/>
          </p:nvPr>
        </p:nvSpPr>
        <p:spPr>
          <a:xfrm>
            <a:off x="10424160" y="274320"/>
            <a:ext cx="594360" cy="365760"/>
          </a:xfrm>
          <a:prstGeom prst="rect">
            <a:avLst/>
          </a:prstGeom>
          <a:extLst>
            <a:ext uri="{C572A759-6A51-4108-AA02-DFA0A04FC94B}">
              <ma14:wrappingTextBoxFlag xmlns:ma14="http://schemas.microsoft.com/office/mac/drawingml/2011/main" val="0"/>
            </a:ext>
          </a:extLst>
        </p:spPr>
        <p:txBody>
          <a:bodyPr/>
          <a:lstStyle>
            <a:lvl1pPr>
              <a:defRPr sz="2000">
                <a:solidFill>
                  <a:schemeClr val="tx2"/>
                </a:solidFill>
                <a:latin typeface="Impact"/>
                <a:ea typeface="Impact"/>
                <a:cs typeface="Impact"/>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2"/>
          <p:cNvSpPr/>
          <p:nvPr>
            <p:ph idx="104" type="title" hasCustomPrompt="1"/>
          </p:nvPr>
        </p:nvSpPr>
        <p:spPr>
          <a:xfrm>
            <a:off x="548640" y="603504"/>
            <a:ext cx="10332720" cy="603504"/>
          </a:xfrm>
          <a:prstGeom prst="rect">
            <a:avLst/>
          </a:prstGeom>
          <a:noFill/>
          <a:ln/>
        </p:spPr>
        <p:txBody>
          <a:bodyPr wrap="square" lIns="0" tIns="0" rIns="0" bIns="0" rtlCol="0" anchor="t"/>
          <a:lstStyle/>
          <a:p>
            <a:pPr algn="l" indent="0" marL="0">
              <a:buNone/>
            </a:pPr>
            <a:r>
              <a:rPr lang="en-US" sz="3200" spc="100" kern="0" dirty="0">
                <a:solidFill>
                  <a:schemeClr val="tx2"/>
                </a:solidFill>
                <a:latin typeface="Impact" pitchFamily="34" charset="0"/>
                <a:ea typeface="Impact" pitchFamily="34" charset="-122"/>
                <a:cs typeface="Impact" pitchFamily="34" charset="-120"/>
              </a:rPr>
              <a:t>PROPOSED TECHNICAL APPROACH: WORKING PRODUCT</a:t>
            </a:r>
            <a:endParaRPr lang="en-US" sz="3200" dirty="0"/>
          </a:p>
        </p:txBody>
      </p:sp>
      <p:sp>
        <p:nvSpPr>
          <p:cNvPr id="4" name="section label"/>
          <p:cNvSpPr txBox="1"/>
          <p:nvPr/>
        </p:nvSpPr>
        <p:spPr>
          <a:xfrm>
            <a:off x="548640" y="274320"/>
            <a:ext cx="6035040" cy="274320"/>
          </a:xfrm>
          <a:prstGeom prst="rect">
            <a:avLst/>
          </a:prstGeom>
          <a:noFill/>
          <a:ln/>
        </p:spPr>
        <p:txBody>
          <a:bodyPr wrap="square" lIns="0" tIns="0" rIns="0" bIns="0" rtlCol="0" anchor="t"/>
          <a:lstStyle/>
          <a:p>
            <a:pPr indent="0" marL="0">
              <a:buNone/>
            </a:pPr>
            <a:r>
              <a:rPr lang="en-US" sz="1500" spc="100" kern="0" dirty="0">
                <a:solidFill>
                  <a:schemeClr val="tx2"/>
                </a:solidFill>
                <a:latin typeface="Impact" pitchFamily="34" charset="0"/>
                <a:ea typeface="Impact" pitchFamily="34" charset="-122"/>
                <a:cs typeface="Impact" pitchFamily="34" charset="-120"/>
              </a:rPr>
              <a:t>05  ·  PROPOSED TECHNICAL APPROACH</a:t>
            </a:r>
            <a:endParaRPr lang="en-US" sz="1500" dirty="0"/>
          </a:p>
        </p:txBody>
      </p:sp>
      <p:sp>
        <p:nvSpPr>
          <p:cNvPr id="5" name="subtitle"/>
          <p:cNvSpPr txBox="1"/>
          <p:nvPr/>
        </p:nvSpPr>
        <p:spPr>
          <a:xfrm>
            <a:off x="548640" y="1188720"/>
            <a:ext cx="10424160" cy="384048"/>
          </a:xfrm>
          <a:prstGeom prst="rect">
            <a:avLst/>
          </a:prstGeom>
          <a:noFill/>
          <a:ln/>
        </p:spPr>
        <p:txBody>
          <a:bodyPr wrap="square" lIns="0" tIns="0" rIns="0" bIns="0" rtlCol="0" anchor="t"/>
          <a:lstStyle/>
          <a:p>
            <a:pPr indent="0" marL="0">
              <a:buNone/>
            </a:pPr>
            <a:r>
              <a:rPr lang="en-US" sz="1700" dirty="0">
                <a:solidFill>
                  <a:schemeClr val="accent6"/>
                </a:solidFill>
                <a:latin typeface="Calibri" pitchFamily="34" charset="0"/>
                <a:ea typeface="Calibri" pitchFamily="34" charset="-122"/>
                <a:cs typeface="Calibri" pitchFamily="34" charset="-120"/>
              </a:rPr>
              <a:t>Three real screens from one audit: no mock-ups</a:t>
            </a:r>
            <a:endParaRPr lang="en-US" sz="1700" dirty="0"/>
          </a:p>
        </p:txBody>
      </p:sp>
      <p:sp>
        <p:nvSpPr>
          <p:cNvPr id="6" name="console frame"/>
          <p:cNvSpPr/>
          <p:nvPr/>
        </p:nvSpPr>
        <p:spPr>
          <a:xfrm>
            <a:off x="548640" y="1783080"/>
            <a:ext cx="5029200" cy="4160520"/>
          </a:xfrm>
          <a:prstGeom prst="roundRect">
            <a:avLst>
              <a:gd name="adj" fmla="val 1099"/>
            </a:avLst>
          </a:prstGeom>
          <a:solidFill>
            <a:schemeClr val="bg1"/>
          </a:solidFill>
          <a:ln w="12700">
            <a:solidFill>
              <a:srgbClr val="36226B"/>
            </a:solidFill>
            <a:prstDash val="solid"/>
          </a:ln>
        </p:spPr>
      </p:sp>
      <p:pic>
        <p:nvPicPr>
          <p:cNvPr id="7" name="console screenshot" descr="Audit console: trust score, product check, key measurements">    </p:cNvPr>
          <p:cNvPicPr>
            <a:picLocks noChangeAspect="1"/>
          </p:cNvPicPr>
          <p:nvPr/>
        </p:nvPicPr>
        <p:blipFill>
          <a:blip r:embed="rId1"/>
          <a:stretch>
            <a:fillRect/>
          </a:stretch>
        </p:blipFill>
        <p:spPr>
          <a:xfrm>
            <a:off x="725369" y="1828800"/>
            <a:ext cx="4675743" cy="4069080"/>
          </a:xfrm>
          <a:prstGeom prst="rect">
            <a:avLst/>
          </a:prstGeom>
        </p:spPr>
      </p:pic>
      <p:sp>
        <p:nvSpPr>
          <p:cNvPr id="8" name="Text 4"/>
          <p:cNvSpPr txBox="1"/>
          <p:nvPr/>
        </p:nvSpPr>
        <p:spPr>
          <a:xfrm>
            <a:off x="548640" y="6016752"/>
            <a:ext cx="5029200" cy="274320"/>
          </a:xfrm>
          <a:prstGeom prst="rect">
            <a:avLst/>
          </a:prstGeom>
          <a:noFill/>
          <a:ln/>
        </p:spPr>
        <p:txBody>
          <a:bodyPr wrap="square" lIns="0" tIns="0" rIns="0" bIns="0" rtlCol="0" anchor="t"/>
          <a:lstStyle/>
          <a:p>
            <a:pPr indent="0" marL="0">
              <a:buNone/>
            </a:pPr>
            <a:r>
              <a:rPr lang="en-US" sz="1200" dirty="0">
                <a:solidFill>
                  <a:schemeClr val="accent6"/>
                </a:solidFill>
              </a:rPr>
              <a:t>Console: score, verdict, same product in all runs, key measurements</a:t>
            </a:r>
            <a:endParaRPr lang="en-US" sz="1200" dirty="0"/>
          </a:p>
        </p:txBody>
      </p:sp>
      <p:sp>
        <p:nvSpPr>
          <p:cNvPr id="9" name="evidence frame"/>
          <p:cNvSpPr/>
          <p:nvPr/>
        </p:nvSpPr>
        <p:spPr>
          <a:xfrm>
            <a:off x="5852160" y="1783080"/>
            <a:ext cx="5788152" cy="3154680"/>
          </a:xfrm>
          <a:prstGeom prst="roundRect">
            <a:avLst>
              <a:gd name="adj" fmla="val 1449"/>
            </a:avLst>
          </a:prstGeom>
          <a:solidFill>
            <a:schemeClr val="bg1"/>
          </a:solidFill>
          <a:ln w="12700">
            <a:solidFill>
              <a:srgbClr val="36226B"/>
            </a:solidFill>
            <a:prstDash val="solid"/>
          </a:ln>
        </p:spPr>
      </p:sp>
      <p:pic>
        <p:nvPicPr>
          <p:cNvPr id="10" name="evidence screenshot" descr="Evidence strip: first screen, added price lines, payment screen">    </p:cNvPr>
          <p:cNvPicPr>
            <a:picLocks noChangeAspect="1"/>
          </p:cNvPicPr>
          <p:nvPr/>
        </p:nvPicPr>
        <p:blipFill>
          <a:blip r:embed="rId2"/>
          <a:stretch>
            <a:fillRect/>
          </a:stretch>
        </p:blipFill>
        <p:spPr>
          <a:xfrm>
            <a:off x="5897880" y="1828800"/>
            <a:ext cx="5696712" cy="3063240"/>
          </a:xfrm>
          <a:prstGeom prst="rect">
            <a:avLst/>
          </a:prstGeom>
        </p:spPr>
      </p:pic>
      <p:sp>
        <p:nvSpPr>
          <p:cNvPr id="11" name="Text 6"/>
          <p:cNvSpPr txBox="1"/>
          <p:nvPr/>
        </p:nvSpPr>
        <p:spPr>
          <a:xfrm>
            <a:off x="5852160" y="4983480"/>
            <a:ext cx="5760720" cy="274320"/>
          </a:xfrm>
          <a:prstGeom prst="rect">
            <a:avLst/>
          </a:prstGeom>
          <a:noFill/>
          <a:ln/>
        </p:spPr>
        <p:txBody>
          <a:bodyPr wrap="square" lIns="0" tIns="0" rIns="0" bIns="0" rtlCol="0" anchor="t"/>
          <a:lstStyle/>
          <a:p>
            <a:pPr indent="0" marL="0">
              <a:buNone/>
            </a:pPr>
            <a:r>
              <a:rPr lang="en-US" sz="1200" dirty="0">
                <a:solidFill>
                  <a:schemeClr val="accent6"/>
                </a:solidFill>
              </a:rPr>
              <a:t>Evidence: first screen vs payment, every added line</a:t>
            </a:r>
            <a:endParaRPr lang="en-US" sz="1200" dirty="0"/>
          </a:p>
        </p:txBody>
      </p:sp>
      <p:sp>
        <p:nvSpPr>
          <p:cNvPr id="12" name="report frame"/>
          <p:cNvSpPr/>
          <p:nvPr/>
        </p:nvSpPr>
        <p:spPr>
          <a:xfrm>
            <a:off x="5852160" y="5321808"/>
            <a:ext cx="3017520" cy="1005840"/>
          </a:xfrm>
          <a:prstGeom prst="roundRect">
            <a:avLst>
              <a:gd name="adj" fmla="val 4545"/>
            </a:avLst>
          </a:prstGeom>
          <a:solidFill>
            <a:schemeClr val="bg1"/>
          </a:solidFill>
          <a:ln w="12700">
            <a:solidFill>
              <a:srgbClr val="36226B"/>
            </a:solidFill>
            <a:prstDash val="solid"/>
          </a:ln>
        </p:spPr>
      </p:sp>
      <p:pic>
        <p:nvPicPr>
          <p:cNvPr id="13" name="report screenshot" descr="Findings report header with verdict stamp">    </p:cNvPr>
          <p:cNvPicPr>
            <a:picLocks noChangeAspect="1"/>
          </p:cNvPicPr>
          <p:nvPr/>
        </p:nvPicPr>
        <p:blipFill>
          <a:blip r:embed="rId3"/>
          <a:stretch>
            <a:fillRect/>
          </a:stretch>
        </p:blipFill>
        <p:spPr>
          <a:xfrm>
            <a:off x="5897880" y="5349240"/>
            <a:ext cx="2926080" cy="950976"/>
          </a:xfrm>
          <a:prstGeom prst="rect">
            <a:avLst/>
          </a:prstGeom>
        </p:spPr>
      </p:pic>
      <p:sp>
        <p:nvSpPr>
          <p:cNvPr id="14" name="Text 8"/>
          <p:cNvSpPr txBox="1"/>
          <p:nvPr/>
        </p:nvSpPr>
        <p:spPr>
          <a:xfrm>
            <a:off x="9052560" y="5349240"/>
            <a:ext cx="2587752" cy="960120"/>
          </a:xfrm>
          <a:prstGeom prst="rect">
            <a:avLst/>
          </a:prstGeom>
          <a:noFill/>
          <a:ln/>
        </p:spPr>
        <p:txBody>
          <a:bodyPr wrap="square" lIns="0" tIns="0" rIns="0" bIns="0" rtlCol="0" anchor="t"/>
          <a:lstStyle/>
          <a:p>
            <a:pPr indent="0" marL="0">
              <a:buNone/>
            </a:pPr>
            <a:r>
              <a:rPr lang="en-US" sz="1200" b="1" dirty="0">
                <a:solidFill>
                  <a:schemeClr val="tx1"/>
                </a:solidFill>
              </a:rPr>
              <a:t>Findings report</a:t>
            </a:r>
            <a:endParaRPr lang="en-US" sz="1200" dirty="0"/>
          </a:p>
          <a:p>
            <a:pPr indent="0" marL="0">
              <a:buNone/>
            </a:pPr>
            <a:r>
              <a:rPr lang="en-US" sz="1200" dirty="0">
                <a:solidFill>
                  <a:schemeClr val="accent6"/>
                </a:solidFill>
              </a:rPr>
              <a:t>Reference, verdict stamp, exhibits, SHA‑256 integrity section</a:t>
            </a:r>
            <a:endParaRPr lang="en-US" sz="1200" dirty="0"/>
          </a:p>
        </p:txBody>
      </p:sp>
      <p:sp>
        <p:nvSpPr>
          <p:cNvPr id="25" name="Slide Number Placeholder 0"/>
          <p:cNvSpPr>
            <a:spLocks noGrp="1"/>
          </p:cNvSpPr>
          <p:nvPr>
            <p:ph type="sldNum" sz="quarter" idx="4294967295"/>
          </p:nvPr>
        </p:nvSpPr>
        <p:spPr>
          <a:xfrm>
            <a:off x="10424160" y="274320"/>
            <a:ext cx="594360" cy="365760"/>
          </a:xfrm>
          <a:prstGeom prst="rect">
            <a:avLst/>
          </a:prstGeom>
          <a:extLst>
            <a:ext uri="{C572A759-6A51-4108-AA02-DFA0A04FC94B}">
              <ma14:wrappingTextBoxFlag xmlns:ma14="http://schemas.microsoft.com/office/mac/drawingml/2011/main" val="0"/>
            </a:ext>
          </a:extLst>
        </p:spPr>
        <p:txBody>
          <a:bodyPr/>
          <a:lstStyle>
            <a:lvl1pPr>
              <a:defRPr sz="2000">
                <a:solidFill>
                  <a:schemeClr val="tx2"/>
                </a:solidFill>
                <a:latin typeface="Impact"/>
                <a:ea typeface="Impact"/>
                <a:cs typeface="Impact"/>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2"/>
          <p:cNvSpPr/>
          <p:nvPr>
            <p:ph idx="104" type="title" hasCustomPrompt="1"/>
          </p:nvPr>
        </p:nvSpPr>
        <p:spPr>
          <a:xfrm>
            <a:off x="548640" y="603504"/>
            <a:ext cx="10332720" cy="603504"/>
          </a:xfrm>
          <a:prstGeom prst="rect">
            <a:avLst/>
          </a:prstGeom>
          <a:noFill/>
          <a:ln/>
        </p:spPr>
        <p:txBody>
          <a:bodyPr wrap="square" lIns="0" tIns="0" rIns="0" bIns="0" rtlCol="0" anchor="t"/>
          <a:lstStyle/>
          <a:p>
            <a:pPr algn="l" indent="0" marL="0">
              <a:buNone/>
            </a:pPr>
            <a:r>
              <a:rPr lang="en-US" sz="3200" spc="100" kern="0" dirty="0">
                <a:solidFill>
                  <a:schemeClr val="accent2"/>
                </a:solidFill>
                <a:latin typeface="Impact" pitchFamily="34" charset="0"/>
                <a:ea typeface="Impact" pitchFamily="34" charset="-122"/>
                <a:cs typeface="Impact" pitchFamily="34" charset="-120"/>
              </a:rPr>
              <a:t>REAL-WORLD VALIDATION: INDIAN SITES</a:t>
            </a:r>
            <a:endParaRPr lang="en-US" sz="3200" dirty="0"/>
          </a:p>
        </p:txBody>
      </p:sp>
      <p:sp>
        <p:nvSpPr>
          <p:cNvPr id="4" name="section label"/>
          <p:cNvSpPr txBox="1"/>
          <p:nvPr/>
        </p:nvSpPr>
        <p:spPr>
          <a:xfrm>
            <a:off x="548640" y="274320"/>
            <a:ext cx="6035040" cy="274320"/>
          </a:xfrm>
          <a:prstGeom prst="rect">
            <a:avLst/>
          </a:prstGeom>
          <a:noFill/>
          <a:ln/>
        </p:spPr>
        <p:txBody>
          <a:bodyPr wrap="square" lIns="0" tIns="0" rIns="0" bIns="0" rtlCol="0" anchor="t"/>
          <a:lstStyle/>
          <a:p>
            <a:pPr indent="0" marL="0">
              <a:buNone/>
            </a:pPr>
            <a:r>
              <a:rPr lang="en-US" sz="1500" spc="100" kern="0" dirty="0">
                <a:solidFill>
                  <a:schemeClr val="accent2"/>
                </a:solidFill>
                <a:latin typeface="Impact" pitchFamily="34" charset="0"/>
                <a:ea typeface="Impact" pitchFamily="34" charset="-122"/>
                <a:cs typeface="Impact" pitchFamily="34" charset="-120"/>
              </a:rPr>
              <a:t>06  ·  REAL-WORLD VALIDATION</a:t>
            </a:r>
            <a:endParaRPr lang="en-US" sz="1500" dirty="0"/>
          </a:p>
        </p:txBody>
      </p:sp>
      <p:sp>
        <p:nvSpPr>
          <p:cNvPr id="5" name="subtitle"/>
          <p:cNvSpPr txBox="1"/>
          <p:nvPr/>
        </p:nvSpPr>
        <p:spPr>
          <a:xfrm>
            <a:off x="548640" y="1188720"/>
            <a:ext cx="10424160" cy="384048"/>
          </a:xfrm>
          <a:prstGeom prst="rect">
            <a:avLst/>
          </a:prstGeom>
          <a:noFill/>
          <a:ln/>
        </p:spPr>
        <p:txBody>
          <a:bodyPr wrap="square" lIns="0" tIns="0" rIns="0" bIns="0" rtlCol="0" anchor="t"/>
          <a:lstStyle/>
          <a:p>
            <a:pPr indent="0" marL="0">
              <a:buNone/>
            </a:pPr>
            <a:r>
              <a:rPr lang="en-US" sz="1700" dirty="0">
                <a:solidFill>
                  <a:srgbClr val="E4DCFA"/>
                </a:solidFill>
                <a:latin typeface="Calibri" pitchFamily="34" charset="0"/>
                <a:ea typeface="Calibri" pitchFamily="34" charset="-122"/>
                <a:cs typeface="Calibri" pitchFamily="34" charset="-120"/>
              </a:rPr>
              <a:t>Live Indian shops, audited as Indian shoppers, 16 Oct 2026: what worked and what blocked us</a:t>
            </a:r>
            <a:endParaRPr lang="en-US" sz="1700" dirty="0"/>
          </a:p>
        </p:txBody>
      </p:sp>
      <p:sp>
        <p:nvSpPr>
          <p:cNvPr id="6" name="result card"/>
          <p:cNvSpPr/>
          <p:nvPr/>
        </p:nvSpPr>
        <p:spPr>
          <a:xfrm>
            <a:off x="548640" y="1783080"/>
            <a:ext cx="5989320" cy="1051560"/>
          </a:xfrm>
          <a:prstGeom prst="roundRect">
            <a:avLst>
              <a:gd name="adj" fmla="val 4348"/>
            </a:avLst>
          </a:prstGeom>
          <a:solidFill>
            <a:srgbClr val="2B1A59"/>
          </a:solidFill>
          <a:ln w="12700">
            <a:solidFill>
              <a:srgbClr val="6B55B5"/>
            </a:solidFill>
            <a:prstDash val="solid"/>
          </a:ln>
        </p:spPr>
      </p:sp>
      <p:sp>
        <p:nvSpPr>
          <p:cNvPr id="7" name="status dot"/>
          <p:cNvSpPr/>
          <p:nvPr/>
        </p:nvSpPr>
        <p:spPr>
          <a:xfrm>
            <a:off x="777240" y="2112264"/>
            <a:ext cx="384048" cy="384048"/>
          </a:xfrm>
          <a:prstGeom prst="ellipse">
            <a:avLst/>
          </a:prstGeom>
          <a:solidFill>
            <a:schemeClr val="accent4"/>
          </a:solidFill>
          <a:ln w="12700">
            <a:solidFill>
              <a:schemeClr val="accent4"/>
            </a:solidFill>
            <a:prstDash val="solid"/>
          </a:ln>
        </p:spPr>
      </p:sp>
      <p:sp>
        <p:nvSpPr>
          <p:cNvPr id="8" name="Text 5"/>
          <p:cNvSpPr txBox="1"/>
          <p:nvPr/>
        </p:nvSpPr>
        <p:spPr>
          <a:xfrm>
            <a:off x="1353312" y="1911096"/>
            <a:ext cx="2377440" cy="292608"/>
          </a:xfrm>
          <a:prstGeom prst="rect">
            <a:avLst/>
          </a:prstGeom>
          <a:noFill/>
          <a:ln/>
        </p:spPr>
        <p:txBody>
          <a:bodyPr wrap="square" lIns="0" tIns="0" rIns="0" bIns="0" rtlCol="0" anchor="t"/>
          <a:lstStyle/>
          <a:p>
            <a:pPr indent="0" marL="0">
              <a:buNone/>
            </a:pPr>
            <a:r>
              <a:rPr lang="en-US" sz="1500" b="1" dirty="0">
                <a:solidFill>
                  <a:schemeClr val="bg1"/>
                </a:solidFill>
              </a:rPr>
              <a:t>bummer.in</a:t>
            </a:r>
            <a:endParaRPr lang="en-US" sz="1500" dirty="0"/>
          </a:p>
        </p:txBody>
      </p:sp>
      <p:sp>
        <p:nvSpPr>
          <p:cNvPr id="9" name="Text 6"/>
          <p:cNvSpPr txBox="1"/>
          <p:nvPr/>
        </p:nvSpPr>
        <p:spPr>
          <a:xfrm>
            <a:off x="3657600" y="1911096"/>
            <a:ext cx="2743200" cy="292608"/>
          </a:xfrm>
          <a:prstGeom prst="rect">
            <a:avLst/>
          </a:prstGeom>
          <a:noFill/>
          <a:ln/>
        </p:spPr>
        <p:txBody>
          <a:bodyPr wrap="square" lIns="0" tIns="0" rIns="0" bIns="0" rtlCol="0" anchor="t"/>
          <a:lstStyle/>
          <a:p>
            <a:pPr algn="r" indent="0" marL="0">
              <a:buNone/>
            </a:pPr>
            <a:r>
              <a:rPr lang="en-US" sz="1500" b="1" dirty="0">
                <a:solidFill>
                  <a:schemeClr val="accent2"/>
                </a:solidFill>
              </a:rPr>
              <a:t>Payment page · ₹599</a:t>
            </a:r>
            <a:endParaRPr lang="en-US" sz="1500" dirty="0"/>
          </a:p>
        </p:txBody>
      </p:sp>
      <p:sp>
        <p:nvSpPr>
          <p:cNvPr id="10" name="Text 7"/>
          <p:cNvSpPr txBox="1"/>
          <p:nvPr/>
        </p:nvSpPr>
        <p:spPr>
          <a:xfrm>
            <a:off x="1353312" y="2240280"/>
            <a:ext cx="5029200" cy="548640"/>
          </a:xfrm>
          <a:prstGeom prst="rect">
            <a:avLst/>
          </a:prstGeom>
          <a:noFill/>
          <a:ln/>
        </p:spPr>
        <p:txBody>
          <a:bodyPr wrap="square" lIns="0" tIns="0" rIns="0" bIns="0" rtlCol="0" anchor="t"/>
          <a:lstStyle/>
          <a:p>
            <a:pPr indent="0" marL="0">
              <a:buNone/>
            </a:pPr>
            <a:r>
              <a:rPr lang="en-US" sz="1300" dirty="0">
                <a:solidFill>
                  <a:srgbClr val="E4DCFA"/>
                </a:solidFill>
              </a:rPr>
              <a:t>Reached the payment page as an Indian shopper in about 2 minutes; one product pinned, every screen captured.</a:t>
            </a:r>
            <a:endParaRPr lang="en-US" sz="1300" dirty="0"/>
          </a:p>
        </p:txBody>
      </p:sp>
      <p:sp>
        <p:nvSpPr>
          <p:cNvPr id="11" name="result card"/>
          <p:cNvSpPr/>
          <p:nvPr/>
        </p:nvSpPr>
        <p:spPr>
          <a:xfrm>
            <a:off x="548640" y="2971800"/>
            <a:ext cx="5989320" cy="1051560"/>
          </a:xfrm>
          <a:prstGeom prst="roundRect">
            <a:avLst>
              <a:gd name="adj" fmla="val 4348"/>
            </a:avLst>
          </a:prstGeom>
          <a:solidFill>
            <a:srgbClr val="2B1A59"/>
          </a:solidFill>
          <a:ln w="12700">
            <a:solidFill>
              <a:srgbClr val="6B55B5"/>
            </a:solidFill>
            <a:prstDash val="solid"/>
          </a:ln>
        </p:spPr>
      </p:sp>
      <p:sp>
        <p:nvSpPr>
          <p:cNvPr id="12" name="status dot"/>
          <p:cNvSpPr/>
          <p:nvPr/>
        </p:nvSpPr>
        <p:spPr>
          <a:xfrm>
            <a:off x="777240" y="3300984"/>
            <a:ext cx="384048" cy="384048"/>
          </a:xfrm>
          <a:prstGeom prst="ellipse">
            <a:avLst/>
          </a:prstGeom>
          <a:solidFill>
            <a:schemeClr val="accent4"/>
          </a:solidFill>
          <a:ln w="12700">
            <a:solidFill>
              <a:schemeClr val="accent4"/>
            </a:solidFill>
            <a:prstDash val="solid"/>
          </a:ln>
        </p:spPr>
      </p:sp>
      <p:sp>
        <p:nvSpPr>
          <p:cNvPr id="13" name="Text 10"/>
          <p:cNvSpPr txBox="1"/>
          <p:nvPr/>
        </p:nvSpPr>
        <p:spPr>
          <a:xfrm>
            <a:off x="1353312" y="3099816"/>
            <a:ext cx="2377440" cy="292608"/>
          </a:xfrm>
          <a:prstGeom prst="rect">
            <a:avLst/>
          </a:prstGeom>
          <a:noFill/>
          <a:ln/>
        </p:spPr>
        <p:txBody>
          <a:bodyPr wrap="square" lIns="0" tIns="0" rIns="0" bIns="0" rtlCol="0" anchor="t"/>
          <a:lstStyle/>
          <a:p>
            <a:pPr indent="0" marL="0">
              <a:buNone/>
            </a:pPr>
            <a:r>
              <a:rPr lang="en-US" sz="1500" b="1" dirty="0">
                <a:solidFill>
                  <a:schemeClr val="bg1"/>
                </a:solidFill>
              </a:rPr>
              <a:t>fardaclothing.com</a:t>
            </a:r>
            <a:endParaRPr lang="en-US" sz="1500" dirty="0"/>
          </a:p>
        </p:txBody>
      </p:sp>
      <p:sp>
        <p:nvSpPr>
          <p:cNvPr id="14" name="Text 11"/>
          <p:cNvSpPr txBox="1"/>
          <p:nvPr/>
        </p:nvSpPr>
        <p:spPr>
          <a:xfrm>
            <a:off x="3657600" y="3099816"/>
            <a:ext cx="2743200" cy="292608"/>
          </a:xfrm>
          <a:prstGeom prst="rect">
            <a:avLst/>
          </a:prstGeom>
          <a:noFill/>
          <a:ln/>
        </p:spPr>
        <p:txBody>
          <a:bodyPr wrap="square" lIns="0" tIns="0" rIns="0" bIns="0" rtlCol="0" anchor="t"/>
          <a:lstStyle/>
          <a:p>
            <a:pPr algn="r" indent="0" marL="0">
              <a:buNone/>
            </a:pPr>
            <a:r>
              <a:rPr lang="en-US" sz="1500" b="1" dirty="0">
                <a:solidFill>
                  <a:schemeClr val="accent2"/>
                </a:solidFill>
              </a:rPr>
              <a:t>Payment · ₹6,999</a:t>
            </a:r>
            <a:endParaRPr lang="en-US" sz="1500" dirty="0"/>
          </a:p>
        </p:txBody>
      </p:sp>
      <p:sp>
        <p:nvSpPr>
          <p:cNvPr id="15" name="Text 12"/>
          <p:cNvSpPr txBox="1"/>
          <p:nvPr/>
        </p:nvSpPr>
        <p:spPr>
          <a:xfrm>
            <a:off x="1353312" y="3429000"/>
            <a:ext cx="5029200" cy="548640"/>
          </a:xfrm>
          <a:prstGeom prst="rect">
            <a:avLst/>
          </a:prstGeom>
          <a:noFill/>
          <a:ln/>
        </p:spPr>
        <p:txBody>
          <a:bodyPr wrap="square" lIns="0" tIns="0" rIns="0" bIns="0" rtlCol="0" anchor="t"/>
          <a:lstStyle/>
          <a:p>
            <a:pPr indent="0" marL="0">
              <a:buNone/>
            </a:pPr>
            <a:r>
              <a:rPr lang="en-US" sz="1300" dirty="0">
                <a:solidFill>
                  <a:srgbClr val="E4DCFA"/>
                </a:solidFill>
              </a:rPr>
              <a:t>Reached the payment page in under a minute; checkout read and captured as evidence.</a:t>
            </a:r>
            <a:endParaRPr lang="en-US" sz="1300" dirty="0"/>
          </a:p>
        </p:txBody>
      </p:sp>
      <p:sp>
        <p:nvSpPr>
          <p:cNvPr id="16" name="result card"/>
          <p:cNvSpPr/>
          <p:nvPr/>
        </p:nvSpPr>
        <p:spPr>
          <a:xfrm>
            <a:off x="548640" y="4160520"/>
            <a:ext cx="5989320" cy="1051560"/>
          </a:xfrm>
          <a:prstGeom prst="roundRect">
            <a:avLst>
              <a:gd name="adj" fmla="val 4348"/>
            </a:avLst>
          </a:prstGeom>
          <a:solidFill>
            <a:srgbClr val="2B1A59"/>
          </a:solidFill>
          <a:ln w="12700">
            <a:solidFill>
              <a:srgbClr val="6B55B5"/>
            </a:solidFill>
            <a:prstDash val="solid"/>
          </a:ln>
        </p:spPr>
      </p:sp>
      <p:sp>
        <p:nvSpPr>
          <p:cNvPr id="17" name="status dot"/>
          <p:cNvSpPr/>
          <p:nvPr/>
        </p:nvSpPr>
        <p:spPr>
          <a:xfrm>
            <a:off x="777240" y="4489704"/>
            <a:ext cx="384048" cy="384048"/>
          </a:xfrm>
          <a:prstGeom prst="ellipse">
            <a:avLst/>
          </a:prstGeom>
          <a:solidFill>
            <a:schemeClr val="accent2"/>
          </a:solidFill>
          <a:ln w="12700">
            <a:solidFill>
              <a:schemeClr val="accent2"/>
            </a:solidFill>
            <a:prstDash val="solid"/>
          </a:ln>
        </p:spPr>
      </p:sp>
      <p:sp>
        <p:nvSpPr>
          <p:cNvPr id="18" name="Text 15"/>
          <p:cNvSpPr txBox="1"/>
          <p:nvPr/>
        </p:nvSpPr>
        <p:spPr>
          <a:xfrm>
            <a:off x="1353312" y="4288536"/>
            <a:ext cx="2377440" cy="292608"/>
          </a:xfrm>
          <a:prstGeom prst="rect">
            <a:avLst/>
          </a:prstGeom>
          <a:noFill/>
          <a:ln/>
        </p:spPr>
        <p:txBody>
          <a:bodyPr wrap="square" lIns="0" tIns="0" rIns="0" bIns="0" rtlCol="0" anchor="t"/>
          <a:lstStyle/>
          <a:p>
            <a:pPr indent="0" marL="0">
              <a:buNone/>
            </a:pPr>
            <a:r>
              <a:rPr lang="en-US" sz="1500" b="1" dirty="0">
                <a:solidFill>
                  <a:schemeClr val="bg1"/>
                </a:solidFill>
              </a:rPr>
              <a:t>bummer.in · TinyFish</a:t>
            </a:r>
            <a:endParaRPr lang="en-US" sz="1500" dirty="0"/>
          </a:p>
        </p:txBody>
      </p:sp>
      <p:sp>
        <p:nvSpPr>
          <p:cNvPr id="19" name="Text 16"/>
          <p:cNvSpPr txBox="1"/>
          <p:nvPr/>
        </p:nvSpPr>
        <p:spPr>
          <a:xfrm>
            <a:off x="3657600" y="4288536"/>
            <a:ext cx="2743200" cy="292608"/>
          </a:xfrm>
          <a:prstGeom prst="rect">
            <a:avLst/>
          </a:prstGeom>
          <a:noFill/>
          <a:ln/>
        </p:spPr>
        <p:txBody>
          <a:bodyPr wrap="square" lIns="0" tIns="0" rIns="0" bIns="0" rtlCol="0" anchor="t"/>
          <a:lstStyle/>
          <a:p>
            <a:pPr algn="r" indent="0" marL="0">
              <a:buNone/>
            </a:pPr>
            <a:r>
              <a:rPr lang="en-US" sz="1500" b="1" dirty="0">
                <a:solidFill>
                  <a:schemeClr val="accent2"/>
                </a:solidFill>
              </a:rPr>
              <a:t>Checkout · ₹599</a:t>
            </a:r>
            <a:endParaRPr lang="en-US" sz="1500" dirty="0"/>
          </a:p>
        </p:txBody>
      </p:sp>
      <p:sp>
        <p:nvSpPr>
          <p:cNvPr id="20" name="Text 17"/>
          <p:cNvSpPr txBox="1"/>
          <p:nvPr/>
        </p:nvSpPr>
        <p:spPr>
          <a:xfrm>
            <a:off x="1353312" y="4617720"/>
            <a:ext cx="5029200" cy="548640"/>
          </a:xfrm>
          <a:prstGeom prst="rect">
            <a:avLst/>
          </a:prstGeom>
          <a:noFill/>
          <a:ln/>
        </p:spPr>
        <p:txBody>
          <a:bodyPr wrap="square" lIns="0" tIns="0" rIns="0" bIns="0" rtlCol="0" anchor="t"/>
          <a:lstStyle/>
          <a:p>
            <a:pPr indent="0" marL="0">
              <a:buNone/>
            </a:pPr>
            <a:r>
              <a:rPr lang="en-US" sz="1300" dirty="0">
                <a:solidFill>
                  <a:srgbClr val="E4DCFA"/>
                </a:solidFill>
              </a:rPr>
              <a:t>Agent API: product to cart to checkout in 13 steps, stopped before payment, $0.21.</a:t>
            </a:r>
            <a:endParaRPr lang="en-US" sz="1300" dirty="0"/>
          </a:p>
        </p:txBody>
      </p:sp>
      <p:sp>
        <p:nvSpPr>
          <p:cNvPr id="21" name="screenshot frame"/>
          <p:cNvSpPr/>
          <p:nvPr/>
        </p:nvSpPr>
        <p:spPr>
          <a:xfrm>
            <a:off x="6812280" y="1783080"/>
            <a:ext cx="4828032" cy="3520440"/>
          </a:xfrm>
          <a:prstGeom prst="roundRect">
            <a:avLst>
              <a:gd name="adj" fmla="val 1299"/>
            </a:avLst>
          </a:prstGeom>
          <a:solidFill>
            <a:srgbClr val="2B1A59"/>
          </a:solidFill>
          <a:ln w="12700">
            <a:solidFill>
              <a:srgbClr val="6B55B5"/>
            </a:solidFill>
            <a:prstDash val="solid"/>
          </a:ln>
        </p:spPr>
      </p:sp>
      <p:pic>
        <p:nvPicPr>
          <p:cNvPr id="22" name="real checkout screenshot" descr="Real checkout reached by the agent on bummer.in">    </p:cNvPr>
          <p:cNvPicPr>
            <a:picLocks noChangeAspect="1"/>
          </p:cNvPicPr>
          <p:nvPr/>
        </p:nvPicPr>
        <p:blipFill>
          <a:blip r:embed="rId1"/>
          <a:stretch>
            <a:fillRect/>
          </a:stretch>
        </p:blipFill>
        <p:spPr>
          <a:xfrm>
            <a:off x="6803136" y="1828800"/>
            <a:ext cx="4846320" cy="3429000"/>
          </a:xfrm>
          <a:prstGeom prst="rect">
            <a:avLst/>
          </a:prstGeom>
        </p:spPr>
      </p:pic>
      <p:sp>
        <p:nvSpPr>
          <p:cNvPr id="23" name="Text 19"/>
          <p:cNvSpPr txBox="1"/>
          <p:nvPr/>
        </p:nvSpPr>
        <p:spPr>
          <a:xfrm>
            <a:off x="6812280" y="5358384"/>
            <a:ext cx="4828032" cy="274320"/>
          </a:xfrm>
          <a:prstGeom prst="rect">
            <a:avLst/>
          </a:prstGeom>
          <a:noFill/>
          <a:ln/>
        </p:spPr>
        <p:txBody>
          <a:bodyPr wrap="square" lIns="0" tIns="0" rIns="0" bIns="0" rtlCol="0" anchor="t"/>
          <a:lstStyle/>
          <a:p>
            <a:pPr indent="0" marL="0">
              <a:buNone/>
            </a:pPr>
            <a:r>
              <a:rPr lang="en-US" sz="1200" dirty="0">
                <a:solidFill>
                  <a:srgbClr val="BDB0E0"/>
                </a:solidFill>
              </a:rPr>
              <a:t>TinyFish audit in the console (shop name and figures withheld)</a:t>
            </a:r>
            <a:endParaRPr lang="en-US" sz="1200" dirty="0"/>
          </a:p>
        </p:txBody>
      </p:sp>
      <p:sp>
        <p:nvSpPr>
          <p:cNvPr id="24" name="probe strip"/>
          <p:cNvSpPr/>
          <p:nvPr/>
        </p:nvSpPr>
        <p:spPr>
          <a:xfrm>
            <a:off x="548640" y="5413248"/>
            <a:ext cx="5989320" cy="868680"/>
          </a:xfrm>
          <a:prstGeom prst="roundRect">
            <a:avLst>
              <a:gd name="adj" fmla="val 5263"/>
            </a:avLst>
          </a:prstGeom>
          <a:solidFill>
            <a:schemeClr val="accent1"/>
          </a:solidFill>
          <a:ln w="12700">
            <a:solidFill>
              <a:schemeClr val="accent1"/>
            </a:solidFill>
            <a:prstDash val="solid"/>
          </a:ln>
        </p:spPr>
      </p:sp>
      <p:sp>
        <p:nvSpPr>
          <p:cNvPr id="25" name="Text 21"/>
          <p:cNvSpPr txBox="1"/>
          <p:nvPr/>
        </p:nvSpPr>
        <p:spPr>
          <a:xfrm>
            <a:off x="777240" y="5413248"/>
            <a:ext cx="5623560" cy="868680"/>
          </a:xfrm>
          <a:prstGeom prst="rect">
            <a:avLst/>
          </a:prstGeom>
          <a:noFill/>
          <a:ln/>
        </p:spPr>
        <p:txBody>
          <a:bodyPr wrap="square" lIns="0" tIns="0" rIns="0" bIns="0" rtlCol="0" anchor="ctr"/>
          <a:lstStyle/>
          <a:p>
            <a:pPr indent="0" marL="0">
              <a:buNone/>
            </a:pPr>
            <a:r>
              <a:rPr lang="en-US" sz="1200" b="1" dirty="0">
                <a:solidFill>
                  <a:schemeClr val="accent2"/>
                </a:solidFill>
              </a:rPr>
              <a:t>30 Indian sites probed.  </a:t>
            </a:r>
            <a:pPr indent="0" marL="0">
              <a:buNone/>
            </a:pPr>
            <a:r>
              <a:rPr lang="en-US" sz="1200" dirty="0">
                <a:solidFill>
                  <a:schemeClr val="bg1"/>
                </a:solidFill>
              </a:rPr>
              <a:t>8 large platforms (Myntra, Meesho, Ajio, Nykaa, MakeMyTrip, BookMyShow, BigBasket, Croma) block bots at the door: reported, never bypassed. Login walls: use Connect account.</a:t>
            </a:r>
            <a:endParaRPr lang="en-US" sz="1200" dirty="0"/>
          </a:p>
        </p:txBody>
      </p:sp>
      <p:sp>
        <p:nvSpPr>
          <p:cNvPr id="26" name="Text 22"/>
          <p:cNvSpPr txBox="1"/>
          <p:nvPr/>
        </p:nvSpPr>
        <p:spPr>
          <a:xfrm>
            <a:off x="6812280" y="5715000"/>
            <a:ext cx="4828032" cy="566928"/>
          </a:xfrm>
          <a:prstGeom prst="rect">
            <a:avLst/>
          </a:prstGeom>
          <a:noFill/>
          <a:ln/>
        </p:spPr>
        <p:txBody>
          <a:bodyPr wrap="square" lIns="0" tIns="0" rIns="0" bIns="0" rtlCol="0" anchor="t"/>
          <a:lstStyle/>
          <a:p>
            <a:pPr indent="0" marL="0">
              <a:buNone/>
            </a:pPr>
            <a:r>
              <a:rPr lang="en-US" sz="1200" i="1" dirty="0">
                <a:solidFill>
                  <a:schemeClr val="bg1"/>
                </a:solidFill>
              </a:rPr>
              <a:t>Hardened on live checkouts: pop-ups and new tabs, mid-load redirects, Shopify totals, busy-model retries.</a:t>
            </a:r>
            <a:endParaRPr lang="en-US" sz="1200" dirty="0"/>
          </a:p>
        </p:txBody>
      </p:sp>
      <p:sp>
        <p:nvSpPr>
          <p:cNvPr id="25" name="Slide Number Placeholder 0"/>
          <p:cNvSpPr>
            <a:spLocks noGrp="1"/>
          </p:cNvSpPr>
          <p:nvPr>
            <p:ph type="sldNum" sz="quarter" idx="4294967295"/>
          </p:nvPr>
        </p:nvSpPr>
        <p:spPr>
          <a:xfrm>
            <a:off x="10424160" y="274320"/>
            <a:ext cx="594360" cy="365760"/>
          </a:xfrm>
          <a:prstGeom prst="rect">
            <a:avLst/>
          </a:prstGeom>
          <a:extLst>
            <a:ext uri="{C572A759-6A51-4108-AA02-DFA0A04FC94B}">
              <ma14:wrappingTextBoxFlag xmlns:ma14="http://schemas.microsoft.com/office/mac/drawingml/2011/main" val="0"/>
            </a:ext>
          </a:extLst>
        </p:spPr>
        <p:txBody>
          <a:bodyPr/>
          <a:lstStyle>
            <a:lvl1pPr>
              <a:defRPr sz="2000">
                <a:solidFill>
                  <a:schemeClr val="accent2"/>
                </a:solidFill>
                <a:latin typeface="Impact"/>
                <a:ea typeface="Impact"/>
                <a:cs typeface="Impact"/>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2"/>
          <p:cNvSpPr/>
          <p:nvPr>
            <p:ph idx="104" type="title" hasCustomPrompt="1"/>
          </p:nvPr>
        </p:nvSpPr>
        <p:spPr>
          <a:xfrm>
            <a:off x="548640" y="603504"/>
            <a:ext cx="10332720" cy="603504"/>
          </a:xfrm>
          <a:prstGeom prst="rect">
            <a:avLst/>
          </a:prstGeom>
          <a:noFill/>
          <a:ln/>
        </p:spPr>
        <p:txBody>
          <a:bodyPr wrap="square" lIns="0" tIns="0" rIns="0" bIns="0" rtlCol="0" anchor="t"/>
          <a:lstStyle/>
          <a:p>
            <a:pPr algn="l" indent="0" marL="0">
              <a:buNone/>
            </a:pPr>
            <a:r>
              <a:rPr lang="en-US" sz="3200" spc="100" kern="0" dirty="0">
                <a:solidFill>
                  <a:schemeClr val="accent2"/>
                </a:solidFill>
                <a:latin typeface="Impact" pitchFamily="34" charset="0"/>
                <a:ea typeface="Impact" pitchFamily="34" charset="-122"/>
                <a:cs typeface="Impact" pitchFamily="34" charset="-120"/>
              </a:rPr>
              <a:t>PROPOSED TINYFISH INTEGRATION</a:t>
            </a:r>
            <a:endParaRPr lang="en-US" sz="3200" dirty="0"/>
          </a:p>
        </p:txBody>
      </p:sp>
      <p:sp>
        <p:nvSpPr>
          <p:cNvPr id="4" name="section label"/>
          <p:cNvSpPr txBox="1"/>
          <p:nvPr/>
        </p:nvSpPr>
        <p:spPr>
          <a:xfrm>
            <a:off x="548640" y="274320"/>
            <a:ext cx="6035040" cy="274320"/>
          </a:xfrm>
          <a:prstGeom prst="rect">
            <a:avLst/>
          </a:prstGeom>
          <a:noFill/>
          <a:ln/>
        </p:spPr>
        <p:txBody>
          <a:bodyPr wrap="square" lIns="0" tIns="0" rIns="0" bIns="0" rtlCol="0" anchor="t"/>
          <a:lstStyle/>
          <a:p>
            <a:pPr indent="0" marL="0">
              <a:buNone/>
            </a:pPr>
            <a:r>
              <a:rPr lang="en-US" sz="1500" spc="100" kern="0" dirty="0">
                <a:solidFill>
                  <a:schemeClr val="accent2"/>
                </a:solidFill>
                <a:latin typeface="Impact" pitchFamily="34" charset="0"/>
                <a:ea typeface="Impact" pitchFamily="34" charset="-122"/>
                <a:cs typeface="Impact" pitchFamily="34" charset="-120"/>
              </a:rPr>
              <a:t>07  ·  PROPOSED TINYFISH INTEGRATION</a:t>
            </a:r>
            <a:endParaRPr lang="en-US" sz="1500" dirty="0"/>
          </a:p>
        </p:txBody>
      </p:sp>
      <p:sp>
        <p:nvSpPr>
          <p:cNvPr id="5" name="subtitle"/>
          <p:cNvSpPr txBox="1"/>
          <p:nvPr/>
        </p:nvSpPr>
        <p:spPr>
          <a:xfrm>
            <a:off x="548640" y="1188720"/>
            <a:ext cx="10424160" cy="384048"/>
          </a:xfrm>
          <a:prstGeom prst="rect">
            <a:avLst/>
          </a:prstGeom>
          <a:noFill/>
          <a:ln/>
        </p:spPr>
        <p:txBody>
          <a:bodyPr wrap="square" lIns="0" tIns="0" rIns="0" bIns="0" rtlCol="0" anchor="t"/>
          <a:lstStyle/>
          <a:p>
            <a:pPr indent="0" marL="0">
              <a:buNone/>
            </a:pPr>
            <a:r>
              <a:rPr lang="en-US" sz="1700" dirty="0">
                <a:solidFill>
                  <a:srgbClr val="E4DCFA"/>
                </a:solidFill>
                <a:latin typeface="Calibri" pitchFamily="34" charset="0"/>
                <a:ea typeface="Calibri" pitchFamily="34" charset="-122"/>
                <a:cs typeface="Calibri" pitchFamily="34" charset="-120"/>
              </a:rPr>
              <a:t>All four TinyFish APIs integrated, each with a specific job, and run live on a real Indian shop</a:t>
            </a:r>
            <a:endParaRPr lang="en-US" sz="1700" dirty="0"/>
          </a:p>
        </p:txBody>
      </p:sp>
      <p:sp>
        <p:nvSpPr>
          <p:cNvPr id="6" name="api card"/>
          <p:cNvSpPr/>
          <p:nvPr/>
        </p:nvSpPr>
        <p:spPr>
          <a:xfrm>
            <a:off x="548640" y="1783080"/>
            <a:ext cx="5440680" cy="1901952"/>
          </a:xfrm>
          <a:prstGeom prst="roundRect">
            <a:avLst>
              <a:gd name="adj" fmla="val 2404"/>
            </a:avLst>
          </a:prstGeom>
          <a:solidFill>
            <a:srgbClr val="2B1A59"/>
          </a:solidFill>
          <a:ln w="12700">
            <a:solidFill>
              <a:srgbClr val="6B55B5"/>
            </a:solidFill>
            <a:prstDash val="solid"/>
          </a:ln>
        </p:spPr>
      </p:sp>
      <p:sp>
        <p:nvSpPr>
          <p:cNvPr id="7" name="icon lens"/>
          <p:cNvSpPr/>
          <p:nvPr/>
        </p:nvSpPr>
        <p:spPr>
          <a:xfrm>
            <a:off x="777240" y="1984248"/>
            <a:ext cx="548640" cy="548640"/>
          </a:xfrm>
          <a:prstGeom prst="roundRect">
            <a:avLst>
              <a:gd name="adj" fmla="val 11667"/>
            </a:avLst>
          </a:prstGeom>
          <a:solidFill>
            <a:srgbClr val="2B1A59"/>
          </a:solidFill>
          <a:ln w="19050">
            <a:solidFill>
              <a:schemeClr val="accent2"/>
            </a:solidFill>
            <a:prstDash val="solid"/>
          </a:ln>
        </p:spPr>
      </p:sp>
      <p:pic>
        <p:nvPicPr>
          <p:cNvPr id="8" name="icon" descr="WindowMaximize">    </p:cNvPr>
          <p:cNvPicPr>
            <a:picLocks noChangeAspect="1"/>
          </p:cNvPicPr>
          <p:nvPr/>
        </p:nvPicPr>
        <p:blipFill>
          <a:blip r:embed="rId1"/>
          <a:stretch>
            <a:fillRect/>
          </a:stretch>
        </p:blipFill>
        <p:spPr>
          <a:xfrm>
            <a:off x="919886" y="2126894"/>
            <a:ext cx="263347" cy="263347"/>
          </a:xfrm>
          <a:prstGeom prst="rect">
            <a:avLst/>
          </a:prstGeom>
        </p:spPr>
      </p:pic>
      <p:sp>
        <p:nvSpPr>
          <p:cNvPr id="9" name="Text 5"/>
          <p:cNvSpPr txBox="1"/>
          <p:nvPr/>
        </p:nvSpPr>
        <p:spPr>
          <a:xfrm>
            <a:off x="1508760" y="1984248"/>
            <a:ext cx="2377440" cy="548640"/>
          </a:xfrm>
          <a:prstGeom prst="rect">
            <a:avLst/>
          </a:prstGeom>
          <a:noFill/>
          <a:ln/>
        </p:spPr>
        <p:txBody>
          <a:bodyPr wrap="square" lIns="0" tIns="0" rIns="0" bIns="0" rtlCol="0" anchor="ctr"/>
          <a:lstStyle/>
          <a:p>
            <a:pPr indent="0" marL="0">
              <a:buNone/>
            </a:pPr>
            <a:r>
              <a:rPr lang="en-US" sz="2000" dirty="0">
                <a:solidFill>
                  <a:schemeClr val="bg1"/>
                </a:solidFill>
                <a:latin typeface="Impact" pitchFamily="34" charset="0"/>
                <a:ea typeface="Impact" pitchFamily="34" charset="-122"/>
                <a:cs typeface="Impact" pitchFamily="34" charset="-120"/>
              </a:rPr>
              <a:t>Browser API</a:t>
            </a:r>
            <a:endParaRPr lang="en-US" sz="2000" dirty="0"/>
          </a:p>
        </p:txBody>
      </p:sp>
      <p:sp>
        <p:nvSpPr>
          <p:cNvPr id="10" name="chip"/>
          <p:cNvSpPr/>
          <p:nvPr/>
        </p:nvSpPr>
        <p:spPr>
          <a:xfrm>
            <a:off x="4114800" y="2084832"/>
            <a:ext cx="1645920" cy="329184"/>
          </a:xfrm>
          <a:prstGeom prst="roundRect">
            <a:avLst>
              <a:gd name="adj" fmla="val 52778"/>
            </a:avLst>
          </a:prstGeom>
          <a:solidFill>
            <a:schemeClr val="accent2"/>
          </a:solidFill>
          <a:ln w="9525">
            <a:solidFill>
              <a:schemeClr val="accent2"/>
            </a:solidFill>
            <a:prstDash val="solid"/>
          </a:ln>
        </p:spPr>
      </p:sp>
      <p:sp>
        <p:nvSpPr>
          <p:cNvPr id="11" name="Text 7"/>
          <p:cNvSpPr txBox="1"/>
          <p:nvPr/>
        </p:nvSpPr>
        <p:spPr>
          <a:xfrm>
            <a:off x="4114800" y="2084832"/>
            <a:ext cx="1645920" cy="329184"/>
          </a:xfrm>
          <a:prstGeom prst="rect">
            <a:avLst/>
          </a:prstGeom>
          <a:noFill/>
          <a:ln/>
        </p:spPr>
        <p:txBody>
          <a:bodyPr wrap="square" lIns="0" tIns="0" rIns="0" bIns="0" rtlCol="0" anchor="ctr"/>
          <a:lstStyle/>
          <a:p>
            <a:pPr algn="ctr" indent="0" marL="0">
              <a:buNone/>
            </a:pPr>
            <a:r>
              <a:rPr lang="en-US" sz="1100" b="1" dirty="0">
                <a:solidFill>
                  <a:schemeClr val="tx2"/>
                </a:solidFill>
              </a:rPr>
              <a:t>per shopper run</a:t>
            </a:r>
            <a:endParaRPr lang="en-US" sz="1100" dirty="0"/>
          </a:p>
        </p:txBody>
      </p:sp>
      <p:sp>
        <p:nvSpPr>
          <p:cNvPr id="12" name="Text 8"/>
          <p:cNvSpPr txBox="1"/>
          <p:nvPr/>
        </p:nvSpPr>
        <p:spPr>
          <a:xfrm>
            <a:off x="777240" y="2651760"/>
            <a:ext cx="4983480" cy="987552"/>
          </a:xfrm>
          <a:prstGeom prst="rect">
            <a:avLst/>
          </a:prstGeom>
          <a:noFill/>
          <a:ln/>
        </p:spPr>
        <p:txBody>
          <a:bodyPr wrap="square" lIns="0" tIns="0" rIns="0" bIns="0" rtlCol="0" anchor="t"/>
          <a:lstStyle/>
          <a:p>
            <a:pPr indent="0" marL="0">
              <a:buNone/>
            </a:pPr>
            <a:r>
              <a:rPr lang="en-US" sz="1300" dirty="0">
                <a:solidFill>
                  <a:srgbClr val="E4DCFA"/>
                </a:solidFill>
              </a:rPr>
              <a:t>A cloud browser per shopper over the Chrome DevTools Protocol (CDP), with a country proxy (US, GB, CA, DE, FR, JP, AU). Our flows set device, locale and timezone, take screenshots and reload to expose fake countdowns.</a:t>
            </a:r>
            <a:endParaRPr lang="en-US" sz="1300" dirty="0"/>
          </a:p>
        </p:txBody>
      </p:sp>
      <p:sp>
        <p:nvSpPr>
          <p:cNvPr id="13" name="api card"/>
          <p:cNvSpPr/>
          <p:nvPr/>
        </p:nvSpPr>
        <p:spPr>
          <a:xfrm>
            <a:off x="6199632" y="1783080"/>
            <a:ext cx="5440680" cy="1901952"/>
          </a:xfrm>
          <a:prstGeom prst="roundRect">
            <a:avLst>
              <a:gd name="adj" fmla="val 2404"/>
            </a:avLst>
          </a:prstGeom>
          <a:solidFill>
            <a:srgbClr val="2B1A59"/>
          </a:solidFill>
          <a:ln w="12700">
            <a:solidFill>
              <a:srgbClr val="6B55B5"/>
            </a:solidFill>
            <a:prstDash val="solid"/>
          </a:ln>
        </p:spPr>
      </p:sp>
      <p:sp>
        <p:nvSpPr>
          <p:cNvPr id="14" name="icon lens"/>
          <p:cNvSpPr/>
          <p:nvPr/>
        </p:nvSpPr>
        <p:spPr>
          <a:xfrm>
            <a:off x="6428232" y="1984248"/>
            <a:ext cx="548640" cy="548640"/>
          </a:xfrm>
          <a:prstGeom prst="roundRect">
            <a:avLst>
              <a:gd name="adj" fmla="val 11667"/>
            </a:avLst>
          </a:prstGeom>
          <a:solidFill>
            <a:srgbClr val="2B1A59"/>
          </a:solidFill>
          <a:ln w="19050">
            <a:solidFill>
              <a:schemeClr val="accent2"/>
            </a:solidFill>
            <a:prstDash val="solid"/>
          </a:ln>
        </p:spPr>
      </p:sp>
      <p:pic>
        <p:nvPicPr>
          <p:cNvPr id="15" name="icon" descr="Robot">    </p:cNvPr>
          <p:cNvPicPr>
            <a:picLocks noChangeAspect="1"/>
          </p:cNvPicPr>
          <p:nvPr/>
        </p:nvPicPr>
        <p:blipFill>
          <a:blip r:embed="rId2"/>
          <a:stretch>
            <a:fillRect/>
          </a:stretch>
        </p:blipFill>
        <p:spPr>
          <a:xfrm>
            <a:off x="6570878" y="2126894"/>
            <a:ext cx="263347" cy="263347"/>
          </a:xfrm>
          <a:prstGeom prst="rect">
            <a:avLst/>
          </a:prstGeom>
        </p:spPr>
      </p:pic>
      <p:sp>
        <p:nvSpPr>
          <p:cNvPr id="16" name="Text 11"/>
          <p:cNvSpPr txBox="1"/>
          <p:nvPr/>
        </p:nvSpPr>
        <p:spPr>
          <a:xfrm>
            <a:off x="7159752" y="1984248"/>
            <a:ext cx="2377440" cy="548640"/>
          </a:xfrm>
          <a:prstGeom prst="rect">
            <a:avLst/>
          </a:prstGeom>
          <a:noFill/>
          <a:ln/>
        </p:spPr>
        <p:txBody>
          <a:bodyPr wrap="square" lIns="0" tIns="0" rIns="0" bIns="0" rtlCol="0" anchor="ctr"/>
          <a:lstStyle/>
          <a:p>
            <a:pPr indent="0" marL="0">
              <a:buNone/>
            </a:pPr>
            <a:r>
              <a:rPr lang="en-US" sz="2000" dirty="0">
                <a:solidFill>
                  <a:schemeClr val="bg1"/>
                </a:solidFill>
                <a:latin typeface="Impact" pitchFamily="34" charset="0"/>
                <a:ea typeface="Impact" pitchFamily="34" charset="-122"/>
                <a:cs typeface="Impact" pitchFamily="34" charset="-120"/>
              </a:rPr>
              <a:t>Agent API</a:t>
            </a:r>
            <a:endParaRPr lang="en-US" sz="2000" dirty="0"/>
          </a:p>
        </p:txBody>
      </p:sp>
      <p:sp>
        <p:nvSpPr>
          <p:cNvPr id="17" name="chip"/>
          <p:cNvSpPr/>
          <p:nvPr/>
        </p:nvSpPr>
        <p:spPr>
          <a:xfrm>
            <a:off x="9765792" y="2084832"/>
            <a:ext cx="1645920" cy="329184"/>
          </a:xfrm>
          <a:prstGeom prst="roundRect">
            <a:avLst>
              <a:gd name="adj" fmla="val 52778"/>
            </a:avLst>
          </a:prstGeom>
          <a:solidFill>
            <a:schemeClr val="accent2"/>
          </a:solidFill>
          <a:ln w="9525">
            <a:solidFill>
              <a:schemeClr val="accent2"/>
            </a:solidFill>
            <a:prstDash val="solid"/>
          </a:ln>
        </p:spPr>
      </p:sp>
      <p:sp>
        <p:nvSpPr>
          <p:cNvPr id="18" name="Text 13"/>
          <p:cNvSpPr txBox="1"/>
          <p:nvPr/>
        </p:nvSpPr>
        <p:spPr>
          <a:xfrm>
            <a:off x="9765792" y="2084832"/>
            <a:ext cx="1645920" cy="329184"/>
          </a:xfrm>
          <a:prstGeom prst="rect">
            <a:avLst/>
          </a:prstGeom>
          <a:noFill/>
          <a:ln/>
        </p:spPr>
        <p:txBody>
          <a:bodyPr wrap="square" lIns="0" tIns="0" rIns="0" bIns="0" rtlCol="0" anchor="ctr"/>
          <a:lstStyle/>
          <a:p>
            <a:pPr algn="ctr" indent="0" marL="0">
              <a:buNone/>
            </a:pPr>
            <a:r>
              <a:rPr lang="en-US" sz="1100" b="1" dirty="0">
                <a:solidFill>
                  <a:schemeClr val="tx2"/>
                </a:solidFill>
              </a:rPr>
              <a:t>unscripted sites</a:t>
            </a:r>
            <a:endParaRPr lang="en-US" sz="1100" dirty="0"/>
          </a:p>
        </p:txBody>
      </p:sp>
      <p:sp>
        <p:nvSpPr>
          <p:cNvPr id="19" name="Text 14"/>
          <p:cNvSpPr txBox="1"/>
          <p:nvPr/>
        </p:nvSpPr>
        <p:spPr>
          <a:xfrm>
            <a:off x="6428232" y="2651760"/>
            <a:ext cx="4983480" cy="987552"/>
          </a:xfrm>
          <a:prstGeom prst="rect">
            <a:avLst/>
          </a:prstGeom>
          <a:noFill/>
          <a:ln/>
        </p:spPr>
        <p:txBody>
          <a:bodyPr wrap="square" lIns="0" tIns="0" rIns="0" bIns="0" rtlCol="0" anchor="t"/>
          <a:lstStyle/>
          <a:p>
            <a:pPr indent="0" marL="0">
              <a:buNone/>
            </a:pPr>
            <a:r>
              <a:rPr lang="en-US" sz="1300" dirty="0">
                <a:solidFill>
                  <a:srgbClr val="E4DCFA"/>
                </a:solidFill>
              </a:rPr>
              <a:t>A goal (reach checkout, never pay) plus a typed output_schema: advertised price, every price line with its pre‑ticked flag, verbatim urgency copy, the product and where it stopped.</a:t>
            </a:r>
            <a:endParaRPr lang="en-US" sz="1300" dirty="0"/>
          </a:p>
        </p:txBody>
      </p:sp>
      <p:sp>
        <p:nvSpPr>
          <p:cNvPr id="20" name="api card"/>
          <p:cNvSpPr/>
          <p:nvPr/>
        </p:nvSpPr>
        <p:spPr>
          <a:xfrm>
            <a:off x="548640" y="3822192"/>
            <a:ext cx="5440680" cy="1417320"/>
          </a:xfrm>
          <a:prstGeom prst="roundRect">
            <a:avLst>
              <a:gd name="adj" fmla="val 3226"/>
            </a:avLst>
          </a:prstGeom>
          <a:solidFill>
            <a:srgbClr val="2B1A59"/>
          </a:solidFill>
          <a:ln w="12700">
            <a:solidFill>
              <a:srgbClr val="6B55B5"/>
            </a:solidFill>
            <a:prstDash val="solid"/>
          </a:ln>
        </p:spPr>
      </p:sp>
      <p:sp>
        <p:nvSpPr>
          <p:cNvPr id="21" name="icon lens"/>
          <p:cNvSpPr/>
          <p:nvPr/>
        </p:nvSpPr>
        <p:spPr>
          <a:xfrm>
            <a:off x="777240" y="4023360"/>
            <a:ext cx="548640" cy="548640"/>
          </a:xfrm>
          <a:prstGeom prst="roundRect">
            <a:avLst>
              <a:gd name="adj" fmla="val 11667"/>
            </a:avLst>
          </a:prstGeom>
          <a:solidFill>
            <a:srgbClr val="2B1A59"/>
          </a:solidFill>
          <a:ln w="19050">
            <a:solidFill>
              <a:schemeClr val="accent2"/>
            </a:solidFill>
            <a:prstDash val="solid"/>
          </a:ln>
        </p:spPr>
      </p:sp>
      <p:pic>
        <p:nvPicPr>
          <p:cNvPr id="22" name="icon" descr="FileLines">    </p:cNvPr>
          <p:cNvPicPr>
            <a:picLocks noChangeAspect="1"/>
          </p:cNvPicPr>
          <p:nvPr/>
        </p:nvPicPr>
        <p:blipFill>
          <a:blip r:embed="rId3"/>
          <a:stretch>
            <a:fillRect/>
          </a:stretch>
        </p:blipFill>
        <p:spPr>
          <a:xfrm>
            <a:off x="919886" y="4166006"/>
            <a:ext cx="263347" cy="263347"/>
          </a:xfrm>
          <a:prstGeom prst="rect">
            <a:avLst/>
          </a:prstGeom>
        </p:spPr>
      </p:pic>
      <p:sp>
        <p:nvSpPr>
          <p:cNvPr id="23" name="Text 17"/>
          <p:cNvSpPr txBox="1"/>
          <p:nvPr/>
        </p:nvSpPr>
        <p:spPr>
          <a:xfrm>
            <a:off x="1508760" y="4023360"/>
            <a:ext cx="2377440" cy="548640"/>
          </a:xfrm>
          <a:prstGeom prst="rect">
            <a:avLst/>
          </a:prstGeom>
          <a:noFill/>
          <a:ln/>
        </p:spPr>
        <p:txBody>
          <a:bodyPr wrap="square" lIns="0" tIns="0" rIns="0" bIns="0" rtlCol="0" anchor="ctr"/>
          <a:lstStyle/>
          <a:p>
            <a:pPr indent="0" marL="0">
              <a:buNone/>
            </a:pPr>
            <a:r>
              <a:rPr lang="en-US" sz="2000" dirty="0">
                <a:solidFill>
                  <a:schemeClr val="bg1"/>
                </a:solidFill>
                <a:latin typeface="Impact" pitchFamily="34" charset="0"/>
                <a:ea typeface="Impact" pitchFamily="34" charset="-122"/>
                <a:cs typeface="Impact" pitchFamily="34" charset="-120"/>
              </a:rPr>
              <a:t>Fetch API</a:t>
            </a:r>
            <a:endParaRPr lang="en-US" sz="2000" dirty="0"/>
          </a:p>
        </p:txBody>
      </p:sp>
      <p:sp>
        <p:nvSpPr>
          <p:cNvPr id="24" name="chip"/>
          <p:cNvSpPr/>
          <p:nvPr/>
        </p:nvSpPr>
        <p:spPr>
          <a:xfrm>
            <a:off x="4114800" y="4123944"/>
            <a:ext cx="1645920" cy="329184"/>
          </a:xfrm>
          <a:prstGeom prst="roundRect">
            <a:avLst>
              <a:gd name="adj" fmla="val 52778"/>
            </a:avLst>
          </a:prstGeom>
          <a:solidFill>
            <a:schemeClr val="accent2"/>
          </a:solidFill>
          <a:ln w="9525">
            <a:solidFill>
              <a:schemeClr val="accent2"/>
            </a:solidFill>
            <a:prstDash val="solid"/>
          </a:ln>
        </p:spPr>
      </p:sp>
      <p:sp>
        <p:nvSpPr>
          <p:cNvPr id="25" name="Text 19"/>
          <p:cNvSpPr txBox="1"/>
          <p:nvPr/>
        </p:nvSpPr>
        <p:spPr>
          <a:xfrm>
            <a:off x="4114800" y="4123944"/>
            <a:ext cx="1645920" cy="329184"/>
          </a:xfrm>
          <a:prstGeom prst="rect">
            <a:avLst/>
          </a:prstGeom>
          <a:noFill/>
          <a:ln/>
        </p:spPr>
        <p:txBody>
          <a:bodyPr wrap="square" lIns="0" tIns="0" rIns="0" bIns="0" rtlCol="0" anchor="ctr"/>
          <a:lstStyle/>
          <a:p>
            <a:pPr algn="ctr" indent="0" marL="0">
              <a:buNone/>
            </a:pPr>
            <a:r>
              <a:rPr lang="en-US" sz="1100" b="1" dirty="0">
                <a:solidFill>
                  <a:schemeClr val="tx2"/>
                </a:solidFill>
              </a:rPr>
              <a:t>policy pages</a:t>
            </a:r>
            <a:endParaRPr lang="en-US" sz="1100" dirty="0"/>
          </a:p>
        </p:txBody>
      </p:sp>
      <p:sp>
        <p:nvSpPr>
          <p:cNvPr id="26" name="Text 20"/>
          <p:cNvSpPr txBox="1"/>
          <p:nvPr/>
        </p:nvSpPr>
        <p:spPr>
          <a:xfrm>
            <a:off x="777240" y="4690872"/>
            <a:ext cx="4983480" cy="502920"/>
          </a:xfrm>
          <a:prstGeom prst="rect">
            <a:avLst/>
          </a:prstGeom>
          <a:noFill/>
          <a:ln/>
        </p:spPr>
        <p:txBody>
          <a:bodyPr wrap="square" lIns="0" tIns="0" rIns="0" bIns="0" rtlCol="0" anchor="t"/>
          <a:lstStyle/>
          <a:p>
            <a:pPr indent="0" marL="0">
              <a:buNone/>
            </a:pPr>
            <a:r>
              <a:rPr lang="en-US" sz="1300" dirty="0">
                <a:solidFill>
                  <a:srgbClr val="E4DCFA"/>
                </a:solidFill>
              </a:rPr>
              <a:t>Terms, refund and cancellation pages as clean markdown, up to 10 URLs per call, feeding the Gemini policy-vs-reality check.</a:t>
            </a:r>
            <a:endParaRPr lang="en-US" sz="1300" dirty="0"/>
          </a:p>
        </p:txBody>
      </p:sp>
      <p:sp>
        <p:nvSpPr>
          <p:cNvPr id="27" name="api card"/>
          <p:cNvSpPr/>
          <p:nvPr/>
        </p:nvSpPr>
        <p:spPr>
          <a:xfrm>
            <a:off x="6199632" y="3822192"/>
            <a:ext cx="5440680" cy="1417320"/>
          </a:xfrm>
          <a:prstGeom prst="roundRect">
            <a:avLst>
              <a:gd name="adj" fmla="val 3226"/>
            </a:avLst>
          </a:prstGeom>
          <a:solidFill>
            <a:srgbClr val="2B1A59"/>
          </a:solidFill>
          <a:ln w="12700">
            <a:solidFill>
              <a:srgbClr val="6B55B5"/>
            </a:solidFill>
            <a:prstDash val="solid"/>
          </a:ln>
        </p:spPr>
      </p:sp>
      <p:sp>
        <p:nvSpPr>
          <p:cNvPr id="28" name="icon lens"/>
          <p:cNvSpPr/>
          <p:nvPr/>
        </p:nvSpPr>
        <p:spPr>
          <a:xfrm>
            <a:off x="6428232" y="4023360"/>
            <a:ext cx="548640" cy="548640"/>
          </a:xfrm>
          <a:prstGeom prst="roundRect">
            <a:avLst>
              <a:gd name="adj" fmla="val 11667"/>
            </a:avLst>
          </a:prstGeom>
          <a:solidFill>
            <a:srgbClr val="2B1A59"/>
          </a:solidFill>
          <a:ln w="19050">
            <a:solidFill>
              <a:schemeClr val="accent2"/>
            </a:solidFill>
            <a:prstDash val="solid"/>
          </a:ln>
        </p:spPr>
      </p:sp>
      <p:pic>
        <p:nvPicPr>
          <p:cNvPr id="29" name="icon" descr="MagnifyingGlassChart">    </p:cNvPr>
          <p:cNvPicPr>
            <a:picLocks noChangeAspect="1"/>
          </p:cNvPicPr>
          <p:nvPr/>
        </p:nvPicPr>
        <p:blipFill>
          <a:blip r:embed="rId4"/>
          <a:stretch>
            <a:fillRect/>
          </a:stretch>
        </p:blipFill>
        <p:spPr>
          <a:xfrm>
            <a:off x="6570878" y="4166006"/>
            <a:ext cx="263347" cy="263347"/>
          </a:xfrm>
          <a:prstGeom prst="rect">
            <a:avLst/>
          </a:prstGeom>
        </p:spPr>
      </p:pic>
      <p:sp>
        <p:nvSpPr>
          <p:cNvPr id="30" name="Text 23"/>
          <p:cNvSpPr txBox="1"/>
          <p:nvPr/>
        </p:nvSpPr>
        <p:spPr>
          <a:xfrm>
            <a:off x="7159752" y="4023360"/>
            <a:ext cx="2377440" cy="548640"/>
          </a:xfrm>
          <a:prstGeom prst="rect">
            <a:avLst/>
          </a:prstGeom>
          <a:noFill/>
          <a:ln/>
        </p:spPr>
        <p:txBody>
          <a:bodyPr wrap="square" lIns="0" tIns="0" rIns="0" bIns="0" rtlCol="0" anchor="ctr"/>
          <a:lstStyle/>
          <a:p>
            <a:pPr indent="0" marL="0">
              <a:buNone/>
            </a:pPr>
            <a:r>
              <a:rPr lang="en-US" sz="2000" dirty="0">
                <a:solidFill>
                  <a:schemeClr val="bg1"/>
                </a:solidFill>
                <a:latin typeface="Impact" pitchFamily="34" charset="0"/>
                <a:ea typeface="Impact" pitchFamily="34" charset="-122"/>
                <a:cs typeface="Impact" pitchFamily="34" charset="-120"/>
              </a:rPr>
              <a:t>Search API</a:t>
            </a:r>
            <a:endParaRPr lang="en-US" sz="2000" dirty="0"/>
          </a:p>
        </p:txBody>
      </p:sp>
      <p:sp>
        <p:nvSpPr>
          <p:cNvPr id="31" name="chip"/>
          <p:cNvSpPr/>
          <p:nvPr/>
        </p:nvSpPr>
        <p:spPr>
          <a:xfrm>
            <a:off x="9765792" y="4123944"/>
            <a:ext cx="1645920" cy="329184"/>
          </a:xfrm>
          <a:prstGeom prst="roundRect">
            <a:avLst>
              <a:gd name="adj" fmla="val 52778"/>
            </a:avLst>
          </a:prstGeom>
          <a:solidFill>
            <a:schemeClr val="accent2"/>
          </a:solidFill>
          <a:ln w="9525">
            <a:solidFill>
              <a:schemeClr val="accent2"/>
            </a:solidFill>
            <a:prstDash val="solid"/>
          </a:ln>
        </p:spPr>
      </p:sp>
      <p:sp>
        <p:nvSpPr>
          <p:cNvPr id="32" name="Text 25"/>
          <p:cNvSpPr txBox="1"/>
          <p:nvPr/>
        </p:nvSpPr>
        <p:spPr>
          <a:xfrm>
            <a:off x="9765792" y="4123944"/>
            <a:ext cx="1645920" cy="329184"/>
          </a:xfrm>
          <a:prstGeom prst="rect">
            <a:avLst/>
          </a:prstGeom>
          <a:noFill/>
          <a:ln/>
        </p:spPr>
        <p:txBody>
          <a:bodyPr wrap="square" lIns="0" tIns="0" rIns="0" bIns="0" rtlCol="0" anchor="ctr"/>
          <a:lstStyle/>
          <a:p>
            <a:pPr algn="ctr" indent="0" marL="0">
              <a:buNone/>
            </a:pPr>
            <a:r>
              <a:rPr lang="en-US" sz="1100" b="1" dirty="0">
                <a:solidFill>
                  <a:schemeClr val="tx2"/>
                </a:solidFill>
              </a:rPr>
              <a:t>peer sites</a:t>
            </a:r>
            <a:endParaRPr lang="en-US" sz="1100" dirty="0"/>
          </a:p>
        </p:txBody>
      </p:sp>
      <p:sp>
        <p:nvSpPr>
          <p:cNvPr id="33" name="Text 26"/>
          <p:cNvSpPr txBox="1"/>
          <p:nvPr/>
        </p:nvSpPr>
        <p:spPr>
          <a:xfrm>
            <a:off x="6428232" y="4690872"/>
            <a:ext cx="4983480" cy="502920"/>
          </a:xfrm>
          <a:prstGeom prst="rect">
            <a:avLst/>
          </a:prstGeom>
          <a:noFill/>
          <a:ln/>
        </p:spPr>
        <p:txBody>
          <a:bodyPr wrap="square" lIns="0" tIns="0" rIns="0" bIns="0" rtlCol="0" anchor="t"/>
          <a:lstStyle/>
          <a:p>
            <a:pPr indent="0" marL="0">
              <a:buNone/>
            </a:pPr>
            <a:r>
              <a:rPr lang="en-US" sz="1300" dirty="0">
                <a:solidFill>
                  <a:srgbClr val="E4DCFA"/>
                </a:solidFill>
              </a:rPr>
              <a:t>Finds comparable services on the live web for the Google ADK agent's peer-site tool, so a site can be compared with its peers.</a:t>
            </a:r>
            <a:endParaRPr lang="en-US" sz="1300" dirty="0"/>
          </a:p>
        </p:txBody>
      </p:sp>
      <p:sp>
        <p:nvSpPr>
          <p:cNvPr id="34" name="live proof strip"/>
          <p:cNvSpPr/>
          <p:nvPr/>
        </p:nvSpPr>
        <p:spPr>
          <a:xfrm>
            <a:off x="548640" y="5422392"/>
            <a:ext cx="11091672" cy="868680"/>
          </a:xfrm>
          <a:prstGeom prst="roundRect">
            <a:avLst>
              <a:gd name="adj" fmla="val 5263"/>
            </a:avLst>
          </a:prstGeom>
          <a:solidFill>
            <a:schemeClr val="accent1"/>
          </a:solidFill>
          <a:ln w="12700">
            <a:solidFill>
              <a:schemeClr val="accent1"/>
            </a:solidFill>
            <a:prstDash val="solid"/>
          </a:ln>
        </p:spPr>
      </p:sp>
      <p:sp>
        <p:nvSpPr>
          <p:cNvPr id="35" name="Text 28"/>
          <p:cNvSpPr txBox="1"/>
          <p:nvPr/>
        </p:nvSpPr>
        <p:spPr>
          <a:xfrm>
            <a:off x="777240" y="5422392"/>
            <a:ext cx="10698480" cy="868680"/>
          </a:xfrm>
          <a:prstGeom prst="rect">
            <a:avLst/>
          </a:prstGeom>
          <a:noFill/>
          <a:ln/>
        </p:spPr>
        <p:txBody>
          <a:bodyPr wrap="square" lIns="0" tIns="0" rIns="0" bIns="0" rtlCol="0" anchor="ctr"/>
          <a:lstStyle/>
          <a:p>
            <a:pPr indent="0" marL="0">
              <a:buNone/>
            </a:pPr>
            <a:r>
              <a:rPr lang="en-US" sz="1300" b="1" dirty="0">
                <a:solidFill>
                  <a:schemeClr val="accent2"/>
                </a:solidFill>
              </a:rPr>
              <a:t>Live on a real Indian shop: </a:t>
            </a:r>
            <a:pPr indent="0" marL="0">
              <a:buNone/>
            </a:pPr>
            <a:r>
              <a:rPr lang="en-US" sz="1300" dirty="0">
                <a:solidFill>
                  <a:schemeClr val="bg1"/>
                </a:solidFill>
              </a:rPr>
              <a:t>Agent API on bummer.in: 13 agent steps, stopped before payment, ₹599 returned as typed JSON for $0.21.</a:t>
            </a:r>
            <a:endParaRPr lang="en-US" sz="1300" dirty="0"/>
          </a:p>
          <a:p>
            <a:pPr indent="0" marL="0">
              <a:buNone/>
            </a:pPr>
            <a:r>
              <a:rPr lang="en-US" sz="1300" b="1" dirty="0">
                <a:solidFill>
                  <a:schemeClr val="accent2"/>
                </a:solidFill>
              </a:rPr>
              <a:t>Cost: </a:t>
            </a:r>
            <a:pPr indent="0" marL="0">
              <a:buNone/>
            </a:pPr>
            <a:r>
              <a:rPr lang="en-US" sz="1300" dirty="0">
                <a:solidFill>
                  <a:schemeClr val="bg1"/>
                </a:solidFill>
              </a:rPr>
              <a:t>that run $0.21 · ≈ $0.04 per 20-run Browser API audit · Search and Fetch $0 (TinyFish rates, 16 Oct 2026)</a:t>
            </a:r>
            <a:endParaRPr lang="en-US" sz="1300" dirty="0"/>
          </a:p>
        </p:txBody>
      </p:sp>
      <p:sp>
        <p:nvSpPr>
          <p:cNvPr id="25" name="Slide Number Placeholder 0"/>
          <p:cNvSpPr>
            <a:spLocks noGrp="1"/>
          </p:cNvSpPr>
          <p:nvPr>
            <p:ph type="sldNum" sz="quarter" idx="4294967295"/>
          </p:nvPr>
        </p:nvSpPr>
        <p:spPr>
          <a:xfrm>
            <a:off x="10424160" y="274320"/>
            <a:ext cx="594360" cy="365760"/>
          </a:xfrm>
          <a:prstGeom prst="rect">
            <a:avLst/>
          </a:prstGeom>
          <a:extLst>
            <a:ext uri="{C572A759-6A51-4108-AA02-DFA0A04FC94B}">
              <ma14:wrappingTextBoxFlag xmlns:ma14="http://schemas.microsoft.com/office/mac/drawingml/2011/main" val="0"/>
            </a:ext>
          </a:extLst>
        </p:spPr>
        <p:txBody>
          <a:bodyPr/>
          <a:lstStyle>
            <a:lvl1pPr>
              <a:defRPr sz="2000">
                <a:solidFill>
                  <a:schemeClr val="accent2"/>
                </a:solidFill>
                <a:latin typeface="Impact"/>
                <a:ea typeface="Impact"/>
                <a:cs typeface="Impact"/>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2"/>
          <p:cNvSpPr/>
          <p:nvPr>
            <p:ph idx="104" type="title" hasCustomPrompt="1"/>
          </p:nvPr>
        </p:nvSpPr>
        <p:spPr>
          <a:xfrm>
            <a:off x="548640" y="603504"/>
            <a:ext cx="10332720" cy="603504"/>
          </a:xfrm>
          <a:prstGeom prst="rect">
            <a:avLst/>
          </a:prstGeom>
          <a:noFill/>
          <a:ln/>
        </p:spPr>
        <p:txBody>
          <a:bodyPr wrap="square" lIns="0" tIns="0" rIns="0" bIns="0" rtlCol="0" anchor="t"/>
          <a:lstStyle/>
          <a:p>
            <a:pPr algn="l" indent="0" marL="0">
              <a:buNone/>
            </a:pPr>
            <a:r>
              <a:rPr lang="en-US" sz="3200" spc="100" kern="0" dirty="0">
                <a:solidFill>
                  <a:schemeClr val="tx2"/>
                </a:solidFill>
                <a:latin typeface="Impact" pitchFamily="34" charset="0"/>
                <a:ea typeface="Impact" pitchFamily="34" charset="-122"/>
                <a:cs typeface="Impact" pitchFamily="34" charset="-120"/>
              </a:rPr>
              <a:t>PROPOSED TINYFISH INTEGRATION: ONE RUN</a:t>
            </a:r>
            <a:endParaRPr lang="en-US" sz="3200" dirty="0"/>
          </a:p>
        </p:txBody>
      </p:sp>
      <p:sp>
        <p:nvSpPr>
          <p:cNvPr id="4" name="section label"/>
          <p:cNvSpPr txBox="1"/>
          <p:nvPr/>
        </p:nvSpPr>
        <p:spPr>
          <a:xfrm>
            <a:off x="548640" y="274320"/>
            <a:ext cx="6035040" cy="274320"/>
          </a:xfrm>
          <a:prstGeom prst="rect">
            <a:avLst/>
          </a:prstGeom>
          <a:noFill/>
          <a:ln/>
        </p:spPr>
        <p:txBody>
          <a:bodyPr wrap="square" lIns="0" tIns="0" rIns="0" bIns="0" rtlCol="0" anchor="t"/>
          <a:lstStyle/>
          <a:p>
            <a:pPr indent="0" marL="0">
              <a:buNone/>
            </a:pPr>
            <a:r>
              <a:rPr lang="en-US" sz="1500" spc="100" kern="0" dirty="0">
                <a:solidFill>
                  <a:schemeClr val="tx2"/>
                </a:solidFill>
                <a:latin typeface="Impact" pitchFamily="34" charset="0"/>
                <a:ea typeface="Impact" pitchFamily="34" charset="-122"/>
                <a:cs typeface="Impact" pitchFamily="34" charset="-120"/>
              </a:rPr>
              <a:t>07  ·  PROPOSED TINYFISH INTEGRATION</a:t>
            </a:r>
            <a:endParaRPr lang="en-US" sz="1500" dirty="0"/>
          </a:p>
        </p:txBody>
      </p:sp>
      <p:sp>
        <p:nvSpPr>
          <p:cNvPr id="5" name="subtitle"/>
          <p:cNvSpPr txBox="1"/>
          <p:nvPr/>
        </p:nvSpPr>
        <p:spPr>
          <a:xfrm>
            <a:off x="548640" y="1188720"/>
            <a:ext cx="10424160" cy="384048"/>
          </a:xfrm>
          <a:prstGeom prst="rect">
            <a:avLst/>
          </a:prstGeom>
          <a:noFill/>
          <a:ln/>
        </p:spPr>
        <p:txBody>
          <a:bodyPr wrap="square" lIns="0" tIns="0" rIns="0" bIns="0" rtlCol="0" anchor="t"/>
          <a:lstStyle/>
          <a:p>
            <a:pPr indent="0" marL="0">
              <a:buNone/>
            </a:pPr>
            <a:r>
              <a:rPr lang="en-US" sz="1700" dirty="0">
                <a:solidFill>
                  <a:schemeClr val="accent6"/>
                </a:solidFill>
                <a:latin typeface="Calibri" pitchFamily="34" charset="0"/>
                <a:ea typeface="Calibri" pitchFamily="34" charset="-122"/>
                <a:cs typeface="Calibri" pitchFamily="34" charset="-120"/>
              </a:rPr>
              <a:t>One shopper run through TinyFish, step by step, with its real output</a:t>
            </a:r>
            <a:endParaRPr lang="en-US" sz="1700" dirty="0"/>
          </a:p>
        </p:txBody>
      </p:sp>
      <p:sp>
        <p:nvSpPr>
          <p:cNvPr id="6" name="timeline"/>
          <p:cNvSpPr/>
          <p:nvPr/>
        </p:nvSpPr>
        <p:spPr>
          <a:xfrm>
            <a:off x="786384" y="2011680"/>
            <a:ext cx="0" cy="3794760"/>
          </a:xfrm>
          <a:prstGeom prst="line">
            <a:avLst/>
          </a:prstGeom>
          <a:noFill/>
          <a:ln w="25400">
            <a:solidFill>
              <a:schemeClr val="accent1"/>
            </a:solidFill>
            <a:prstDash val="solid"/>
          </a:ln>
        </p:spPr>
      </p:sp>
      <p:sp>
        <p:nvSpPr>
          <p:cNvPr id="7" name="step dot"/>
          <p:cNvSpPr/>
          <p:nvPr/>
        </p:nvSpPr>
        <p:spPr>
          <a:xfrm>
            <a:off x="548640" y="1783080"/>
            <a:ext cx="475488" cy="475488"/>
          </a:xfrm>
          <a:prstGeom prst="ellipse">
            <a:avLst/>
          </a:prstGeom>
          <a:solidFill>
            <a:schemeClr val="accent1"/>
          </a:solidFill>
          <a:ln w="25400">
            <a:solidFill>
              <a:schemeClr val="bg1"/>
            </a:solidFill>
            <a:prstDash val="solid"/>
          </a:ln>
        </p:spPr>
      </p:sp>
      <p:sp>
        <p:nvSpPr>
          <p:cNvPr id="8" name="Text 5"/>
          <p:cNvSpPr txBox="1"/>
          <p:nvPr/>
        </p:nvSpPr>
        <p:spPr>
          <a:xfrm>
            <a:off x="548640" y="1783080"/>
            <a:ext cx="475488" cy="475488"/>
          </a:xfrm>
          <a:prstGeom prst="rect">
            <a:avLst/>
          </a:prstGeom>
          <a:no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9" name="Text 6"/>
          <p:cNvSpPr txBox="1"/>
          <p:nvPr/>
        </p:nvSpPr>
        <p:spPr>
          <a:xfrm>
            <a:off x="1234440" y="1764792"/>
            <a:ext cx="4846320" cy="292608"/>
          </a:xfrm>
          <a:prstGeom prst="rect">
            <a:avLst/>
          </a:prstGeom>
          <a:noFill/>
          <a:ln/>
        </p:spPr>
        <p:txBody>
          <a:bodyPr wrap="square" lIns="0" tIns="0" rIns="0" bIns="0" rtlCol="0" anchor="t"/>
          <a:lstStyle/>
          <a:p>
            <a:pPr indent="0" marL="0">
              <a:buNone/>
            </a:pPr>
            <a:r>
              <a:rPr lang="en-US" sz="1600" b="1" dirty="0">
                <a:solidFill>
                  <a:schemeClr val="tx1"/>
                </a:solidFill>
              </a:rPr>
              <a:t>Pick a shopper</a:t>
            </a:r>
            <a:endParaRPr lang="en-US" sz="1600" dirty="0"/>
          </a:p>
        </p:txBody>
      </p:sp>
      <p:sp>
        <p:nvSpPr>
          <p:cNvPr id="10" name="Text 7"/>
          <p:cNvSpPr txBox="1"/>
          <p:nvPr/>
        </p:nvSpPr>
        <p:spPr>
          <a:xfrm>
            <a:off x="1234440" y="2057400"/>
            <a:ext cx="4937760" cy="292608"/>
          </a:xfrm>
          <a:prstGeom prst="rect">
            <a:avLst/>
          </a:prstGeom>
          <a:noFill/>
          <a:ln/>
        </p:spPr>
        <p:txBody>
          <a:bodyPr wrap="square" lIns="0" tIns="0" rIns="0" bIns="0" rtlCol="0" anchor="t"/>
          <a:lstStyle/>
          <a:p>
            <a:pPr indent="0" marL="0">
              <a:buNone/>
            </a:pPr>
            <a:r>
              <a:rPr lang="en-US" sz="1400" dirty="0">
                <a:solidFill>
                  <a:schemeClr val="accent6"/>
                </a:solidFill>
              </a:rPr>
              <a:t>e.g. iPhone · Germany · new visitor</a:t>
            </a:r>
            <a:endParaRPr lang="en-US" sz="1400" dirty="0"/>
          </a:p>
        </p:txBody>
      </p:sp>
      <p:sp>
        <p:nvSpPr>
          <p:cNvPr id="11" name="step dot"/>
          <p:cNvSpPr/>
          <p:nvPr/>
        </p:nvSpPr>
        <p:spPr>
          <a:xfrm>
            <a:off x="548640" y="2514600"/>
            <a:ext cx="475488" cy="475488"/>
          </a:xfrm>
          <a:prstGeom prst="ellipse">
            <a:avLst/>
          </a:prstGeom>
          <a:solidFill>
            <a:schemeClr val="accent1"/>
          </a:solidFill>
          <a:ln w="25400">
            <a:solidFill>
              <a:schemeClr val="bg1"/>
            </a:solidFill>
            <a:prstDash val="solid"/>
          </a:ln>
        </p:spPr>
      </p:sp>
      <p:sp>
        <p:nvSpPr>
          <p:cNvPr id="12" name="Text 9"/>
          <p:cNvSpPr txBox="1"/>
          <p:nvPr/>
        </p:nvSpPr>
        <p:spPr>
          <a:xfrm>
            <a:off x="548640" y="2514600"/>
            <a:ext cx="475488" cy="475488"/>
          </a:xfrm>
          <a:prstGeom prst="rect">
            <a:avLst/>
          </a:prstGeom>
          <a:no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13" name="Text 10"/>
          <p:cNvSpPr txBox="1"/>
          <p:nvPr/>
        </p:nvSpPr>
        <p:spPr>
          <a:xfrm>
            <a:off x="1234440" y="2496312"/>
            <a:ext cx="4846320" cy="292608"/>
          </a:xfrm>
          <a:prstGeom prst="rect">
            <a:avLst/>
          </a:prstGeom>
          <a:noFill/>
          <a:ln/>
        </p:spPr>
        <p:txBody>
          <a:bodyPr wrap="square" lIns="0" tIns="0" rIns="0" bIns="0" rtlCol="0" anchor="t"/>
          <a:lstStyle/>
          <a:p>
            <a:pPr indent="0" marL="0">
              <a:buNone/>
            </a:pPr>
            <a:r>
              <a:rPr lang="en-US" sz="1600" b="1" dirty="0">
                <a:solidFill>
                  <a:schemeClr val="tx1"/>
                </a:solidFill>
              </a:rPr>
              <a:t>Open a session</a:t>
            </a:r>
            <a:endParaRPr lang="en-US" sz="1600" dirty="0"/>
          </a:p>
        </p:txBody>
      </p:sp>
      <p:sp>
        <p:nvSpPr>
          <p:cNvPr id="14" name="Text 11"/>
          <p:cNvSpPr txBox="1"/>
          <p:nvPr/>
        </p:nvSpPr>
        <p:spPr>
          <a:xfrm>
            <a:off x="1234440" y="2788920"/>
            <a:ext cx="4937760" cy="292608"/>
          </a:xfrm>
          <a:prstGeom prst="rect">
            <a:avLst/>
          </a:prstGeom>
          <a:noFill/>
          <a:ln/>
        </p:spPr>
        <p:txBody>
          <a:bodyPr wrap="square" lIns="0" tIns="0" rIns="0" bIns="0" rtlCol="0" anchor="t"/>
          <a:lstStyle/>
          <a:p>
            <a:pPr indent="0" marL="0">
              <a:buNone/>
            </a:pPr>
            <a:r>
              <a:rPr lang="en-US" sz="1400" dirty="0">
                <a:solidFill>
                  <a:schemeClr val="accent6"/>
                </a:solidFill>
              </a:rPr>
              <a:t>Browser API with a country proxy, or the Agent API</a:t>
            </a:r>
            <a:endParaRPr lang="en-US" sz="1400" dirty="0"/>
          </a:p>
        </p:txBody>
      </p:sp>
      <p:sp>
        <p:nvSpPr>
          <p:cNvPr id="15" name="step dot"/>
          <p:cNvSpPr/>
          <p:nvPr/>
        </p:nvSpPr>
        <p:spPr>
          <a:xfrm>
            <a:off x="548640" y="3246120"/>
            <a:ext cx="475488" cy="475488"/>
          </a:xfrm>
          <a:prstGeom prst="ellipse">
            <a:avLst/>
          </a:prstGeom>
          <a:solidFill>
            <a:schemeClr val="accent1"/>
          </a:solidFill>
          <a:ln w="25400">
            <a:solidFill>
              <a:schemeClr val="bg1"/>
            </a:solidFill>
            <a:prstDash val="solid"/>
          </a:ln>
        </p:spPr>
      </p:sp>
      <p:sp>
        <p:nvSpPr>
          <p:cNvPr id="16" name="Text 13"/>
          <p:cNvSpPr txBox="1"/>
          <p:nvPr/>
        </p:nvSpPr>
        <p:spPr>
          <a:xfrm>
            <a:off x="548640" y="3246120"/>
            <a:ext cx="475488" cy="475488"/>
          </a:xfrm>
          <a:prstGeom prst="rect">
            <a:avLst/>
          </a:prstGeom>
          <a:no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17" name="Text 14"/>
          <p:cNvSpPr txBox="1"/>
          <p:nvPr/>
        </p:nvSpPr>
        <p:spPr>
          <a:xfrm>
            <a:off x="1234440" y="3227832"/>
            <a:ext cx="4846320" cy="292608"/>
          </a:xfrm>
          <a:prstGeom prst="rect">
            <a:avLst/>
          </a:prstGeom>
          <a:noFill/>
          <a:ln/>
        </p:spPr>
        <p:txBody>
          <a:bodyPr wrap="square" lIns="0" tIns="0" rIns="0" bIns="0" rtlCol="0" anchor="t"/>
          <a:lstStyle/>
          <a:p>
            <a:pPr indent="0" marL="0">
              <a:buNone/>
            </a:pPr>
            <a:r>
              <a:rPr lang="en-US" sz="1600" b="1" dirty="0">
                <a:solidFill>
                  <a:schemeClr val="tx1"/>
                </a:solidFill>
              </a:rPr>
              <a:t>Become that shopper</a:t>
            </a:r>
            <a:endParaRPr lang="en-US" sz="1600" dirty="0"/>
          </a:p>
        </p:txBody>
      </p:sp>
      <p:sp>
        <p:nvSpPr>
          <p:cNvPr id="18" name="Text 15"/>
          <p:cNvSpPr txBox="1"/>
          <p:nvPr/>
        </p:nvSpPr>
        <p:spPr>
          <a:xfrm>
            <a:off x="1234440" y="3520440"/>
            <a:ext cx="4937760" cy="292608"/>
          </a:xfrm>
          <a:prstGeom prst="rect">
            <a:avLst/>
          </a:prstGeom>
          <a:noFill/>
          <a:ln/>
        </p:spPr>
        <p:txBody>
          <a:bodyPr wrap="square" lIns="0" tIns="0" rIns="0" bIns="0" rtlCol="0" anchor="t"/>
          <a:lstStyle/>
          <a:p>
            <a:pPr indent="0" marL="0">
              <a:buNone/>
            </a:pPr>
            <a:r>
              <a:rPr lang="en-US" sz="1400" dirty="0">
                <a:solidFill>
                  <a:schemeClr val="accent6"/>
                </a:solidFill>
              </a:rPr>
              <a:t>CDP: device metrics, user agent, locale, timezone</a:t>
            </a:r>
            <a:endParaRPr lang="en-US" sz="1400" dirty="0"/>
          </a:p>
        </p:txBody>
      </p:sp>
      <p:sp>
        <p:nvSpPr>
          <p:cNvPr id="19" name="step dot"/>
          <p:cNvSpPr/>
          <p:nvPr/>
        </p:nvSpPr>
        <p:spPr>
          <a:xfrm>
            <a:off x="548640" y="3977640"/>
            <a:ext cx="475488" cy="475488"/>
          </a:xfrm>
          <a:prstGeom prst="ellipse">
            <a:avLst/>
          </a:prstGeom>
          <a:solidFill>
            <a:schemeClr val="accent1"/>
          </a:solidFill>
          <a:ln w="25400">
            <a:solidFill>
              <a:schemeClr val="bg1"/>
            </a:solidFill>
            <a:prstDash val="solid"/>
          </a:ln>
        </p:spPr>
      </p:sp>
      <p:sp>
        <p:nvSpPr>
          <p:cNvPr id="20" name="Text 17"/>
          <p:cNvSpPr txBox="1"/>
          <p:nvPr/>
        </p:nvSpPr>
        <p:spPr>
          <a:xfrm>
            <a:off x="548640" y="3977640"/>
            <a:ext cx="475488" cy="475488"/>
          </a:xfrm>
          <a:prstGeom prst="rect">
            <a:avLst/>
          </a:prstGeom>
          <a:noFill/>
          <a:ln/>
        </p:spPr>
        <p:txBody>
          <a:bodyPr wrap="square" lIns="0" tIns="0" rIns="0" bIns="0" rtlCol="0" anchor="ctr"/>
          <a:lstStyle/>
          <a:p>
            <a:pPr algn="ctr" indent="0" marL="0">
              <a:buNone/>
            </a:pPr>
            <a:r>
              <a:rPr lang="en-US" sz="1400" b="1" dirty="0">
                <a:solidFill>
                  <a:schemeClr val="bg1"/>
                </a:solidFill>
              </a:rPr>
              <a:t>4</a:t>
            </a:r>
            <a:endParaRPr lang="en-US" sz="1400" dirty="0"/>
          </a:p>
        </p:txBody>
      </p:sp>
      <p:sp>
        <p:nvSpPr>
          <p:cNvPr id="21" name="Text 18"/>
          <p:cNvSpPr txBox="1"/>
          <p:nvPr/>
        </p:nvSpPr>
        <p:spPr>
          <a:xfrm>
            <a:off x="1234440" y="3959352"/>
            <a:ext cx="4846320" cy="292608"/>
          </a:xfrm>
          <a:prstGeom prst="rect">
            <a:avLst/>
          </a:prstGeom>
          <a:noFill/>
          <a:ln/>
        </p:spPr>
        <p:txBody>
          <a:bodyPr wrap="square" lIns="0" tIns="0" rIns="0" bIns="0" rtlCol="0" anchor="t"/>
          <a:lstStyle/>
          <a:p>
            <a:pPr indent="0" marL="0">
              <a:buNone/>
            </a:pPr>
            <a:r>
              <a:rPr lang="en-US" sz="1600" b="1" dirty="0">
                <a:solidFill>
                  <a:schemeClr val="tx1"/>
                </a:solidFill>
              </a:rPr>
              <a:t>Walk the checkout</a:t>
            </a:r>
            <a:endParaRPr lang="en-US" sz="1600" dirty="0"/>
          </a:p>
        </p:txBody>
      </p:sp>
      <p:sp>
        <p:nvSpPr>
          <p:cNvPr id="22" name="Text 19"/>
          <p:cNvSpPr txBox="1"/>
          <p:nvPr/>
        </p:nvSpPr>
        <p:spPr>
          <a:xfrm>
            <a:off x="1234440" y="4251960"/>
            <a:ext cx="4937760" cy="292608"/>
          </a:xfrm>
          <a:prstGeom prst="rect">
            <a:avLst/>
          </a:prstGeom>
          <a:noFill/>
          <a:ln/>
        </p:spPr>
        <p:txBody>
          <a:bodyPr wrap="square" lIns="0" tIns="0" rIns="0" bIns="0" rtlCol="0" anchor="t"/>
          <a:lstStyle/>
          <a:p>
            <a:pPr indent="0" marL="0">
              <a:buNone/>
            </a:pPr>
            <a:r>
              <a:rPr lang="en-US" sz="1400" dirty="0">
                <a:solidFill>
                  <a:schemeClr val="accent6"/>
                </a:solidFill>
              </a:rPr>
              <a:t>Pinned product → basket → checkout, every screen captured</a:t>
            </a:r>
            <a:endParaRPr lang="en-US" sz="1400" dirty="0"/>
          </a:p>
        </p:txBody>
      </p:sp>
      <p:sp>
        <p:nvSpPr>
          <p:cNvPr id="23" name="step dot"/>
          <p:cNvSpPr/>
          <p:nvPr/>
        </p:nvSpPr>
        <p:spPr>
          <a:xfrm>
            <a:off x="548640" y="4709160"/>
            <a:ext cx="475488" cy="475488"/>
          </a:xfrm>
          <a:prstGeom prst="ellipse">
            <a:avLst/>
          </a:prstGeom>
          <a:solidFill>
            <a:schemeClr val="accent1"/>
          </a:solidFill>
          <a:ln w="25400">
            <a:solidFill>
              <a:schemeClr val="bg1"/>
            </a:solidFill>
            <a:prstDash val="solid"/>
          </a:ln>
        </p:spPr>
      </p:sp>
      <p:sp>
        <p:nvSpPr>
          <p:cNvPr id="24" name="Text 21"/>
          <p:cNvSpPr txBox="1"/>
          <p:nvPr/>
        </p:nvSpPr>
        <p:spPr>
          <a:xfrm>
            <a:off x="548640" y="4709160"/>
            <a:ext cx="475488" cy="475488"/>
          </a:xfrm>
          <a:prstGeom prst="rect">
            <a:avLst/>
          </a:prstGeom>
          <a:noFill/>
          <a:ln/>
        </p:spPr>
        <p:txBody>
          <a:bodyPr wrap="square" lIns="0" tIns="0" rIns="0" bIns="0" rtlCol="0" anchor="ctr"/>
          <a:lstStyle/>
          <a:p>
            <a:pPr algn="ctr" indent="0" marL="0">
              <a:buNone/>
            </a:pPr>
            <a:r>
              <a:rPr lang="en-US" sz="1400" b="1" dirty="0">
                <a:solidFill>
                  <a:schemeClr val="bg1"/>
                </a:solidFill>
              </a:rPr>
              <a:t>5</a:t>
            </a:r>
            <a:endParaRPr lang="en-US" sz="1400" dirty="0"/>
          </a:p>
        </p:txBody>
      </p:sp>
      <p:sp>
        <p:nvSpPr>
          <p:cNvPr id="25" name="Text 22"/>
          <p:cNvSpPr txBox="1"/>
          <p:nvPr/>
        </p:nvSpPr>
        <p:spPr>
          <a:xfrm>
            <a:off x="1234440" y="4690872"/>
            <a:ext cx="4846320" cy="292608"/>
          </a:xfrm>
          <a:prstGeom prst="rect">
            <a:avLst/>
          </a:prstGeom>
          <a:noFill/>
          <a:ln/>
        </p:spPr>
        <p:txBody>
          <a:bodyPr wrap="square" lIns="0" tIns="0" rIns="0" bIns="0" rtlCol="0" anchor="t"/>
          <a:lstStyle/>
          <a:p>
            <a:pPr indent="0" marL="0">
              <a:buNone/>
            </a:pPr>
            <a:r>
              <a:rPr lang="en-US" sz="1600" b="1" dirty="0">
                <a:solidFill>
                  <a:schemeClr val="tx1"/>
                </a:solidFill>
              </a:rPr>
              <a:t>Stop safely</a:t>
            </a:r>
            <a:endParaRPr lang="en-US" sz="1600" dirty="0"/>
          </a:p>
        </p:txBody>
      </p:sp>
      <p:sp>
        <p:nvSpPr>
          <p:cNvPr id="26" name="Text 23"/>
          <p:cNvSpPr txBox="1"/>
          <p:nvPr/>
        </p:nvSpPr>
        <p:spPr>
          <a:xfrm>
            <a:off x="1234440" y="4983480"/>
            <a:ext cx="4937760" cy="292608"/>
          </a:xfrm>
          <a:prstGeom prst="rect">
            <a:avLst/>
          </a:prstGeom>
          <a:noFill/>
          <a:ln/>
        </p:spPr>
        <p:txBody>
          <a:bodyPr wrap="square" lIns="0" tIns="0" rIns="0" bIns="0" rtlCol="0" anchor="t"/>
          <a:lstStyle/>
          <a:p>
            <a:pPr indent="0" marL="0">
              <a:buNone/>
            </a:pPr>
            <a:r>
              <a:rPr lang="en-US" sz="1400" dirty="0">
                <a:solidFill>
                  <a:schemeClr val="accent6"/>
                </a:solidFill>
              </a:rPr>
              <a:t>At payment, a login wall or a CAPTCHA (reported, never bypassed)</a:t>
            </a:r>
            <a:endParaRPr lang="en-US" sz="1400" dirty="0"/>
          </a:p>
        </p:txBody>
      </p:sp>
      <p:sp>
        <p:nvSpPr>
          <p:cNvPr id="27" name="step dot"/>
          <p:cNvSpPr/>
          <p:nvPr/>
        </p:nvSpPr>
        <p:spPr>
          <a:xfrm>
            <a:off x="548640" y="5440680"/>
            <a:ext cx="475488" cy="475488"/>
          </a:xfrm>
          <a:prstGeom prst="ellipse">
            <a:avLst/>
          </a:prstGeom>
          <a:solidFill>
            <a:schemeClr val="accent1"/>
          </a:solidFill>
          <a:ln w="25400">
            <a:solidFill>
              <a:schemeClr val="bg1"/>
            </a:solidFill>
            <a:prstDash val="solid"/>
          </a:ln>
        </p:spPr>
      </p:sp>
      <p:sp>
        <p:nvSpPr>
          <p:cNvPr id="28" name="Text 25"/>
          <p:cNvSpPr txBox="1"/>
          <p:nvPr/>
        </p:nvSpPr>
        <p:spPr>
          <a:xfrm>
            <a:off x="548640" y="5440680"/>
            <a:ext cx="475488" cy="475488"/>
          </a:xfrm>
          <a:prstGeom prst="rect">
            <a:avLst/>
          </a:prstGeom>
          <a:noFill/>
          <a:ln/>
        </p:spPr>
        <p:txBody>
          <a:bodyPr wrap="square" lIns="0" tIns="0" rIns="0" bIns="0" rtlCol="0" anchor="ctr"/>
          <a:lstStyle/>
          <a:p>
            <a:pPr algn="ctr" indent="0" marL="0">
              <a:buNone/>
            </a:pPr>
            <a:r>
              <a:rPr lang="en-US" sz="1400" b="1" dirty="0">
                <a:solidFill>
                  <a:schemeClr val="bg1"/>
                </a:solidFill>
              </a:rPr>
              <a:t>6</a:t>
            </a:r>
            <a:endParaRPr lang="en-US" sz="1400" dirty="0"/>
          </a:p>
        </p:txBody>
      </p:sp>
      <p:sp>
        <p:nvSpPr>
          <p:cNvPr id="29" name="Text 26"/>
          <p:cNvSpPr txBox="1"/>
          <p:nvPr/>
        </p:nvSpPr>
        <p:spPr>
          <a:xfrm>
            <a:off x="1234440" y="5422392"/>
            <a:ext cx="4846320" cy="292608"/>
          </a:xfrm>
          <a:prstGeom prst="rect">
            <a:avLst/>
          </a:prstGeom>
          <a:noFill/>
          <a:ln/>
        </p:spPr>
        <p:txBody>
          <a:bodyPr wrap="square" lIns="0" tIns="0" rIns="0" bIns="0" rtlCol="0" anchor="t"/>
          <a:lstStyle/>
          <a:p>
            <a:pPr indent="0" marL="0">
              <a:buNone/>
            </a:pPr>
            <a:r>
              <a:rPr lang="en-US" sz="1600" b="1" dirty="0">
                <a:solidFill>
                  <a:schemeClr val="tx1"/>
                </a:solidFill>
              </a:rPr>
              <a:t>Hand back evidence</a:t>
            </a:r>
            <a:endParaRPr lang="en-US" sz="1600" dirty="0"/>
          </a:p>
        </p:txBody>
      </p:sp>
      <p:sp>
        <p:nvSpPr>
          <p:cNvPr id="30" name="Text 27"/>
          <p:cNvSpPr txBox="1"/>
          <p:nvPr/>
        </p:nvSpPr>
        <p:spPr>
          <a:xfrm>
            <a:off x="1234440" y="5715000"/>
            <a:ext cx="4937760" cy="292608"/>
          </a:xfrm>
          <a:prstGeom prst="rect">
            <a:avLst/>
          </a:prstGeom>
          <a:noFill/>
          <a:ln/>
        </p:spPr>
        <p:txBody>
          <a:bodyPr wrap="square" lIns="0" tIns="0" rIns="0" bIns="0" rtlCol="0" anchor="t"/>
          <a:lstStyle/>
          <a:p>
            <a:pPr indent="0" marL="0">
              <a:buNone/>
            </a:pPr>
            <a:r>
              <a:rPr lang="en-US" sz="1400" dirty="0">
                <a:solidFill>
                  <a:schemeClr val="accent6"/>
                </a:solidFill>
              </a:rPr>
              <a:t>Typed JSON + screenshots → RunRecord → ML and statistics</a:t>
            </a:r>
            <a:endParaRPr lang="en-US" sz="1400" dirty="0"/>
          </a:p>
        </p:txBody>
      </p:sp>
      <p:sp>
        <p:nvSpPr>
          <p:cNvPr id="31" name="code panel"/>
          <p:cNvSpPr/>
          <p:nvPr/>
        </p:nvSpPr>
        <p:spPr>
          <a:xfrm>
            <a:off x="6446520" y="1783080"/>
            <a:ext cx="5193792" cy="2788920"/>
          </a:xfrm>
          <a:prstGeom prst="roundRect">
            <a:avLst>
              <a:gd name="adj" fmla="val 1639"/>
            </a:avLst>
          </a:prstGeom>
          <a:solidFill>
            <a:schemeClr val="tx2"/>
          </a:solidFill>
          <a:ln w="12700">
            <a:solidFill>
              <a:schemeClr val="tx2"/>
            </a:solidFill>
            <a:prstDash val="solid"/>
          </a:ln>
        </p:spPr>
      </p:sp>
      <p:sp>
        <p:nvSpPr>
          <p:cNvPr id="32" name="Text 29"/>
          <p:cNvSpPr txBox="1"/>
          <p:nvPr/>
        </p:nvSpPr>
        <p:spPr>
          <a:xfrm>
            <a:off x="6675120" y="1901952"/>
            <a:ext cx="4754880" cy="274320"/>
          </a:xfrm>
          <a:prstGeom prst="rect">
            <a:avLst/>
          </a:prstGeom>
          <a:noFill/>
          <a:ln/>
        </p:spPr>
        <p:txBody>
          <a:bodyPr wrap="square" lIns="0" tIns="0" rIns="0" bIns="0" rtlCol="0" anchor="t"/>
          <a:lstStyle/>
          <a:p>
            <a:pPr indent="0" marL="0">
              <a:buNone/>
            </a:pPr>
            <a:r>
              <a:rPr lang="en-US" sz="1100" b="1" spc="200" kern="0" dirty="0">
                <a:solidFill>
                  <a:schemeClr val="accent2"/>
                </a:solidFill>
              </a:rPr>
              <a:t>Agent API · real output from bummer.in (abridged)</a:t>
            </a:r>
            <a:endParaRPr lang="en-US" sz="1100" dirty="0"/>
          </a:p>
        </p:txBody>
      </p:sp>
      <p:sp>
        <p:nvSpPr>
          <p:cNvPr id="33" name="Text 30"/>
          <p:cNvSpPr txBox="1"/>
          <p:nvPr/>
        </p:nvSpPr>
        <p:spPr>
          <a:xfrm>
            <a:off x="6675120" y="2212848"/>
            <a:ext cx="4800600" cy="2286000"/>
          </a:xfrm>
          <a:prstGeom prst="rect">
            <a:avLst/>
          </a:prstGeom>
          <a:noFill/>
          <a:ln/>
        </p:spPr>
        <p:txBody>
          <a:bodyPr wrap="square" lIns="0" tIns="0" rIns="0" bIns="0" rtlCol="0" anchor="t"/>
          <a:lstStyle/>
          <a:p>
            <a:pPr indent="0" marL="0">
              <a:buNone/>
            </a:pPr>
            <a:r>
              <a:rPr lang="en-US" sz="1100" dirty="0">
                <a:solidFill>
                  <a:schemeClr val="bg1"/>
                </a:solidFill>
                <a:latin typeface="Courier New" pitchFamily="34" charset="0"/>
                <a:ea typeface="Courier New" pitchFamily="34" charset="-122"/>
                <a:cs typeface="Courier New" pitchFamily="34" charset="-120"/>
              </a:rPr>
              <a:t>{</a:t>
            </a:r>
            <a:endParaRPr lang="en-US" sz="1100" dirty="0"/>
          </a:p>
          <a:p>
            <a:pPr indent="0" marL="0">
              <a:buNone/>
            </a:pPr>
            <a:r>
              <a:rPr lang="en-US" sz="1100" dirty="0">
                <a:solidFill>
                  <a:schemeClr val="bg1"/>
                </a:solidFill>
                <a:latin typeface="Courier New" pitchFamily="34" charset="0"/>
                <a:ea typeface="Courier New" pitchFamily="34" charset="-122"/>
                <a:cs typeface="Courier New" pitchFamily="34" charset="-120"/>
              </a:rPr>
              <a:t>  "product_name": "Modal Stretch Trunks",</a:t>
            </a:r>
            <a:endParaRPr lang="en-US" sz="1100" dirty="0"/>
          </a:p>
          <a:p>
            <a:pPr indent="0" marL="0">
              <a:buNone/>
            </a:pPr>
            <a:r>
              <a:rPr lang="en-US" sz="1100" dirty="0">
                <a:solidFill>
                  <a:schemeClr val="bg1"/>
                </a:solidFill>
                <a:latin typeface="Courier New" pitchFamily="34" charset="0"/>
                <a:ea typeface="Courier New" pitchFamily="34" charset="-122"/>
                <a:cs typeface="Courier New" pitchFamily="34" charset="-120"/>
              </a:rPr>
              <a:t>  "advertised_price": 599,</a:t>
            </a:r>
            <a:endParaRPr lang="en-US" sz="1100" dirty="0"/>
          </a:p>
          <a:p>
            <a:pPr indent="0" marL="0">
              <a:buNone/>
            </a:pPr>
            <a:r>
              <a:rPr lang="en-US" sz="1100" dirty="0">
                <a:solidFill>
                  <a:schemeClr val="bg1"/>
                </a:solidFill>
                <a:latin typeface="Courier New" pitchFamily="34" charset="0"/>
                <a:ea typeface="Courier New" pitchFamily="34" charset="-122"/>
                <a:cs typeface="Courier New" pitchFamily="34" charset="-120"/>
              </a:rPr>
              <a:t>  "final_payable_total": 599,</a:t>
            </a:r>
            <a:endParaRPr lang="en-US" sz="1100" dirty="0"/>
          </a:p>
          <a:p>
            <a:pPr indent="0" marL="0">
              <a:buNone/>
            </a:pPr>
            <a:r>
              <a:rPr lang="en-US" sz="1100" dirty="0">
                <a:solidFill>
                  <a:schemeClr val="bg1"/>
                </a:solidFill>
                <a:latin typeface="Courier New" pitchFamily="34" charset="0"/>
                <a:ea typeface="Courier New" pitchFamily="34" charset="-122"/>
                <a:cs typeface="Courier New" pitchFamily="34" charset="-120"/>
              </a:rPr>
              <a:t>  "tax_included": 28.52,</a:t>
            </a:r>
            <a:endParaRPr lang="en-US" sz="1100" dirty="0"/>
          </a:p>
          <a:p>
            <a:pPr indent="0" marL="0">
              <a:buNone/>
            </a:pPr>
            <a:r>
              <a:rPr lang="en-US" sz="1100" dirty="0">
                <a:solidFill>
                  <a:schemeClr val="bg1"/>
                </a:solidFill>
                <a:latin typeface="Courier New" pitchFamily="34" charset="0"/>
                <a:ea typeface="Courier New" pitchFamily="34" charset="-122"/>
                <a:cs typeface="Courier New" pitchFamily="34" charset="-120"/>
              </a:rPr>
              <a:t>  "stopped_at": "payment",</a:t>
            </a:r>
            <a:endParaRPr lang="en-US" sz="1100" dirty="0"/>
          </a:p>
          <a:p>
            <a:pPr indent="0" marL="0">
              <a:buNone/>
            </a:pPr>
            <a:r>
              <a:rPr lang="en-US" sz="1100" dirty="0">
                <a:solidFill>
                  <a:schemeClr val="bg1"/>
                </a:solidFill>
                <a:latin typeface="Courier New" pitchFamily="34" charset="0"/>
                <a:ea typeface="Courier New" pitchFamily="34" charset="-122"/>
                <a:cs typeface="Courier New" pitchFamily="34" charset="-120"/>
              </a:rPr>
              <a:t>  "steps": [ ... ]</a:t>
            </a:r>
            <a:endParaRPr lang="en-US" sz="1100" dirty="0"/>
          </a:p>
          <a:p>
            <a:pPr indent="0" marL="0">
              <a:buNone/>
            </a:pPr>
            <a:r>
              <a:rPr lang="en-US" sz="1100" dirty="0">
                <a:solidFill>
                  <a:schemeClr val="bg1"/>
                </a:solidFill>
                <a:latin typeface="Courier New" pitchFamily="34" charset="0"/>
                <a:ea typeface="Courier New" pitchFamily="34" charset="-122"/>
                <a:cs typeface="Courier New" pitchFamily="34" charset="-120"/>
              </a:rPr>
              <a:t>}</a:t>
            </a:r>
            <a:endParaRPr lang="en-US" sz="1100" dirty="0"/>
          </a:p>
        </p:txBody>
      </p:sp>
      <p:sp>
        <p:nvSpPr>
          <p:cNvPr id="34" name="Text 31"/>
          <p:cNvSpPr txBox="1"/>
          <p:nvPr/>
        </p:nvSpPr>
        <p:spPr>
          <a:xfrm>
            <a:off x="6446520" y="4681728"/>
            <a:ext cx="5120640" cy="329184"/>
          </a:xfrm>
          <a:prstGeom prst="rect">
            <a:avLst/>
          </a:prstGeom>
          <a:noFill/>
          <a:ln/>
        </p:spPr>
        <p:txBody>
          <a:bodyPr wrap="square" lIns="0" tIns="0" rIns="0" bIns="0" rtlCol="0" anchor="t"/>
          <a:lstStyle/>
          <a:p>
            <a:pPr indent="0" marL="0">
              <a:buNone/>
            </a:pPr>
            <a:r>
              <a:rPr lang="en-US" sz="1800" dirty="0">
                <a:solidFill>
                  <a:schemeClr val="tx1"/>
                </a:solidFill>
                <a:latin typeface="Impact" pitchFamily="34" charset="0"/>
                <a:ea typeface="Impact" pitchFamily="34" charset="-122"/>
                <a:cs typeface="Impact" pitchFamily="34" charset="-120"/>
              </a:rPr>
              <a:t>Why TinyFish</a:t>
            </a:r>
            <a:endParaRPr lang="en-US" sz="1800" dirty="0"/>
          </a:p>
        </p:txBody>
      </p:sp>
      <p:sp>
        <p:nvSpPr>
          <p:cNvPr id="35" name="Text 32"/>
          <p:cNvSpPr txBox="1"/>
          <p:nvPr/>
        </p:nvSpPr>
        <p:spPr>
          <a:xfrm>
            <a:off x="6446520" y="5047488"/>
            <a:ext cx="5193792" cy="1143000"/>
          </a:xfrm>
          <a:prstGeom prst="rect">
            <a:avLst/>
          </a:prstGeom>
          <a:noFill/>
          <a:ln/>
        </p:spPr>
        <p:txBody>
          <a:bodyPr wrap="square" lIns="0" tIns="0" rIns="0" bIns="0" rtlCol="0" anchor="t"/>
          <a:lstStyle/>
          <a:p>
            <a:pPr marL="342900" indent="-342900">
              <a:spcAft>
                <a:spcPts val="300"/>
              </a:spcAft>
              <a:buSzPct val="100000"/>
              <a:buChar char="•"/>
            </a:pPr>
            <a:r>
              <a:rPr lang="en-US" sz="1300" b="1" dirty="0">
                <a:solidFill>
                  <a:schemeClr val="tx1"/>
                </a:solidFill>
              </a:rPr>
              <a:t>Real geography: </a:t>
            </a:r>
            <a:pPr indent="0" marL="0">
              <a:spcAft>
                <a:spcPts val="300"/>
              </a:spcAft>
              <a:buNone/>
            </a:pPr>
            <a:r>
              <a:rPr lang="en-US" sz="1300" dirty="0">
                <a:solidFill>
                  <a:schemeClr val="tx1"/>
                </a:solidFill>
              </a:rPr>
              <a:t>country exit IPs, verified live; India exits are on our roadmap.</a:t>
            </a:r>
            <a:endParaRPr lang="en-US" sz="1300" dirty="0"/>
          </a:p>
          <a:p>
            <a:pPr marL="342900" indent="-342900">
              <a:spcAft>
                <a:spcPts val="300"/>
              </a:spcAft>
              <a:buSzPct val="100000"/>
              <a:buChar char="•"/>
            </a:pPr>
            <a:r>
              <a:rPr lang="en-US" sz="1300" b="1" dirty="0">
                <a:solidFill>
                  <a:schemeClr val="tx1"/>
                </a:solidFill>
              </a:rPr>
              <a:t>Unscripted sites: </a:t>
            </a:r>
            <a:pPr indent="0" marL="0">
              <a:spcAft>
                <a:spcPts val="300"/>
              </a:spcAft>
              <a:buNone/>
            </a:pPr>
            <a:r>
              <a:rPr lang="en-US" sz="1300" dirty="0">
                <a:solidFill>
                  <a:schemeClr val="tx1"/>
                </a:solidFill>
              </a:rPr>
              <a:t>the Agent API walked a live Indian checkout nobody scripted.</a:t>
            </a:r>
            <a:endParaRPr lang="en-US" sz="1300" dirty="0"/>
          </a:p>
          <a:p>
            <a:pPr marL="342900" indent="-342900">
              <a:spcAft>
                <a:spcPts val="300"/>
              </a:spcAft>
              <a:buSzPct val="100000"/>
              <a:buChar char="•"/>
            </a:pPr>
            <a:r>
              <a:rPr lang="en-US" sz="1300" b="1" dirty="0">
                <a:solidFill>
                  <a:schemeClr val="tx1"/>
                </a:solidFill>
              </a:rPr>
              <a:t>Managed browsers: </a:t>
            </a:r>
            <a:pPr indent="0" marL="0">
              <a:spcAft>
                <a:spcPts val="300"/>
              </a:spcAft>
              <a:buNone/>
            </a:pPr>
            <a:r>
              <a:rPr lang="en-US" sz="1300" dirty="0">
                <a:solidFill>
                  <a:schemeClr val="tx1"/>
                </a:solidFill>
              </a:rPr>
              <a:t>our effort goes into measurement, not infrastructure.</a:t>
            </a:r>
            <a:endParaRPr lang="en-US" sz="1300" dirty="0"/>
          </a:p>
        </p:txBody>
      </p:sp>
      <p:sp>
        <p:nvSpPr>
          <p:cNvPr id="25" name="Slide Number Placeholder 0"/>
          <p:cNvSpPr>
            <a:spLocks noGrp="1"/>
          </p:cNvSpPr>
          <p:nvPr>
            <p:ph type="sldNum" sz="quarter" idx="4294967295"/>
          </p:nvPr>
        </p:nvSpPr>
        <p:spPr>
          <a:xfrm>
            <a:off x="10424160" y="274320"/>
            <a:ext cx="594360" cy="365760"/>
          </a:xfrm>
          <a:prstGeom prst="rect">
            <a:avLst/>
          </a:prstGeom>
          <a:extLst>
            <a:ext uri="{C572A759-6A51-4108-AA02-DFA0A04FC94B}">
              <ma14:wrappingTextBoxFlag xmlns:ma14="http://schemas.microsoft.com/office/mac/drawingml/2011/main" val="0"/>
            </a:ext>
          </a:extLst>
        </p:spPr>
        <p:txBody>
          <a:bodyPr/>
          <a:lstStyle>
            <a:lvl1pPr>
              <a:defRPr sz="2000">
                <a:solidFill>
                  <a:schemeClr val="tx2"/>
                </a:solidFill>
                <a:latin typeface="Impact"/>
                <a:ea typeface="Impact"/>
                <a:cs typeface="Impact"/>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2"/>
          <p:cNvSpPr/>
          <p:nvPr>
            <p:ph idx="104" type="title" hasCustomPrompt="1"/>
          </p:nvPr>
        </p:nvSpPr>
        <p:spPr>
          <a:xfrm>
            <a:off x="548640" y="603504"/>
            <a:ext cx="10332720" cy="603504"/>
          </a:xfrm>
          <a:prstGeom prst="rect">
            <a:avLst/>
          </a:prstGeom>
          <a:noFill/>
          <a:ln/>
        </p:spPr>
        <p:txBody>
          <a:bodyPr wrap="square" lIns="0" tIns="0" rIns="0" bIns="0" rtlCol="0" anchor="t"/>
          <a:lstStyle/>
          <a:p>
            <a:pPr algn="l" indent="0" marL="0">
              <a:buNone/>
            </a:pPr>
            <a:r>
              <a:rPr lang="en-US" sz="3200" spc="100" kern="0" dirty="0">
                <a:solidFill>
                  <a:schemeClr val="accent2"/>
                </a:solidFill>
                <a:latin typeface="Impact" pitchFamily="34" charset="0"/>
                <a:ea typeface="Impact" pitchFamily="34" charset="-122"/>
                <a:cs typeface="Impact" pitchFamily="34" charset="-120"/>
              </a:rPr>
              <a:t>EXPECTED IMPACT</a:t>
            </a:r>
            <a:endParaRPr lang="en-US" sz="3200" dirty="0"/>
          </a:p>
        </p:txBody>
      </p:sp>
      <p:sp>
        <p:nvSpPr>
          <p:cNvPr id="4" name="section label"/>
          <p:cNvSpPr txBox="1"/>
          <p:nvPr/>
        </p:nvSpPr>
        <p:spPr>
          <a:xfrm>
            <a:off x="548640" y="274320"/>
            <a:ext cx="6035040" cy="274320"/>
          </a:xfrm>
          <a:prstGeom prst="rect">
            <a:avLst/>
          </a:prstGeom>
          <a:noFill/>
          <a:ln/>
        </p:spPr>
        <p:txBody>
          <a:bodyPr wrap="square" lIns="0" tIns="0" rIns="0" bIns="0" rtlCol="0" anchor="t"/>
          <a:lstStyle/>
          <a:p>
            <a:pPr indent="0" marL="0">
              <a:buNone/>
            </a:pPr>
            <a:r>
              <a:rPr lang="en-US" sz="1500" spc="100" kern="0" dirty="0">
                <a:solidFill>
                  <a:schemeClr val="accent2"/>
                </a:solidFill>
                <a:latin typeface="Impact" pitchFamily="34" charset="0"/>
                <a:ea typeface="Impact" pitchFamily="34" charset="-122"/>
                <a:cs typeface="Impact" pitchFamily="34" charset="-120"/>
              </a:rPr>
              <a:t>08  ·  EXPECTED IMPACT</a:t>
            </a:r>
            <a:endParaRPr lang="en-US" sz="1500" dirty="0"/>
          </a:p>
        </p:txBody>
      </p:sp>
      <p:sp>
        <p:nvSpPr>
          <p:cNvPr id="5" name="subtitle"/>
          <p:cNvSpPr txBox="1"/>
          <p:nvPr/>
        </p:nvSpPr>
        <p:spPr>
          <a:xfrm>
            <a:off x="548640" y="1188720"/>
            <a:ext cx="10424160" cy="384048"/>
          </a:xfrm>
          <a:prstGeom prst="rect">
            <a:avLst/>
          </a:prstGeom>
          <a:noFill/>
          <a:ln/>
        </p:spPr>
        <p:txBody>
          <a:bodyPr wrap="square" lIns="0" tIns="0" rIns="0" bIns="0" rtlCol="0" anchor="t"/>
          <a:lstStyle/>
          <a:p>
            <a:pPr indent="0" marL="0">
              <a:buNone/>
            </a:pPr>
            <a:r>
              <a:rPr lang="en-US" sz="1700" dirty="0">
                <a:solidFill>
                  <a:srgbClr val="E4DCFA"/>
                </a:solidFill>
                <a:latin typeface="Calibri" pitchFamily="34" charset="0"/>
                <a:ea typeface="Calibri" pitchFamily="34" charset="-122"/>
                <a:cs typeface="Calibri" pitchFamily="34" charset="-120"/>
              </a:rPr>
              <a:t>From a shopper's suspicion to evidence a regulator can act on</a:t>
            </a:r>
            <a:endParaRPr lang="en-US" sz="1700" dirty="0"/>
          </a:p>
        </p:txBody>
      </p:sp>
      <p:sp>
        <p:nvSpPr>
          <p:cNvPr id="6" name="Text 3"/>
          <p:cNvSpPr txBox="1"/>
          <p:nvPr/>
        </p:nvSpPr>
        <p:spPr>
          <a:xfrm>
            <a:off x="548640" y="1783080"/>
            <a:ext cx="5760720" cy="411480"/>
          </a:xfrm>
          <a:prstGeom prst="rect">
            <a:avLst/>
          </a:prstGeom>
          <a:noFill/>
          <a:ln/>
        </p:spPr>
        <p:txBody>
          <a:bodyPr wrap="square" lIns="0" tIns="0" rIns="0" bIns="0" rtlCol="0" anchor="t"/>
          <a:lstStyle/>
          <a:p>
            <a:pPr indent="0" marL="0">
              <a:buNone/>
            </a:pPr>
            <a:r>
              <a:rPr lang="en-US" sz="1800" dirty="0">
                <a:solidFill>
                  <a:srgbClr val="E4DCFA"/>
                </a:solidFill>
              </a:rPr>
              <a:t>One shopper's view</a:t>
            </a:r>
            <a:pPr indent="0" marL="0">
              <a:buNone/>
            </a:pPr>
            <a:r>
              <a:rPr lang="en-US" sz="1800" b="1" dirty="0">
                <a:solidFill>
                  <a:schemeClr val="accent2"/>
                </a:solidFill>
              </a:rPr>
              <a:t>  →  </a:t>
            </a:r>
            <a:pPr indent="0" marL="0">
              <a:buNone/>
            </a:pPr>
            <a:r>
              <a:rPr lang="en-US" sz="2100" b="1" dirty="0">
                <a:solidFill>
                  <a:schemeClr val="bg1"/>
                </a:solidFill>
                <a:latin typeface="Impact" pitchFamily="34" charset="0"/>
                <a:ea typeface="Impact" pitchFamily="34" charset="-122"/>
                <a:cs typeface="Impact" pitchFamily="34" charset="-120"/>
              </a:rPr>
              <a:t>Many profiles</a:t>
            </a:r>
            <a:endParaRPr lang="en-US" sz="1400" dirty="0"/>
          </a:p>
        </p:txBody>
      </p:sp>
      <p:sp>
        <p:nvSpPr>
          <p:cNvPr id="7" name="Text 4"/>
          <p:cNvSpPr txBox="1"/>
          <p:nvPr/>
        </p:nvSpPr>
        <p:spPr>
          <a:xfrm>
            <a:off x="548640" y="2212848"/>
            <a:ext cx="5760720" cy="310896"/>
          </a:xfrm>
          <a:prstGeom prst="rect">
            <a:avLst/>
          </a:prstGeom>
          <a:noFill/>
          <a:ln/>
        </p:spPr>
        <p:txBody>
          <a:bodyPr wrap="square" lIns="0" tIns="0" rIns="0" bIns="0" rtlCol="0" anchor="t"/>
          <a:lstStyle/>
          <a:p>
            <a:pPr indent="0" marL="0">
              <a:buNone/>
            </a:pPr>
            <a:r>
              <a:rPr lang="en-US" sz="1400" dirty="0">
                <a:solidFill>
                  <a:srgbClr val="E4DCFA"/>
                </a:solidFill>
              </a:rPr>
              <a:t>6 shopper profiles × 3 runs; real sites one shopper at a time</a:t>
            </a:r>
            <a:endParaRPr lang="en-US" sz="1400" dirty="0"/>
          </a:p>
        </p:txBody>
      </p:sp>
      <p:sp>
        <p:nvSpPr>
          <p:cNvPr id="8" name="Text 5"/>
          <p:cNvSpPr txBox="1"/>
          <p:nvPr/>
        </p:nvSpPr>
        <p:spPr>
          <a:xfrm>
            <a:off x="548640" y="2724912"/>
            <a:ext cx="5760720" cy="411480"/>
          </a:xfrm>
          <a:prstGeom prst="rect">
            <a:avLst/>
          </a:prstGeom>
          <a:noFill/>
          <a:ln/>
        </p:spPr>
        <p:txBody>
          <a:bodyPr wrap="square" lIns="0" tIns="0" rIns="0" bIns="0" rtlCol="0" anchor="t"/>
          <a:lstStyle/>
          <a:p>
            <a:pPr indent="0" marL="0">
              <a:buNone/>
            </a:pPr>
            <a:r>
              <a:rPr lang="en-US" sz="1800" dirty="0">
                <a:solidFill>
                  <a:srgbClr val="E4DCFA"/>
                </a:solidFill>
              </a:rPr>
              <a:t>Suspicion</a:t>
            </a:r>
            <a:pPr indent="0" marL="0">
              <a:buNone/>
            </a:pPr>
            <a:r>
              <a:rPr lang="en-US" sz="1800" b="1" dirty="0">
                <a:solidFill>
                  <a:schemeClr val="accent2"/>
                </a:solidFill>
              </a:rPr>
              <a:t>  →  </a:t>
            </a:r>
            <a:pPr indent="0" marL="0">
              <a:buNone/>
            </a:pPr>
            <a:r>
              <a:rPr lang="en-US" sz="2100" b="1" dirty="0">
                <a:solidFill>
                  <a:schemeClr val="bg1"/>
                </a:solidFill>
                <a:latin typeface="Impact" pitchFamily="34" charset="0"/>
                <a:ea typeface="Impact" pitchFamily="34" charset="-122"/>
                <a:cs typeface="Impact" pitchFamily="34" charset="-120"/>
              </a:rPr>
              <a:t>Statistics</a:t>
            </a:r>
            <a:endParaRPr lang="en-US" sz="1400" dirty="0"/>
          </a:p>
        </p:txBody>
      </p:sp>
      <p:sp>
        <p:nvSpPr>
          <p:cNvPr id="9" name="Text 6"/>
          <p:cNvSpPr txBox="1"/>
          <p:nvPr/>
        </p:nvSpPr>
        <p:spPr>
          <a:xfrm>
            <a:off x="548640" y="3154680"/>
            <a:ext cx="5760720" cy="310896"/>
          </a:xfrm>
          <a:prstGeom prst="rect">
            <a:avLst/>
          </a:prstGeom>
          <a:noFill/>
          <a:ln/>
        </p:spPr>
        <p:txBody>
          <a:bodyPr wrap="square" lIns="0" tIns="0" rIns="0" bIns="0" rtlCol="0" anchor="t"/>
          <a:lstStyle/>
          <a:p>
            <a:pPr indent="0" marL="0">
              <a:buNone/>
            </a:pPr>
            <a:r>
              <a:rPr lang="en-US" sz="1400" dirty="0">
                <a:solidFill>
                  <a:srgbClr val="E4DCFA"/>
                </a:solidFill>
              </a:rPr>
              <a:t>price gaps with 95% confidence intervals and a noise floor</a:t>
            </a:r>
            <a:endParaRPr lang="en-US" sz="1400" dirty="0"/>
          </a:p>
        </p:txBody>
      </p:sp>
      <p:sp>
        <p:nvSpPr>
          <p:cNvPr id="10" name="Text 7"/>
          <p:cNvSpPr txBox="1"/>
          <p:nvPr/>
        </p:nvSpPr>
        <p:spPr>
          <a:xfrm>
            <a:off x="548640" y="3666744"/>
            <a:ext cx="5760720" cy="411480"/>
          </a:xfrm>
          <a:prstGeom prst="rect">
            <a:avLst/>
          </a:prstGeom>
          <a:noFill/>
          <a:ln/>
        </p:spPr>
        <p:txBody>
          <a:bodyPr wrap="square" lIns="0" tIns="0" rIns="0" bIns="0" rtlCol="0" anchor="t"/>
          <a:lstStyle/>
          <a:p>
            <a:pPr indent="0" marL="0">
              <a:buNone/>
            </a:pPr>
            <a:r>
              <a:rPr lang="en-US" sz="1800" dirty="0">
                <a:solidFill>
                  <a:srgbClr val="E4DCFA"/>
                </a:solidFill>
              </a:rPr>
              <a:t>Complaint</a:t>
            </a:r>
            <a:pPr indent="0" marL="0">
              <a:buNone/>
            </a:pPr>
            <a:r>
              <a:rPr lang="en-US" sz="1800" b="1" dirty="0">
                <a:solidFill>
                  <a:schemeClr val="accent2"/>
                </a:solidFill>
              </a:rPr>
              <a:t>  →  </a:t>
            </a:r>
            <a:pPr indent="0" marL="0">
              <a:buNone/>
            </a:pPr>
            <a:r>
              <a:rPr lang="en-US" sz="2100" b="1" dirty="0">
                <a:solidFill>
                  <a:schemeClr val="bg1"/>
                </a:solidFill>
                <a:latin typeface="Impact" pitchFamily="34" charset="0"/>
                <a:ea typeface="Impact" pitchFamily="34" charset="-122"/>
                <a:cs typeface="Impact" pitchFamily="34" charset="-120"/>
              </a:rPr>
              <a:t>Case file</a:t>
            </a:r>
            <a:endParaRPr lang="en-US" sz="1400" dirty="0"/>
          </a:p>
        </p:txBody>
      </p:sp>
      <p:sp>
        <p:nvSpPr>
          <p:cNvPr id="11" name="Text 8"/>
          <p:cNvSpPr txBox="1"/>
          <p:nvPr/>
        </p:nvSpPr>
        <p:spPr>
          <a:xfrm>
            <a:off x="548640" y="4096512"/>
            <a:ext cx="5760720" cy="310896"/>
          </a:xfrm>
          <a:prstGeom prst="rect">
            <a:avLst/>
          </a:prstGeom>
          <a:noFill/>
          <a:ln/>
        </p:spPr>
        <p:txBody>
          <a:bodyPr wrap="square" lIns="0" tIns="0" rIns="0" bIns="0" rtlCol="0" anchor="t"/>
          <a:lstStyle/>
          <a:p>
            <a:pPr indent="0" marL="0">
              <a:buNone/>
            </a:pPr>
            <a:r>
              <a:rPr lang="en-US" sz="1400" dirty="0">
                <a:solidFill>
                  <a:srgbClr val="E4DCFA"/>
                </a:solidFill>
              </a:rPr>
              <a:t>an NCH-ready letter with exhibits and SHA‑256 hashes</a:t>
            </a:r>
            <a:endParaRPr lang="en-US" sz="1400" dirty="0"/>
          </a:p>
        </p:txBody>
      </p:sp>
      <p:sp>
        <p:nvSpPr>
          <p:cNvPr id="12" name="Text 9"/>
          <p:cNvSpPr txBox="1"/>
          <p:nvPr/>
        </p:nvSpPr>
        <p:spPr>
          <a:xfrm>
            <a:off x="548640" y="4608576"/>
            <a:ext cx="5760720" cy="411480"/>
          </a:xfrm>
          <a:prstGeom prst="rect">
            <a:avLst/>
          </a:prstGeom>
          <a:noFill/>
          <a:ln/>
        </p:spPr>
        <p:txBody>
          <a:bodyPr wrap="square" lIns="0" tIns="0" rIns="0" bIns="0" rtlCol="0" anchor="t"/>
          <a:lstStyle/>
          <a:p>
            <a:pPr indent="0" marL="0">
              <a:buNone/>
            </a:pPr>
            <a:r>
              <a:rPr lang="en-US" sz="1800" dirty="0">
                <a:solidFill>
                  <a:srgbClr val="E4DCFA"/>
                </a:solidFill>
              </a:rPr>
              <a:t>Self-declaration</a:t>
            </a:r>
            <a:pPr indent="0" marL="0">
              <a:buNone/>
            </a:pPr>
            <a:r>
              <a:rPr lang="en-US" sz="1800" b="1" dirty="0">
                <a:solidFill>
                  <a:schemeClr val="accent2"/>
                </a:solidFill>
              </a:rPr>
              <a:t>  →  </a:t>
            </a:r>
            <a:pPr indent="0" marL="0">
              <a:buNone/>
            </a:pPr>
            <a:r>
              <a:rPr lang="en-US" sz="2100" b="1" dirty="0">
                <a:solidFill>
                  <a:schemeClr val="bg1"/>
                </a:solidFill>
                <a:latin typeface="Impact" pitchFamily="34" charset="0"/>
                <a:ea typeface="Impact" pitchFamily="34" charset="-122"/>
                <a:cs typeface="Impact" pitchFamily="34" charset="-120"/>
              </a:rPr>
              <a:t>Independent check</a:t>
            </a:r>
            <a:endParaRPr lang="en-US" sz="1400" dirty="0"/>
          </a:p>
        </p:txBody>
      </p:sp>
      <p:sp>
        <p:nvSpPr>
          <p:cNvPr id="13" name="Text 10"/>
          <p:cNvSpPr txBox="1"/>
          <p:nvPr/>
        </p:nvSpPr>
        <p:spPr>
          <a:xfrm>
            <a:off x="548640" y="5038344"/>
            <a:ext cx="5760720" cy="310896"/>
          </a:xfrm>
          <a:prstGeom prst="rect">
            <a:avLst/>
          </a:prstGeom>
          <a:noFill/>
          <a:ln/>
        </p:spPr>
        <p:txBody>
          <a:bodyPr wrap="square" lIns="0" tIns="0" rIns="0" bIns="0" rtlCol="0" anchor="t"/>
          <a:lstStyle/>
          <a:p>
            <a:pPr indent="0" marL="0">
              <a:buNone/>
            </a:pPr>
            <a:r>
              <a:rPr lang="en-US" sz="1400" dirty="0">
                <a:solidFill>
                  <a:srgbClr val="E4DCFA"/>
                </a:solidFill>
              </a:rPr>
              <a:t>a repeatable re-check a regulator can ask for</a:t>
            </a:r>
            <a:endParaRPr lang="en-US" sz="1400" dirty="0"/>
          </a:p>
        </p:txBody>
      </p:sp>
      <p:sp>
        <p:nvSpPr>
          <p:cNvPr id="14" name="stat"/>
          <p:cNvSpPr/>
          <p:nvPr/>
        </p:nvSpPr>
        <p:spPr>
          <a:xfrm>
            <a:off x="6583680" y="1783080"/>
            <a:ext cx="2377440" cy="1627632"/>
          </a:xfrm>
          <a:prstGeom prst="roundRect">
            <a:avLst>
              <a:gd name="adj" fmla="val 2809"/>
            </a:avLst>
          </a:prstGeom>
          <a:solidFill>
            <a:srgbClr val="2B1A59"/>
          </a:solidFill>
          <a:ln w="12700">
            <a:solidFill>
              <a:srgbClr val="6B55B5"/>
            </a:solidFill>
            <a:prstDash val="solid"/>
          </a:ln>
        </p:spPr>
      </p:sp>
      <p:sp>
        <p:nvSpPr>
          <p:cNvPr id="15" name="Text 12"/>
          <p:cNvSpPr txBox="1"/>
          <p:nvPr/>
        </p:nvSpPr>
        <p:spPr>
          <a:xfrm>
            <a:off x="6784848" y="1947672"/>
            <a:ext cx="2057400" cy="713232"/>
          </a:xfrm>
          <a:prstGeom prst="rect">
            <a:avLst/>
          </a:prstGeom>
          <a:noFill/>
          <a:ln/>
        </p:spPr>
        <p:txBody>
          <a:bodyPr wrap="square" lIns="0" tIns="0" rIns="0" bIns="0" rtlCol="0" anchor="t"/>
          <a:lstStyle/>
          <a:p>
            <a:pPr indent="0" marL="0">
              <a:buNone/>
            </a:pPr>
            <a:r>
              <a:rPr lang="en-US" sz="3800" dirty="0">
                <a:solidFill>
                  <a:schemeClr val="accent2"/>
                </a:solidFill>
                <a:latin typeface="Impact" pitchFamily="34" charset="0"/>
                <a:ea typeface="Impact" pitchFamily="34" charset="-122"/>
                <a:cs typeface="Impact" pitchFamily="34" charset="-120"/>
              </a:rPr>
              <a:t>+32%</a:t>
            </a:r>
            <a:endParaRPr lang="en-US" sz="3800" dirty="0"/>
          </a:p>
        </p:txBody>
      </p:sp>
      <p:sp>
        <p:nvSpPr>
          <p:cNvPr id="16" name="Text 13"/>
          <p:cNvSpPr txBox="1"/>
          <p:nvPr/>
        </p:nvSpPr>
        <p:spPr>
          <a:xfrm>
            <a:off x="6784848" y="2697480"/>
            <a:ext cx="2011680" cy="658368"/>
          </a:xfrm>
          <a:prstGeom prst="rect">
            <a:avLst/>
          </a:prstGeom>
          <a:noFill/>
          <a:ln/>
        </p:spPr>
        <p:txBody>
          <a:bodyPr wrap="square" lIns="0" tIns="0" rIns="0" bIns="0" rtlCol="0" anchor="t"/>
          <a:lstStyle/>
          <a:p>
            <a:pPr indent="0" marL="0">
              <a:buNone/>
            </a:pPr>
            <a:r>
              <a:rPr lang="en-US" sz="1300" dirty="0">
                <a:solidFill>
                  <a:srgbClr val="E4DCFA"/>
                </a:solidFill>
              </a:rPr>
              <a:t>first screen to payment (demo shop)</a:t>
            </a:r>
            <a:endParaRPr lang="en-US" sz="1300" dirty="0"/>
          </a:p>
        </p:txBody>
      </p:sp>
      <p:sp>
        <p:nvSpPr>
          <p:cNvPr id="17" name="stat"/>
          <p:cNvSpPr/>
          <p:nvPr/>
        </p:nvSpPr>
        <p:spPr>
          <a:xfrm>
            <a:off x="9171432" y="1783080"/>
            <a:ext cx="2377440" cy="1627632"/>
          </a:xfrm>
          <a:prstGeom prst="roundRect">
            <a:avLst>
              <a:gd name="adj" fmla="val 2809"/>
            </a:avLst>
          </a:prstGeom>
          <a:solidFill>
            <a:srgbClr val="2B1A59"/>
          </a:solidFill>
          <a:ln w="12700">
            <a:solidFill>
              <a:srgbClr val="6B55B5"/>
            </a:solidFill>
            <a:prstDash val="solid"/>
          </a:ln>
        </p:spPr>
      </p:sp>
      <p:sp>
        <p:nvSpPr>
          <p:cNvPr id="18" name="Text 15"/>
          <p:cNvSpPr txBox="1"/>
          <p:nvPr/>
        </p:nvSpPr>
        <p:spPr>
          <a:xfrm>
            <a:off x="9372600" y="1947672"/>
            <a:ext cx="2057400" cy="713232"/>
          </a:xfrm>
          <a:prstGeom prst="rect">
            <a:avLst/>
          </a:prstGeom>
          <a:noFill/>
          <a:ln/>
        </p:spPr>
        <p:txBody>
          <a:bodyPr wrap="square" lIns="0" tIns="0" rIns="0" bIns="0" rtlCol="0" anchor="t"/>
          <a:lstStyle/>
          <a:p>
            <a:pPr indent="0" marL="0">
              <a:buNone/>
            </a:pPr>
            <a:r>
              <a:rPr lang="en-US" sz="3800" dirty="0">
                <a:solidFill>
                  <a:schemeClr val="accent2"/>
                </a:solidFill>
                <a:latin typeface="Impact" pitchFamily="34" charset="0"/>
                <a:ea typeface="Impact" pitchFamily="34" charset="-122"/>
                <a:cs typeface="Impact" pitchFamily="34" charset="-120"/>
              </a:rPr>
              <a:t>+9.6%</a:t>
            </a:r>
            <a:endParaRPr lang="en-US" sz="3800" dirty="0"/>
          </a:p>
        </p:txBody>
      </p:sp>
      <p:sp>
        <p:nvSpPr>
          <p:cNvPr id="19" name="Text 16"/>
          <p:cNvSpPr txBox="1"/>
          <p:nvPr/>
        </p:nvSpPr>
        <p:spPr>
          <a:xfrm>
            <a:off x="9372600" y="2697480"/>
            <a:ext cx="2011680" cy="658368"/>
          </a:xfrm>
          <a:prstGeom prst="rect">
            <a:avLst/>
          </a:prstGeom>
          <a:noFill/>
          <a:ln/>
        </p:spPr>
        <p:txBody>
          <a:bodyPr wrap="square" lIns="0" tIns="0" rIns="0" bIns="0" rtlCol="0" anchor="t"/>
          <a:lstStyle/>
          <a:p>
            <a:pPr indent="0" marL="0">
              <a:buNone/>
            </a:pPr>
            <a:r>
              <a:rPr lang="en-US" sz="1300" dirty="0">
                <a:solidFill>
                  <a:srgbClr val="E4DCFA"/>
                </a:solidFill>
              </a:rPr>
              <a:t>quoted to iPhone shoppers, 95% CI 8.4–10.9% (demo)</a:t>
            </a:r>
            <a:endParaRPr lang="en-US" sz="1300" dirty="0"/>
          </a:p>
        </p:txBody>
      </p:sp>
      <p:sp>
        <p:nvSpPr>
          <p:cNvPr id="20" name="stat"/>
          <p:cNvSpPr/>
          <p:nvPr/>
        </p:nvSpPr>
        <p:spPr>
          <a:xfrm>
            <a:off x="6583680" y="3566160"/>
            <a:ext cx="2377440" cy="1627632"/>
          </a:xfrm>
          <a:prstGeom prst="roundRect">
            <a:avLst>
              <a:gd name="adj" fmla="val 2809"/>
            </a:avLst>
          </a:prstGeom>
          <a:solidFill>
            <a:srgbClr val="2B1A59"/>
          </a:solidFill>
          <a:ln w="12700">
            <a:solidFill>
              <a:srgbClr val="6B55B5"/>
            </a:solidFill>
            <a:prstDash val="solid"/>
          </a:ln>
        </p:spPr>
      </p:sp>
      <p:sp>
        <p:nvSpPr>
          <p:cNvPr id="21" name="Text 18"/>
          <p:cNvSpPr txBox="1"/>
          <p:nvPr/>
        </p:nvSpPr>
        <p:spPr>
          <a:xfrm>
            <a:off x="6784848" y="3730752"/>
            <a:ext cx="2057400" cy="713232"/>
          </a:xfrm>
          <a:prstGeom prst="rect">
            <a:avLst/>
          </a:prstGeom>
          <a:noFill/>
          <a:ln/>
        </p:spPr>
        <p:txBody>
          <a:bodyPr wrap="square" lIns="0" tIns="0" rIns="0" bIns="0" rtlCol="0" anchor="t"/>
          <a:lstStyle/>
          <a:p>
            <a:pPr indent="0" marL="0">
              <a:buNone/>
            </a:pPr>
            <a:r>
              <a:rPr lang="en-US" sz="3800" dirty="0">
                <a:solidFill>
                  <a:schemeClr val="accent2"/>
                </a:solidFill>
                <a:latin typeface="Impact" pitchFamily="34" charset="0"/>
                <a:ea typeface="Impact" pitchFamily="34" charset="-122"/>
                <a:cs typeface="Impact" pitchFamily="34" charset="-120"/>
              </a:rPr>
              <a:t>8 vs 1</a:t>
            </a:r>
            <a:endParaRPr lang="en-US" sz="3800" dirty="0"/>
          </a:p>
        </p:txBody>
      </p:sp>
      <p:sp>
        <p:nvSpPr>
          <p:cNvPr id="22" name="Text 19"/>
          <p:cNvSpPr txBox="1"/>
          <p:nvPr/>
        </p:nvSpPr>
        <p:spPr>
          <a:xfrm>
            <a:off x="6784848" y="4480560"/>
            <a:ext cx="2011680" cy="658368"/>
          </a:xfrm>
          <a:prstGeom prst="rect">
            <a:avLst/>
          </a:prstGeom>
          <a:noFill/>
          <a:ln/>
        </p:spPr>
        <p:txBody>
          <a:bodyPr wrap="square" lIns="0" tIns="0" rIns="0" bIns="0" rtlCol="0" anchor="t"/>
          <a:lstStyle/>
          <a:p>
            <a:pPr indent="0" marL="0">
              <a:buNone/>
            </a:pPr>
            <a:r>
              <a:rPr lang="en-US" sz="1300" dirty="0">
                <a:solidFill>
                  <a:srgbClr val="E4DCFA"/>
                </a:solidFill>
              </a:rPr>
              <a:t>clicks to cancel against clicks to join (demo)</a:t>
            </a:r>
            <a:endParaRPr lang="en-US" sz="1300" dirty="0"/>
          </a:p>
        </p:txBody>
      </p:sp>
      <p:sp>
        <p:nvSpPr>
          <p:cNvPr id="23" name="stat"/>
          <p:cNvSpPr/>
          <p:nvPr/>
        </p:nvSpPr>
        <p:spPr>
          <a:xfrm>
            <a:off x="9171432" y="3566160"/>
            <a:ext cx="2377440" cy="1627632"/>
          </a:xfrm>
          <a:prstGeom prst="roundRect">
            <a:avLst>
              <a:gd name="adj" fmla="val 2809"/>
            </a:avLst>
          </a:prstGeom>
          <a:solidFill>
            <a:srgbClr val="2B1A59"/>
          </a:solidFill>
          <a:ln w="12700">
            <a:solidFill>
              <a:srgbClr val="6B55B5"/>
            </a:solidFill>
            <a:prstDash val="solid"/>
          </a:ln>
        </p:spPr>
      </p:sp>
      <p:sp>
        <p:nvSpPr>
          <p:cNvPr id="24" name="Text 21"/>
          <p:cNvSpPr txBox="1"/>
          <p:nvPr/>
        </p:nvSpPr>
        <p:spPr>
          <a:xfrm>
            <a:off x="9372600" y="3730752"/>
            <a:ext cx="2057400" cy="713232"/>
          </a:xfrm>
          <a:prstGeom prst="rect">
            <a:avLst/>
          </a:prstGeom>
          <a:noFill/>
          <a:ln/>
        </p:spPr>
        <p:txBody>
          <a:bodyPr wrap="square" lIns="0" tIns="0" rIns="0" bIns="0" rtlCol="0" anchor="t"/>
          <a:lstStyle/>
          <a:p>
            <a:pPr indent="0" marL="0">
              <a:buNone/>
            </a:pPr>
            <a:r>
              <a:rPr lang="en-US" sz="3800" dirty="0">
                <a:solidFill>
                  <a:schemeClr val="accent2"/>
                </a:solidFill>
                <a:latin typeface="Impact" pitchFamily="34" charset="0"/>
                <a:ea typeface="Impact" pitchFamily="34" charset="-122"/>
                <a:cs typeface="Impact" pitchFamily="34" charset="-120"/>
              </a:rPr>
              <a:t>13</a:t>
            </a:r>
            <a:endParaRPr lang="en-US" sz="3800" dirty="0"/>
          </a:p>
        </p:txBody>
      </p:sp>
      <p:sp>
        <p:nvSpPr>
          <p:cNvPr id="25" name="Text 22"/>
          <p:cNvSpPr txBox="1"/>
          <p:nvPr/>
        </p:nvSpPr>
        <p:spPr>
          <a:xfrm>
            <a:off x="9372600" y="4480560"/>
            <a:ext cx="2011680" cy="658368"/>
          </a:xfrm>
          <a:prstGeom prst="rect">
            <a:avLst/>
          </a:prstGeom>
          <a:noFill/>
          <a:ln/>
        </p:spPr>
        <p:txBody>
          <a:bodyPr wrap="square" lIns="0" tIns="0" rIns="0" bIns="0" rtlCol="0" anchor="t"/>
          <a:lstStyle/>
          <a:p>
            <a:pPr indent="0" marL="0">
              <a:buNone/>
            </a:pPr>
            <a:r>
              <a:rPr lang="en-US" sz="1300" dirty="0">
                <a:solidFill>
                  <a:srgbClr val="E4DCFA"/>
                </a:solidFill>
              </a:rPr>
              <a:t>Agent API steps to a live Indian checkout</a:t>
            </a:r>
            <a:endParaRPr lang="en-US" sz="1300" dirty="0"/>
          </a:p>
        </p:txBody>
      </p:sp>
      <p:sp>
        <p:nvSpPr>
          <p:cNvPr id="26" name="pilot"/>
          <p:cNvSpPr/>
          <p:nvPr/>
        </p:nvSpPr>
        <p:spPr>
          <a:xfrm>
            <a:off x="548640" y="5486400"/>
            <a:ext cx="11091672" cy="804672"/>
          </a:xfrm>
          <a:prstGeom prst="roundRect">
            <a:avLst>
              <a:gd name="adj" fmla="val 5682"/>
            </a:avLst>
          </a:prstGeom>
          <a:solidFill>
            <a:schemeClr val="accent1"/>
          </a:solidFill>
          <a:ln w="12700">
            <a:solidFill>
              <a:schemeClr val="accent1"/>
            </a:solidFill>
            <a:prstDash val="solid"/>
          </a:ln>
        </p:spPr>
      </p:sp>
      <p:sp>
        <p:nvSpPr>
          <p:cNvPr id="27" name="Text 24"/>
          <p:cNvSpPr txBox="1"/>
          <p:nvPr/>
        </p:nvSpPr>
        <p:spPr>
          <a:xfrm>
            <a:off x="777240" y="5486400"/>
            <a:ext cx="10698480" cy="804672"/>
          </a:xfrm>
          <a:prstGeom prst="rect">
            <a:avLst/>
          </a:prstGeom>
          <a:noFill/>
          <a:ln/>
        </p:spPr>
        <p:txBody>
          <a:bodyPr wrap="square" lIns="0" tIns="0" rIns="0" bIns="0" rtlCol="0" anchor="ctr"/>
          <a:lstStyle/>
          <a:p>
            <a:pPr indent="0" marL="0">
              <a:buNone/>
            </a:pPr>
            <a:r>
              <a:rPr lang="en-US" sz="1400" b="1" dirty="0">
                <a:solidFill>
                  <a:schemeClr val="accent2"/>
                </a:solidFill>
              </a:rPr>
              <a:t>Pilot goal  </a:t>
            </a:r>
            <a:pPr indent="0" marL="0">
              <a:buNone/>
            </a:pPr>
            <a:r>
              <a:rPr lang="en-US" sz="1400" b="1" dirty="0">
                <a:solidFill>
                  <a:schemeClr val="bg1"/>
                </a:solidFill>
              </a:rPr>
              <a:t>2 consumer NGOs · 50 Indian sites in 3 months · ≈ ₹22,000 on the TinyFish Agent API (≈ ₹440 per audit), then monthly re-checks</a:t>
            </a:r>
            <a:endParaRPr lang="en-US" sz="1400" dirty="0"/>
          </a:p>
        </p:txBody>
      </p:sp>
      <p:sp>
        <p:nvSpPr>
          <p:cNvPr id="25" name="Slide Number Placeholder 0"/>
          <p:cNvSpPr>
            <a:spLocks noGrp="1"/>
          </p:cNvSpPr>
          <p:nvPr>
            <p:ph type="sldNum" sz="quarter" idx="4294967295"/>
          </p:nvPr>
        </p:nvSpPr>
        <p:spPr>
          <a:xfrm>
            <a:off x="10424160" y="274320"/>
            <a:ext cx="594360" cy="365760"/>
          </a:xfrm>
          <a:prstGeom prst="rect">
            <a:avLst/>
          </a:prstGeom>
          <a:extLst>
            <a:ext uri="{C572A759-6A51-4108-AA02-DFA0A04FC94B}">
              <ma14:wrappingTextBoxFlag xmlns:ma14="http://schemas.microsoft.com/office/mac/drawingml/2011/main" val="0"/>
            </a:ext>
          </a:extLst>
        </p:spPr>
        <p:txBody>
          <a:bodyPr/>
          <a:lstStyle>
            <a:lvl1pPr>
              <a:defRPr sz="2000">
                <a:solidFill>
                  <a:schemeClr val="accent2"/>
                </a:solidFill>
                <a:latin typeface="Impact"/>
                <a:ea typeface="Impact"/>
                <a:cs typeface="Impact"/>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2"/>
          <p:cNvSpPr/>
          <p:nvPr>
            <p:ph idx="104" type="title" hasCustomPrompt="1"/>
          </p:nvPr>
        </p:nvSpPr>
        <p:spPr>
          <a:xfrm>
            <a:off x="548640" y="603504"/>
            <a:ext cx="10332720" cy="603504"/>
          </a:xfrm>
          <a:prstGeom prst="rect">
            <a:avLst/>
          </a:prstGeom>
          <a:noFill/>
          <a:ln/>
        </p:spPr>
        <p:txBody>
          <a:bodyPr wrap="square" lIns="0" tIns="0" rIns="0" bIns="0" rtlCol="0" anchor="t"/>
          <a:lstStyle/>
          <a:p>
            <a:pPr algn="l" indent="0" marL="0">
              <a:buNone/>
            </a:pPr>
            <a:r>
              <a:rPr lang="en-US" sz="3200" spc="100" kern="0" dirty="0">
                <a:solidFill>
                  <a:schemeClr val="tx2"/>
                </a:solidFill>
                <a:latin typeface="Impact" pitchFamily="34" charset="0"/>
                <a:ea typeface="Impact" pitchFamily="34" charset="-122"/>
                <a:cs typeface="Impact" pitchFamily="34" charset="-120"/>
              </a:rPr>
              <a:t>FEASIBILITY</a:t>
            </a:r>
            <a:endParaRPr lang="en-US" sz="3200" dirty="0"/>
          </a:p>
        </p:txBody>
      </p:sp>
      <p:sp>
        <p:nvSpPr>
          <p:cNvPr id="4" name="section label"/>
          <p:cNvSpPr txBox="1"/>
          <p:nvPr/>
        </p:nvSpPr>
        <p:spPr>
          <a:xfrm>
            <a:off x="548640" y="274320"/>
            <a:ext cx="6035040" cy="274320"/>
          </a:xfrm>
          <a:prstGeom prst="rect">
            <a:avLst/>
          </a:prstGeom>
          <a:noFill/>
          <a:ln/>
        </p:spPr>
        <p:txBody>
          <a:bodyPr wrap="square" lIns="0" tIns="0" rIns="0" bIns="0" rtlCol="0" anchor="t"/>
          <a:lstStyle/>
          <a:p>
            <a:pPr indent="0" marL="0">
              <a:buNone/>
            </a:pPr>
            <a:r>
              <a:rPr lang="en-US" sz="1500" spc="100" kern="0" dirty="0">
                <a:solidFill>
                  <a:schemeClr val="tx2"/>
                </a:solidFill>
                <a:latin typeface="Impact" pitchFamily="34" charset="0"/>
                <a:ea typeface="Impact" pitchFamily="34" charset="-122"/>
                <a:cs typeface="Impact" pitchFamily="34" charset="-120"/>
              </a:rPr>
              <a:t>09  ·  FEASIBILITY</a:t>
            </a:r>
            <a:endParaRPr lang="en-US" sz="1500" dirty="0"/>
          </a:p>
        </p:txBody>
      </p:sp>
      <p:sp>
        <p:nvSpPr>
          <p:cNvPr id="5" name="subtitle"/>
          <p:cNvSpPr txBox="1"/>
          <p:nvPr/>
        </p:nvSpPr>
        <p:spPr>
          <a:xfrm>
            <a:off x="548640" y="1188720"/>
            <a:ext cx="10424160" cy="384048"/>
          </a:xfrm>
          <a:prstGeom prst="rect">
            <a:avLst/>
          </a:prstGeom>
          <a:noFill/>
          <a:ln/>
        </p:spPr>
        <p:txBody>
          <a:bodyPr wrap="square" lIns="0" tIns="0" rIns="0" bIns="0" rtlCol="0" anchor="t"/>
          <a:lstStyle/>
          <a:p>
            <a:pPr indent="0" marL="0">
              <a:buNone/>
            </a:pPr>
            <a:r>
              <a:rPr lang="en-US" sz="1700" dirty="0">
                <a:solidFill>
                  <a:schemeClr val="accent6"/>
                </a:solidFill>
                <a:latin typeface="Calibri" pitchFamily="34" charset="0"/>
                <a:ea typeface="Calibri" pitchFamily="34" charset="-122"/>
                <a:cs typeface="Calibri" pitchFamily="34" charset="-120"/>
              </a:rPr>
              <a:t>Built, tested on real sites and running today, with an honest list of risks</a:t>
            </a:r>
            <a:endParaRPr lang="en-US" sz="1700" dirty="0"/>
          </a:p>
        </p:txBody>
      </p:sp>
      <p:sp>
        <p:nvSpPr>
          <p:cNvPr id="6" name="Text 3"/>
          <p:cNvSpPr txBox="1"/>
          <p:nvPr/>
        </p:nvSpPr>
        <p:spPr>
          <a:xfrm>
            <a:off x="548640" y="1783080"/>
            <a:ext cx="5120640" cy="347472"/>
          </a:xfrm>
          <a:prstGeom prst="rect">
            <a:avLst/>
          </a:prstGeom>
          <a:noFill/>
          <a:ln/>
        </p:spPr>
        <p:txBody>
          <a:bodyPr wrap="square" lIns="0" tIns="0" rIns="0" bIns="0" rtlCol="0" anchor="t"/>
          <a:lstStyle/>
          <a:p>
            <a:pPr indent="0" marL="0">
              <a:buNone/>
            </a:pPr>
            <a:r>
              <a:rPr lang="en-US" sz="1900" dirty="0">
                <a:solidFill>
                  <a:schemeClr val="tx1"/>
                </a:solidFill>
                <a:latin typeface="Impact" pitchFamily="34" charset="0"/>
                <a:ea typeface="Impact" pitchFamily="34" charset="-122"/>
                <a:cs typeface="Impact" pitchFamily="34" charset="-120"/>
              </a:rPr>
              <a:t>Built and working</a:t>
            </a:r>
            <a:endParaRPr lang="en-US" sz="1900" dirty="0"/>
          </a:p>
        </p:txBody>
      </p:sp>
      <p:pic>
        <p:nvPicPr>
          <p:cNvPr id="7" name="check" descr="done">    </p:cNvPr>
          <p:cNvPicPr>
            <a:picLocks noChangeAspect="1"/>
          </p:cNvPicPr>
          <p:nvPr/>
        </p:nvPicPr>
        <p:blipFill>
          <a:blip r:embed="rId1"/>
          <a:stretch>
            <a:fillRect/>
          </a:stretch>
        </p:blipFill>
        <p:spPr>
          <a:xfrm>
            <a:off x="548640" y="2295144"/>
            <a:ext cx="292608" cy="292608"/>
          </a:xfrm>
          <a:prstGeom prst="rect">
            <a:avLst/>
          </a:prstGeom>
        </p:spPr>
      </p:pic>
      <p:sp>
        <p:nvSpPr>
          <p:cNvPr id="8" name="Text 4"/>
          <p:cNvSpPr txBox="1"/>
          <p:nvPr/>
        </p:nvSpPr>
        <p:spPr>
          <a:xfrm>
            <a:off x="1005840" y="2267712"/>
            <a:ext cx="4800600" cy="548640"/>
          </a:xfrm>
          <a:prstGeom prst="rect">
            <a:avLst/>
          </a:prstGeom>
          <a:noFill/>
          <a:ln/>
        </p:spPr>
        <p:txBody>
          <a:bodyPr wrap="square" lIns="0" tIns="0" rIns="0" bIns="0" rtlCol="0" anchor="t"/>
          <a:lstStyle/>
          <a:p>
            <a:pPr indent="0" marL="0">
              <a:buNone/>
            </a:pPr>
            <a:r>
              <a:rPr lang="en-US" sz="1400" dirty="0">
                <a:solidFill>
                  <a:schemeClr val="tx1"/>
                </a:solidFill>
              </a:rPr>
              <a:t>End to end: 20 of 20 runs in 35 s on the demo shop</a:t>
            </a:r>
            <a:endParaRPr lang="en-US" sz="1400" dirty="0"/>
          </a:p>
        </p:txBody>
      </p:sp>
      <p:pic>
        <p:nvPicPr>
          <p:cNvPr id="9" name="check" descr="done">    </p:cNvPr>
          <p:cNvPicPr>
            <a:picLocks noChangeAspect="1"/>
          </p:cNvPicPr>
          <p:nvPr/>
        </p:nvPicPr>
        <p:blipFill>
          <a:blip r:embed="rId2"/>
          <a:stretch>
            <a:fillRect/>
          </a:stretch>
        </p:blipFill>
        <p:spPr>
          <a:xfrm>
            <a:off x="548640" y="2916936"/>
            <a:ext cx="292608" cy="292608"/>
          </a:xfrm>
          <a:prstGeom prst="rect">
            <a:avLst/>
          </a:prstGeom>
        </p:spPr>
      </p:pic>
      <p:sp>
        <p:nvSpPr>
          <p:cNvPr id="10" name="Text 5"/>
          <p:cNvSpPr txBox="1"/>
          <p:nvPr/>
        </p:nvSpPr>
        <p:spPr>
          <a:xfrm>
            <a:off x="1005840" y="2889504"/>
            <a:ext cx="4800600" cy="548640"/>
          </a:xfrm>
          <a:prstGeom prst="rect">
            <a:avLst/>
          </a:prstGeom>
          <a:noFill/>
          <a:ln/>
        </p:spPr>
        <p:txBody>
          <a:bodyPr wrap="square" lIns="0" tIns="0" rIns="0" bIns="0" rtlCol="0" anchor="t"/>
          <a:lstStyle/>
          <a:p>
            <a:pPr indent="0" marL="0">
              <a:buNone/>
            </a:pPr>
            <a:r>
              <a:rPr lang="en-US" sz="1400" dirty="0">
                <a:solidFill>
                  <a:schemeClr val="tx1"/>
                </a:solidFill>
              </a:rPr>
              <a:t>Live Indian shops audited: bummer.in, fardaclothing.com</a:t>
            </a:r>
            <a:endParaRPr lang="en-US" sz="1400" dirty="0"/>
          </a:p>
        </p:txBody>
      </p:sp>
      <p:pic>
        <p:nvPicPr>
          <p:cNvPr id="11" name="check" descr="done">    </p:cNvPr>
          <p:cNvPicPr>
            <a:picLocks noChangeAspect="1"/>
          </p:cNvPicPr>
          <p:nvPr/>
        </p:nvPicPr>
        <p:blipFill>
          <a:blip r:embed="rId3"/>
          <a:stretch>
            <a:fillRect/>
          </a:stretch>
        </p:blipFill>
        <p:spPr>
          <a:xfrm>
            <a:off x="548640" y="3538728"/>
            <a:ext cx="292608" cy="292608"/>
          </a:xfrm>
          <a:prstGeom prst="rect">
            <a:avLst/>
          </a:prstGeom>
        </p:spPr>
      </p:pic>
      <p:sp>
        <p:nvSpPr>
          <p:cNvPr id="12" name="Text 6"/>
          <p:cNvSpPr txBox="1"/>
          <p:nvPr/>
        </p:nvSpPr>
        <p:spPr>
          <a:xfrm>
            <a:off x="1005840" y="3511296"/>
            <a:ext cx="4800600" cy="548640"/>
          </a:xfrm>
          <a:prstGeom prst="rect">
            <a:avLst/>
          </a:prstGeom>
          <a:noFill/>
          <a:ln/>
        </p:spPr>
        <p:txBody>
          <a:bodyPr wrap="square" lIns="0" tIns="0" rIns="0" bIns="0" rtlCol="0" anchor="t"/>
          <a:lstStyle/>
          <a:p>
            <a:pPr indent="0" marL="0">
              <a:buNone/>
            </a:pPr>
            <a:r>
              <a:rPr lang="en-US" sz="1400" dirty="0">
                <a:solidFill>
                  <a:schemeClr val="tx1"/>
                </a:solidFill>
              </a:rPr>
              <a:t>TinyFish Agent API run on bummer.in; all 4 APIs verified</a:t>
            </a:r>
            <a:endParaRPr lang="en-US" sz="1400" dirty="0"/>
          </a:p>
        </p:txBody>
      </p:sp>
      <p:pic>
        <p:nvPicPr>
          <p:cNvPr id="13" name="check" descr="done">    </p:cNvPr>
          <p:cNvPicPr>
            <a:picLocks noChangeAspect="1"/>
          </p:cNvPicPr>
          <p:nvPr/>
        </p:nvPicPr>
        <p:blipFill>
          <a:blip r:embed="rId4"/>
          <a:stretch>
            <a:fillRect/>
          </a:stretch>
        </p:blipFill>
        <p:spPr>
          <a:xfrm>
            <a:off x="548640" y="4160520"/>
            <a:ext cx="292608" cy="292608"/>
          </a:xfrm>
          <a:prstGeom prst="rect">
            <a:avLst/>
          </a:prstGeom>
        </p:spPr>
      </p:pic>
      <p:sp>
        <p:nvSpPr>
          <p:cNvPr id="14" name="Text 7"/>
          <p:cNvSpPr txBox="1"/>
          <p:nvPr/>
        </p:nvSpPr>
        <p:spPr>
          <a:xfrm>
            <a:off x="1005840" y="4133088"/>
            <a:ext cx="4800600" cy="548640"/>
          </a:xfrm>
          <a:prstGeom prst="rect">
            <a:avLst/>
          </a:prstGeom>
          <a:noFill/>
          <a:ln/>
        </p:spPr>
        <p:txBody>
          <a:bodyPr wrap="square" lIns="0" tIns="0" rIns="0" bIns="0" rtlCol="0" anchor="t"/>
          <a:lstStyle/>
          <a:p>
            <a:pPr indent="0" marL="0">
              <a:buNone/>
            </a:pPr>
            <a:r>
              <a:rPr lang="en-US" sz="1400" dirty="0">
                <a:solidFill>
                  <a:schemeClr val="tx1"/>
                </a:solidFill>
              </a:rPr>
              <a:t>94 automated tests: ML, flows, guards, auth, TinyFish</a:t>
            </a:r>
            <a:endParaRPr lang="en-US" sz="1400" dirty="0"/>
          </a:p>
        </p:txBody>
      </p:sp>
      <p:pic>
        <p:nvPicPr>
          <p:cNvPr id="15" name="check" descr="done">    </p:cNvPr>
          <p:cNvPicPr>
            <a:picLocks noChangeAspect="1"/>
          </p:cNvPicPr>
          <p:nvPr/>
        </p:nvPicPr>
        <p:blipFill>
          <a:blip r:embed="rId5"/>
          <a:stretch>
            <a:fillRect/>
          </a:stretch>
        </p:blipFill>
        <p:spPr>
          <a:xfrm>
            <a:off x="548640" y="4782312"/>
            <a:ext cx="292608" cy="292608"/>
          </a:xfrm>
          <a:prstGeom prst="rect">
            <a:avLst/>
          </a:prstGeom>
        </p:spPr>
      </p:pic>
      <p:sp>
        <p:nvSpPr>
          <p:cNvPr id="16" name="Text 8"/>
          <p:cNvSpPr txBox="1"/>
          <p:nvPr/>
        </p:nvSpPr>
        <p:spPr>
          <a:xfrm>
            <a:off x="1005840" y="4754880"/>
            <a:ext cx="4800600" cy="548640"/>
          </a:xfrm>
          <a:prstGeom prst="rect">
            <a:avLst/>
          </a:prstGeom>
          <a:noFill/>
          <a:ln/>
        </p:spPr>
        <p:txBody>
          <a:bodyPr wrap="square" lIns="0" tIns="0" rIns="0" bIns="0" rtlCol="0" anchor="t"/>
          <a:lstStyle/>
          <a:p>
            <a:pPr indent="0" marL="0">
              <a:buNone/>
            </a:pPr>
            <a:r>
              <a:rPr lang="en-US" sz="1400" dirty="0">
                <a:solidFill>
                  <a:schemeClr val="tx1"/>
                </a:solidFill>
              </a:rPr>
              <a:t>Classifier on unseen strings: macro-F1 0.89</a:t>
            </a:r>
            <a:endParaRPr lang="en-US" sz="1400" dirty="0"/>
          </a:p>
        </p:txBody>
      </p:sp>
      <p:pic>
        <p:nvPicPr>
          <p:cNvPr id="17" name="check" descr="done">    </p:cNvPr>
          <p:cNvPicPr>
            <a:picLocks noChangeAspect="1"/>
          </p:cNvPicPr>
          <p:nvPr/>
        </p:nvPicPr>
        <p:blipFill>
          <a:blip r:embed="rId6"/>
          <a:stretch>
            <a:fillRect/>
          </a:stretch>
        </p:blipFill>
        <p:spPr>
          <a:xfrm>
            <a:off x="548640" y="5404104"/>
            <a:ext cx="292608" cy="292608"/>
          </a:xfrm>
          <a:prstGeom prst="rect">
            <a:avLst/>
          </a:prstGeom>
        </p:spPr>
      </p:pic>
      <p:sp>
        <p:nvSpPr>
          <p:cNvPr id="18" name="Text 9"/>
          <p:cNvSpPr txBox="1"/>
          <p:nvPr/>
        </p:nvSpPr>
        <p:spPr>
          <a:xfrm>
            <a:off x="1005840" y="5376672"/>
            <a:ext cx="4800600" cy="548640"/>
          </a:xfrm>
          <a:prstGeom prst="rect">
            <a:avLst/>
          </a:prstGeom>
          <a:noFill/>
          <a:ln/>
        </p:spPr>
        <p:txBody>
          <a:bodyPr wrap="square" lIns="0" tIns="0" rIns="0" bIns="0" rtlCol="0" anchor="t"/>
          <a:lstStyle/>
          <a:p>
            <a:pPr indent="0" marL="0">
              <a:buNone/>
            </a:pPr>
            <a:r>
              <a:rPr lang="en-US" sz="1400" dirty="0">
                <a:solidFill>
                  <a:schemeClr val="tx1"/>
                </a:solidFill>
              </a:rPr>
              <a:t>Open source on GitHub; private accounts, live console, report</a:t>
            </a:r>
            <a:endParaRPr lang="en-US" sz="1400" dirty="0"/>
          </a:p>
        </p:txBody>
      </p:sp>
      <p:graphicFrame>
        <p:nvGraphicFramePr>
          <p:cNvPr id="17" name="risk table"/>
          <p:cNvGraphicFramePr>
            <a:graphicFrameLocks noGrp="1"/>
          </p:cNvGraphicFramePr>
          <p:nvPr>
            <p:extLst>
              <p:ext uri="{D42A27DB-BD31-4B8C-83A1-F6EECF244321}">
                <p14:modId xmlns:p14="http://schemas.microsoft.com/office/powerpoint/2010/main" val="1579011935"/>
              </p:ext>
            </p:extLst>
          </p:nvPr>
        </p:nvGraphicFramePr>
        <p:xfrm>
          <a:off x="6080760" y="1783080"/>
          <a:ext cx="5559552" cy="914400"/>
        </p:xfrm>
        <a:graphic>
          <a:graphicData uri="http://schemas.openxmlformats.org/drawingml/2006/table">
            <a:tbl>
              <a:tblPr/>
              <a:tblGrid>
                <a:gridCol w="1572768"/>
                <a:gridCol w="3986784"/>
              </a:tblGrid>
              <a:tr h="603504">
                <a:tc>
                  <a:txBody>
                    <a:bodyPr/>
                    <a:lstStyle/>
                    <a:p>
                      <a:pPr indent="0" marL="0">
                        <a:buNone/>
                      </a:pPr>
                      <a:r>
                        <a:rPr lang="en-US" sz="1300" b="1" dirty="0">
                          <a:solidFill>
                            <a:schemeClr val="bg1"/>
                          </a:solidFill>
                        </a:rPr>
                        <a:t>Risk</a:t>
                      </a:r>
                      <a:endParaRPr lang="en-US" sz="1300" dirty="0"/>
                    </a:p>
                  </a:txBody>
                  <a:tcPr marL="109728" marR="109728" marT="45720" marB="45720" anchor="ctr">
                    <a:lnL w="9525" cap="flat" cmpd="sng" algn="ctr">
                      <a:solidFill>
                        <a:srgbClr val="CFC688"/>
                      </a:solidFill>
                      <a:prstDash val="solid"/>
                      <a:round/>
                      <a:headEnd type="none" w="med" len="med"/>
                      <a:tailEnd type="none" w="med" len="med"/>
                    </a:lnL>
                    <a:lnR w="9525" cap="flat" cmpd="sng" algn="ctr">
                      <a:solidFill>
                        <a:srgbClr val="CFC688"/>
                      </a:solidFill>
                      <a:prstDash val="solid"/>
                      <a:round/>
                      <a:headEnd type="none" w="med" len="med"/>
                      <a:tailEnd type="none" w="med" len="med"/>
                    </a:lnR>
                    <a:lnT w="9525" cap="flat" cmpd="sng" algn="ctr">
                      <a:solidFill>
                        <a:srgbClr val="CFC688"/>
                      </a:solidFill>
                      <a:prstDash val="solid"/>
                      <a:round/>
                      <a:headEnd type="none" w="med" len="med"/>
                      <a:tailEnd type="none" w="med" len="med"/>
                    </a:lnT>
                    <a:lnB w="9525" cap="flat" cmpd="sng" algn="ctr">
                      <a:solidFill>
                        <a:srgbClr val="CFC688"/>
                      </a:solidFill>
                      <a:prstDash val="solid"/>
                      <a:round/>
                      <a:headEnd type="none" w="med" len="med"/>
                      <a:tailEnd type="none" w="med" len="med"/>
                    </a:lnB>
                    <a:solidFill>
                      <a:schemeClr val="tx2"/>
                    </a:solidFill>
                  </a:tcPr>
                </a:tc>
                <a:tc>
                  <a:txBody>
                    <a:bodyPr/>
                    <a:lstStyle/>
                    <a:p>
                      <a:pPr indent="0" marL="0">
                        <a:buNone/>
                      </a:pPr>
                      <a:r>
                        <a:rPr lang="en-US" sz="1300" b="1" dirty="0">
                          <a:solidFill>
                            <a:schemeClr val="bg1"/>
                          </a:solidFill>
                        </a:rPr>
                        <a:t>Mitigation</a:t>
                      </a:r>
                      <a:endParaRPr lang="en-US" sz="1300" dirty="0"/>
                    </a:p>
                  </a:txBody>
                  <a:tcPr marL="109728" marR="109728" marT="45720" marB="45720" anchor="ctr">
                    <a:lnL w="9525" cap="flat" cmpd="sng" algn="ctr">
                      <a:solidFill>
                        <a:srgbClr val="CFC688"/>
                      </a:solidFill>
                      <a:prstDash val="solid"/>
                      <a:round/>
                      <a:headEnd type="none" w="med" len="med"/>
                      <a:tailEnd type="none" w="med" len="med"/>
                    </a:lnL>
                    <a:lnR w="9525" cap="flat" cmpd="sng" algn="ctr">
                      <a:solidFill>
                        <a:srgbClr val="CFC688"/>
                      </a:solidFill>
                      <a:prstDash val="solid"/>
                      <a:round/>
                      <a:headEnd type="none" w="med" len="med"/>
                      <a:tailEnd type="none" w="med" len="med"/>
                    </a:lnR>
                    <a:lnT w="9525" cap="flat" cmpd="sng" algn="ctr">
                      <a:solidFill>
                        <a:srgbClr val="CFC688"/>
                      </a:solidFill>
                      <a:prstDash val="solid"/>
                      <a:round/>
                      <a:headEnd type="none" w="med" len="med"/>
                      <a:tailEnd type="none" w="med" len="med"/>
                    </a:lnT>
                    <a:lnB w="9525" cap="flat" cmpd="sng" algn="ctr">
                      <a:solidFill>
                        <a:srgbClr val="CFC688"/>
                      </a:solidFill>
                      <a:prstDash val="solid"/>
                      <a:round/>
                      <a:headEnd type="none" w="med" len="med"/>
                      <a:tailEnd type="none" w="med" len="med"/>
                    </a:lnB>
                    <a:solidFill>
                      <a:schemeClr val="tx2"/>
                    </a:solidFill>
                  </a:tcPr>
                </a:tc>
              </a:tr>
              <a:tr h="603504">
                <a:tc>
                  <a:txBody>
                    <a:bodyPr/>
                    <a:lstStyle/>
                    <a:p>
                      <a:pPr indent="0" marL="0">
                        <a:buNone/>
                      </a:pPr>
                      <a:r>
                        <a:rPr lang="en-US" sz="1300" b="1" dirty="0">
                          <a:solidFill>
                            <a:schemeClr val="tx1"/>
                          </a:solidFill>
                        </a:rPr>
                        <a:t>Bot protection</a:t>
                      </a:r>
                      <a:endParaRPr lang="en-US" sz="1300" dirty="0"/>
                    </a:p>
                  </a:txBody>
                  <a:tcPr marL="109728" marR="109728" marT="45720" marB="45720" anchor="ctr">
                    <a:lnL w="9525" cap="flat" cmpd="sng" algn="ctr">
                      <a:solidFill>
                        <a:srgbClr val="CFC688"/>
                      </a:solidFill>
                      <a:prstDash val="solid"/>
                      <a:round/>
                      <a:headEnd type="none" w="med" len="med"/>
                      <a:tailEnd type="none" w="med" len="med"/>
                    </a:lnL>
                    <a:lnR w="9525" cap="flat" cmpd="sng" algn="ctr">
                      <a:solidFill>
                        <a:srgbClr val="CFC688"/>
                      </a:solidFill>
                      <a:prstDash val="solid"/>
                      <a:round/>
                      <a:headEnd type="none" w="med" len="med"/>
                      <a:tailEnd type="none" w="med" len="med"/>
                    </a:lnR>
                    <a:lnT w="9525" cap="flat" cmpd="sng" algn="ctr">
                      <a:solidFill>
                        <a:srgbClr val="CFC688"/>
                      </a:solidFill>
                      <a:prstDash val="solid"/>
                      <a:round/>
                      <a:headEnd type="none" w="med" len="med"/>
                      <a:tailEnd type="none" w="med" len="med"/>
                    </a:lnT>
                    <a:lnB w="9525" cap="flat" cmpd="sng" algn="ctr">
                      <a:solidFill>
                        <a:srgbClr val="CFC688"/>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Measured: 8 of 30 sites block. Reported with evidence, never bypassed; standard browsers; own-account session</a:t>
                      </a:r>
                      <a:endParaRPr lang="en-US" sz="1300" dirty="0"/>
                    </a:p>
                  </a:txBody>
                  <a:tcPr marL="109728" marR="109728" marT="45720" marB="45720" anchor="ctr">
                    <a:lnL w="9525" cap="flat" cmpd="sng" algn="ctr">
                      <a:solidFill>
                        <a:srgbClr val="CFC688"/>
                      </a:solidFill>
                      <a:prstDash val="solid"/>
                      <a:round/>
                      <a:headEnd type="none" w="med" len="med"/>
                      <a:tailEnd type="none" w="med" len="med"/>
                    </a:lnL>
                    <a:lnR w="9525" cap="flat" cmpd="sng" algn="ctr">
                      <a:solidFill>
                        <a:srgbClr val="CFC688"/>
                      </a:solidFill>
                      <a:prstDash val="solid"/>
                      <a:round/>
                      <a:headEnd type="none" w="med" len="med"/>
                      <a:tailEnd type="none" w="med" len="med"/>
                    </a:lnR>
                    <a:lnT w="9525" cap="flat" cmpd="sng" algn="ctr">
                      <a:solidFill>
                        <a:srgbClr val="CFC688"/>
                      </a:solidFill>
                      <a:prstDash val="solid"/>
                      <a:round/>
                      <a:headEnd type="none" w="med" len="med"/>
                      <a:tailEnd type="none" w="med" len="med"/>
                    </a:lnT>
                    <a:lnB w="9525" cap="flat" cmpd="sng" algn="ctr">
                      <a:solidFill>
                        <a:srgbClr val="CFC688"/>
                      </a:solidFill>
                      <a:prstDash val="solid"/>
                      <a:round/>
                      <a:headEnd type="none" w="med" len="med"/>
                      <a:tailEnd type="none" w="med" len="med"/>
                    </a:lnB>
                    <a:solidFill>
                      <a:schemeClr val="bg1"/>
                    </a:solidFill>
                  </a:tcPr>
                </a:tc>
              </a:tr>
              <a:tr h="603504">
                <a:tc>
                  <a:txBody>
                    <a:bodyPr/>
                    <a:lstStyle/>
                    <a:p>
                      <a:pPr indent="0" marL="0">
                        <a:buNone/>
                      </a:pPr>
                      <a:r>
                        <a:rPr lang="en-US" sz="1300" b="1" dirty="0">
                          <a:solidFill>
                            <a:schemeClr val="tx1"/>
                          </a:solidFill>
                        </a:rPr>
                        <a:t>Login before payment</a:t>
                      </a:r>
                      <a:endParaRPr lang="en-US" sz="1300" dirty="0"/>
                    </a:p>
                  </a:txBody>
                  <a:tcPr marL="109728" marR="109728" marT="45720" marB="45720" anchor="ctr">
                    <a:lnL w="9525" cap="flat" cmpd="sng" algn="ctr">
                      <a:solidFill>
                        <a:srgbClr val="CFC688"/>
                      </a:solidFill>
                      <a:prstDash val="solid"/>
                      <a:round/>
                      <a:headEnd type="none" w="med" len="med"/>
                      <a:tailEnd type="none" w="med" len="med"/>
                    </a:lnL>
                    <a:lnR w="9525" cap="flat" cmpd="sng" algn="ctr">
                      <a:solidFill>
                        <a:srgbClr val="CFC688"/>
                      </a:solidFill>
                      <a:prstDash val="solid"/>
                      <a:round/>
                      <a:headEnd type="none" w="med" len="med"/>
                      <a:tailEnd type="none" w="med" len="med"/>
                    </a:lnR>
                    <a:lnT w="9525" cap="flat" cmpd="sng" algn="ctr">
                      <a:solidFill>
                        <a:srgbClr val="CFC688"/>
                      </a:solidFill>
                      <a:prstDash val="solid"/>
                      <a:round/>
                      <a:headEnd type="none" w="med" len="med"/>
                      <a:tailEnd type="none" w="med" len="med"/>
                    </a:lnT>
                    <a:lnB w="9525" cap="flat" cmpd="sng" algn="ctr">
                      <a:solidFill>
                        <a:srgbClr val="CFC688"/>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Measure to the furthest price screen; Connect account (the user signs in in their own Chrome)</a:t>
                      </a:r>
                      <a:endParaRPr lang="en-US" sz="1300" dirty="0"/>
                    </a:p>
                  </a:txBody>
                  <a:tcPr marL="109728" marR="109728" marT="45720" marB="45720" anchor="ctr">
                    <a:lnL w="9525" cap="flat" cmpd="sng" algn="ctr">
                      <a:solidFill>
                        <a:srgbClr val="CFC688"/>
                      </a:solidFill>
                      <a:prstDash val="solid"/>
                      <a:round/>
                      <a:headEnd type="none" w="med" len="med"/>
                      <a:tailEnd type="none" w="med" len="med"/>
                    </a:lnL>
                    <a:lnR w="9525" cap="flat" cmpd="sng" algn="ctr">
                      <a:solidFill>
                        <a:srgbClr val="CFC688"/>
                      </a:solidFill>
                      <a:prstDash val="solid"/>
                      <a:round/>
                      <a:headEnd type="none" w="med" len="med"/>
                      <a:tailEnd type="none" w="med" len="med"/>
                    </a:lnR>
                    <a:lnT w="9525" cap="flat" cmpd="sng" algn="ctr">
                      <a:solidFill>
                        <a:srgbClr val="CFC688"/>
                      </a:solidFill>
                      <a:prstDash val="solid"/>
                      <a:round/>
                      <a:headEnd type="none" w="med" len="med"/>
                      <a:tailEnd type="none" w="med" len="med"/>
                    </a:lnT>
                    <a:lnB w="9525" cap="flat" cmpd="sng" algn="ctr">
                      <a:solidFill>
                        <a:srgbClr val="CFC688"/>
                      </a:solidFill>
                      <a:prstDash val="solid"/>
                      <a:round/>
                      <a:headEnd type="none" w="med" len="med"/>
                      <a:tailEnd type="none" w="med" len="med"/>
                    </a:lnB>
                    <a:solidFill>
                      <a:schemeClr val="bg1"/>
                    </a:solidFill>
                  </a:tcPr>
                </a:tc>
              </a:tr>
              <a:tr h="603504">
                <a:tc>
                  <a:txBody>
                    <a:bodyPr/>
                    <a:lstStyle/>
                    <a:p>
                      <a:pPr indent="0" marL="0">
                        <a:buNone/>
                      </a:pPr>
                      <a:r>
                        <a:rPr lang="en-US" sz="1300" b="1" dirty="0">
                          <a:solidFill>
                            <a:schemeClr val="tx1"/>
                          </a:solidFill>
                        </a:rPr>
                        <a:t>False positives</a:t>
                      </a:r>
                      <a:endParaRPr lang="en-US" sz="1300" dirty="0"/>
                    </a:p>
                  </a:txBody>
                  <a:tcPr marL="109728" marR="109728" marT="45720" marB="45720" anchor="ctr">
                    <a:lnL w="9525" cap="flat" cmpd="sng" algn="ctr">
                      <a:solidFill>
                        <a:srgbClr val="CFC688"/>
                      </a:solidFill>
                      <a:prstDash val="solid"/>
                      <a:round/>
                      <a:headEnd type="none" w="med" len="med"/>
                      <a:tailEnd type="none" w="med" len="med"/>
                    </a:lnL>
                    <a:lnR w="9525" cap="flat" cmpd="sng" algn="ctr">
                      <a:solidFill>
                        <a:srgbClr val="CFC688"/>
                      </a:solidFill>
                      <a:prstDash val="solid"/>
                      <a:round/>
                      <a:headEnd type="none" w="med" len="med"/>
                      <a:tailEnd type="none" w="med" len="med"/>
                    </a:lnR>
                    <a:lnT w="9525" cap="flat" cmpd="sng" algn="ctr">
                      <a:solidFill>
                        <a:srgbClr val="CFC688"/>
                      </a:solidFill>
                      <a:prstDash val="solid"/>
                      <a:round/>
                      <a:headEnd type="none" w="med" len="med"/>
                      <a:tailEnd type="none" w="med" len="med"/>
                    </a:lnT>
                    <a:lnB w="9525" cap="flat" cmpd="sng" algn="ctr">
                      <a:solidFill>
                        <a:srgbClr val="CFC688"/>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Noise floor, Benjamini–Hochberg, 2% minimum gap, random run order; a person files</a:t>
                      </a:r>
                      <a:endParaRPr lang="en-US" sz="1300" dirty="0"/>
                    </a:p>
                  </a:txBody>
                  <a:tcPr marL="109728" marR="109728" marT="45720" marB="45720" anchor="ctr">
                    <a:lnL w="9525" cap="flat" cmpd="sng" algn="ctr">
                      <a:solidFill>
                        <a:srgbClr val="CFC688"/>
                      </a:solidFill>
                      <a:prstDash val="solid"/>
                      <a:round/>
                      <a:headEnd type="none" w="med" len="med"/>
                      <a:tailEnd type="none" w="med" len="med"/>
                    </a:lnL>
                    <a:lnR w="9525" cap="flat" cmpd="sng" algn="ctr">
                      <a:solidFill>
                        <a:srgbClr val="CFC688"/>
                      </a:solidFill>
                      <a:prstDash val="solid"/>
                      <a:round/>
                      <a:headEnd type="none" w="med" len="med"/>
                      <a:tailEnd type="none" w="med" len="med"/>
                    </a:lnR>
                    <a:lnT w="9525" cap="flat" cmpd="sng" algn="ctr">
                      <a:solidFill>
                        <a:srgbClr val="CFC688"/>
                      </a:solidFill>
                      <a:prstDash val="solid"/>
                      <a:round/>
                      <a:headEnd type="none" w="med" len="med"/>
                      <a:tailEnd type="none" w="med" len="med"/>
                    </a:lnT>
                    <a:lnB w="9525" cap="flat" cmpd="sng" algn="ctr">
                      <a:solidFill>
                        <a:srgbClr val="CFC688"/>
                      </a:solidFill>
                      <a:prstDash val="solid"/>
                      <a:round/>
                      <a:headEnd type="none" w="med" len="med"/>
                      <a:tailEnd type="none" w="med" len="med"/>
                    </a:lnB>
                    <a:solidFill>
                      <a:schemeClr val="bg1"/>
                    </a:solidFill>
                  </a:tcPr>
                </a:tc>
              </a:tr>
              <a:tr h="603504">
                <a:tc>
                  <a:txBody>
                    <a:bodyPr/>
                    <a:lstStyle/>
                    <a:p>
                      <a:pPr indent="0" marL="0">
                        <a:buNone/>
                      </a:pPr>
                      <a:r>
                        <a:rPr lang="en-US" sz="1300" b="1" dirty="0">
                          <a:solidFill>
                            <a:schemeClr val="tx1"/>
                          </a:solidFill>
                        </a:rPr>
                        <a:t>Evidence in court</a:t>
                      </a:r>
                      <a:endParaRPr lang="en-US" sz="1300" dirty="0"/>
                    </a:p>
                  </a:txBody>
                  <a:tcPr marL="109728" marR="109728" marT="45720" marB="45720" anchor="ctr">
                    <a:lnL w="9525" cap="flat" cmpd="sng" algn="ctr">
                      <a:solidFill>
                        <a:srgbClr val="CFC688"/>
                      </a:solidFill>
                      <a:prstDash val="solid"/>
                      <a:round/>
                      <a:headEnd type="none" w="med" len="med"/>
                      <a:tailEnd type="none" w="med" len="med"/>
                    </a:lnL>
                    <a:lnR w="9525" cap="flat" cmpd="sng" algn="ctr">
                      <a:solidFill>
                        <a:srgbClr val="CFC688"/>
                      </a:solidFill>
                      <a:prstDash val="solid"/>
                      <a:round/>
                      <a:headEnd type="none" w="med" len="med"/>
                      <a:tailEnd type="none" w="med" len="med"/>
                    </a:lnR>
                    <a:lnT w="9525" cap="flat" cmpd="sng" algn="ctr">
                      <a:solidFill>
                        <a:srgbClr val="CFC688"/>
                      </a:solidFill>
                      <a:prstDash val="solid"/>
                      <a:round/>
                      <a:headEnd type="none" w="med" len="med"/>
                      <a:tailEnd type="none" w="med" len="med"/>
                    </a:lnT>
                    <a:lnB w="9525" cap="flat" cmpd="sng" algn="ctr">
                      <a:solidFill>
                        <a:srgbClr val="CFC688"/>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SHA‑256 hashes reveal tampering; next: trusted timestamps, Section 63 (BSA 2023) certificate</a:t>
                      </a:r>
                      <a:endParaRPr lang="en-US" sz="1300" dirty="0"/>
                    </a:p>
                  </a:txBody>
                  <a:tcPr marL="109728" marR="109728" marT="45720" marB="45720" anchor="ctr">
                    <a:lnL w="9525" cap="flat" cmpd="sng" algn="ctr">
                      <a:solidFill>
                        <a:srgbClr val="CFC688"/>
                      </a:solidFill>
                      <a:prstDash val="solid"/>
                      <a:round/>
                      <a:headEnd type="none" w="med" len="med"/>
                      <a:tailEnd type="none" w="med" len="med"/>
                    </a:lnL>
                    <a:lnR w="9525" cap="flat" cmpd="sng" algn="ctr">
                      <a:solidFill>
                        <a:srgbClr val="CFC688"/>
                      </a:solidFill>
                      <a:prstDash val="solid"/>
                      <a:round/>
                      <a:headEnd type="none" w="med" len="med"/>
                      <a:tailEnd type="none" w="med" len="med"/>
                    </a:lnR>
                    <a:lnT w="9525" cap="flat" cmpd="sng" algn="ctr">
                      <a:solidFill>
                        <a:srgbClr val="CFC688"/>
                      </a:solidFill>
                      <a:prstDash val="solid"/>
                      <a:round/>
                      <a:headEnd type="none" w="med" len="med"/>
                      <a:tailEnd type="none" w="med" len="med"/>
                    </a:lnT>
                    <a:lnB w="9525" cap="flat" cmpd="sng" algn="ctr">
                      <a:solidFill>
                        <a:srgbClr val="CFC688"/>
                      </a:solidFill>
                      <a:prstDash val="solid"/>
                      <a:round/>
                      <a:headEnd type="none" w="med" len="med"/>
                      <a:tailEnd type="none" w="med" len="med"/>
                    </a:lnB>
                    <a:solidFill>
                      <a:schemeClr val="bg1"/>
                    </a:solidFill>
                  </a:tcPr>
                </a:tc>
              </a:tr>
              <a:tr h="603504">
                <a:tc>
                  <a:txBody>
                    <a:bodyPr/>
                    <a:lstStyle/>
                    <a:p>
                      <a:pPr indent="0" marL="0">
                        <a:buNone/>
                      </a:pPr>
                      <a:r>
                        <a:rPr lang="en-US" sz="1300" b="1" dirty="0">
                          <a:solidFill>
                            <a:schemeClr val="tx1"/>
                          </a:solidFill>
                        </a:rPr>
                        <a:t>Legal and ethics</a:t>
                      </a:r>
                      <a:endParaRPr lang="en-US" sz="1300" dirty="0"/>
                    </a:p>
                  </a:txBody>
                  <a:tcPr marL="109728" marR="109728" marT="45720" marB="45720" anchor="ctr">
                    <a:lnL w="9525" cap="flat" cmpd="sng" algn="ctr">
                      <a:solidFill>
                        <a:srgbClr val="CFC688"/>
                      </a:solidFill>
                      <a:prstDash val="solid"/>
                      <a:round/>
                      <a:headEnd type="none" w="med" len="med"/>
                      <a:tailEnd type="none" w="med" len="med"/>
                    </a:lnL>
                    <a:lnR w="9525" cap="flat" cmpd="sng" algn="ctr">
                      <a:solidFill>
                        <a:srgbClr val="CFC688"/>
                      </a:solidFill>
                      <a:prstDash val="solid"/>
                      <a:round/>
                      <a:headEnd type="none" w="med" len="med"/>
                      <a:tailEnd type="none" w="med" len="med"/>
                    </a:lnR>
                    <a:lnT w="9525" cap="flat" cmpd="sng" algn="ctr">
                      <a:solidFill>
                        <a:srgbClr val="CFC688"/>
                      </a:solidFill>
                      <a:prstDash val="solid"/>
                      <a:round/>
                      <a:headEnd type="none" w="med" len="med"/>
                      <a:tailEnd type="none" w="med" len="med"/>
                    </a:lnT>
                    <a:lnB w="9525" cap="flat" cmpd="sng" algn="ctr">
                      <a:solidFill>
                        <a:srgbClr val="CFC688"/>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Allowlisted sites, observe only, never pays, one shopper at a time</a:t>
                      </a:r>
                      <a:endParaRPr lang="en-US" sz="1300" dirty="0"/>
                    </a:p>
                  </a:txBody>
                  <a:tcPr marL="109728" marR="109728" marT="45720" marB="45720" anchor="ctr">
                    <a:lnL w="9525" cap="flat" cmpd="sng" algn="ctr">
                      <a:solidFill>
                        <a:srgbClr val="CFC688"/>
                      </a:solidFill>
                      <a:prstDash val="solid"/>
                      <a:round/>
                      <a:headEnd type="none" w="med" len="med"/>
                      <a:tailEnd type="none" w="med" len="med"/>
                    </a:lnL>
                    <a:lnR w="9525" cap="flat" cmpd="sng" algn="ctr">
                      <a:solidFill>
                        <a:srgbClr val="CFC688"/>
                      </a:solidFill>
                      <a:prstDash val="solid"/>
                      <a:round/>
                      <a:headEnd type="none" w="med" len="med"/>
                      <a:tailEnd type="none" w="med" len="med"/>
                    </a:lnR>
                    <a:lnT w="9525" cap="flat" cmpd="sng" algn="ctr">
                      <a:solidFill>
                        <a:srgbClr val="CFC688"/>
                      </a:solidFill>
                      <a:prstDash val="solid"/>
                      <a:round/>
                      <a:headEnd type="none" w="med" len="med"/>
                      <a:tailEnd type="none" w="med" len="med"/>
                    </a:lnT>
                    <a:lnB w="9525" cap="flat" cmpd="sng" algn="ctr">
                      <a:solidFill>
                        <a:srgbClr val="CFC688"/>
                      </a:solidFill>
                      <a:prstDash val="solid"/>
                      <a:round/>
                      <a:headEnd type="none" w="med" len="med"/>
                      <a:tailEnd type="none" w="med" len="med"/>
                    </a:lnB>
                    <a:solidFill>
                      <a:schemeClr val="bg1"/>
                    </a:solidFill>
                  </a:tcPr>
                </a:tc>
              </a:tr>
              <a:tr h="603504">
                <a:tc>
                  <a:txBody>
                    <a:bodyPr/>
                    <a:lstStyle/>
                    <a:p>
                      <a:pPr indent="0" marL="0">
                        <a:buNone/>
                      </a:pPr>
                      <a:r>
                        <a:rPr lang="en-US" sz="1300" b="1" dirty="0">
                          <a:solidFill>
                            <a:schemeClr val="tx1"/>
                          </a:solidFill>
                        </a:rPr>
                        <a:t>Cost</a:t>
                      </a:r>
                      <a:endParaRPr lang="en-US" sz="1300" dirty="0"/>
                    </a:p>
                  </a:txBody>
                  <a:tcPr marL="109728" marR="109728" marT="45720" marB="45720" anchor="ctr">
                    <a:lnL w="9525" cap="flat" cmpd="sng" algn="ctr">
                      <a:solidFill>
                        <a:srgbClr val="CFC688"/>
                      </a:solidFill>
                      <a:prstDash val="solid"/>
                      <a:round/>
                      <a:headEnd type="none" w="med" len="med"/>
                      <a:tailEnd type="none" w="med" len="med"/>
                    </a:lnL>
                    <a:lnR w="9525" cap="flat" cmpd="sng" algn="ctr">
                      <a:solidFill>
                        <a:srgbClr val="CFC688"/>
                      </a:solidFill>
                      <a:prstDash val="solid"/>
                      <a:round/>
                      <a:headEnd type="none" w="med" len="med"/>
                      <a:tailEnd type="none" w="med" len="med"/>
                    </a:lnR>
                    <a:lnT w="9525" cap="flat" cmpd="sng" algn="ctr">
                      <a:solidFill>
                        <a:srgbClr val="CFC688"/>
                      </a:solidFill>
                      <a:prstDash val="solid"/>
                      <a:round/>
                      <a:headEnd type="none" w="med" len="med"/>
                      <a:tailEnd type="none" w="med" len="med"/>
                    </a:lnT>
                    <a:lnB w="9525" cap="flat" cmpd="sng" algn="ctr">
                      <a:solidFill>
                        <a:srgbClr val="CFC688"/>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₹0 open-source; ≈ ₹3.5 per Browser API audit, ≈ ₹440 per Agent API audit</a:t>
                      </a:r>
                      <a:endParaRPr lang="en-US" sz="1300" dirty="0"/>
                    </a:p>
                  </a:txBody>
                  <a:tcPr marL="109728" marR="109728" marT="45720" marB="45720" anchor="ctr">
                    <a:lnL w="9525" cap="flat" cmpd="sng" algn="ctr">
                      <a:solidFill>
                        <a:srgbClr val="CFC688"/>
                      </a:solidFill>
                      <a:prstDash val="solid"/>
                      <a:round/>
                      <a:headEnd type="none" w="med" len="med"/>
                      <a:tailEnd type="none" w="med" len="med"/>
                    </a:lnL>
                    <a:lnR w="9525" cap="flat" cmpd="sng" algn="ctr">
                      <a:solidFill>
                        <a:srgbClr val="CFC688"/>
                      </a:solidFill>
                      <a:prstDash val="solid"/>
                      <a:round/>
                      <a:headEnd type="none" w="med" len="med"/>
                      <a:tailEnd type="none" w="med" len="med"/>
                    </a:lnR>
                    <a:lnT w="9525" cap="flat" cmpd="sng" algn="ctr">
                      <a:solidFill>
                        <a:srgbClr val="CFC688"/>
                      </a:solidFill>
                      <a:prstDash val="solid"/>
                      <a:round/>
                      <a:headEnd type="none" w="med" len="med"/>
                      <a:tailEnd type="none" w="med" len="med"/>
                    </a:lnT>
                    <a:lnB w="9525" cap="flat" cmpd="sng" algn="ctr">
                      <a:solidFill>
                        <a:srgbClr val="CFC688"/>
                      </a:solidFill>
                      <a:prstDash val="solid"/>
                      <a:round/>
                      <a:headEnd type="none" w="med" len="med"/>
                      <a:tailEnd type="none" w="med" len="med"/>
                    </a:lnB>
                    <a:solidFill>
                      <a:schemeClr val="bg1"/>
                    </a:solidFill>
                  </a:tcPr>
                </a:tc>
              </a:tr>
            </a:tbl>
          </a:graphicData>
        </a:graphic>
      </p:graphicFrame>
      <p:sp>
        <p:nvSpPr>
          <p:cNvPr id="25" name="Slide Number Placeholder 0"/>
          <p:cNvSpPr>
            <a:spLocks noGrp="1"/>
          </p:cNvSpPr>
          <p:nvPr>
            <p:ph type="sldNum" sz="quarter" idx="4294967295"/>
          </p:nvPr>
        </p:nvSpPr>
        <p:spPr>
          <a:xfrm>
            <a:off x="10424160" y="274320"/>
            <a:ext cx="594360" cy="365760"/>
          </a:xfrm>
          <a:prstGeom prst="rect">
            <a:avLst/>
          </a:prstGeom>
          <a:extLst>
            <a:ext uri="{C572A759-6A51-4108-AA02-DFA0A04FC94B}">
              <ma14:wrappingTextBoxFlag xmlns:ma14="http://schemas.microsoft.com/office/mac/drawingml/2011/main" val="0"/>
            </a:ext>
          </a:extLst>
        </p:spPr>
        <p:txBody>
          <a:bodyPr/>
          <a:lstStyle>
            <a:lvl1pPr>
              <a:defRPr sz="2000">
                <a:solidFill>
                  <a:schemeClr val="tx2"/>
                </a:solidFill>
                <a:latin typeface="Impact"/>
                <a:ea typeface="Impact"/>
                <a:cs typeface="Impact"/>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2"/>
          <p:cNvSpPr/>
          <p:nvPr>
            <p:ph idx="104" type="title" hasCustomPrompt="1"/>
          </p:nvPr>
        </p:nvSpPr>
        <p:spPr>
          <a:xfrm>
            <a:off x="548640" y="603504"/>
            <a:ext cx="10332720" cy="603504"/>
          </a:xfrm>
          <a:prstGeom prst="rect">
            <a:avLst/>
          </a:prstGeom>
          <a:noFill/>
          <a:ln/>
        </p:spPr>
        <p:txBody>
          <a:bodyPr wrap="square" lIns="0" tIns="0" rIns="0" bIns="0" rtlCol="0" anchor="t"/>
          <a:lstStyle/>
          <a:p>
            <a:pPr algn="l" indent="0" marL="0">
              <a:buNone/>
            </a:pPr>
            <a:r>
              <a:rPr lang="en-US" sz="3200" spc="100" kern="0" dirty="0">
                <a:solidFill>
                  <a:schemeClr val="tx2"/>
                </a:solidFill>
                <a:latin typeface="Impact" pitchFamily="34" charset="0"/>
                <a:ea typeface="Impact" pitchFamily="34" charset="-122"/>
                <a:cs typeface="Impact" pitchFamily="34" charset="-120"/>
              </a:rPr>
              <a:t>FUTURE SCOPE</a:t>
            </a:r>
            <a:endParaRPr lang="en-US" sz="3200" dirty="0"/>
          </a:p>
        </p:txBody>
      </p:sp>
      <p:sp>
        <p:nvSpPr>
          <p:cNvPr id="4" name="section label"/>
          <p:cNvSpPr txBox="1"/>
          <p:nvPr/>
        </p:nvSpPr>
        <p:spPr>
          <a:xfrm>
            <a:off x="548640" y="274320"/>
            <a:ext cx="6035040" cy="274320"/>
          </a:xfrm>
          <a:prstGeom prst="rect">
            <a:avLst/>
          </a:prstGeom>
          <a:noFill/>
          <a:ln/>
        </p:spPr>
        <p:txBody>
          <a:bodyPr wrap="square" lIns="0" tIns="0" rIns="0" bIns="0" rtlCol="0" anchor="t"/>
          <a:lstStyle/>
          <a:p>
            <a:pPr indent="0" marL="0">
              <a:buNone/>
            </a:pPr>
            <a:r>
              <a:rPr lang="en-US" sz="1500" spc="100" kern="0" dirty="0">
                <a:solidFill>
                  <a:schemeClr val="tx2"/>
                </a:solidFill>
                <a:latin typeface="Impact" pitchFamily="34" charset="0"/>
                <a:ea typeface="Impact" pitchFamily="34" charset="-122"/>
                <a:cs typeface="Impact" pitchFamily="34" charset="-120"/>
              </a:rPr>
              <a:t>10  ·  FUTURE SCOPE</a:t>
            </a:r>
            <a:endParaRPr lang="en-US" sz="1500" dirty="0"/>
          </a:p>
        </p:txBody>
      </p:sp>
      <p:sp>
        <p:nvSpPr>
          <p:cNvPr id="5" name="subtitle"/>
          <p:cNvSpPr txBox="1"/>
          <p:nvPr/>
        </p:nvSpPr>
        <p:spPr>
          <a:xfrm>
            <a:off x="548640" y="1188720"/>
            <a:ext cx="10424160" cy="384048"/>
          </a:xfrm>
          <a:prstGeom prst="rect">
            <a:avLst/>
          </a:prstGeom>
          <a:noFill/>
          <a:ln/>
        </p:spPr>
        <p:txBody>
          <a:bodyPr wrap="square" lIns="0" tIns="0" rIns="0" bIns="0" rtlCol="0" anchor="t"/>
          <a:lstStyle/>
          <a:p>
            <a:pPr indent="0" marL="0">
              <a:buNone/>
            </a:pPr>
            <a:r>
              <a:rPr lang="en-US" sz="1700" dirty="0">
                <a:solidFill>
                  <a:schemeClr val="accent6"/>
                </a:solidFill>
                <a:latin typeface="Calibri" pitchFamily="34" charset="0"/>
                <a:ea typeface="Calibri" pitchFamily="34" charset="-122"/>
                <a:cs typeface="Calibri" pitchFamily="34" charset="-120"/>
              </a:rPr>
              <a:t>From a hackathon tool to public consumer-protection infrastructure</a:t>
            </a:r>
            <a:endParaRPr lang="en-US" sz="1700" dirty="0"/>
          </a:p>
        </p:txBody>
      </p:sp>
      <p:sp>
        <p:nvSpPr>
          <p:cNvPr id="6" name="roadmap line"/>
          <p:cNvSpPr/>
          <p:nvPr/>
        </p:nvSpPr>
        <p:spPr>
          <a:xfrm>
            <a:off x="548640" y="1984248"/>
            <a:ext cx="9418320" cy="0"/>
          </a:xfrm>
          <a:prstGeom prst="line">
            <a:avLst/>
          </a:prstGeom>
          <a:noFill/>
          <a:ln w="25400">
            <a:solidFill>
              <a:schemeClr val="accent1"/>
            </a:solidFill>
            <a:prstDash val="solid"/>
          </a:ln>
        </p:spPr>
      </p:sp>
      <p:sp>
        <p:nvSpPr>
          <p:cNvPr id="7" name="chip"/>
          <p:cNvSpPr/>
          <p:nvPr/>
        </p:nvSpPr>
        <p:spPr>
          <a:xfrm>
            <a:off x="548640" y="1783080"/>
            <a:ext cx="1828800" cy="402336"/>
          </a:xfrm>
          <a:prstGeom prst="roundRect">
            <a:avLst>
              <a:gd name="adj" fmla="val 43182"/>
            </a:avLst>
          </a:prstGeom>
          <a:solidFill>
            <a:schemeClr val="accent1"/>
          </a:solidFill>
          <a:ln w="9525">
            <a:solidFill>
              <a:schemeClr val="accent1"/>
            </a:solidFill>
            <a:prstDash val="solid"/>
          </a:ln>
        </p:spPr>
      </p:sp>
      <p:sp>
        <p:nvSpPr>
          <p:cNvPr id="8" name="Text 5"/>
          <p:cNvSpPr txBox="1"/>
          <p:nvPr/>
        </p:nvSpPr>
        <p:spPr>
          <a:xfrm>
            <a:off x="548640" y="1783080"/>
            <a:ext cx="1828800" cy="402336"/>
          </a:xfrm>
          <a:prstGeom prst="rect">
            <a:avLst/>
          </a:prstGeom>
          <a:noFill/>
          <a:ln/>
        </p:spPr>
        <p:txBody>
          <a:bodyPr wrap="square" lIns="0" tIns="0" rIns="0" bIns="0" rtlCol="0" anchor="ctr"/>
          <a:lstStyle/>
          <a:p>
            <a:pPr algn="ctr" indent="0" marL="0">
              <a:buNone/>
            </a:pPr>
            <a:r>
              <a:rPr lang="en-US" sz="1200" b="1" dirty="0">
                <a:solidFill>
                  <a:schemeClr val="bg1"/>
                </a:solidFill>
              </a:rPr>
              <a:t>NEXT 3 MONTHS</a:t>
            </a:r>
            <a:endParaRPr lang="en-US" sz="1200" dirty="0"/>
          </a:p>
        </p:txBody>
      </p:sp>
      <p:sp>
        <p:nvSpPr>
          <p:cNvPr id="9" name="card"/>
          <p:cNvSpPr/>
          <p:nvPr/>
        </p:nvSpPr>
        <p:spPr>
          <a:xfrm>
            <a:off x="548640" y="2395728"/>
            <a:ext cx="3575304" cy="3017520"/>
          </a:xfrm>
          <a:prstGeom prst="roundRect">
            <a:avLst>
              <a:gd name="adj" fmla="val 1515"/>
            </a:avLst>
          </a:prstGeom>
          <a:solidFill>
            <a:schemeClr val="bg2"/>
          </a:solidFill>
          <a:ln w="12700">
            <a:solidFill>
              <a:srgbClr val="36226B"/>
            </a:solidFill>
            <a:prstDash val="solid"/>
          </a:ln>
        </p:spPr>
      </p:sp>
      <p:sp>
        <p:nvSpPr>
          <p:cNvPr id="10" name="icon lens"/>
          <p:cNvSpPr/>
          <p:nvPr/>
        </p:nvSpPr>
        <p:spPr>
          <a:xfrm>
            <a:off x="777240" y="2606040"/>
            <a:ext cx="548640" cy="548640"/>
          </a:xfrm>
          <a:prstGeom prst="roundRect">
            <a:avLst>
              <a:gd name="adj" fmla="val 11667"/>
            </a:avLst>
          </a:prstGeom>
          <a:solidFill>
            <a:schemeClr val="tx2"/>
          </a:solidFill>
          <a:ln w="19050">
            <a:solidFill>
              <a:schemeClr val="tx2"/>
            </a:solidFill>
            <a:prstDash val="solid"/>
          </a:ln>
        </p:spPr>
      </p:sp>
      <p:pic>
        <p:nvPicPr>
          <p:cNvPr id="11" name="icon" descr="Handshake">    </p:cNvPr>
          <p:cNvPicPr>
            <a:picLocks noChangeAspect="1"/>
          </p:cNvPicPr>
          <p:nvPr/>
        </p:nvPicPr>
        <p:blipFill>
          <a:blip r:embed="rId1"/>
          <a:stretch>
            <a:fillRect/>
          </a:stretch>
        </p:blipFill>
        <p:spPr>
          <a:xfrm>
            <a:off x="919886" y="2748686"/>
            <a:ext cx="263347" cy="263347"/>
          </a:xfrm>
          <a:prstGeom prst="rect">
            <a:avLst/>
          </a:prstGeom>
        </p:spPr>
      </p:pic>
      <p:sp>
        <p:nvSpPr>
          <p:cNvPr id="12" name="Text 8"/>
          <p:cNvSpPr txBox="1"/>
          <p:nvPr/>
        </p:nvSpPr>
        <p:spPr>
          <a:xfrm>
            <a:off x="1508760" y="2624328"/>
            <a:ext cx="2432304" cy="822960"/>
          </a:xfrm>
          <a:prstGeom prst="rect">
            <a:avLst/>
          </a:prstGeom>
          <a:noFill/>
          <a:ln/>
        </p:spPr>
        <p:txBody>
          <a:bodyPr wrap="square" lIns="0" tIns="0" rIns="0" bIns="0" rtlCol="0" anchor="t"/>
          <a:lstStyle/>
          <a:p>
            <a:pPr indent="0" marL="0">
              <a:buNone/>
            </a:pPr>
            <a:r>
              <a:rPr lang="en-US" sz="1500" dirty="0">
                <a:solidFill>
                  <a:schemeClr val="tx1"/>
                </a:solidFill>
              </a:rPr>
              <a:t>Pilot with consumer NGOs on 50 Indian sites</a:t>
            </a:r>
            <a:endParaRPr lang="en-US" sz="1500" dirty="0"/>
          </a:p>
        </p:txBody>
      </p:sp>
      <p:sp>
        <p:nvSpPr>
          <p:cNvPr id="13" name="icon lens"/>
          <p:cNvSpPr/>
          <p:nvPr/>
        </p:nvSpPr>
        <p:spPr>
          <a:xfrm>
            <a:off x="777240" y="3538728"/>
            <a:ext cx="548640" cy="548640"/>
          </a:xfrm>
          <a:prstGeom prst="roundRect">
            <a:avLst>
              <a:gd name="adj" fmla="val 11667"/>
            </a:avLst>
          </a:prstGeom>
          <a:solidFill>
            <a:schemeClr val="tx2"/>
          </a:solidFill>
          <a:ln w="19050">
            <a:solidFill>
              <a:schemeClr val="tx2"/>
            </a:solidFill>
            <a:prstDash val="solid"/>
          </a:ln>
        </p:spPr>
      </p:sp>
      <p:pic>
        <p:nvPicPr>
          <p:cNvPr id="14" name="icon" descr="LocationDot">    </p:cNvPr>
          <p:cNvPicPr>
            <a:picLocks noChangeAspect="1"/>
          </p:cNvPicPr>
          <p:nvPr/>
        </p:nvPicPr>
        <p:blipFill>
          <a:blip r:embed="rId2"/>
          <a:stretch>
            <a:fillRect/>
          </a:stretch>
        </p:blipFill>
        <p:spPr>
          <a:xfrm>
            <a:off x="919886" y="3681374"/>
            <a:ext cx="263347" cy="263347"/>
          </a:xfrm>
          <a:prstGeom prst="rect">
            <a:avLst/>
          </a:prstGeom>
        </p:spPr>
      </p:pic>
      <p:sp>
        <p:nvSpPr>
          <p:cNvPr id="15" name="Text 10"/>
          <p:cNvSpPr txBox="1"/>
          <p:nvPr/>
        </p:nvSpPr>
        <p:spPr>
          <a:xfrm>
            <a:off x="1508760" y="3557016"/>
            <a:ext cx="2432304" cy="822960"/>
          </a:xfrm>
          <a:prstGeom prst="rect">
            <a:avLst/>
          </a:prstGeom>
          <a:noFill/>
          <a:ln/>
        </p:spPr>
        <p:txBody>
          <a:bodyPr wrap="square" lIns="0" tIns="0" rIns="0" bIns="0" rtlCol="0" anchor="t"/>
          <a:lstStyle/>
          <a:p>
            <a:pPr indent="0" marL="0">
              <a:buNone/>
            </a:pPr>
            <a:r>
              <a:rPr lang="en-US" sz="1500" dirty="0">
                <a:solidFill>
                  <a:schemeClr val="tx1"/>
                </a:solidFill>
              </a:rPr>
              <a:t>India exit nodes for geo-pricing tests</a:t>
            </a:r>
            <a:endParaRPr lang="en-US" sz="1500" dirty="0"/>
          </a:p>
        </p:txBody>
      </p:sp>
      <p:sp>
        <p:nvSpPr>
          <p:cNvPr id="16" name="icon lens"/>
          <p:cNvSpPr/>
          <p:nvPr/>
        </p:nvSpPr>
        <p:spPr>
          <a:xfrm>
            <a:off x="777240" y="4471416"/>
            <a:ext cx="548640" cy="548640"/>
          </a:xfrm>
          <a:prstGeom prst="roundRect">
            <a:avLst>
              <a:gd name="adj" fmla="val 11667"/>
            </a:avLst>
          </a:prstGeom>
          <a:solidFill>
            <a:schemeClr val="tx2"/>
          </a:solidFill>
          <a:ln w="19050">
            <a:solidFill>
              <a:schemeClr val="tx2"/>
            </a:solidFill>
            <a:prstDash val="solid"/>
          </a:ln>
        </p:spPr>
      </p:sp>
      <p:pic>
        <p:nvPicPr>
          <p:cNvPr id="17" name="icon" descr="Language">    </p:cNvPr>
          <p:cNvPicPr>
            <a:picLocks noChangeAspect="1"/>
          </p:cNvPicPr>
          <p:nvPr/>
        </p:nvPicPr>
        <p:blipFill>
          <a:blip r:embed="rId3"/>
          <a:stretch>
            <a:fillRect/>
          </a:stretch>
        </p:blipFill>
        <p:spPr>
          <a:xfrm>
            <a:off x="919886" y="4614062"/>
            <a:ext cx="263347" cy="263347"/>
          </a:xfrm>
          <a:prstGeom prst="rect">
            <a:avLst/>
          </a:prstGeom>
        </p:spPr>
      </p:pic>
      <p:sp>
        <p:nvSpPr>
          <p:cNvPr id="18" name="Text 12"/>
          <p:cNvSpPr txBox="1"/>
          <p:nvPr/>
        </p:nvSpPr>
        <p:spPr>
          <a:xfrm>
            <a:off x="1508760" y="4489704"/>
            <a:ext cx="2432304" cy="822960"/>
          </a:xfrm>
          <a:prstGeom prst="rect">
            <a:avLst/>
          </a:prstGeom>
          <a:noFill/>
          <a:ln/>
        </p:spPr>
        <p:txBody>
          <a:bodyPr wrap="square" lIns="0" tIns="0" rIns="0" bIns="0" rtlCol="0" anchor="t"/>
          <a:lstStyle/>
          <a:p>
            <a:pPr indent="0" marL="0">
              <a:buNone/>
            </a:pPr>
            <a:r>
              <a:rPr lang="en-US" sz="1500" dirty="0">
                <a:solidFill>
                  <a:schemeClr val="tx1"/>
                </a:solidFill>
              </a:rPr>
              <a:t>Hindi and Indic-language copy classifier</a:t>
            </a:r>
            <a:endParaRPr lang="en-US" sz="1500" dirty="0"/>
          </a:p>
        </p:txBody>
      </p:sp>
      <p:sp>
        <p:nvSpPr>
          <p:cNvPr id="19" name="chip"/>
          <p:cNvSpPr/>
          <p:nvPr/>
        </p:nvSpPr>
        <p:spPr>
          <a:xfrm>
            <a:off x="4306824" y="1783080"/>
            <a:ext cx="1828800" cy="402336"/>
          </a:xfrm>
          <a:prstGeom prst="roundRect">
            <a:avLst>
              <a:gd name="adj" fmla="val 43182"/>
            </a:avLst>
          </a:prstGeom>
          <a:solidFill>
            <a:schemeClr val="tx2"/>
          </a:solidFill>
          <a:ln w="9525">
            <a:solidFill>
              <a:schemeClr val="tx2"/>
            </a:solidFill>
            <a:prstDash val="solid"/>
          </a:ln>
        </p:spPr>
      </p:sp>
      <p:sp>
        <p:nvSpPr>
          <p:cNvPr id="20" name="Text 14"/>
          <p:cNvSpPr txBox="1"/>
          <p:nvPr/>
        </p:nvSpPr>
        <p:spPr>
          <a:xfrm>
            <a:off x="4306824" y="1783080"/>
            <a:ext cx="1828800" cy="402336"/>
          </a:xfrm>
          <a:prstGeom prst="rect">
            <a:avLst/>
          </a:prstGeom>
          <a:noFill/>
          <a:ln/>
        </p:spPr>
        <p:txBody>
          <a:bodyPr wrap="square" lIns="0" tIns="0" rIns="0" bIns="0" rtlCol="0" anchor="ctr"/>
          <a:lstStyle/>
          <a:p>
            <a:pPr algn="ctr" indent="0" marL="0">
              <a:buNone/>
            </a:pPr>
            <a:r>
              <a:rPr lang="en-US" sz="1200" b="1" dirty="0">
                <a:solidFill>
                  <a:schemeClr val="bg1"/>
                </a:solidFill>
              </a:rPr>
              <a:t>6 MONTHS</a:t>
            </a:r>
            <a:endParaRPr lang="en-US" sz="1200" dirty="0"/>
          </a:p>
        </p:txBody>
      </p:sp>
      <p:sp>
        <p:nvSpPr>
          <p:cNvPr id="21" name="card"/>
          <p:cNvSpPr/>
          <p:nvPr/>
        </p:nvSpPr>
        <p:spPr>
          <a:xfrm>
            <a:off x="4306824" y="2395728"/>
            <a:ext cx="3575304" cy="3017520"/>
          </a:xfrm>
          <a:prstGeom prst="roundRect">
            <a:avLst>
              <a:gd name="adj" fmla="val 1515"/>
            </a:avLst>
          </a:prstGeom>
          <a:solidFill>
            <a:schemeClr val="bg2"/>
          </a:solidFill>
          <a:ln w="12700">
            <a:solidFill>
              <a:srgbClr val="36226B"/>
            </a:solidFill>
            <a:prstDash val="solid"/>
          </a:ln>
        </p:spPr>
      </p:sp>
      <p:sp>
        <p:nvSpPr>
          <p:cNvPr id="22" name="icon lens"/>
          <p:cNvSpPr/>
          <p:nvPr/>
        </p:nvSpPr>
        <p:spPr>
          <a:xfrm>
            <a:off x="4535424" y="2606040"/>
            <a:ext cx="548640" cy="548640"/>
          </a:xfrm>
          <a:prstGeom prst="roundRect">
            <a:avLst>
              <a:gd name="adj" fmla="val 11667"/>
            </a:avLst>
          </a:prstGeom>
          <a:solidFill>
            <a:schemeClr val="tx2"/>
          </a:solidFill>
          <a:ln w="19050">
            <a:solidFill>
              <a:schemeClr val="tx2"/>
            </a:solidFill>
            <a:prstDash val="solid"/>
          </a:ln>
        </p:spPr>
      </p:sp>
      <p:pic>
        <p:nvPicPr>
          <p:cNvPr id="23" name="icon" descr="PuzzlePiece">    </p:cNvPr>
          <p:cNvPicPr>
            <a:picLocks noChangeAspect="1"/>
          </p:cNvPicPr>
          <p:nvPr/>
        </p:nvPicPr>
        <p:blipFill>
          <a:blip r:embed="rId4"/>
          <a:stretch>
            <a:fillRect/>
          </a:stretch>
        </p:blipFill>
        <p:spPr>
          <a:xfrm>
            <a:off x="4678070" y="2748686"/>
            <a:ext cx="263347" cy="263347"/>
          </a:xfrm>
          <a:prstGeom prst="rect">
            <a:avLst/>
          </a:prstGeom>
        </p:spPr>
      </p:pic>
      <p:sp>
        <p:nvSpPr>
          <p:cNvPr id="24" name="Text 17"/>
          <p:cNvSpPr txBox="1"/>
          <p:nvPr/>
        </p:nvSpPr>
        <p:spPr>
          <a:xfrm>
            <a:off x="5266944" y="2624328"/>
            <a:ext cx="2432304" cy="822960"/>
          </a:xfrm>
          <a:prstGeom prst="rect">
            <a:avLst/>
          </a:prstGeom>
          <a:noFill/>
          <a:ln/>
        </p:spPr>
        <p:txBody>
          <a:bodyPr wrap="square" lIns="0" tIns="0" rIns="0" bIns="0" rtlCol="0" anchor="t"/>
          <a:lstStyle/>
          <a:p>
            <a:pPr indent="0" marL="0">
              <a:buNone/>
            </a:pPr>
            <a:r>
              <a:rPr lang="en-US" sz="1500" dirty="0">
                <a:solidFill>
                  <a:schemeClr val="tx1"/>
                </a:solidFill>
              </a:rPr>
              <a:t>Shopper capture extension: real people, no bot</a:t>
            </a:r>
            <a:endParaRPr lang="en-US" sz="1500" dirty="0"/>
          </a:p>
        </p:txBody>
      </p:sp>
      <p:sp>
        <p:nvSpPr>
          <p:cNvPr id="25" name="icon lens"/>
          <p:cNvSpPr/>
          <p:nvPr/>
        </p:nvSpPr>
        <p:spPr>
          <a:xfrm>
            <a:off x="4535424" y="3538728"/>
            <a:ext cx="548640" cy="548640"/>
          </a:xfrm>
          <a:prstGeom prst="roundRect">
            <a:avLst>
              <a:gd name="adj" fmla="val 11667"/>
            </a:avLst>
          </a:prstGeom>
          <a:solidFill>
            <a:schemeClr val="tx2"/>
          </a:solidFill>
          <a:ln w="19050">
            <a:solidFill>
              <a:schemeClr val="tx2"/>
            </a:solidFill>
            <a:prstDash val="solid"/>
          </a:ln>
        </p:spPr>
      </p:sp>
      <p:pic>
        <p:nvPicPr>
          <p:cNvPr id="26" name="icon" descr="Bell">    </p:cNvPr>
          <p:cNvPicPr>
            <a:picLocks noChangeAspect="1"/>
          </p:cNvPicPr>
          <p:nvPr/>
        </p:nvPicPr>
        <p:blipFill>
          <a:blip r:embed="rId5"/>
          <a:stretch>
            <a:fillRect/>
          </a:stretch>
        </p:blipFill>
        <p:spPr>
          <a:xfrm>
            <a:off x="4678070" y="3681374"/>
            <a:ext cx="263347" cy="263347"/>
          </a:xfrm>
          <a:prstGeom prst="rect">
            <a:avLst/>
          </a:prstGeom>
        </p:spPr>
      </p:pic>
      <p:sp>
        <p:nvSpPr>
          <p:cNvPr id="27" name="Text 19"/>
          <p:cNvSpPr txBox="1"/>
          <p:nvPr/>
        </p:nvSpPr>
        <p:spPr>
          <a:xfrm>
            <a:off x="5266944" y="3557016"/>
            <a:ext cx="2432304" cy="822960"/>
          </a:xfrm>
          <a:prstGeom prst="rect">
            <a:avLst/>
          </a:prstGeom>
          <a:noFill/>
          <a:ln/>
        </p:spPr>
        <p:txBody>
          <a:bodyPr wrap="square" lIns="0" tIns="0" rIns="0" bIns="0" rtlCol="0" anchor="t"/>
          <a:lstStyle/>
          <a:p>
            <a:pPr indent="0" marL="0">
              <a:buNone/>
            </a:pPr>
            <a:r>
              <a:rPr lang="en-US" sz="1500" dirty="0">
                <a:solidFill>
                  <a:schemeClr val="tx1"/>
                </a:solidFill>
              </a:rPr>
              <a:t>Continuous monitoring with alerts</a:t>
            </a:r>
            <a:endParaRPr lang="en-US" sz="1500" dirty="0"/>
          </a:p>
        </p:txBody>
      </p:sp>
      <p:sp>
        <p:nvSpPr>
          <p:cNvPr id="28" name="icon lens"/>
          <p:cNvSpPr/>
          <p:nvPr/>
        </p:nvSpPr>
        <p:spPr>
          <a:xfrm>
            <a:off x="4535424" y="4471416"/>
            <a:ext cx="548640" cy="548640"/>
          </a:xfrm>
          <a:prstGeom prst="roundRect">
            <a:avLst>
              <a:gd name="adj" fmla="val 11667"/>
            </a:avLst>
          </a:prstGeom>
          <a:solidFill>
            <a:schemeClr val="tx2"/>
          </a:solidFill>
          <a:ln w="19050">
            <a:solidFill>
              <a:schemeClr val="tx2"/>
            </a:solidFill>
            <a:prstDash val="solid"/>
          </a:ln>
        </p:spPr>
      </p:sp>
      <p:pic>
        <p:nvPicPr>
          <p:cNvPr id="29" name="icon" descr="ChartPie">    </p:cNvPr>
          <p:cNvPicPr>
            <a:picLocks noChangeAspect="1"/>
          </p:cNvPicPr>
          <p:nvPr/>
        </p:nvPicPr>
        <p:blipFill>
          <a:blip r:embed="rId6"/>
          <a:stretch>
            <a:fillRect/>
          </a:stretch>
        </p:blipFill>
        <p:spPr>
          <a:xfrm>
            <a:off x="4678070" y="4614062"/>
            <a:ext cx="263347" cy="263347"/>
          </a:xfrm>
          <a:prstGeom prst="rect">
            <a:avLst/>
          </a:prstGeom>
        </p:spPr>
      </p:pic>
      <p:sp>
        <p:nvSpPr>
          <p:cNvPr id="30" name="Text 21"/>
          <p:cNvSpPr txBox="1"/>
          <p:nvPr/>
        </p:nvSpPr>
        <p:spPr>
          <a:xfrm>
            <a:off x="5266944" y="4489704"/>
            <a:ext cx="2432304" cy="822960"/>
          </a:xfrm>
          <a:prstGeom prst="rect">
            <a:avLst/>
          </a:prstGeom>
          <a:noFill/>
          <a:ln/>
        </p:spPr>
        <p:txBody>
          <a:bodyPr wrap="square" lIns="0" tIns="0" rIns="0" bIns="0" rtlCol="0" anchor="t"/>
          <a:lstStyle/>
          <a:p>
            <a:pPr indent="0" marL="0">
              <a:buNone/>
            </a:pPr>
            <a:r>
              <a:rPr lang="en-US" sz="1500" dirty="0">
                <a:solidFill>
                  <a:schemeClr val="tx1"/>
                </a:solidFill>
              </a:rPr>
              <a:t>Regulator dashboard across sites</a:t>
            </a:r>
            <a:endParaRPr lang="en-US" sz="1500" dirty="0"/>
          </a:p>
        </p:txBody>
      </p:sp>
      <p:sp>
        <p:nvSpPr>
          <p:cNvPr id="31" name="chip"/>
          <p:cNvSpPr/>
          <p:nvPr/>
        </p:nvSpPr>
        <p:spPr>
          <a:xfrm>
            <a:off x="8065008" y="1783080"/>
            <a:ext cx="1828800" cy="402336"/>
          </a:xfrm>
          <a:prstGeom prst="roundRect">
            <a:avLst>
              <a:gd name="adj" fmla="val 43182"/>
            </a:avLst>
          </a:prstGeom>
          <a:solidFill>
            <a:schemeClr val="tx2"/>
          </a:solidFill>
          <a:ln w="9525">
            <a:solidFill>
              <a:schemeClr val="tx2"/>
            </a:solidFill>
            <a:prstDash val="solid"/>
          </a:ln>
        </p:spPr>
      </p:sp>
      <p:sp>
        <p:nvSpPr>
          <p:cNvPr id="32" name="Text 23"/>
          <p:cNvSpPr txBox="1"/>
          <p:nvPr/>
        </p:nvSpPr>
        <p:spPr>
          <a:xfrm>
            <a:off x="8065008" y="1783080"/>
            <a:ext cx="1828800" cy="402336"/>
          </a:xfrm>
          <a:prstGeom prst="rect">
            <a:avLst/>
          </a:prstGeom>
          <a:noFill/>
          <a:ln/>
        </p:spPr>
        <p:txBody>
          <a:bodyPr wrap="square" lIns="0" tIns="0" rIns="0" bIns="0" rtlCol="0" anchor="ctr"/>
          <a:lstStyle/>
          <a:p>
            <a:pPr algn="ctr" indent="0" marL="0">
              <a:buNone/>
            </a:pPr>
            <a:r>
              <a:rPr lang="en-US" sz="1200" b="1" dirty="0">
                <a:solidFill>
                  <a:schemeClr val="bg1"/>
                </a:solidFill>
              </a:rPr>
              <a:t>12 MONTHS</a:t>
            </a:r>
            <a:endParaRPr lang="en-US" sz="1200" dirty="0"/>
          </a:p>
        </p:txBody>
      </p:sp>
      <p:sp>
        <p:nvSpPr>
          <p:cNvPr id="33" name="card"/>
          <p:cNvSpPr/>
          <p:nvPr/>
        </p:nvSpPr>
        <p:spPr>
          <a:xfrm>
            <a:off x="8065008" y="2395728"/>
            <a:ext cx="3575304" cy="3017520"/>
          </a:xfrm>
          <a:prstGeom prst="roundRect">
            <a:avLst>
              <a:gd name="adj" fmla="val 1515"/>
            </a:avLst>
          </a:prstGeom>
          <a:solidFill>
            <a:schemeClr val="bg2"/>
          </a:solidFill>
          <a:ln w="12700">
            <a:solidFill>
              <a:srgbClr val="36226B"/>
            </a:solidFill>
            <a:prstDash val="solid"/>
          </a:ln>
        </p:spPr>
      </p:sp>
      <p:sp>
        <p:nvSpPr>
          <p:cNvPr id="34" name="icon lens"/>
          <p:cNvSpPr/>
          <p:nvPr/>
        </p:nvSpPr>
        <p:spPr>
          <a:xfrm>
            <a:off x="8293608" y="2606040"/>
            <a:ext cx="548640" cy="548640"/>
          </a:xfrm>
          <a:prstGeom prst="roundRect">
            <a:avLst>
              <a:gd name="adj" fmla="val 11667"/>
            </a:avLst>
          </a:prstGeom>
          <a:solidFill>
            <a:schemeClr val="tx2"/>
          </a:solidFill>
          <a:ln w="19050">
            <a:solidFill>
              <a:schemeClr val="tx2"/>
            </a:solidFill>
            <a:prstDash val="solid"/>
          </a:ln>
        </p:spPr>
      </p:sp>
      <p:pic>
        <p:nvPicPr>
          <p:cNvPr id="35" name="icon" descr="Certificate">    </p:cNvPr>
          <p:cNvPicPr>
            <a:picLocks noChangeAspect="1"/>
          </p:cNvPicPr>
          <p:nvPr/>
        </p:nvPicPr>
        <p:blipFill>
          <a:blip r:embed="rId7"/>
          <a:stretch>
            <a:fillRect/>
          </a:stretch>
        </p:blipFill>
        <p:spPr>
          <a:xfrm>
            <a:off x="8436254" y="2748686"/>
            <a:ext cx="263347" cy="263347"/>
          </a:xfrm>
          <a:prstGeom prst="rect">
            <a:avLst/>
          </a:prstGeom>
        </p:spPr>
      </p:pic>
      <p:sp>
        <p:nvSpPr>
          <p:cNvPr id="36" name="Text 26"/>
          <p:cNvSpPr txBox="1"/>
          <p:nvPr/>
        </p:nvSpPr>
        <p:spPr>
          <a:xfrm>
            <a:off x="9025128" y="2624328"/>
            <a:ext cx="2432304" cy="822960"/>
          </a:xfrm>
          <a:prstGeom prst="rect">
            <a:avLst/>
          </a:prstGeom>
          <a:noFill/>
          <a:ln/>
        </p:spPr>
        <p:txBody>
          <a:bodyPr wrap="square" lIns="0" tIns="0" rIns="0" bIns="0" rtlCol="0" anchor="t"/>
          <a:lstStyle/>
          <a:p>
            <a:pPr indent="0" marL="0">
              <a:buNone/>
            </a:pPr>
            <a:r>
              <a:rPr lang="en-US" sz="1500" dirty="0">
                <a:solidFill>
                  <a:schemeClr val="tx1"/>
                </a:solidFill>
              </a:rPr>
              <a:t>Platform allowlisting for independent audits</a:t>
            </a:r>
            <a:endParaRPr lang="en-US" sz="1500" dirty="0"/>
          </a:p>
        </p:txBody>
      </p:sp>
      <p:sp>
        <p:nvSpPr>
          <p:cNvPr id="37" name="icon lens"/>
          <p:cNvSpPr/>
          <p:nvPr/>
        </p:nvSpPr>
        <p:spPr>
          <a:xfrm>
            <a:off x="8293608" y="3538728"/>
            <a:ext cx="548640" cy="548640"/>
          </a:xfrm>
          <a:prstGeom prst="roundRect">
            <a:avLst>
              <a:gd name="adj" fmla="val 11667"/>
            </a:avLst>
          </a:prstGeom>
          <a:solidFill>
            <a:schemeClr val="tx2"/>
          </a:solidFill>
          <a:ln w="19050">
            <a:solidFill>
              <a:schemeClr val="tx2"/>
            </a:solidFill>
            <a:prstDash val="solid"/>
          </a:ln>
        </p:spPr>
      </p:sp>
      <p:pic>
        <p:nvPicPr>
          <p:cNvPr id="38" name="icon" descr="Link">    </p:cNvPr>
          <p:cNvPicPr>
            <a:picLocks noChangeAspect="1"/>
          </p:cNvPicPr>
          <p:nvPr/>
        </p:nvPicPr>
        <p:blipFill>
          <a:blip r:embed="rId8"/>
          <a:stretch>
            <a:fillRect/>
          </a:stretch>
        </p:blipFill>
        <p:spPr>
          <a:xfrm>
            <a:off x="8436254" y="3681374"/>
            <a:ext cx="263347" cy="263347"/>
          </a:xfrm>
          <a:prstGeom prst="rect">
            <a:avLst/>
          </a:prstGeom>
        </p:spPr>
      </p:pic>
      <p:sp>
        <p:nvSpPr>
          <p:cNvPr id="39" name="Text 28"/>
          <p:cNvSpPr txBox="1"/>
          <p:nvPr/>
        </p:nvSpPr>
        <p:spPr>
          <a:xfrm>
            <a:off x="9025128" y="3557016"/>
            <a:ext cx="2432304" cy="822960"/>
          </a:xfrm>
          <a:prstGeom prst="rect">
            <a:avLst/>
          </a:prstGeom>
          <a:noFill/>
          <a:ln/>
        </p:spPr>
        <p:txBody>
          <a:bodyPr wrap="square" lIns="0" tIns="0" rIns="0" bIns="0" rtlCol="0" anchor="t"/>
          <a:lstStyle/>
          <a:p>
            <a:pPr indent="0" marL="0">
              <a:buNone/>
            </a:pPr>
            <a:r>
              <a:rPr lang="en-US" sz="1500" dirty="0">
                <a:solidFill>
                  <a:schemeClr val="tx1"/>
                </a:solidFill>
              </a:rPr>
              <a:t>Filing into NCH's INGRAM complaint portal</a:t>
            </a:r>
            <a:endParaRPr lang="en-US" sz="1500" dirty="0"/>
          </a:p>
        </p:txBody>
      </p:sp>
      <p:sp>
        <p:nvSpPr>
          <p:cNvPr id="40" name="icon lens"/>
          <p:cNvSpPr/>
          <p:nvPr/>
        </p:nvSpPr>
        <p:spPr>
          <a:xfrm>
            <a:off x="8293608" y="4471416"/>
            <a:ext cx="548640" cy="548640"/>
          </a:xfrm>
          <a:prstGeom prst="roundRect">
            <a:avLst>
              <a:gd name="adj" fmla="val 11667"/>
            </a:avLst>
          </a:prstGeom>
          <a:solidFill>
            <a:schemeClr val="tx2"/>
          </a:solidFill>
          <a:ln w="19050">
            <a:solidFill>
              <a:schemeClr val="tx2"/>
            </a:solidFill>
            <a:prstDash val="solid"/>
          </a:ln>
        </p:spPr>
      </p:sp>
      <p:pic>
        <p:nvPicPr>
          <p:cNvPr id="41" name="icon" descr="MobileScreenButton">    </p:cNvPr>
          <p:cNvPicPr>
            <a:picLocks noChangeAspect="1"/>
          </p:cNvPicPr>
          <p:nvPr/>
        </p:nvPicPr>
        <p:blipFill>
          <a:blip r:embed="rId9"/>
          <a:stretch>
            <a:fillRect/>
          </a:stretch>
        </p:blipFill>
        <p:spPr>
          <a:xfrm>
            <a:off x="8436254" y="4614062"/>
            <a:ext cx="263347" cy="263347"/>
          </a:xfrm>
          <a:prstGeom prst="rect">
            <a:avLst/>
          </a:prstGeom>
        </p:spPr>
      </p:pic>
      <p:sp>
        <p:nvSpPr>
          <p:cNvPr id="42" name="Text 30"/>
          <p:cNvSpPr txBox="1"/>
          <p:nvPr/>
        </p:nvSpPr>
        <p:spPr>
          <a:xfrm>
            <a:off x="9025128" y="4489704"/>
            <a:ext cx="2432304" cy="822960"/>
          </a:xfrm>
          <a:prstGeom prst="rect">
            <a:avLst/>
          </a:prstGeom>
          <a:noFill/>
          <a:ln/>
        </p:spPr>
        <p:txBody>
          <a:bodyPr wrap="square" lIns="0" tIns="0" rIns="0" bIns="0" rtlCol="0" anchor="t"/>
          <a:lstStyle/>
          <a:p>
            <a:pPr indent="0" marL="0">
              <a:buNone/>
            </a:pPr>
            <a:r>
              <a:rPr lang="en-US" sz="1500" dirty="0">
                <a:solidFill>
                  <a:schemeClr val="tx1"/>
                </a:solidFill>
              </a:rPr>
              <a:t>Apps and quick-commerce audits</a:t>
            </a:r>
            <a:endParaRPr lang="en-US" sz="1500" dirty="0"/>
          </a:p>
        </p:txBody>
      </p:sp>
      <p:sp>
        <p:nvSpPr>
          <p:cNvPr id="43" name="sustainability"/>
          <p:cNvSpPr/>
          <p:nvPr/>
        </p:nvSpPr>
        <p:spPr>
          <a:xfrm>
            <a:off x="548640" y="5641848"/>
            <a:ext cx="11091672" cy="621792"/>
          </a:xfrm>
          <a:prstGeom prst="roundRect">
            <a:avLst>
              <a:gd name="adj" fmla="val 7353"/>
            </a:avLst>
          </a:prstGeom>
          <a:solidFill>
            <a:schemeClr val="tx2"/>
          </a:solidFill>
          <a:ln w="12700">
            <a:solidFill>
              <a:schemeClr val="tx2"/>
            </a:solidFill>
            <a:prstDash val="solid"/>
          </a:ln>
        </p:spPr>
      </p:sp>
      <p:sp>
        <p:nvSpPr>
          <p:cNvPr id="44" name="Text 32"/>
          <p:cNvSpPr txBox="1"/>
          <p:nvPr/>
        </p:nvSpPr>
        <p:spPr>
          <a:xfrm>
            <a:off x="777240" y="5641848"/>
            <a:ext cx="10698480" cy="621792"/>
          </a:xfrm>
          <a:prstGeom prst="rect">
            <a:avLst/>
          </a:prstGeom>
          <a:noFill/>
          <a:ln/>
        </p:spPr>
        <p:txBody>
          <a:bodyPr wrap="square" lIns="0" tIns="0" rIns="0" bIns="0" rtlCol="0" anchor="ctr"/>
          <a:lstStyle/>
          <a:p>
            <a:pPr indent="0" marL="0">
              <a:buNone/>
            </a:pPr>
            <a:r>
              <a:rPr lang="en-US" sz="1400" b="1" dirty="0">
                <a:solidFill>
                  <a:schemeClr val="accent2"/>
                </a:solidFill>
              </a:rPr>
              <a:t>Sustainability  </a:t>
            </a:r>
            <a:pPr indent="0" marL="0">
              <a:buNone/>
            </a:pPr>
            <a:r>
              <a:rPr lang="en-US" sz="1400" dirty="0">
                <a:solidFill>
                  <a:schemeClr val="bg1"/>
                </a:solidFill>
              </a:rPr>
              <a:t>free for shoppers and consumer NGOs; paid, consented recurring audits for platforms that want to prove compliance.</a:t>
            </a:r>
            <a:endParaRPr lang="en-US" sz="1400" dirty="0"/>
          </a:p>
        </p:txBody>
      </p:sp>
      <p:sp>
        <p:nvSpPr>
          <p:cNvPr id="25" name="Slide Number Placeholder 0"/>
          <p:cNvSpPr>
            <a:spLocks noGrp="1"/>
          </p:cNvSpPr>
          <p:nvPr>
            <p:ph type="sldNum" sz="quarter" idx="4294967295"/>
          </p:nvPr>
        </p:nvSpPr>
        <p:spPr>
          <a:xfrm>
            <a:off x="10424160" y="274320"/>
            <a:ext cx="594360" cy="365760"/>
          </a:xfrm>
          <a:prstGeom prst="rect">
            <a:avLst/>
          </a:prstGeom>
          <a:extLst>
            <a:ext uri="{C572A759-6A51-4108-AA02-DFA0A04FC94B}">
              <ma14:wrappingTextBoxFlag xmlns:ma14="http://schemas.microsoft.com/office/mac/drawingml/2011/main" val="0"/>
            </a:ext>
          </a:extLst>
        </p:spPr>
        <p:txBody>
          <a:bodyPr/>
          <a:lstStyle>
            <a:lvl1pPr>
              <a:defRPr sz="2000">
                <a:solidFill>
                  <a:schemeClr val="tx2"/>
                </a:solidFill>
                <a:latin typeface="Impact"/>
                <a:ea typeface="Impact"/>
                <a:cs typeface="Impact"/>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pic>
        <p:nvPicPr>
          <p:cNvPr id="3" name="logo" descr="Pardarshi logo">    </p:cNvPr>
          <p:cNvPicPr>
            <a:picLocks noChangeAspect="1"/>
          </p:cNvPicPr>
          <p:nvPr/>
        </p:nvPicPr>
        <p:blipFill>
          <a:blip r:embed="rId1"/>
          <a:stretch>
            <a:fillRect/>
          </a:stretch>
        </p:blipFill>
        <p:spPr>
          <a:xfrm>
            <a:off x="640080" y="566928"/>
            <a:ext cx="566928" cy="566928"/>
          </a:xfrm>
          <a:prstGeom prst="rect">
            <a:avLst/>
          </a:prstGeom>
        </p:spPr>
      </p:pic>
      <p:sp>
        <p:nvSpPr>
          <p:cNvPr id="4" name="Text 0"/>
          <p:cNvSpPr txBox="1"/>
          <p:nvPr/>
        </p:nvSpPr>
        <p:spPr>
          <a:xfrm>
            <a:off x="1371600" y="713232"/>
            <a:ext cx="7315200" cy="292608"/>
          </a:xfrm>
          <a:prstGeom prst="rect">
            <a:avLst/>
          </a:prstGeom>
          <a:noFill/>
          <a:ln/>
        </p:spPr>
        <p:txBody>
          <a:bodyPr wrap="square" lIns="0" tIns="0" rIns="0" bIns="0" rtlCol="0" anchor="t"/>
          <a:lstStyle/>
          <a:p>
            <a:pPr indent="0" marL="0">
              <a:buNone/>
            </a:pPr>
            <a:r>
              <a:rPr lang="en-US" sz="1300" b="1" spc="400" kern="0" dirty="0">
                <a:solidFill>
                  <a:schemeClr val="accent2"/>
                </a:solidFill>
              </a:rPr>
              <a:t>TEAM RED-HAT   ·   AZINHACK '26</a:t>
            </a:r>
            <a:endParaRPr lang="en-US" sz="1300" dirty="0"/>
          </a:p>
        </p:txBody>
      </p:sp>
      <p:sp>
        <p:nvSpPr>
          <p:cNvPr id="5" name="title shadow"/>
          <p:cNvSpPr txBox="1"/>
          <p:nvPr/>
        </p:nvSpPr>
        <p:spPr>
          <a:xfrm>
            <a:off x="694944" y="1746504"/>
            <a:ext cx="10881360" cy="1051560"/>
          </a:xfrm>
          <a:prstGeom prst="rect">
            <a:avLst/>
          </a:prstGeom>
          <a:noFill/>
          <a:ln/>
        </p:spPr>
        <p:txBody>
          <a:bodyPr wrap="square" lIns="0" tIns="0" rIns="0" bIns="0" rtlCol="0" anchor="t"/>
          <a:lstStyle/>
          <a:p>
            <a:pPr indent="0" marL="0">
              <a:buNone/>
            </a:pPr>
            <a:r>
              <a:rPr lang="en-US" sz="6000" dirty="0">
                <a:solidFill>
                  <a:srgbClr val="21134A"/>
                </a:solidFill>
                <a:latin typeface="Impact" pitchFamily="34" charset="0"/>
                <a:ea typeface="Impact" pitchFamily="34" charset="-122"/>
                <a:cs typeface="Impact" pitchFamily="34" charset="-120"/>
              </a:rPr>
              <a:t>MEASURED, NOT SURVEYED</a:t>
            </a:r>
            <a:endParaRPr lang="en-US" sz="6000" dirty="0"/>
          </a:p>
        </p:txBody>
      </p:sp>
      <p:sp>
        <p:nvSpPr>
          <p:cNvPr id="6" name="closing title"/>
          <p:cNvSpPr txBox="1"/>
          <p:nvPr/>
        </p:nvSpPr>
        <p:spPr>
          <a:xfrm>
            <a:off x="640080" y="1691640"/>
            <a:ext cx="10881360" cy="1051560"/>
          </a:xfrm>
          <a:prstGeom prst="rect">
            <a:avLst/>
          </a:prstGeom>
          <a:noFill/>
          <a:ln/>
        </p:spPr>
        <p:txBody>
          <a:bodyPr wrap="square" lIns="0" tIns="0" rIns="0" bIns="0" rtlCol="0" anchor="t"/>
          <a:lstStyle/>
          <a:p>
            <a:pPr indent="0" marL="0">
              <a:buNone/>
            </a:pPr>
            <a:r>
              <a:rPr lang="en-US" sz="6000" dirty="0">
                <a:solidFill>
                  <a:schemeClr val="accent2"/>
                </a:solidFill>
                <a:latin typeface="Impact" pitchFamily="34" charset="0"/>
                <a:ea typeface="Impact" pitchFamily="34" charset="-122"/>
                <a:cs typeface="Impact" pitchFamily="34" charset="-120"/>
              </a:rPr>
              <a:t>MEASURED, NOT SURVEYED</a:t>
            </a:r>
            <a:endParaRPr lang="en-US" sz="6000" dirty="0"/>
          </a:p>
        </p:txBody>
      </p:sp>
      <p:sp>
        <p:nvSpPr>
          <p:cNvPr id="7" name="Text 3"/>
          <p:cNvSpPr txBox="1"/>
          <p:nvPr/>
        </p:nvSpPr>
        <p:spPr>
          <a:xfrm>
            <a:off x="640080" y="2880360"/>
            <a:ext cx="9875520" cy="1005840"/>
          </a:xfrm>
          <a:prstGeom prst="rect">
            <a:avLst/>
          </a:prstGeom>
          <a:noFill/>
          <a:ln/>
        </p:spPr>
        <p:txBody>
          <a:bodyPr wrap="square" lIns="0" tIns="0" rIns="0" bIns="0" rtlCol="0" anchor="t"/>
          <a:lstStyle/>
          <a:p>
            <a:pPr indent="0" marL="0">
              <a:buNone/>
            </a:pPr>
            <a:r>
              <a:rPr lang="en-US" sz="2000" dirty="0">
                <a:solidFill>
                  <a:srgbClr val="EFE9FF"/>
                </a:solidFill>
                <a:latin typeface="Calibri" pitchFamily="34" charset="0"/>
                <a:ea typeface="Calibri" pitchFamily="34" charset="-122"/>
                <a:cs typeface="Calibri" pitchFamily="34" charset="-120"/>
              </a:rPr>
              <a:t>Pardarshi sends AI shoppers through checkout, stops before paying, and hands consumers and regulators the evidence: the hidden fees, the fake urgency and the personalised prices.</a:t>
            </a:r>
            <a:endParaRPr lang="en-US" sz="2000" dirty="0"/>
          </a:p>
        </p:txBody>
      </p:sp>
      <p:sp>
        <p:nvSpPr>
          <p:cNvPr id="8" name="Text 4"/>
          <p:cNvSpPr txBox="1"/>
          <p:nvPr/>
        </p:nvSpPr>
        <p:spPr>
          <a:xfrm>
            <a:off x="640080" y="4160520"/>
            <a:ext cx="2560320" cy="731520"/>
          </a:xfrm>
          <a:prstGeom prst="rect">
            <a:avLst/>
          </a:prstGeom>
          <a:noFill/>
          <a:ln/>
        </p:spPr>
        <p:txBody>
          <a:bodyPr wrap="square" lIns="0" tIns="0" rIns="0" bIns="0" rtlCol="0" anchor="t"/>
          <a:lstStyle/>
          <a:p>
            <a:pPr indent="0" marL="0">
              <a:buNone/>
            </a:pPr>
            <a:r>
              <a:rPr lang="en-US" sz="4400" dirty="0">
                <a:solidFill>
                  <a:schemeClr val="accent2"/>
                </a:solidFill>
                <a:latin typeface="Impact" pitchFamily="34" charset="0"/>
                <a:ea typeface="Impact" pitchFamily="34" charset="-122"/>
                <a:cs typeface="Impact" pitchFamily="34" charset="-120"/>
              </a:rPr>
              <a:t>4</a:t>
            </a:r>
            <a:endParaRPr lang="en-US" sz="4400" dirty="0"/>
          </a:p>
        </p:txBody>
      </p:sp>
      <p:sp>
        <p:nvSpPr>
          <p:cNvPr id="9" name="Text 5"/>
          <p:cNvSpPr txBox="1"/>
          <p:nvPr/>
        </p:nvSpPr>
        <p:spPr>
          <a:xfrm>
            <a:off x="640080" y="4892040"/>
            <a:ext cx="2606040" cy="320040"/>
          </a:xfrm>
          <a:prstGeom prst="rect">
            <a:avLst/>
          </a:prstGeom>
          <a:noFill/>
          <a:ln/>
        </p:spPr>
        <p:txBody>
          <a:bodyPr wrap="square" lIns="0" tIns="0" rIns="0" bIns="0" rtlCol="0" anchor="t"/>
          <a:lstStyle/>
          <a:p>
            <a:pPr indent="0" marL="0">
              <a:buNone/>
            </a:pPr>
            <a:r>
              <a:rPr lang="en-US" sz="1400" dirty="0">
                <a:solidFill>
                  <a:schemeClr val="bg1"/>
                </a:solidFill>
              </a:rPr>
              <a:t>TinyFish APIs, run live</a:t>
            </a:r>
            <a:endParaRPr lang="en-US" sz="1400" dirty="0"/>
          </a:p>
        </p:txBody>
      </p:sp>
      <p:sp>
        <p:nvSpPr>
          <p:cNvPr id="10" name="Text 6"/>
          <p:cNvSpPr txBox="1"/>
          <p:nvPr/>
        </p:nvSpPr>
        <p:spPr>
          <a:xfrm>
            <a:off x="3429000" y="4160520"/>
            <a:ext cx="2560320" cy="731520"/>
          </a:xfrm>
          <a:prstGeom prst="rect">
            <a:avLst/>
          </a:prstGeom>
          <a:noFill/>
          <a:ln/>
        </p:spPr>
        <p:txBody>
          <a:bodyPr wrap="square" lIns="0" tIns="0" rIns="0" bIns="0" rtlCol="0" anchor="t"/>
          <a:lstStyle/>
          <a:p>
            <a:pPr indent="0" marL="0">
              <a:buNone/>
            </a:pPr>
            <a:r>
              <a:rPr lang="en-US" sz="4400" dirty="0">
                <a:solidFill>
                  <a:schemeClr val="accent2"/>
                </a:solidFill>
                <a:latin typeface="Impact" pitchFamily="34" charset="0"/>
                <a:ea typeface="Impact" pitchFamily="34" charset="-122"/>
                <a:cs typeface="Impact" pitchFamily="34" charset="-120"/>
              </a:rPr>
              <a:t>7</a:t>
            </a:r>
            <a:endParaRPr lang="en-US" sz="4400" dirty="0"/>
          </a:p>
        </p:txBody>
      </p:sp>
      <p:sp>
        <p:nvSpPr>
          <p:cNvPr id="11" name="Text 7"/>
          <p:cNvSpPr txBox="1"/>
          <p:nvPr/>
        </p:nvSpPr>
        <p:spPr>
          <a:xfrm>
            <a:off x="3429000" y="4892040"/>
            <a:ext cx="2606040" cy="320040"/>
          </a:xfrm>
          <a:prstGeom prst="rect">
            <a:avLst/>
          </a:prstGeom>
          <a:noFill/>
          <a:ln/>
        </p:spPr>
        <p:txBody>
          <a:bodyPr wrap="square" lIns="0" tIns="0" rIns="0" bIns="0" rtlCol="0" anchor="t"/>
          <a:lstStyle/>
          <a:p>
            <a:pPr indent="0" marL="0">
              <a:buNone/>
            </a:pPr>
            <a:r>
              <a:rPr lang="en-US" sz="1400" dirty="0">
                <a:solidFill>
                  <a:schemeClr val="bg1"/>
                </a:solidFill>
              </a:rPr>
              <a:t>checks mapped to Indian law</a:t>
            </a:r>
            <a:endParaRPr lang="en-US" sz="1400" dirty="0"/>
          </a:p>
        </p:txBody>
      </p:sp>
      <p:sp>
        <p:nvSpPr>
          <p:cNvPr id="12" name="Text 8"/>
          <p:cNvSpPr txBox="1"/>
          <p:nvPr/>
        </p:nvSpPr>
        <p:spPr>
          <a:xfrm>
            <a:off x="6217920" y="4160520"/>
            <a:ext cx="2560320" cy="731520"/>
          </a:xfrm>
          <a:prstGeom prst="rect">
            <a:avLst/>
          </a:prstGeom>
          <a:noFill/>
          <a:ln/>
        </p:spPr>
        <p:txBody>
          <a:bodyPr wrap="square" lIns="0" tIns="0" rIns="0" bIns="0" rtlCol="0" anchor="t"/>
          <a:lstStyle/>
          <a:p>
            <a:pPr indent="0" marL="0">
              <a:buNone/>
            </a:pPr>
            <a:r>
              <a:rPr lang="en-US" sz="4400" dirty="0">
                <a:solidFill>
                  <a:schemeClr val="accent2"/>
                </a:solidFill>
                <a:latin typeface="Impact" pitchFamily="34" charset="0"/>
                <a:ea typeface="Impact" pitchFamily="34" charset="-122"/>
                <a:cs typeface="Impact" pitchFamily="34" charset="-120"/>
              </a:rPr>
              <a:t>13</a:t>
            </a:r>
            <a:endParaRPr lang="en-US" sz="4400" dirty="0"/>
          </a:p>
        </p:txBody>
      </p:sp>
      <p:sp>
        <p:nvSpPr>
          <p:cNvPr id="13" name="Text 9"/>
          <p:cNvSpPr txBox="1"/>
          <p:nvPr/>
        </p:nvSpPr>
        <p:spPr>
          <a:xfrm>
            <a:off x="6217920" y="4892040"/>
            <a:ext cx="2606040" cy="320040"/>
          </a:xfrm>
          <a:prstGeom prst="rect">
            <a:avLst/>
          </a:prstGeom>
          <a:noFill/>
          <a:ln/>
        </p:spPr>
        <p:txBody>
          <a:bodyPr wrap="square" lIns="0" tIns="0" rIns="0" bIns="0" rtlCol="0" anchor="t"/>
          <a:lstStyle/>
          <a:p>
            <a:pPr indent="0" marL="0">
              <a:buNone/>
            </a:pPr>
            <a:r>
              <a:rPr lang="en-US" sz="1400" dirty="0">
                <a:solidFill>
                  <a:schemeClr val="bg1"/>
                </a:solidFill>
              </a:rPr>
              <a:t>agent steps to a live Indian checkout</a:t>
            </a:r>
            <a:endParaRPr lang="en-US" sz="1400" dirty="0"/>
          </a:p>
        </p:txBody>
      </p:sp>
      <p:sp>
        <p:nvSpPr>
          <p:cNvPr id="14" name="Text 10"/>
          <p:cNvSpPr txBox="1"/>
          <p:nvPr/>
        </p:nvSpPr>
        <p:spPr>
          <a:xfrm>
            <a:off x="9006840" y="4160520"/>
            <a:ext cx="2560320" cy="731520"/>
          </a:xfrm>
          <a:prstGeom prst="rect">
            <a:avLst/>
          </a:prstGeom>
          <a:noFill/>
          <a:ln/>
        </p:spPr>
        <p:txBody>
          <a:bodyPr wrap="square" lIns="0" tIns="0" rIns="0" bIns="0" rtlCol="0" anchor="t"/>
          <a:lstStyle/>
          <a:p>
            <a:pPr indent="0" marL="0">
              <a:buNone/>
            </a:pPr>
            <a:r>
              <a:rPr lang="en-US" sz="4400" dirty="0">
                <a:solidFill>
                  <a:schemeClr val="accent2"/>
                </a:solidFill>
                <a:latin typeface="Impact" pitchFamily="34" charset="0"/>
                <a:ea typeface="Impact" pitchFamily="34" charset="-122"/>
                <a:cs typeface="Impact" pitchFamily="34" charset="-120"/>
              </a:rPr>
              <a:t>94</a:t>
            </a:r>
            <a:endParaRPr lang="en-US" sz="4400" dirty="0"/>
          </a:p>
        </p:txBody>
      </p:sp>
      <p:sp>
        <p:nvSpPr>
          <p:cNvPr id="15" name="Text 11"/>
          <p:cNvSpPr txBox="1"/>
          <p:nvPr/>
        </p:nvSpPr>
        <p:spPr>
          <a:xfrm>
            <a:off x="9006840" y="4892040"/>
            <a:ext cx="2606040" cy="320040"/>
          </a:xfrm>
          <a:prstGeom prst="rect">
            <a:avLst/>
          </a:prstGeom>
          <a:noFill/>
          <a:ln/>
        </p:spPr>
        <p:txBody>
          <a:bodyPr wrap="square" lIns="0" tIns="0" rIns="0" bIns="0" rtlCol="0" anchor="t"/>
          <a:lstStyle/>
          <a:p>
            <a:pPr indent="0" marL="0">
              <a:buNone/>
            </a:pPr>
            <a:r>
              <a:rPr lang="en-US" sz="1400" dirty="0">
                <a:solidFill>
                  <a:schemeClr val="bg1"/>
                </a:solidFill>
              </a:rPr>
              <a:t>automated tests</a:t>
            </a:r>
            <a:endParaRPr lang="en-US" sz="1400" dirty="0"/>
          </a:p>
        </p:txBody>
      </p:sp>
      <p:sp>
        <p:nvSpPr>
          <p:cNvPr id="16" name="links"/>
          <p:cNvSpPr txBox="1"/>
          <p:nvPr/>
        </p:nvSpPr>
        <p:spPr>
          <a:xfrm>
            <a:off x="640080" y="5440680"/>
            <a:ext cx="10881360" cy="347472"/>
          </a:xfrm>
          <a:prstGeom prst="rect">
            <a:avLst/>
          </a:prstGeom>
          <a:noFill/>
          <a:ln/>
        </p:spPr>
        <p:txBody>
          <a:bodyPr wrap="square" lIns="0" tIns="0" rIns="0" bIns="0" rtlCol="0" anchor="t"/>
          <a:lstStyle/>
          <a:p>
            <a:pPr indent="0" marL="0">
              <a:buNone/>
            </a:pPr>
            <a:r>
              <a:rPr lang="en-US" sz="1500" b="1" dirty="0">
                <a:solidFill>
                  <a:schemeClr val="accent2"/>
                </a:solidFill>
              </a:rPr>
              <a:t>Demo video  </a:t>
            </a:r>
            <a:pPr indent="0" marL="0">
              <a:buNone/>
            </a:pPr>
            <a:r>
              <a:rPr lang="en-US" sz="1500" u="sng" dirty="0">
                <a:solidFill>
                  <a:srgbClr val="FFFFFF"/>
                </a:solidFill>
                <a:hlinkClick r:id="rId2" invalidUrl="" action="" tgtFrame="" tooltip="https://youtu.be/xR9-eA1mp7o" history="1" highlightClick="0" endSnd="0">
                  <a:extLst>
                    <a:ext uri="{A12FA001-AC4F-418D-AE19-62706E023703}">
                      <ahyp:hlinkClr xmlns:ahyp="http://schemas.microsoft.com/office/drawing/2018/hyperlinkcolor" val="tx"/>
                    </a:ext>
                  </a:extLst>
                </a:hlinkClick>
              </a:rPr>
              <a:t>https://youtu.be/xR9-eA1mp7o</a:t>
            </a:r>
            <a:pPr indent="0" marL="0">
              <a:buNone/>
            </a:pPr>
            <a:r>
              <a:rPr lang="en-US" sz="1500" dirty="0">
                <a:solidFill>
                  <a:schemeClr val="accent2"/>
                </a:solidFill>
              </a:rPr>
              <a:t>     ·     </a:t>
            </a:r>
            <a:pPr indent="0" marL="0">
              <a:buNone/>
            </a:pPr>
            <a:r>
              <a:rPr lang="en-US" sz="1500" b="1" dirty="0">
                <a:solidFill>
                  <a:schemeClr val="accent2"/>
                </a:solidFill>
              </a:rPr>
              <a:t>Code  </a:t>
            </a:r>
            <a:pPr indent="0" marL="0">
              <a:buNone/>
            </a:pPr>
            <a:r>
              <a:rPr lang="en-US" sz="1500" u="sng" dirty="0">
                <a:solidFill>
                  <a:srgbClr val="FFFFFF"/>
                </a:solidFill>
                <a:hlinkClick r:id="rId3" invalidUrl="" action="" tgtFrame="" tooltip="https://github.com/mathurojus/Pardarshi" history="1" highlightClick="0" endSnd="0">
                  <a:extLst>
                    <a:ext uri="{A12FA001-AC4F-418D-AE19-62706E023703}">
                      <ahyp:hlinkClr xmlns:ahyp="http://schemas.microsoft.com/office/drawing/2018/hyperlinkcolor" val="tx"/>
                    </a:ext>
                  </a:extLst>
                </a:hlinkClick>
              </a:rPr>
              <a:t>https://github.com/mathurojus/Pardarshi</a:t>
            </a:r>
            <a:endParaRPr lang="en-US" sz="1400" dirty="0"/>
          </a:p>
        </p:txBody>
      </p:sp>
      <p:sp>
        <p:nvSpPr>
          <p:cNvPr id="17" name="Text 13"/>
          <p:cNvSpPr txBox="1"/>
          <p:nvPr/>
        </p:nvSpPr>
        <p:spPr>
          <a:xfrm>
            <a:off x="640080" y="5943600"/>
            <a:ext cx="5486400" cy="411480"/>
          </a:xfrm>
          <a:prstGeom prst="rect">
            <a:avLst/>
          </a:prstGeom>
          <a:noFill/>
          <a:ln/>
        </p:spPr>
        <p:txBody>
          <a:bodyPr wrap="square" lIns="0" tIns="0" rIns="0" bIns="0" rtlCol="0" anchor="t"/>
          <a:lstStyle/>
          <a:p>
            <a:pPr indent="0" marL="0">
              <a:buNone/>
            </a:pPr>
            <a:r>
              <a:rPr lang="en-US" sz="2000" b="1" dirty="0">
                <a:solidFill>
                  <a:schemeClr val="bg1"/>
                </a:solidFill>
                <a:latin typeface="Impact" pitchFamily="34" charset="0"/>
                <a:ea typeface="Impact" pitchFamily="34" charset="-122"/>
                <a:cs typeface="Impact" pitchFamily="34" charset="-120"/>
              </a:rPr>
              <a:t>Thank you  </a:t>
            </a:r>
            <a:pPr indent="0" marL="0">
              <a:buNone/>
            </a:pPr>
            <a:r>
              <a:rPr lang="en-US" sz="2000" b="1" dirty="0">
                <a:solidFill>
                  <a:schemeClr val="accent2"/>
                </a:solidFill>
                <a:latin typeface="Nirmala UI" pitchFamily="34" charset="0"/>
                <a:ea typeface="Nirmala UI" pitchFamily="34" charset="-122"/>
                <a:cs typeface="Nirmala UI" pitchFamily="34" charset="-120"/>
              </a:rPr>
              <a:t>पारदर्शी</a:t>
            </a:r>
            <a:endParaRPr lang="en-US" sz="1400" dirty="0"/>
          </a:p>
        </p:txBody>
      </p:sp>
    </p:spTree>
  </p:cSld>
  <p:clrMapOvr>
    <a:masterClrMapping/>
  </p:clrMapOvr>
</p:sld>
</file>

<file path=ppt/theme/theme1.xml><?xml version="1.0" encoding="utf-8"?>
<a:theme xmlns:a="http://schemas.openxmlformats.org/drawingml/2006/main" name="Pardarshi">
  <a:themeElements>
    <a:clrScheme name="Pardarshi">
      <a:dk1>
        <a:srgbClr val="2B1A5C"/>
      </a:dk1>
      <a:lt1>
        <a:srgbClr val="FFFBD0"/>
      </a:lt1>
      <a:dk2>
        <a:srgbClr val="36226B"/>
      </a:dk2>
      <a:lt2>
        <a:srgbClr val="FFFFFF"/>
      </a:lt2>
      <a:accent1>
        <a:srgbClr val="5A3FB5"/>
      </a:accent1>
      <a:accent2>
        <a:srgbClr val="E5FF5A"/>
      </a:accent2>
      <a:accent3>
        <a:srgbClr val="D64545"/>
      </a:accent3>
      <a:accent4>
        <a:srgbClr val="17845F"/>
      </a:accent4>
      <a:accent5>
        <a:srgbClr val="E8743B"/>
      </a:accent5>
      <a:accent6>
        <a:srgbClr val="5C4C86"/>
      </a:accent6>
      <a:hlink>
        <a:srgbClr val="5A3FB5"/>
      </a:hlink>
      <a:folHlink>
        <a:srgbClr val="5B4BC4"/>
      </a:folHlink>
    </a:clrScheme>
    <a:fontScheme name="Pardarshi">
      <a:majorFont>
        <a:latin typeface="Impac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Team RED-HAT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Pardarshi: AI shopper agents that audit checkouts for dark patterns</dc:title>
  <dc:subject>AZINHACK '26 submission</dc:subject>
  <dc:creator>Team RED-HAT</dc:creator>
  <cp:lastModifiedBy>Team RED-HAT</cp:lastModifiedBy>
  <cp:revision>1</cp:revision>
  <dcterms:created xsi:type="dcterms:W3CDTF">2026-10-21T09:11:23Z</dcterms:created>
  <dcterms:modified xsi:type="dcterms:W3CDTF">2026-10-21T09:11:23Z</dcterms:modified>
</cp:coreProperties>
</file>